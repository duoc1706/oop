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1"/>
  </p:sldMasterIdLst>
  <p:notesMasterIdLst>
    <p:notesMasterId r:id="rId25"/>
  </p:notesMasterIdLst>
  <p:sldIdLst>
    <p:sldId id="282" r:id="rId2"/>
    <p:sldId id="285" r:id="rId3"/>
    <p:sldId id="299" r:id="rId4"/>
    <p:sldId id="300" r:id="rId5"/>
    <p:sldId id="297" r:id="rId6"/>
    <p:sldId id="301" r:id="rId7"/>
    <p:sldId id="302" r:id="rId8"/>
    <p:sldId id="303" r:id="rId9"/>
    <p:sldId id="304" r:id="rId10"/>
    <p:sldId id="305" r:id="rId11"/>
    <p:sldId id="298" r:id="rId12"/>
    <p:sldId id="311" r:id="rId13"/>
    <p:sldId id="312" r:id="rId14"/>
    <p:sldId id="313" r:id="rId15"/>
    <p:sldId id="310" r:id="rId16"/>
    <p:sldId id="314" r:id="rId17"/>
    <p:sldId id="307" r:id="rId18"/>
    <p:sldId id="308" r:id="rId19"/>
    <p:sldId id="309" r:id="rId20"/>
    <p:sldId id="315" r:id="rId21"/>
    <p:sldId id="306" r:id="rId22"/>
    <p:sldId id="294" r:id="rId23"/>
    <p:sldId id="26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E5DA"/>
    <a:srgbClr val="244478"/>
    <a:srgbClr val="2B62B9"/>
    <a:srgbClr val="EF5452"/>
    <a:srgbClr val="F8C528"/>
    <a:srgbClr val="C09A24"/>
    <a:srgbClr val="068A85"/>
    <a:srgbClr val="99C272"/>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2514" autoAdjust="0"/>
  </p:normalViewPr>
  <p:slideViewPr>
    <p:cSldViewPr snapToGrid="0" snapToObjects="1">
      <p:cViewPr>
        <p:scale>
          <a:sx n="66" d="100"/>
          <a:sy n="66" d="100"/>
        </p:scale>
        <p:origin x="-888" y="-14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DC2CD-8613-D146-8518-AC99D946DF95}" type="datetimeFigureOut">
              <a:rPr lang="en-US" smtClean="0"/>
              <a:t>14/11/2019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4CF9-69BC-034A-86DA-E1DADC6FAF10}" type="slidenum">
              <a:rPr lang="en-US" smtClean="0"/>
              <a:t>‹#›</a:t>
            </a:fld>
            <a:endParaRPr lang="en-US"/>
          </a:p>
        </p:txBody>
      </p:sp>
    </p:spTree>
    <p:extLst>
      <p:ext uri="{BB962C8B-B14F-4D97-AF65-F5344CB8AC3E}">
        <p14:creationId xmlns:p14="http://schemas.microsoft.com/office/powerpoint/2010/main" val="149881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2_Title Slide">
    <p:bg>
      <p:bgPr>
        <a:gradFill flip="none" rotWithShape="1">
          <a:gsLst>
            <a:gs pos="0">
              <a:srgbClr val="002060"/>
            </a:gs>
            <a:gs pos="91000">
              <a:schemeClr val="accent1">
                <a:lumMod val="89000"/>
              </a:schemeClr>
            </a:gs>
            <a:gs pos="85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9C37A9-8C23-6B4F-88B3-AB73D61B7148}"/>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 xmlns:a16="http://schemas.microsoft.com/office/drawing/2014/main" id="{176775AE-BCE3-4B41-8ADB-E632DB8DE999}"/>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939092D3-1A80-C841-BE0C-FB3B2449ED61}"/>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320948AB-0BEE-7E40-BCE4-2360F70E6140}"/>
              </a:ext>
            </a:extLst>
          </p:cNvPr>
          <p:cNvSpPr>
            <a:spLocks noGrp="1"/>
          </p:cNvSpPr>
          <p:nvPr>
            <p:ph type="ftr" sz="quarter" idx="11"/>
          </p:nvPr>
        </p:nvSpPr>
        <p:spPr/>
        <p:txBody>
          <a:bodyPr/>
          <a:lstStyle/>
          <a:p>
            <a:r>
              <a:rPr lang="en-US"/>
              <a:t>Subject Name</a:t>
            </a:r>
            <a:endParaRPr lang="en-US" dirty="0"/>
          </a:p>
        </p:txBody>
      </p:sp>
      <p:sp>
        <p:nvSpPr>
          <p:cNvPr id="6" name="Slide Number Placeholder 5">
            <a:extLst>
              <a:ext uri="{FF2B5EF4-FFF2-40B4-BE49-F238E27FC236}">
                <a16:creationId xmlns="" xmlns:a16="http://schemas.microsoft.com/office/drawing/2014/main" id="{9FD03C7E-8755-DA48-8510-BD952A82333E}"/>
              </a:ext>
            </a:extLst>
          </p:cNvPr>
          <p:cNvSpPr>
            <a:spLocks noGrp="1"/>
          </p:cNvSpPr>
          <p:nvPr>
            <p:ph type="sldNum" sz="quarter" idx="12"/>
          </p:nvPr>
        </p:nvSpPr>
        <p:spPr/>
        <p:txBody>
          <a:bodyPr/>
          <a:lstStyle/>
          <a:p>
            <a:fld id="{B9BA5F68-B450-774B-A94B-86322AF8B758}" type="slidenum">
              <a:rPr lang="en-US" smtClean="0"/>
              <a:t>‹#›</a:t>
            </a:fld>
            <a:endParaRPr lang="en-US"/>
          </a:p>
        </p:txBody>
      </p:sp>
      <p:pic>
        <p:nvPicPr>
          <p:cNvPr id="8" name="Picture 7">
            <a:extLst>
              <a:ext uri="{FF2B5EF4-FFF2-40B4-BE49-F238E27FC236}">
                <a16:creationId xmlns="" xmlns:a16="http://schemas.microsoft.com/office/drawing/2014/main" id="{338C6B40-493E-D545-8618-31916324F2BA}"/>
              </a:ext>
            </a:extLst>
          </p:cNvPr>
          <p:cNvPicPr>
            <a:picLocks noChangeAspect="1"/>
          </p:cNvPicPr>
          <p:nvPr/>
        </p:nvPicPr>
        <p:blipFill>
          <a:blip r:embed="rId2"/>
          <a:stretch>
            <a:fillRect/>
          </a:stretch>
        </p:blipFill>
        <p:spPr>
          <a:xfrm>
            <a:off x="414338" y="278924"/>
            <a:ext cx="4600575" cy="843439"/>
          </a:xfrm>
          <a:prstGeom prst="rect">
            <a:avLst/>
          </a:prstGeom>
        </p:spPr>
      </p:pic>
    </p:spTree>
    <p:extLst>
      <p:ext uri="{BB962C8B-B14F-4D97-AF65-F5344CB8AC3E}">
        <p14:creationId xmlns:p14="http://schemas.microsoft.com/office/powerpoint/2010/main" val="99570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4C2816-FC3E-3244-B2EB-CEB70C88E508}"/>
              </a:ext>
            </a:extLst>
          </p:cNvPr>
          <p:cNvSpPr>
            <a:spLocks noGrp="1"/>
          </p:cNvSpPr>
          <p:nvPr>
            <p:ph type="title"/>
          </p:nvPr>
        </p:nvSpPr>
        <p:spPr>
          <a:xfrm>
            <a:off x="838200" y="263301"/>
            <a:ext cx="10515600" cy="663575"/>
          </a:xfrm>
        </p:spPr>
        <p:txBody>
          <a:bodyPr>
            <a:normAutofit/>
          </a:bodyPr>
          <a:lstStyle>
            <a:lvl1pPr>
              <a:defRPr sz="2800">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B6358429-6D80-3644-9565-0A158FEB660D}"/>
              </a:ext>
            </a:extLst>
          </p:cNvPr>
          <p:cNvSpPr>
            <a:spLocks noGrp="1"/>
          </p:cNvSpPr>
          <p:nvPr>
            <p:ph idx="1"/>
          </p:nvPr>
        </p:nvSpPr>
        <p:spPr>
          <a:xfrm>
            <a:off x="838200" y="1074057"/>
            <a:ext cx="10515600" cy="512843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07A60295-D28D-5342-864C-DFD74E3BF4AC}"/>
              </a:ext>
            </a:extLst>
          </p:cNvPr>
          <p:cNvSpPr>
            <a:spLocks noGrp="1"/>
          </p:cNvSpPr>
          <p:nvPr>
            <p:ph type="dt" sz="half" idx="10"/>
          </p:nvPr>
        </p:nvSpPr>
        <p:spPr>
          <a:xfrm>
            <a:off x="838199" y="6356350"/>
            <a:ext cx="1382488" cy="365125"/>
          </a:xfrm>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20084FDE-39E1-CC43-ADEC-A2E40B807239}"/>
              </a:ext>
            </a:extLst>
          </p:cNvPr>
          <p:cNvSpPr>
            <a:spLocks noGrp="1"/>
          </p:cNvSpPr>
          <p:nvPr>
            <p:ph type="ftr" sz="quarter" idx="11"/>
          </p:nvPr>
        </p:nvSpPr>
        <p:spPr>
          <a:xfrm>
            <a:off x="2365514" y="6356350"/>
            <a:ext cx="7489686" cy="365125"/>
          </a:xfrm>
        </p:spPr>
        <p:txBody>
          <a:bodyPr/>
          <a:lstStyle/>
          <a:p>
            <a:r>
              <a:rPr lang="en-US"/>
              <a:t>Subject Name</a:t>
            </a:r>
          </a:p>
        </p:txBody>
      </p:sp>
      <p:sp>
        <p:nvSpPr>
          <p:cNvPr id="6" name="Slide Number Placeholder 5">
            <a:extLst>
              <a:ext uri="{FF2B5EF4-FFF2-40B4-BE49-F238E27FC236}">
                <a16:creationId xmlns="" xmlns:a16="http://schemas.microsoft.com/office/drawing/2014/main" id="{24CBCC03-BB7B-8F4A-BDC0-0497BB610957}"/>
              </a:ext>
            </a:extLst>
          </p:cNvPr>
          <p:cNvSpPr>
            <a:spLocks noGrp="1"/>
          </p:cNvSpPr>
          <p:nvPr>
            <p:ph type="sldNum" sz="quarter" idx="12"/>
          </p:nvPr>
        </p:nvSpPr>
        <p:spPr>
          <a:xfrm>
            <a:off x="10000340" y="6356350"/>
            <a:ext cx="1353459" cy="365125"/>
          </a:xfrm>
        </p:spPr>
        <p:txBody>
          <a:bodyPr/>
          <a:lstStyle/>
          <a:p>
            <a:fld id="{B9BA5F68-B450-774B-A94B-86322AF8B758}" type="slidenum">
              <a:rPr lang="en-US" smtClean="0"/>
              <a:t>‹#›</a:t>
            </a:fld>
            <a:endParaRPr lang="en-US" dirty="0"/>
          </a:p>
        </p:txBody>
      </p:sp>
    </p:spTree>
    <p:extLst>
      <p:ext uri="{BB962C8B-B14F-4D97-AF65-F5344CB8AC3E}">
        <p14:creationId xmlns:p14="http://schemas.microsoft.com/office/powerpoint/2010/main" val="253278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2987CA-DEB8-1246-A8A0-FC212DE453AF}"/>
              </a:ext>
            </a:extLst>
          </p:cNvPr>
          <p:cNvSpPr>
            <a:spLocks noGrp="1"/>
          </p:cNvSpPr>
          <p:nvPr>
            <p:ph type="title"/>
          </p:nvPr>
        </p:nvSpPr>
        <p:spPr>
          <a:xfrm>
            <a:off x="831850" y="1709738"/>
            <a:ext cx="10515600" cy="2852737"/>
          </a:xfrm>
        </p:spPr>
        <p:txBody>
          <a:bodyPr anchor="b"/>
          <a:lstStyle>
            <a:lvl1pPr>
              <a:defRPr sz="6000">
                <a:solidFill>
                  <a:srgbClr val="002060"/>
                </a:solidFill>
              </a:defRPr>
            </a:lvl1pPr>
          </a:lstStyle>
          <a:p>
            <a:r>
              <a:rPr lang="en-US"/>
              <a:t>Click to edit Master title style</a:t>
            </a:r>
          </a:p>
        </p:txBody>
      </p:sp>
      <p:sp>
        <p:nvSpPr>
          <p:cNvPr id="3" name="Text Placeholder 2">
            <a:extLst>
              <a:ext uri="{FF2B5EF4-FFF2-40B4-BE49-F238E27FC236}">
                <a16:creationId xmlns="" xmlns:a16="http://schemas.microsoft.com/office/drawing/2014/main" id="{EAA34C65-DEA5-8F4A-A14B-0DF1A1E68918}"/>
              </a:ext>
            </a:extLst>
          </p:cNvPr>
          <p:cNvSpPr>
            <a:spLocks noGrp="1"/>
          </p:cNvSpPr>
          <p:nvPr>
            <p:ph type="body" idx="1"/>
          </p:nvPr>
        </p:nvSpPr>
        <p:spPr>
          <a:xfrm>
            <a:off x="831850" y="4589463"/>
            <a:ext cx="10515600" cy="1500187"/>
          </a:xfrm>
        </p:spPr>
        <p:txBody>
          <a:bodyPr/>
          <a:lstStyle>
            <a:lvl1pPr marL="0" indent="0">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1EFB5CC9-D24D-8D45-94E1-B8A6F082E35A}"/>
              </a:ext>
            </a:extLst>
          </p:cNvPr>
          <p:cNvSpPr>
            <a:spLocks noGrp="1"/>
          </p:cNvSpPr>
          <p:nvPr>
            <p:ph type="dt" sz="half" idx="10"/>
          </p:nvPr>
        </p:nvSpPr>
        <p:spPr>
          <a:xfrm>
            <a:off x="838200" y="6364028"/>
            <a:ext cx="1367971" cy="365125"/>
          </a:xfrm>
        </p:spPr>
        <p:txBody>
          <a:bodyPr/>
          <a:lstStyle/>
          <a:p>
            <a:r>
              <a:rPr lang="en-US"/>
              <a:t>© VTCA</a:t>
            </a:r>
          </a:p>
        </p:txBody>
      </p:sp>
      <p:sp>
        <p:nvSpPr>
          <p:cNvPr id="5" name="Footer Placeholder 4">
            <a:extLst>
              <a:ext uri="{FF2B5EF4-FFF2-40B4-BE49-F238E27FC236}">
                <a16:creationId xmlns="" xmlns:a16="http://schemas.microsoft.com/office/drawing/2014/main" id="{DBD43B7A-936C-F047-BD4A-CCBB3D41F0DF}"/>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96EEEBFE-C4A6-0541-B16A-380D3EAAB96F}"/>
              </a:ext>
            </a:extLst>
          </p:cNvPr>
          <p:cNvSpPr>
            <a:spLocks noGrp="1"/>
          </p:cNvSpPr>
          <p:nvPr>
            <p:ph type="sldNum" sz="quarter" idx="12"/>
          </p:nvPr>
        </p:nvSpPr>
        <p:spPr>
          <a:xfrm>
            <a:off x="10014856" y="6356350"/>
            <a:ext cx="1338943" cy="365125"/>
          </a:xfrm>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4571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56102A-A1F7-3842-AAEA-F5C7311EA1B8}"/>
              </a:ext>
            </a:extLst>
          </p:cNvPr>
          <p:cNvSpPr>
            <a:spLocks noGrp="1"/>
          </p:cNvSpPr>
          <p:nvPr>
            <p:ph type="title"/>
          </p:nvPr>
        </p:nvSpPr>
        <p:spPr>
          <a:xfrm>
            <a:off x="838200" y="278042"/>
            <a:ext cx="10515600" cy="635000"/>
          </a:xfrm>
        </p:spPr>
        <p:txBody>
          <a:bodyPr/>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F08251E2-F43C-F64D-B993-CE6609ED119D}"/>
              </a:ext>
            </a:extLst>
          </p:cNvPr>
          <p:cNvSpPr>
            <a:spLocks noGrp="1"/>
          </p:cNvSpPr>
          <p:nvPr>
            <p:ph sz="half" idx="1"/>
          </p:nvPr>
        </p:nvSpPr>
        <p:spPr>
          <a:xfrm>
            <a:off x="838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 xmlns:a16="http://schemas.microsoft.com/office/drawing/2014/main" id="{8704EDDE-EE3F-8F4B-9C7A-83E0406455BE}"/>
              </a:ext>
            </a:extLst>
          </p:cNvPr>
          <p:cNvSpPr>
            <a:spLocks noGrp="1"/>
          </p:cNvSpPr>
          <p:nvPr>
            <p:ph sz="half" idx="2"/>
          </p:nvPr>
        </p:nvSpPr>
        <p:spPr>
          <a:xfrm>
            <a:off x="6172200" y="1092429"/>
            <a:ext cx="5181600" cy="5084534"/>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 xmlns:a16="http://schemas.microsoft.com/office/drawing/2014/main" id="{E9E15ADE-643D-314B-865E-D1A74E171C8E}"/>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7C066CD4-6B44-554D-8C3E-1CC265FA54D3}"/>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5905A39C-E79D-054D-AA55-AE55FBA281B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6874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1FA0EE-3CC4-5243-A94C-6FACDA7F8445}"/>
              </a:ext>
            </a:extLst>
          </p:cNvPr>
          <p:cNvSpPr>
            <a:spLocks noGrp="1"/>
          </p:cNvSpPr>
          <p:nvPr>
            <p:ph type="title"/>
          </p:nvPr>
        </p:nvSpPr>
        <p:spPr>
          <a:xfrm>
            <a:off x="839788" y="263527"/>
            <a:ext cx="10515600" cy="663575"/>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40930389-7090-CD40-BEBF-0637D2031B24}"/>
              </a:ext>
            </a:extLst>
          </p:cNvPr>
          <p:cNvSpPr>
            <a:spLocks noGrp="1"/>
          </p:cNvSpPr>
          <p:nvPr>
            <p:ph type="body" idx="1"/>
          </p:nvPr>
        </p:nvSpPr>
        <p:spPr>
          <a:xfrm>
            <a:off x="836612" y="1197884"/>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8DBABA1-0B0C-5D41-BD03-AF3497DBF438}"/>
              </a:ext>
            </a:extLst>
          </p:cNvPr>
          <p:cNvSpPr>
            <a:spLocks noGrp="1"/>
          </p:cNvSpPr>
          <p:nvPr>
            <p:ph sz="half" idx="2"/>
          </p:nvPr>
        </p:nvSpPr>
        <p:spPr>
          <a:xfrm>
            <a:off x="839788" y="2021796"/>
            <a:ext cx="5157787"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923744A-9292-8949-A87C-3B6979EA7CA4}"/>
              </a:ext>
            </a:extLst>
          </p:cNvPr>
          <p:cNvSpPr>
            <a:spLocks noGrp="1"/>
          </p:cNvSpPr>
          <p:nvPr>
            <p:ph type="body" sz="quarter" idx="3"/>
          </p:nvPr>
        </p:nvSpPr>
        <p:spPr>
          <a:xfrm>
            <a:off x="6194427" y="1197884"/>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 xmlns:a16="http://schemas.microsoft.com/office/drawing/2014/main" id="{951ADD4A-DB10-FB4A-A9BA-9D3DB500D4B5}"/>
              </a:ext>
            </a:extLst>
          </p:cNvPr>
          <p:cNvSpPr>
            <a:spLocks noGrp="1"/>
          </p:cNvSpPr>
          <p:nvPr>
            <p:ph sz="quarter" idx="4"/>
          </p:nvPr>
        </p:nvSpPr>
        <p:spPr>
          <a:xfrm>
            <a:off x="6172200" y="2021796"/>
            <a:ext cx="5183188" cy="41678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 xmlns:a16="http://schemas.microsoft.com/office/drawing/2014/main" id="{57B58B35-25F2-6941-BC63-14140DB153E2}"/>
              </a:ext>
            </a:extLst>
          </p:cNvPr>
          <p:cNvSpPr>
            <a:spLocks noGrp="1"/>
          </p:cNvSpPr>
          <p:nvPr>
            <p:ph type="dt" sz="half" idx="10"/>
          </p:nvPr>
        </p:nvSpPr>
        <p:spPr/>
        <p:txBody>
          <a:bodyPr/>
          <a:lstStyle/>
          <a:p>
            <a:r>
              <a:rPr lang="en-US"/>
              <a:t>© VTCA</a:t>
            </a:r>
          </a:p>
        </p:txBody>
      </p:sp>
      <p:sp>
        <p:nvSpPr>
          <p:cNvPr id="8" name="Footer Placeholder 7">
            <a:extLst>
              <a:ext uri="{FF2B5EF4-FFF2-40B4-BE49-F238E27FC236}">
                <a16:creationId xmlns="" xmlns:a16="http://schemas.microsoft.com/office/drawing/2014/main" id="{7A4CB44E-6D22-DC48-8A79-8CC24323AB88}"/>
              </a:ext>
            </a:extLst>
          </p:cNvPr>
          <p:cNvSpPr>
            <a:spLocks noGrp="1"/>
          </p:cNvSpPr>
          <p:nvPr>
            <p:ph type="ftr" sz="quarter" idx="11"/>
          </p:nvPr>
        </p:nvSpPr>
        <p:spPr/>
        <p:txBody>
          <a:bodyPr/>
          <a:lstStyle/>
          <a:p>
            <a:r>
              <a:rPr lang="en-US"/>
              <a:t>Subject Name</a:t>
            </a:r>
          </a:p>
        </p:txBody>
      </p:sp>
      <p:sp>
        <p:nvSpPr>
          <p:cNvPr id="9" name="Slide Number Placeholder 8">
            <a:extLst>
              <a:ext uri="{FF2B5EF4-FFF2-40B4-BE49-F238E27FC236}">
                <a16:creationId xmlns="" xmlns:a16="http://schemas.microsoft.com/office/drawing/2014/main" id="{14AC1E52-5D18-5A4D-B7CC-7DB931B3D35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96089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E28F28-5514-3C4F-8F16-87F0D27BFC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6E8C3861-35A6-C04A-AF18-0494795E52DC}"/>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964A6BF7-1B35-7B45-8465-DA95BDF4F1F8}"/>
              </a:ext>
            </a:extLst>
          </p:cNvPr>
          <p:cNvSpPr>
            <a:spLocks noGrp="1"/>
          </p:cNvSpPr>
          <p:nvPr>
            <p:ph type="ftr" sz="quarter" idx="11"/>
          </p:nvPr>
        </p:nvSpPr>
        <p:spPr/>
        <p:txBody>
          <a:bodyPr/>
          <a:lstStyle/>
          <a:p>
            <a:r>
              <a:rPr lang="en-US"/>
              <a:t>Subject Name</a:t>
            </a:r>
          </a:p>
        </p:txBody>
      </p:sp>
      <p:sp>
        <p:nvSpPr>
          <p:cNvPr id="5" name="Slide Number Placeholder 4">
            <a:extLst>
              <a:ext uri="{FF2B5EF4-FFF2-40B4-BE49-F238E27FC236}">
                <a16:creationId xmlns="" xmlns:a16="http://schemas.microsoft.com/office/drawing/2014/main" id="{182ECE7A-5E3E-FA41-A2CF-2170043C16A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185209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012E6E-C79E-5B49-9FDF-F6705D37C5C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2D2BB082-60EA-F742-971F-16B6DC7F2F04}"/>
              </a:ext>
            </a:extLst>
          </p:cNvPr>
          <p:cNvSpPr>
            <a:spLocks noGrp="1"/>
          </p:cNvSpPr>
          <p:nvPr>
            <p:ph idx="1"/>
          </p:nvPr>
        </p:nvSpPr>
        <p:spPr>
          <a:xfrm>
            <a:off x="4943344" y="987425"/>
            <a:ext cx="6408867" cy="52101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 xmlns:a16="http://schemas.microsoft.com/office/drawing/2014/main" id="{0D0DA2A8-A776-FA4A-A5B2-6088AA8A5EF7}"/>
              </a:ext>
            </a:extLst>
          </p:cNvPr>
          <p:cNvSpPr>
            <a:spLocks noGrp="1"/>
          </p:cNvSpPr>
          <p:nvPr>
            <p:ph type="body" sz="half" idx="2"/>
          </p:nvPr>
        </p:nvSpPr>
        <p:spPr>
          <a:xfrm>
            <a:off x="839788" y="2057400"/>
            <a:ext cx="3932237" cy="4140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F9C5211-987C-0E4C-8A65-096CAF941FE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A7EC83AD-025F-B541-9368-2FEDDC6B1D1D}"/>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D0C98FAB-9E39-4442-B432-009E972C220A}"/>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8629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33CED7-2E22-7046-B671-644D9867C310}"/>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E4637231-3259-8148-A59B-BCA49EE18422}"/>
              </a:ext>
            </a:extLst>
          </p:cNvPr>
          <p:cNvSpPr>
            <a:spLocks noGrp="1"/>
          </p:cNvSpPr>
          <p:nvPr>
            <p:ph type="pic" idx="1"/>
          </p:nvPr>
        </p:nvSpPr>
        <p:spPr>
          <a:xfrm>
            <a:off x="5183188" y="987425"/>
            <a:ext cx="6172200" cy="52035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 xmlns:a16="http://schemas.microsoft.com/office/drawing/2014/main" id="{51F3E8CD-A682-AC45-B9C3-5CB1873728F1}"/>
              </a:ext>
            </a:extLst>
          </p:cNvPr>
          <p:cNvSpPr>
            <a:spLocks noGrp="1"/>
          </p:cNvSpPr>
          <p:nvPr>
            <p:ph type="body" sz="half" idx="2"/>
          </p:nvPr>
        </p:nvSpPr>
        <p:spPr>
          <a:xfrm>
            <a:off x="839788" y="2057400"/>
            <a:ext cx="3932237" cy="41335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B6DDB3D-EBBA-E54E-957D-18F54AC5AE6F}"/>
              </a:ext>
            </a:extLst>
          </p:cNvPr>
          <p:cNvSpPr>
            <a:spLocks noGrp="1"/>
          </p:cNvSpPr>
          <p:nvPr>
            <p:ph type="dt" sz="half" idx="10"/>
          </p:nvPr>
        </p:nvSpPr>
        <p:spPr/>
        <p:txBody>
          <a:bodyPr/>
          <a:lstStyle/>
          <a:p>
            <a:r>
              <a:rPr lang="en-US"/>
              <a:t>© VTCA</a:t>
            </a:r>
          </a:p>
        </p:txBody>
      </p:sp>
      <p:sp>
        <p:nvSpPr>
          <p:cNvPr id="6" name="Footer Placeholder 5">
            <a:extLst>
              <a:ext uri="{FF2B5EF4-FFF2-40B4-BE49-F238E27FC236}">
                <a16:creationId xmlns="" xmlns:a16="http://schemas.microsoft.com/office/drawing/2014/main" id="{EE068683-9DAF-2949-BB77-A0BA807B4E8A}"/>
              </a:ext>
            </a:extLst>
          </p:cNvPr>
          <p:cNvSpPr>
            <a:spLocks noGrp="1"/>
          </p:cNvSpPr>
          <p:nvPr>
            <p:ph type="ftr" sz="quarter" idx="11"/>
          </p:nvPr>
        </p:nvSpPr>
        <p:spPr/>
        <p:txBody>
          <a:bodyPr/>
          <a:lstStyle/>
          <a:p>
            <a:r>
              <a:rPr lang="en-US"/>
              <a:t>Subject Name</a:t>
            </a:r>
          </a:p>
        </p:txBody>
      </p:sp>
      <p:sp>
        <p:nvSpPr>
          <p:cNvPr id="7" name="Slide Number Placeholder 6">
            <a:extLst>
              <a:ext uri="{FF2B5EF4-FFF2-40B4-BE49-F238E27FC236}">
                <a16:creationId xmlns="" xmlns:a16="http://schemas.microsoft.com/office/drawing/2014/main" id="{03031D61-53FD-B847-BC95-73B6763ADD61}"/>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31788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0BD9D8-CC86-7E4D-A036-7F666D58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B41D8279-4EB5-1B4C-AC96-6DA0B332F4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9FF71BE1-3E91-AC49-9604-441E4DD3A9C7}"/>
              </a:ext>
            </a:extLst>
          </p:cNvPr>
          <p:cNvSpPr>
            <a:spLocks noGrp="1"/>
          </p:cNvSpPr>
          <p:nvPr>
            <p:ph type="dt" sz="half" idx="10"/>
          </p:nvPr>
        </p:nvSpPr>
        <p:spPr/>
        <p:txBody>
          <a:bodyPr/>
          <a:lstStyle/>
          <a:p>
            <a:r>
              <a:rPr lang="en-US"/>
              <a:t>© VTCA</a:t>
            </a:r>
          </a:p>
        </p:txBody>
      </p:sp>
      <p:sp>
        <p:nvSpPr>
          <p:cNvPr id="5" name="Footer Placeholder 4">
            <a:extLst>
              <a:ext uri="{FF2B5EF4-FFF2-40B4-BE49-F238E27FC236}">
                <a16:creationId xmlns="" xmlns:a16="http://schemas.microsoft.com/office/drawing/2014/main" id="{7C5F1837-E4C0-A34F-B38C-CBF0D65B8F14}"/>
              </a:ext>
            </a:extLst>
          </p:cNvPr>
          <p:cNvSpPr>
            <a:spLocks noGrp="1"/>
          </p:cNvSpPr>
          <p:nvPr>
            <p:ph type="ftr" sz="quarter" idx="11"/>
          </p:nvPr>
        </p:nvSpPr>
        <p:spPr/>
        <p:txBody>
          <a:bodyPr/>
          <a:lstStyle/>
          <a:p>
            <a:r>
              <a:rPr lang="en-US"/>
              <a:t>Subject Name</a:t>
            </a:r>
          </a:p>
        </p:txBody>
      </p:sp>
      <p:sp>
        <p:nvSpPr>
          <p:cNvPr id="6" name="Slide Number Placeholder 5">
            <a:extLst>
              <a:ext uri="{FF2B5EF4-FFF2-40B4-BE49-F238E27FC236}">
                <a16:creationId xmlns="" xmlns:a16="http://schemas.microsoft.com/office/drawing/2014/main" id="{AE605FF2-DF89-7143-8050-5F1B7B5C51E8}"/>
              </a:ext>
            </a:extLst>
          </p:cNvPr>
          <p:cNvSpPr>
            <a:spLocks noGrp="1"/>
          </p:cNvSpPr>
          <p:nvPr>
            <p:ph type="sldNum" sz="quarter" idx="12"/>
          </p:nvPr>
        </p:nvSpPr>
        <p:spPr/>
        <p:txBody>
          <a:bodyPr/>
          <a:lstStyle/>
          <a:p>
            <a:fld id="{B9BA5F68-B450-774B-A94B-86322AF8B758}" type="slidenum">
              <a:rPr lang="en-US" smtClean="0"/>
              <a:t>‹#›</a:t>
            </a:fld>
            <a:endParaRPr lang="en-US"/>
          </a:p>
        </p:txBody>
      </p:sp>
    </p:spTree>
    <p:extLst>
      <p:ext uri="{BB962C8B-B14F-4D97-AF65-F5344CB8AC3E}">
        <p14:creationId xmlns:p14="http://schemas.microsoft.com/office/powerpoint/2010/main" val="277591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217324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E76845-31B4-A14F-BE09-5BC746846C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D453081-AC87-8048-8BE9-CB8C3F24F035}"/>
              </a:ext>
            </a:extLst>
          </p:cNvPr>
          <p:cNvSpPr>
            <a:spLocks noGrp="1"/>
          </p:cNvSpPr>
          <p:nvPr>
            <p:ph type="dt" sz="half" idx="10"/>
          </p:nvPr>
        </p:nvSpPr>
        <p:spPr/>
        <p:txBody>
          <a:bodyPr/>
          <a:lstStyle/>
          <a:p>
            <a:r>
              <a:rPr lang="en-US"/>
              <a:t>© VTCA</a:t>
            </a:r>
          </a:p>
        </p:txBody>
      </p:sp>
      <p:sp>
        <p:nvSpPr>
          <p:cNvPr id="4" name="Footer Placeholder 3">
            <a:extLst>
              <a:ext uri="{FF2B5EF4-FFF2-40B4-BE49-F238E27FC236}">
                <a16:creationId xmlns="" xmlns:a16="http://schemas.microsoft.com/office/drawing/2014/main" id="{2C587348-DA5D-AE48-989D-AC1F04AC6E32}"/>
              </a:ext>
            </a:extLst>
          </p:cNvPr>
          <p:cNvSpPr>
            <a:spLocks noGrp="1"/>
          </p:cNvSpPr>
          <p:nvPr>
            <p:ph type="ftr" sz="quarter" idx="11"/>
          </p:nvPr>
        </p:nvSpPr>
        <p:spPr/>
        <p:txBody>
          <a:bodyPr/>
          <a:lstStyle/>
          <a:p>
            <a:r>
              <a:rPr lang="en-US"/>
              <a:t>Subject Name</a:t>
            </a:r>
            <a:endParaRPr lang="en-US" dirty="0"/>
          </a:p>
        </p:txBody>
      </p:sp>
      <p:sp>
        <p:nvSpPr>
          <p:cNvPr id="5" name="Slide Number Placeholder 4">
            <a:extLst>
              <a:ext uri="{FF2B5EF4-FFF2-40B4-BE49-F238E27FC236}">
                <a16:creationId xmlns="" xmlns:a16="http://schemas.microsoft.com/office/drawing/2014/main" id="{F16211B5-930B-3C46-87F0-174D78E04F66}"/>
              </a:ext>
            </a:extLst>
          </p:cNvPr>
          <p:cNvSpPr>
            <a:spLocks noGrp="1"/>
          </p:cNvSpPr>
          <p:nvPr>
            <p:ph type="sldNum" sz="quarter" idx="12"/>
          </p:nvPr>
        </p:nvSpPr>
        <p:spPr/>
        <p:txBody>
          <a:bodyPr/>
          <a:lstStyle/>
          <a:p>
            <a:fld id="{B9BA5F68-B450-774B-A94B-86322AF8B758}" type="slidenum">
              <a:rPr lang="en-US" smtClean="0"/>
              <a:pPr/>
              <a:t>‹#›</a:t>
            </a:fld>
            <a:endParaRPr lang="en-US"/>
          </a:p>
        </p:txBody>
      </p:sp>
    </p:spTree>
    <p:extLst>
      <p:ext uri="{BB962C8B-B14F-4D97-AF65-F5344CB8AC3E}">
        <p14:creationId xmlns:p14="http://schemas.microsoft.com/office/powerpoint/2010/main" val="1508170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 xmlns:a16="http://schemas.microsoft.com/office/drawing/2014/main" id="{A4C0672D-63A5-7F4F-996A-A49C94A186D4}"/>
              </a:ext>
            </a:extLst>
          </p:cNvPr>
          <p:cNvPicPr>
            <a:picLocks noChangeAspect="1"/>
          </p:cNvPicPr>
          <p:nvPr/>
        </p:nvPicPr>
        <p:blipFill>
          <a:blip r:embed="rId13"/>
          <a:stretch>
            <a:fillRect/>
          </a:stretch>
        </p:blipFill>
        <p:spPr>
          <a:xfrm>
            <a:off x="-17315" y="345287"/>
            <a:ext cx="12192000" cy="475488"/>
          </a:xfrm>
          <a:prstGeom prst="rect">
            <a:avLst/>
          </a:prstGeom>
        </p:spPr>
      </p:pic>
      <p:sp>
        <p:nvSpPr>
          <p:cNvPr id="2" name="Title Placeholder 1">
            <a:extLst>
              <a:ext uri="{FF2B5EF4-FFF2-40B4-BE49-F238E27FC236}">
                <a16:creationId xmlns="" xmlns:a16="http://schemas.microsoft.com/office/drawing/2014/main" id="{FDEC1233-5907-7143-8A9A-729AB9D49605}"/>
              </a:ext>
            </a:extLst>
          </p:cNvPr>
          <p:cNvSpPr>
            <a:spLocks noGrp="1"/>
          </p:cNvSpPr>
          <p:nvPr>
            <p:ph type="title"/>
          </p:nvPr>
        </p:nvSpPr>
        <p:spPr>
          <a:xfrm>
            <a:off x="838200" y="254955"/>
            <a:ext cx="10515600" cy="6778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C2E4728-1E09-A64F-9A06-2F96BC71F324}"/>
              </a:ext>
            </a:extLst>
          </p:cNvPr>
          <p:cNvSpPr>
            <a:spLocks noGrp="1"/>
          </p:cNvSpPr>
          <p:nvPr>
            <p:ph type="body" idx="1"/>
          </p:nvPr>
        </p:nvSpPr>
        <p:spPr>
          <a:xfrm>
            <a:off x="838200" y="1055881"/>
            <a:ext cx="10515600" cy="51417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D314233A-AE14-694A-BB8D-3E28E47EE53A}"/>
              </a:ext>
            </a:extLst>
          </p:cNvPr>
          <p:cNvSpPr>
            <a:spLocks noGrp="1"/>
          </p:cNvSpPr>
          <p:nvPr>
            <p:ph type="dt" sz="half" idx="2"/>
          </p:nvPr>
        </p:nvSpPr>
        <p:spPr>
          <a:xfrm>
            <a:off x="838201" y="6356350"/>
            <a:ext cx="14115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 VTC Academy</a:t>
            </a:r>
          </a:p>
        </p:txBody>
      </p:sp>
      <p:sp>
        <p:nvSpPr>
          <p:cNvPr id="5" name="Footer Placeholder 4">
            <a:extLst>
              <a:ext uri="{FF2B5EF4-FFF2-40B4-BE49-F238E27FC236}">
                <a16:creationId xmlns="" xmlns:a16="http://schemas.microsoft.com/office/drawing/2014/main" id="{85E08028-B976-7C44-A1F6-F7265A55443D}"/>
              </a:ext>
            </a:extLst>
          </p:cNvPr>
          <p:cNvSpPr>
            <a:spLocks noGrp="1"/>
          </p:cNvSpPr>
          <p:nvPr>
            <p:ph type="ftr" sz="quarter" idx="3"/>
          </p:nvPr>
        </p:nvSpPr>
        <p:spPr>
          <a:xfrm>
            <a:off x="2365828" y="6356350"/>
            <a:ext cx="748937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Course Introduction</a:t>
            </a:r>
          </a:p>
        </p:txBody>
      </p:sp>
      <p:sp>
        <p:nvSpPr>
          <p:cNvPr id="6" name="Slide Number Placeholder 5">
            <a:extLst>
              <a:ext uri="{FF2B5EF4-FFF2-40B4-BE49-F238E27FC236}">
                <a16:creationId xmlns="" xmlns:a16="http://schemas.microsoft.com/office/drawing/2014/main" id="{1836F93A-8372-7749-B2E4-1B714A6CCF1E}"/>
              </a:ext>
            </a:extLst>
          </p:cNvPr>
          <p:cNvSpPr>
            <a:spLocks noGrp="1"/>
          </p:cNvSpPr>
          <p:nvPr>
            <p:ph type="sldNum" sz="quarter" idx="4"/>
          </p:nvPr>
        </p:nvSpPr>
        <p:spPr>
          <a:xfrm>
            <a:off x="9985828" y="6356350"/>
            <a:ext cx="136797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BA5F68-B450-774B-A94B-86322AF8B758}" type="slidenum">
              <a:rPr lang="en-US" smtClean="0"/>
              <a:pPr/>
              <a:t>‹#›</a:t>
            </a:fld>
            <a:endParaRPr lang="en-US"/>
          </a:p>
        </p:txBody>
      </p:sp>
      <p:pic>
        <p:nvPicPr>
          <p:cNvPr id="12" name="Picture 11">
            <a:extLst>
              <a:ext uri="{FF2B5EF4-FFF2-40B4-BE49-F238E27FC236}">
                <a16:creationId xmlns="" xmlns:a16="http://schemas.microsoft.com/office/drawing/2014/main" id="{6402E568-18E6-9A43-8CDC-1DF38DFF6BB5}"/>
              </a:ext>
            </a:extLst>
          </p:cNvPr>
          <p:cNvPicPr>
            <a:picLocks noChangeAspect="1"/>
          </p:cNvPicPr>
          <p:nvPr/>
        </p:nvPicPr>
        <p:blipFill>
          <a:blip r:embed="rId14"/>
          <a:stretch>
            <a:fillRect/>
          </a:stretch>
        </p:blipFill>
        <p:spPr>
          <a:xfrm>
            <a:off x="9087694" y="306094"/>
            <a:ext cx="3116019" cy="571270"/>
          </a:xfrm>
          <a:prstGeom prst="rect">
            <a:avLst/>
          </a:prstGeom>
        </p:spPr>
      </p:pic>
    </p:spTree>
    <p:extLst>
      <p:ext uri="{BB962C8B-B14F-4D97-AF65-F5344CB8AC3E}">
        <p14:creationId xmlns:p14="http://schemas.microsoft.com/office/powerpoint/2010/main" val="178060349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5" r:id="rId7"/>
    <p:sldLayoutId id="2147483686" r:id="rId8"/>
    <p:sldLayoutId id="2147483687" r:id="rId9"/>
    <p:sldLayoutId id="2147483688" r:id="rId10"/>
    <p:sldLayoutId id="214748368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docs.oracle.com/javase/tutorial/java/javaOO/classdecl.html" TargetMode="External"/><Relationship Id="rId3" Type="http://schemas.openxmlformats.org/officeDocument/2006/relationships/hyperlink" Target="https://www.w3schools.com/java/java_classes.asp" TargetMode="External"/><Relationship Id="rId7" Type="http://schemas.openxmlformats.org/officeDocument/2006/relationships/hyperlink" Target="https://docs.oracle.com/javase/tutorial/java/javaOO/variables.html" TargetMode="External"/><Relationship Id="rId2" Type="http://schemas.openxmlformats.org/officeDocument/2006/relationships/hyperlink" Target="https://www.geeksforgeeks.org/classes-objects-java/" TargetMode="External"/><Relationship Id="rId1" Type="http://schemas.openxmlformats.org/officeDocument/2006/relationships/slideLayout" Target="../slideLayouts/slideLayout2.xml"/><Relationship Id="rId6" Type="http://schemas.openxmlformats.org/officeDocument/2006/relationships/hyperlink" Target="https://www.programiz.com/java-programming/class-objects" TargetMode="External"/><Relationship Id="rId5" Type="http://schemas.openxmlformats.org/officeDocument/2006/relationships/hyperlink" Target="https://www.guru99.com/java-oops-class-objects.html" TargetMode="External"/><Relationship Id="rId10" Type="http://schemas.openxmlformats.org/officeDocument/2006/relationships/hyperlink" Target="https://www.baeldung.com/java-classes-objects" TargetMode="External"/><Relationship Id="rId4" Type="http://schemas.openxmlformats.org/officeDocument/2006/relationships/hyperlink" Target="https://www.javatpoint.com/object-and-class-in-java" TargetMode="External"/><Relationship Id="rId9" Type="http://schemas.openxmlformats.org/officeDocument/2006/relationships/hyperlink" Target="https://blog.miyozinc.com/java/class-and-object-in-java/"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 xmlns:a16="http://schemas.microsoft.com/office/drawing/2014/main" id="{33D9EB45-1C59-C541-92E7-6FE421F29085}"/>
              </a:ext>
            </a:extLst>
          </p:cNvPr>
          <p:cNvSpPr>
            <a:spLocks noGrp="1"/>
          </p:cNvSpPr>
          <p:nvPr>
            <p:ph type="ctrTitle"/>
          </p:nvPr>
        </p:nvSpPr>
        <p:spPr/>
        <p:txBody>
          <a:bodyPr/>
          <a:lstStyle/>
          <a:p>
            <a:r>
              <a:rPr lang="en-US" dirty="0"/>
              <a:t>Introduction to Programming</a:t>
            </a:r>
          </a:p>
        </p:txBody>
      </p:sp>
      <p:sp>
        <p:nvSpPr>
          <p:cNvPr id="8" name="Subtitle 7">
            <a:extLst>
              <a:ext uri="{FF2B5EF4-FFF2-40B4-BE49-F238E27FC236}">
                <a16:creationId xmlns="" xmlns:a16="http://schemas.microsoft.com/office/drawing/2014/main" id="{DA0CEDCB-5CE2-1B41-9D8B-CA0EB9D3BBD7}"/>
              </a:ext>
            </a:extLst>
          </p:cNvPr>
          <p:cNvSpPr>
            <a:spLocks noGrp="1"/>
          </p:cNvSpPr>
          <p:nvPr>
            <p:ph type="subTitle" idx="1"/>
          </p:nvPr>
        </p:nvSpPr>
        <p:spPr/>
        <p:txBody>
          <a:bodyPr>
            <a:normAutofit/>
          </a:bodyPr>
          <a:lstStyle/>
          <a:p>
            <a:r>
              <a:rPr lang="en-US" sz="3600" dirty="0"/>
              <a:t>Session </a:t>
            </a:r>
            <a:r>
              <a:rPr lang="en-US" sz="3600" dirty="0" smtClean="0"/>
              <a:t>08</a:t>
            </a:r>
          </a:p>
          <a:p>
            <a:r>
              <a:rPr lang="en-US" sz="3600" dirty="0" smtClean="0"/>
              <a:t>Classes &amp; </a:t>
            </a:r>
            <a:r>
              <a:rPr lang="en-US" sz="3600" dirty="0"/>
              <a:t>O</a:t>
            </a:r>
            <a:r>
              <a:rPr lang="en-US" sz="3600" dirty="0" smtClean="0"/>
              <a:t>bjects in Java</a:t>
            </a:r>
            <a:endParaRPr lang="en-US" sz="3600" dirty="0"/>
          </a:p>
        </p:txBody>
      </p:sp>
    </p:spTree>
    <p:extLst>
      <p:ext uri="{BB962C8B-B14F-4D97-AF65-F5344CB8AC3E}">
        <p14:creationId xmlns:p14="http://schemas.microsoft.com/office/powerpoint/2010/main" val="2854215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Objectives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a:bodyPr>
          <a:lstStyle/>
          <a:p>
            <a:r>
              <a:rPr lang="en-US" sz="3200" dirty="0"/>
              <a:t>What are Classes and </a:t>
            </a:r>
            <a:r>
              <a:rPr lang="en-US" sz="3200" dirty="0" smtClean="0"/>
              <a:t>Objects?</a:t>
            </a:r>
          </a:p>
          <a:p>
            <a:r>
              <a:rPr lang="en-US" sz="3200" dirty="0" smtClean="0"/>
              <a:t>Define </a:t>
            </a:r>
            <a:r>
              <a:rPr lang="en-US" sz="3200" dirty="0"/>
              <a:t>a class in Java</a:t>
            </a:r>
            <a:endParaRPr lang="en-US" sz="3200" dirty="0" smtClean="0"/>
          </a:p>
          <a:p>
            <a:r>
              <a:rPr lang="en-US" sz="3200" dirty="0"/>
              <a:t>Declaring </a:t>
            </a:r>
            <a:r>
              <a:rPr lang="en-US" sz="3200" dirty="0" smtClean="0"/>
              <a:t>Objects</a:t>
            </a:r>
          </a:p>
          <a:p>
            <a:r>
              <a:rPr lang="en-US" sz="3200" dirty="0"/>
              <a:t>How to access members</a:t>
            </a:r>
            <a:r>
              <a:rPr lang="en-US" sz="3200" dirty="0" smtClean="0"/>
              <a:t>?</a:t>
            </a:r>
          </a:p>
          <a:p>
            <a:r>
              <a:rPr lang="en-US" sz="3200" dirty="0"/>
              <a:t>Constructors in </a:t>
            </a:r>
            <a:r>
              <a:rPr lang="en-US" sz="3200" dirty="0" smtClean="0"/>
              <a:t>Java</a:t>
            </a:r>
          </a:p>
          <a:p>
            <a:r>
              <a:rPr lang="en-US" sz="3200" dirty="0" smtClean="0"/>
              <a:t>This keyword</a:t>
            </a:r>
          </a:p>
          <a:p>
            <a:r>
              <a:rPr lang="en-US" sz="3200" dirty="0" smtClean="0"/>
              <a:t>Demo</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a:t>
            </a:fld>
            <a:endParaRPr lang="en-US" dirty="0"/>
          </a:p>
        </p:txBody>
      </p:sp>
    </p:spTree>
    <p:extLst>
      <p:ext uri="{BB962C8B-B14F-4D97-AF65-F5344CB8AC3E}">
        <p14:creationId xmlns:p14="http://schemas.microsoft.com/office/powerpoint/2010/main" val="3088684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What are Classes and </a:t>
            </a:r>
            <a:r>
              <a:rPr lang="en-US" sz="3200" dirty="0" smtClean="0"/>
              <a:t>Objects?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Classes and Objects are basic concepts of Object Oriented Programming which revolve around the real life entities</a:t>
            </a:r>
            <a:r>
              <a:rPr lang="en-US" sz="3200" dirty="0" smtClean="0"/>
              <a:t>.</a:t>
            </a:r>
          </a:p>
          <a:p>
            <a:pPr algn="just" fontAlgn="base"/>
            <a:r>
              <a:rPr lang="en-US" sz="3200" dirty="0" smtClean="0"/>
              <a:t>Java </a:t>
            </a:r>
            <a:r>
              <a:rPr lang="en-US" sz="3200" dirty="0"/>
              <a:t>is an object-oriented programming language</a:t>
            </a:r>
            <a:r>
              <a:rPr lang="en-US" sz="3200" dirty="0" smtClean="0"/>
              <a:t>.</a:t>
            </a:r>
            <a:endParaRPr lang="en-US" sz="3200" dirty="0"/>
          </a:p>
          <a:p>
            <a:pPr algn="just" fontAlgn="base"/>
            <a:r>
              <a:rPr lang="en-US" sz="3200" dirty="0"/>
              <a:t>Everything in Java is associated with classes and objects, along with its attributes and methods. For example: in real life, a car is an object. The car has attributes, such as weight and color, and methods, such as drive and brake</a:t>
            </a:r>
            <a:r>
              <a:rPr lang="en-US" sz="3200" dirty="0" smtClean="0"/>
              <a:t>.</a:t>
            </a:r>
            <a:endParaRPr lang="en-US" sz="3200" dirty="0"/>
          </a:p>
          <a:p>
            <a:pPr algn="just" fontAlgn="base"/>
            <a:r>
              <a:rPr lang="en-US" sz="3200" dirty="0"/>
              <a:t>A Class is like an object constructor, or a "blueprint" for creating objects.</a:t>
            </a:r>
            <a:endParaRPr lang="en-US" sz="3200"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3</a:t>
            </a:fld>
            <a:endParaRPr lang="en-US" dirty="0"/>
          </a:p>
        </p:txBody>
      </p:sp>
    </p:spTree>
    <p:extLst>
      <p:ext uri="{BB962C8B-B14F-4D97-AF65-F5344CB8AC3E}">
        <p14:creationId xmlns:p14="http://schemas.microsoft.com/office/powerpoint/2010/main" val="959564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What are Classes and </a:t>
            </a:r>
            <a:r>
              <a:rPr lang="en-US" sz="3200" dirty="0" smtClean="0"/>
              <a:t>Objects?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92500" lnSpcReduction="10000"/>
          </a:bodyPr>
          <a:lstStyle/>
          <a:p>
            <a:pPr algn="just" fontAlgn="base"/>
            <a:r>
              <a:rPr lang="en-US" sz="3200" dirty="0"/>
              <a:t>A class is an entity that determines how an object will behave and what the object will contain. In other words, it is a blueprint or a set of instruction to build a specific type of object</a:t>
            </a:r>
            <a:r>
              <a:rPr lang="en-US" sz="3200" dirty="0" smtClean="0"/>
              <a:t>.</a:t>
            </a:r>
          </a:p>
          <a:p>
            <a:pPr algn="just" fontAlgn="base"/>
            <a:r>
              <a:rPr lang="en-US" sz="3200" dirty="0"/>
              <a:t>An object is nothing but a self-contained component which consists of methods and properties to make a particular type of data useful. Object determines the behavior of the class. When you send a message to an object, you are asking the object to invoke or execute one of its methods</a:t>
            </a:r>
            <a:r>
              <a:rPr lang="en-US" sz="3200" dirty="0" smtClean="0"/>
              <a:t>.</a:t>
            </a:r>
            <a:endParaRPr lang="en-US" sz="3200" dirty="0"/>
          </a:p>
          <a:p>
            <a:pPr algn="just" fontAlgn="base"/>
            <a:r>
              <a:rPr lang="en-US" sz="3200" dirty="0" smtClean="0"/>
              <a:t>Difference </a:t>
            </a:r>
            <a:r>
              <a:rPr lang="en-US" sz="3200" dirty="0"/>
              <a:t>Between </a:t>
            </a:r>
            <a:r>
              <a:rPr lang="en-US" sz="3200" dirty="0" smtClean="0"/>
              <a:t>Class &amp; </a:t>
            </a:r>
            <a:r>
              <a:rPr lang="en-US" sz="3200" dirty="0"/>
              <a:t>Object </a:t>
            </a:r>
            <a:r>
              <a:rPr lang="en-US" sz="3200" dirty="0" smtClean="0"/>
              <a:t>:</a:t>
            </a:r>
            <a:endParaRPr lang="en-US" sz="3200" dirty="0"/>
          </a:p>
          <a:p>
            <a:pPr lvl="1" algn="just" fontAlgn="base"/>
            <a:r>
              <a:rPr lang="en-US" dirty="0"/>
              <a:t>A class is a blueprint or prototype that defines the variables and the methods (functions) common to all objects of a certain kind</a:t>
            </a:r>
            <a:r>
              <a:rPr lang="en-US" dirty="0" smtClean="0"/>
              <a:t>.</a:t>
            </a:r>
            <a:endParaRPr lang="en-US" dirty="0"/>
          </a:p>
          <a:p>
            <a:pPr lvl="1" algn="just" fontAlgn="base"/>
            <a:r>
              <a:rPr lang="en-US" dirty="0"/>
              <a:t>An object is a specimen of a class. Software objects are often used to model real-world objects you find in everyday life.</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4</a:t>
            </a:fld>
            <a:endParaRPr lang="en-US" dirty="0"/>
          </a:p>
        </p:txBody>
      </p:sp>
    </p:spTree>
    <p:extLst>
      <p:ext uri="{BB962C8B-B14F-4D97-AF65-F5344CB8AC3E}">
        <p14:creationId xmlns:p14="http://schemas.microsoft.com/office/powerpoint/2010/main" val="140261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Classes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A class is a group of objects which have common properties. It is a template or blueprint from which objects are created. It is a logical entity. It can't be physical</a:t>
            </a:r>
            <a:r>
              <a:rPr lang="en-US" sz="3200" dirty="0" smtClean="0"/>
              <a:t>.</a:t>
            </a:r>
            <a:endParaRPr lang="en-US" sz="3200" dirty="0"/>
          </a:p>
          <a:p>
            <a:pPr algn="just" fontAlgn="base"/>
            <a:r>
              <a:rPr lang="en-US" sz="3200" dirty="0"/>
              <a:t>A class in Java can contain</a:t>
            </a:r>
            <a:r>
              <a:rPr lang="en-US" sz="3200" dirty="0" smtClean="0"/>
              <a:t>:</a:t>
            </a:r>
            <a:endParaRPr lang="en-US" sz="3200" dirty="0"/>
          </a:p>
          <a:p>
            <a:pPr lvl="1" algn="just" fontAlgn="base"/>
            <a:r>
              <a:rPr lang="en-US" dirty="0"/>
              <a:t>Fields</a:t>
            </a:r>
          </a:p>
          <a:p>
            <a:pPr lvl="1" algn="just" fontAlgn="base"/>
            <a:r>
              <a:rPr lang="en-US" dirty="0"/>
              <a:t>Methods</a:t>
            </a:r>
          </a:p>
          <a:p>
            <a:pPr lvl="1" algn="just" fontAlgn="base"/>
            <a:r>
              <a:rPr lang="en-US" dirty="0"/>
              <a:t>Constructors</a:t>
            </a:r>
          </a:p>
          <a:p>
            <a:pPr lvl="1" algn="just" fontAlgn="base"/>
            <a:r>
              <a:rPr lang="en-US" dirty="0"/>
              <a:t>Blocks</a:t>
            </a:r>
          </a:p>
          <a:p>
            <a:pPr lvl="1" algn="just" fontAlgn="base"/>
            <a:r>
              <a:rPr lang="en-US" dirty="0"/>
              <a:t>Nested class and interface</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5</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828" y="2041978"/>
            <a:ext cx="2336801" cy="429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430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Define </a:t>
            </a:r>
            <a:r>
              <a:rPr lang="en-US" sz="3200" dirty="0"/>
              <a:t>a class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85000" lnSpcReduction="20000"/>
          </a:bodyPr>
          <a:lstStyle/>
          <a:p>
            <a:pPr algn="just" fontAlgn="base"/>
            <a:r>
              <a:rPr lang="en-US" sz="3200" dirty="0" smtClean="0"/>
              <a:t>Syntax: </a:t>
            </a:r>
            <a:r>
              <a:rPr lang="en-US" sz="3200" i="1" dirty="0" smtClean="0"/>
              <a:t>this is basic syntax, we will discuss </a:t>
            </a:r>
            <a:r>
              <a:rPr lang="en-US" sz="3200" i="1" dirty="0"/>
              <a:t>in detail in OOP </a:t>
            </a:r>
            <a:r>
              <a:rPr lang="en-US" sz="3200" i="1" dirty="0" smtClean="0"/>
              <a:t>subject</a:t>
            </a:r>
            <a:r>
              <a:rPr lang="en-US" sz="3200" dirty="0" smtClean="0"/>
              <a:t>.</a:t>
            </a:r>
          </a:p>
          <a:p>
            <a:pPr marL="457200" lvl="1" indent="0" algn="just" fontAlgn="base">
              <a:buNone/>
            </a:pPr>
            <a:r>
              <a:rPr lang="en-US" b="1" dirty="0" smtClean="0"/>
              <a:t>class </a:t>
            </a:r>
            <a:r>
              <a:rPr lang="en-US" b="1" dirty="0"/>
              <a:t>&lt;</a:t>
            </a:r>
            <a:r>
              <a:rPr lang="en-US" b="1" dirty="0" err="1"/>
              <a:t>class_name</a:t>
            </a:r>
            <a:r>
              <a:rPr lang="en-US" b="1" dirty="0"/>
              <a:t>&gt;{  </a:t>
            </a:r>
          </a:p>
          <a:p>
            <a:pPr marL="457200" lvl="1" indent="0" algn="just" fontAlgn="base">
              <a:buNone/>
            </a:pPr>
            <a:r>
              <a:rPr lang="en-US" b="1" dirty="0"/>
              <a:t>    field;  </a:t>
            </a:r>
            <a:r>
              <a:rPr lang="en-US" b="1" dirty="0" smtClean="0"/>
              <a:t>//similar to declare a variable</a:t>
            </a:r>
            <a:endParaRPr lang="en-US" b="1" dirty="0"/>
          </a:p>
          <a:p>
            <a:pPr marL="457200" lvl="1" indent="0" algn="just" fontAlgn="base">
              <a:buNone/>
            </a:pPr>
            <a:r>
              <a:rPr lang="en-US" b="1" dirty="0"/>
              <a:t>    method;  </a:t>
            </a:r>
            <a:r>
              <a:rPr lang="en-US" b="1" dirty="0" smtClean="0"/>
              <a:t>//</a:t>
            </a:r>
            <a:r>
              <a:rPr lang="en-US" b="1" dirty="0"/>
              <a:t> //similar to declare a </a:t>
            </a:r>
            <a:r>
              <a:rPr lang="en-US" b="1" dirty="0" smtClean="0"/>
              <a:t>function</a:t>
            </a:r>
            <a:endParaRPr lang="en-US" b="1" dirty="0"/>
          </a:p>
          <a:p>
            <a:pPr marL="457200" lvl="1" indent="0" algn="just" fontAlgn="base">
              <a:buNone/>
            </a:pPr>
            <a:r>
              <a:rPr lang="en-US" b="1" dirty="0"/>
              <a:t>} </a:t>
            </a:r>
            <a:endParaRPr lang="en-US" b="1" dirty="0" smtClean="0"/>
          </a:p>
          <a:p>
            <a:pPr algn="just" fontAlgn="base"/>
            <a:r>
              <a:rPr lang="en-US" dirty="0" smtClean="0"/>
              <a:t>Example:</a:t>
            </a:r>
            <a:endParaRPr lang="en-US" dirty="0"/>
          </a:p>
          <a:p>
            <a:pPr marL="457200" lvl="1" indent="0" algn="just" fontAlgn="base">
              <a:buNone/>
            </a:pPr>
            <a:r>
              <a:rPr lang="en-US" dirty="0"/>
              <a:t>class Lamp {</a:t>
            </a:r>
          </a:p>
          <a:p>
            <a:pPr marL="457200" lvl="1" indent="0" algn="just" fontAlgn="base">
              <a:buNone/>
            </a:pPr>
            <a:r>
              <a:rPr lang="en-US" dirty="0"/>
              <a:t>  // </a:t>
            </a:r>
            <a:r>
              <a:rPr lang="en-US" dirty="0" smtClean="0"/>
              <a:t>field</a:t>
            </a:r>
            <a:endParaRPr lang="en-US" dirty="0"/>
          </a:p>
          <a:p>
            <a:pPr marL="457200" lvl="1" indent="0" algn="just" fontAlgn="base">
              <a:buNone/>
            </a:pPr>
            <a:r>
              <a:rPr lang="en-US" dirty="0"/>
              <a:t>  private </a:t>
            </a:r>
            <a:r>
              <a:rPr lang="en-US" dirty="0" err="1"/>
              <a:t>boolean</a:t>
            </a:r>
            <a:r>
              <a:rPr lang="en-US" dirty="0"/>
              <a:t> </a:t>
            </a:r>
            <a:r>
              <a:rPr lang="en-US" dirty="0" err="1"/>
              <a:t>isOn</a:t>
            </a:r>
            <a:r>
              <a:rPr lang="en-US" dirty="0"/>
              <a:t>;</a:t>
            </a:r>
          </a:p>
          <a:p>
            <a:pPr marL="457200" lvl="1" indent="0" algn="just" fontAlgn="base">
              <a:buNone/>
            </a:pPr>
            <a:r>
              <a:rPr lang="en-US" dirty="0"/>
              <a:t>  // method</a:t>
            </a:r>
          </a:p>
          <a:p>
            <a:pPr marL="457200" lvl="1" indent="0" algn="just" fontAlgn="base">
              <a:buNone/>
            </a:pPr>
            <a:r>
              <a:rPr lang="en-US" dirty="0"/>
              <a:t>  public void </a:t>
            </a:r>
            <a:r>
              <a:rPr lang="en-US" dirty="0" err="1"/>
              <a:t>turnOn</a:t>
            </a:r>
            <a:r>
              <a:rPr lang="en-US" dirty="0"/>
              <a:t>() {</a:t>
            </a:r>
          </a:p>
          <a:p>
            <a:pPr marL="457200" lvl="1" indent="0" algn="just" fontAlgn="base">
              <a:buNone/>
            </a:pPr>
            <a:r>
              <a:rPr lang="en-US" dirty="0"/>
              <a:t>    </a:t>
            </a:r>
            <a:r>
              <a:rPr lang="en-US" dirty="0" err="1"/>
              <a:t>isOn</a:t>
            </a:r>
            <a:r>
              <a:rPr lang="en-US" dirty="0"/>
              <a:t> = true;</a:t>
            </a:r>
          </a:p>
          <a:p>
            <a:pPr marL="457200" lvl="1" indent="0" algn="just" fontAlgn="base">
              <a:buNone/>
            </a:pPr>
            <a:r>
              <a:rPr lang="en-US" dirty="0"/>
              <a:t>  }</a:t>
            </a:r>
          </a:p>
          <a:p>
            <a:pPr marL="457200" lvl="1" indent="0" algn="just" fontAlgn="base">
              <a:buNone/>
            </a:pPr>
            <a:r>
              <a:rPr lang="en-US" dirty="0"/>
              <a:t>  // method</a:t>
            </a:r>
          </a:p>
          <a:p>
            <a:pPr marL="457200" lvl="1" indent="0" algn="just" fontAlgn="base">
              <a:buNone/>
            </a:pPr>
            <a:r>
              <a:rPr lang="en-US" dirty="0"/>
              <a:t>  public void </a:t>
            </a:r>
            <a:r>
              <a:rPr lang="en-US" dirty="0" err="1"/>
              <a:t>turnOff</a:t>
            </a:r>
            <a:r>
              <a:rPr lang="en-US" dirty="0"/>
              <a:t>() {</a:t>
            </a:r>
          </a:p>
          <a:p>
            <a:pPr marL="457200" lvl="1" indent="0" algn="just" fontAlgn="base">
              <a:buNone/>
            </a:pPr>
            <a:r>
              <a:rPr lang="en-US" dirty="0"/>
              <a:t>  	</a:t>
            </a:r>
            <a:r>
              <a:rPr lang="en-US" dirty="0" err="1"/>
              <a:t>isOn</a:t>
            </a:r>
            <a:r>
              <a:rPr lang="en-US" dirty="0"/>
              <a:t> = false;</a:t>
            </a:r>
          </a:p>
          <a:p>
            <a:pPr marL="457200" lvl="1" indent="0" algn="just" fontAlgn="base">
              <a:buNone/>
            </a:pPr>
            <a:r>
              <a:rPr lang="en-US" dirty="0"/>
              <a:t>  }</a:t>
            </a:r>
          </a:p>
          <a:p>
            <a:pPr marL="457200" lvl="1" indent="0" algn="just" fontAlgn="base">
              <a:buNone/>
            </a:pPr>
            <a:r>
              <a:rPr lang="en-US" dirty="0"/>
              <a:t>}</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6</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4053113" y="2902857"/>
            <a:ext cx="7703457" cy="3482521"/>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1800" dirty="0"/>
              <a:t>Here, we defined a class named </a:t>
            </a:r>
            <a:r>
              <a:rPr lang="en-US" sz="1800" b="1" dirty="0"/>
              <a:t>Lamp</a:t>
            </a:r>
            <a:r>
              <a:rPr lang="en-US" sz="1800" dirty="0" smtClean="0"/>
              <a:t>.</a:t>
            </a:r>
            <a:endParaRPr lang="en-US" sz="1800" dirty="0"/>
          </a:p>
          <a:p>
            <a:pPr algn="just" fontAlgn="base">
              <a:lnSpc>
                <a:spcPct val="100000"/>
              </a:lnSpc>
              <a:spcBef>
                <a:spcPts val="0"/>
              </a:spcBef>
            </a:pPr>
            <a:r>
              <a:rPr lang="en-US" sz="1800" dirty="0"/>
              <a:t>The class has one </a:t>
            </a:r>
            <a:r>
              <a:rPr lang="en-US" sz="1800" dirty="0" smtClean="0"/>
              <a:t>field </a:t>
            </a:r>
            <a:r>
              <a:rPr lang="en-US" sz="1800" b="1" dirty="0" err="1" smtClean="0"/>
              <a:t>isOn</a:t>
            </a:r>
            <a:r>
              <a:rPr lang="en-US" sz="1800" dirty="0" smtClean="0"/>
              <a:t> </a:t>
            </a:r>
            <a:r>
              <a:rPr lang="en-US" sz="1800" dirty="0"/>
              <a:t>and two methods </a:t>
            </a:r>
            <a:r>
              <a:rPr lang="en-US" sz="1800" b="1" dirty="0" err="1"/>
              <a:t>turnOn</a:t>
            </a:r>
            <a:r>
              <a:rPr lang="en-US" sz="1800" b="1" dirty="0"/>
              <a:t>() </a:t>
            </a:r>
            <a:r>
              <a:rPr lang="en-US" sz="1800" dirty="0"/>
              <a:t>and </a:t>
            </a:r>
            <a:r>
              <a:rPr lang="en-US" sz="1800" b="1" dirty="0" err="1"/>
              <a:t>turnOff</a:t>
            </a:r>
            <a:r>
              <a:rPr lang="en-US" sz="1800" b="1" dirty="0"/>
              <a:t>()</a:t>
            </a:r>
            <a:r>
              <a:rPr lang="en-US" sz="1800" dirty="0"/>
              <a:t>. These variables and methods defined within a class are called members of the class</a:t>
            </a:r>
            <a:r>
              <a:rPr lang="en-US" sz="1800" dirty="0" smtClean="0"/>
              <a:t>.</a:t>
            </a:r>
          </a:p>
          <a:p>
            <a:pPr algn="just" fontAlgn="base">
              <a:lnSpc>
                <a:spcPct val="100000"/>
              </a:lnSpc>
              <a:spcBef>
                <a:spcPts val="0"/>
              </a:spcBef>
            </a:pPr>
            <a:r>
              <a:rPr lang="en-US" sz="1800" dirty="0"/>
              <a:t>Notice two keywords, </a:t>
            </a:r>
            <a:r>
              <a:rPr lang="en-US" sz="1800" b="1" dirty="0"/>
              <a:t>private and public </a:t>
            </a:r>
            <a:r>
              <a:rPr lang="en-US" sz="1800" dirty="0"/>
              <a:t>in the above program. These are access modifiers which will be discussed in detail in </a:t>
            </a:r>
            <a:r>
              <a:rPr lang="en-US" sz="1800" dirty="0" smtClean="0"/>
              <a:t>OOP subject. </a:t>
            </a:r>
            <a:r>
              <a:rPr lang="en-US" sz="1800" dirty="0"/>
              <a:t>For now, just remember</a:t>
            </a:r>
            <a:r>
              <a:rPr lang="en-US" sz="1800" dirty="0" smtClean="0"/>
              <a:t>:</a:t>
            </a:r>
            <a:endParaRPr lang="en-US" sz="1800" dirty="0"/>
          </a:p>
          <a:p>
            <a:pPr algn="just" fontAlgn="base">
              <a:lnSpc>
                <a:spcPct val="100000"/>
              </a:lnSpc>
              <a:spcBef>
                <a:spcPts val="0"/>
              </a:spcBef>
            </a:pPr>
            <a:r>
              <a:rPr lang="en-US" sz="1800" dirty="0"/>
              <a:t>The </a:t>
            </a:r>
            <a:r>
              <a:rPr lang="en-US" sz="1800" b="1" dirty="0"/>
              <a:t>private</a:t>
            </a:r>
            <a:r>
              <a:rPr lang="en-US" sz="1800" dirty="0"/>
              <a:t> keyword makes instance variables and methods private which can be accessed only from inside the same class.</a:t>
            </a:r>
          </a:p>
          <a:p>
            <a:pPr algn="just" fontAlgn="base">
              <a:lnSpc>
                <a:spcPct val="100000"/>
              </a:lnSpc>
              <a:spcBef>
                <a:spcPts val="0"/>
              </a:spcBef>
            </a:pPr>
            <a:r>
              <a:rPr lang="en-US" sz="1800" dirty="0"/>
              <a:t>The </a:t>
            </a:r>
            <a:r>
              <a:rPr lang="en-US" sz="1800" b="1" dirty="0"/>
              <a:t>public</a:t>
            </a:r>
            <a:r>
              <a:rPr lang="en-US" sz="1800" dirty="0"/>
              <a:t> keyword makes instance variables and methods public which can be accessed from outside of the class.</a:t>
            </a:r>
          </a:p>
          <a:p>
            <a:pPr algn="just" fontAlgn="base">
              <a:lnSpc>
                <a:spcPct val="100000"/>
              </a:lnSpc>
              <a:spcBef>
                <a:spcPts val="0"/>
              </a:spcBef>
            </a:pPr>
            <a:r>
              <a:rPr lang="en-US" sz="1800" dirty="0" smtClean="0"/>
              <a:t>If </a:t>
            </a:r>
            <a:r>
              <a:rPr lang="en-US" sz="1800" dirty="0"/>
              <a:t>you try to access </a:t>
            </a:r>
            <a:r>
              <a:rPr lang="en-US" sz="1800" b="1" dirty="0"/>
              <a:t>private</a:t>
            </a:r>
            <a:r>
              <a:rPr lang="en-US" sz="1800" dirty="0"/>
              <a:t> members from outside of the class, compiler throws error.</a:t>
            </a:r>
            <a:endParaRPr lang="en-US" sz="1800" dirty="0" smtClean="0"/>
          </a:p>
        </p:txBody>
      </p:sp>
    </p:spTree>
    <p:extLst>
      <p:ext uri="{BB962C8B-B14F-4D97-AF65-F5344CB8AC3E}">
        <p14:creationId xmlns:p14="http://schemas.microsoft.com/office/powerpoint/2010/main" val="279723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Declaring Objects</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b="1" dirty="0"/>
              <a:t>new</a:t>
            </a:r>
            <a:r>
              <a:rPr lang="en-US" sz="3200" dirty="0"/>
              <a:t> operator dynamically allocates memory for an object (allocates memory for object at runtime).</a:t>
            </a:r>
          </a:p>
          <a:p>
            <a:pPr algn="just" fontAlgn="base"/>
            <a:r>
              <a:rPr lang="en-US" sz="3200" dirty="0" smtClean="0"/>
              <a:t>Syntax: </a:t>
            </a:r>
          </a:p>
          <a:p>
            <a:pPr marL="457200" lvl="1" indent="0" algn="just" fontAlgn="base">
              <a:buNone/>
            </a:pPr>
            <a:r>
              <a:rPr lang="en-US" b="1" dirty="0" err="1" smtClean="0"/>
              <a:t>ClassName</a:t>
            </a:r>
            <a:r>
              <a:rPr lang="en-US" b="1" dirty="0" smtClean="0"/>
              <a:t> </a:t>
            </a:r>
            <a:r>
              <a:rPr lang="en-US" dirty="0" err="1"/>
              <a:t>ReferenceVariable</a:t>
            </a:r>
            <a:r>
              <a:rPr lang="en-US" b="1" dirty="0"/>
              <a:t> = new </a:t>
            </a:r>
            <a:r>
              <a:rPr lang="en-US" b="1" dirty="0" err="1"/>
              <a:t>ClassName</a:t>
            </a:r>
            <a:r>
              <a:rPr lang="en-US" b="1" dirty="0"/>
              <a:t>();</a:t>
            </a:r>
            <a:endParaRPr lang="en-US" b="1" dirty="0" smtClean="0"/>
          </a:p>
          <a:p>
            <a:pPr algn="just" fontAlgn="base"/>
            <a:r>
              <a:rPr lang="en-US" dirty="0" smtClean="0"/>
              <a:t>Example:</a:t>
            </a:r>
            <a:endParaRPr lang="en-US" dirty="0"/>
          </a:p>
          <a:p>
            <a:pPr marL="457200" lvl="1" indent="0" algn="just" fontAlgn="base">
              <a:buNone/>
            </a:pPr>
            <a:r>
              <a:rPr lang="en-US" dirty="0"/>
              <a:t>Lamp </a:t>
            </a:r>
            <a:r>
              <a:rPr lang="en-US" dirty="0" err="1"/>
              <a:t>l1</a:t>
            </a:r>
            <a:r>
              <a:rPr lang="en-US" dirty="0"/>
              <a:t> = new Lamp(); // create </a:t>
            </a:r>
            <a:r>
              <a:rPr lang="en-US" dirty="0" err="1"/>
              <a:t>l1</a:t>
            </a:r>
            <a:r>
              <a:rPr lang="en-US" dirty="0"/>
              <a:t> object of Lamp class</a:t>
            </a:r>
            <a:endParaRPr lang="en-US" dirty="0" smtClean="0"/>
          </a:p>
          <a:p>
            <a:pPr marL="457200" lvl="1" indent="0" algn="just" fontAlgn="base">
              <a:buNone/>
            </a:pPr>
            <a:r>
              <a:rPr lang="en-US" dirty="0" smtClean="0"/>
              <a:t>Lamp </a:t>
            </a:r>
            <a:r>
              <a:rPr lang="en-US" dirty="0" err="1" smtClean="0"/>
              <a:t>l2</a:t>
            </a:r>
            <a:r>
              <a:rPr lang="en-US" dirty="0" smtClean="0"/>
              <a:t> </a:t>
            </a:r>
            <a:r>
              <a:rPr lang="en-US" dirty="0"/>
              <a:t>= new Lamp(); // create </a:t>
            </a:r>
            <a:r>
              <a:rPr lang="en-US" dirty="0" err="1" smtClean="0"/>
              <a:t>l2</a:t>
            </a:r>
            <a:r>
              <a:rPr lang="en-US" dirty="0" smtClean="0"/>
              <a:t> </a:t>
            </a:r>
            <a:r>
              <a:rPr lang="en-US" dirty="0"/>
              <a:t>object of Lamp </a:t>
            </a:r>
            <a:r>
              <a:rPr lang="en-US" dirty="0" err="1" smtClean="0"/>
              <a:t>clas</a:t>
            </a:r>
            <a:endParaRPr lang="en-US" dirty="0" smtClean="0"/>
          </a:p>
          <a:p>
            <a:pPr algn="just" fontAlgn="base"/>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7</a:t>
            </a:fld>
            <a:endParaRPr lang="en-US" dirty="0"/>
          </a:p>
        </p:txBody>
      </p:sp>
    </p:spTree>
    <p:extLst>
      <p:ext uri="{BB962C8B-B14F-4D97-AF65-F5344CB8AC3E}">
        <p14:creationId xmlns:p14="http://schemas.microsoft.com/office/powerpoint/2010/main" val="1588373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How to access members?</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5809343" cy="5282293"/>
          </a:xfrm>
        </p:spPr>
        <p:txBody>
          <a:bodyPr>
            <a:normAutofit fontScale="85000" lnSpcReduction="10000"/>
          </a:bodyPr>
          <a:lstStyle/>
          <a:p>
            <a:pPr algn="just" fontAlgn="base"/>
            <a:r>
              <a:rPr lang="en-US" sz="3200" dirty="0"/>
              <a:t>You can access members (call methods and access instance variables) by using </a:t>
            </a:r>
            <a:r>
              <a:rPr lang="en-US" sz="3200" b="1" dirty="0">
                <a:solidFill>
                  <a:srgbClr val="FF0000"/>
                </a:solidFill>
              </a:rPr>
              <a:t>. </a:t>
            </a:r>
            <a:r>
              <a:rPr lang="en-US" sz="3200" dirty="0"/>
              <a:t>operator.  </a:t>
            </a:r>
            <a:r>
              <a:rPr lang="en-US" sz="3200" dirty="0" smtClean="0"/>
              <a:t>For example: </a:t>
            </a:r>
            <a:r>
              <a:rPr lang="en-US" sz="3200" dirty="0" err="1" smtClean="0"/>
              <a:t>l1</a:t>
            </a:r>
            <a:r>
              <a:rPr lang="en-US" sz="3200" b="1" dirty="0" err="1" smtClean="0">
                <a:solidFill>
                  <a:srgbClr val="FF0000"/>
                </a:solidFill>
              </a:rPr>
              <a:t>.</a:t>
            </a:r>
            <a:r>
              <a:rPr lang="en-US" sz="3200" dirty="0" err="1" smtClean="0"/>
              <a:t>turnOn</a:t>
            </a:r>
            <a:r>
              <a:rPr lang="en-US" sz="3200" dirty="0" smtClean="0"/>
              <a:t>();</a:t>
            </a:r>
          </a:p>
          <a:p>
            <a:pPr algn="just" fontAlgn="base"/>
            <a:r>
              <a:rPr lang="en-US" sz="3200" dirty="0"/>
              <a:t>T</a:t>
            </a:r>
            <a:r>
              <a:rPr lang="en-US" sz="3200" dirty="0" smtClean="0"/>
              <a:t>his </a:t>
            </a:r>
            <a:r>
              <a:rPr lang="en-US" sz="3200" dirty="0"/>
              <a:t>statement calls </a:t>
            </a:r>
            <a:r>
              <a:rPr lang="en-US" sz="3200" dirty="0" err="1"/>
              <a:t>turnOn</a:t>
            </a:r>
            <a:r>
              <a:rPr lang="en-US" sz="3200" dirty="0"/>
              <a:t>() method inside Lamp class for </a:t>
            </a:r>
            <a:r>
              <a:rPr lang="en-US" sz="3200" dirty="0" err="1"/>
              <a:t>l1</a:t>
            </a:r>
            <a:r>
              <a:rPr lang="en-US" sz="3200" dirty="0"/>
              <a:t> object</a:t>
            </a:r>
            <a:r>
              <a:rPr lang="en-US" sz="3200" dirty="0" smtClean="0"/>
              <a:t>.</a:t>
            </a:r>
          </a:p>
          <a:p>
            <a:pPr algn="just" fontAlgn="base"/>
            <a:r>
              <a:rPr lang="en-US" sz="3200" dirty="0"/>
              <a:t>The access will depend on the </a:t>
            </a:r>
            <a:r>
              <a:rPr lang="en-US" sz="3200" dirty="0" smtClean="0"/>
              <a:t>access </a:t>
            </a:r>
            <a:r>
              <a:rPr lang="en-US" sz="3200" b="1" dirty="0" smtClean="0"/>
              <a:t>modifier </a:t>
            </a:r>
            <a:r>
              <a:rPr lang="en-US" sz="3200" dirty="0" smtClean="0"/>
              <a:t>keyword, </a:t>
            </a:r>
            <a:r>
              <a:rPr lang="en-US" sz="3200" i="1" dirty="0"/>
              <a:t>we will discuss in detail in OOP subject</a:t>
            </a:r>
            <a:r>
              <a:rPr lang="en-US" sz="3200" dirty="0" smtClean="0"/>
              <a:t>.</a:t>
            </a:r>
            <a:endParaRPr lang="en-US" sz="3200" dirty="0"/>
          </a:p>
          <a:p>
            <a:pPr algn="just" fontAlgn="base"/>
            <a:r>
              <a:rPr lang="en-US" sz="3200" dirty="0" smtClean="0"/>
              <a:t>When </a:t>
            </a:r>
            <a:r>
              <a:rPr lang="en-US" sz="3200" dirty="0"/>
              <a:t>you call the method using the above statement, all statements within the body of </a:t>
            </a:r>
            <a:r>
              <a:rPr lang="en-US" sz="3200" dirty="0" err="1"/>
              <a:t>turnOn</a:t>
            </a:r>
            <a:r>
              <a:rPr lang="en-US" sz="3200" dirty="0"/>
              <a:t>() method are executed. Then, the control of program jumps back to the statement following </a:t>
            </a:r>
            <a:r>
              <a:rPr lang="en-US" sz="3200" dirty="0" err="1"/>
              <a:t>l1.turnOn</a:t>
            </a:r>
            <a:r>
              <a:rPr lang="en-US" sz="3200" dirty="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8</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9647" y="1567533"/>
            <a:ext cx="5382759" cy="4557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132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70000" lnSpcReduction="20000"/>
          </a:bodyPr>
          <a:lstStyle/>
          <a:p>
            <a:pPr marL="0" indent="0" algn="just" fontAlgn="base">
              <a:lnSpc>
                <a:spcPct val="120000"/>
              </a:lnSpc>
              <a:spcBef>
                <a:spcPts val="0"/>
              </a:spcBef>
              <a:buNone/>
            </a:pPr>
            <a:r>
              <a:rPr lang="en-US" sz="3200" dirty="0"/>
              <a:t>class Lamp {</a:t>
            </a:r>
          </a:p>
          <a:p>
            <a:pPr marL="0" indent="0" algn="just" fontAlgn="base">
              <a:lnSpc>
                <a:spcPct val="120000"/>
              </a:lnSpc>
              <a:spcBef>
                <a:spcPts val="0"/>
              </a:spcBef>
              <a:buNone/>
            </a:pPr>
            <a:r>
              <a:rPr lang="en-US" sz="3200" dirty="0"/>
              <a:t>  </a:t>
            </a:r>
            <a:r>
              <a:rPr lang="en-US" sz="3200" dirty="0" err="1"/>
              <a:t>boolean</a:t>
            </a:r>
            <a:r>
              <a:rPr lang="en-US" sz="3200" dirty="0"/>
              <a:t> </a:t>
            </a:r>
            <a:r>
              <a:rPr lang="en-US" sz="3200" dirty="0" err="1"/>
              <a:t>isOn</a:t>
            </a:r>
            <a:r>
              <a:rPr lang="en-US" sz="3200" dirty="0"/>
              <a:t>;</a:t>
            </a:r>
          </a:p>
          <a:p>
            <a:pPr marL="0" indent="0" algn="just" fontAlgn="base">
              <a:lnSpc>
                <a:spcPct val="120000"/>
              </a:lnSpc>
              <a:spcBef>
                <a:spcPts val="0"/>
              </a:spcBef>
              <a:buNone/>
            </a:pPr>
            <a:r>
              <a:rPr lang="en-US" sz="3200" dirty="0"/>
              <a:t>  void </a:t>
            </a:r>
            <a:r>
              <a:rPr lang="en-US" sz="3200" dirty="0" err="1"/>
              <a:t>turnOn</a:t>
            </a:r>
            <a:r>
              <a:rPr lang="en-US" sz="3200" dirty="0"/>
              <a:t>() </a:t>
            </a:r>
            <a:r>
              <a:rPr lang="en-US" sz="3200" dirty="0" smtClean="0"/>
              <a:t>{    </a:t>
            </a:r>
            <a:r>
              <a:rPr lang="en-US" sz="3200" dirty="0" err="1"/>
              <a:t>isOn</a:t>
            </a:r>
            <a:r>
              <a:rPr lang="en-US" sz="3200" dirty="0"/>
              <a:t> = true</a:t>
            </a:r>
            <a:r>
              <a:rPr lang="en-US" sz="3200" dirty="0" smtClean="0"/>
              <a:t>;  </a:t>
            </a:r>
            <a:r>
              <a:rPr lang="en-US" sz="3200" dirty="0"/>
              <a:t>}</a:t>
            </a:r>
          </a:p>
          <a:p>
            <a:pPr marL="0" indent="0" algn="just" fontAlgn="base">
              <a:lnSpc>
                <a:spcPct val="120000"/>
              </a:lnSpc>
              <a:spcBef>
                <a:spcPts val="0"/>
              </a:spcBef>
              <a:buNone/>
            </a:pPr>
            <a:r>
              <a:rPr lang="en-US" sz="3200" dirty="0"/>
              <a:t>  void </a:t>
            </a:r>
            <a:r>
              <a:rPr lang="en-US" sz="3200" dirty="0" err="1"/>
              <a:t>turnOff</a:t>
            </a:r>
            <a:r>
              <a:rPr lang="en-US" sz="3200" dirty="0"/>
              <a:t>() </a:t>
            </a:r>
            <a:r>
              <a:rPr lang="en-US" sz="3200" dirty="0" smtClean="0"/>
              <a:t>{   </a:t>
            </a:r>
            <a:r>
              <a:rPr lang="en-US" sz="3200" dirty="0" err="1"/>
              <a:t>isOn</a:t>
            </a:r>
            <a:r>
              <a:rPr lang="en-US" sz="3200" dirty="0"/>
              <a:t> = false</a:t>
            </a:r>
            <a:r>
              <a:rPr lang="en-US" sz="3200" dirty="0" smtClean="0"/>
              <a:t>;  }</a:t>
            </a:r>
            <a:endParaRPr lang="en-US" sz="3200" dirty="0"/>
          </a:p>
          <a:p>
            <a:pPr marL="0" indent="0" algn="just" fontAlgn="base">
              <a:lnSpc>
                <a:spcPct val="120000"/>
              </a:lnSpc>
              <a:spcBef>
                <a:spcPts val="0"/>
              </a:spcBef>
              <a:buNone/>
            </a:pPr>
            <a:r>
              <a:rPr lang="en-US" sz="3200" dirty="0"/>
              <a:t>  void </a:t>
            </a:r>
            <a:r>
              <a:rPr lang="en-US" sz="3200" dirty="0" err="1"/>
              <a:t>displayLightStatus</a:t>
            </a:r>
            <a:r>
              <a:rPr lang="en-US" sz="3200" dirty="0"/>
              <a:t>() </a:t>
            </a:r>
            <a:r>
              <a:rPr lang="en-US" sz="3200" dirty="0" smtClean="0"/>
              <a:t>{   </a:t>
            </a:r>
            <a:r>
              <a:rPr lang="en-US" sz="3200" dirty="0" err="1" smtClean="0"/>
              <a:t>System.out.println</a:t>
            </a:r>
            <a:r>
              <a:rPr lang="en-US" sz="3200" dirty="0"/>
              <a:t>("Light on? " + </a:t>
            </a:r>
            <a:r>
              <a:rPr lang="en-US" sz="3200" dirty="0" err="1"/>
              <a:t>isOn</a:t>
            </a:r>
            <a:r>
              <a:rPr lang="en-US" sz="3200" dirty="0" smtClean="0"/>
              <a:t>);  </a:t>
            </a:r>
            <a:r>
              <a:rPr lang="en-US" sz="3200" dirty="0"/>
              <a:t>}</a:t>
            </a:r>
          </a:p>
          <a:p>
            <a:pPr marL="0" indent="0" algn="just" fontAlgn="base">
              <a:lnSpc>
                <a:spcPct val="120000"/>
              </a:lnSpc>
              <a:spcBef>
                <a:spcPts val="0"/>
              </a:spcBef>
              <a:buNone/>
            </a:pPr>
            <a:r>
              <a:rPr lang="en-US" sz="3200" dirty="0"/>
              <a:t>}</a:t>
            </a:r>
          </a:p>
          <a:p>
            <a:pPr marL="0" indent="0" algn="just" fontAlgn="base">
              <a:lnSpc>
                <a:spcPct val="120000"/>
              </a:lnSpc>
              <a:spcBef>
                <a:spcPts val="0"/>
              </a:spcBef>
              <a:buNone/>
            </a:pPr>
            <a:r>
              <a:rPr lang="en-US" sz="3200" dirty="0"/>
              <a:t>class </a:t>
            </a:r>
            <a:r>
              <a:rPr lang="en-US" sz="3200" dirty="0" err="1"/>
              <a:t>ClassObjectsExample</a:t>
            </a:r>
            <a:r>
              <a:rPr lang="en-US" sz="3200" dirty="0"/>
              <a:t> {</a:t>
            </a:r>
          </a:p>
          <a:p>
            <a:pPr marL="0" indent="0" algn="just" fontAlgn="base">
              <a:lnSpc>
                <a:spcPct val="120000"/>
              </a:lnSpc>
              <a:spcBef>
                <a:spcPts val="0"/>
              </a:spcBef>
              <a:buNone/>
            </a:pPr>
            <a:r>
              <a:rPr lang="en-US" sz="3200" dirty="0"/>
              <a:t>public static void main(String[] </a:t>
            </a:r>
            <a:r>
              <a:rPr lang="en-US" sz="3200" dirty="0" err="1"/>
              <a:t>args</a:t>
            </a:r>
            <a:r>
              <a:rPr lang="en-US" sz="3200" dirty="0"/>
              <a:t>) </a:t>
            </a:r>
            <a:r>
              <a:rPr lang="en-US" sz="3200" dirty="0" smtClean="0"/>
              <a:t>{</a:t>
            </a:r>
            <a:endParaRPr lang="en-US" sz="3200" dirty="0"/>
          </a:p>
          <a:p>
            <a:pPr marL="0" indent="0" algn="just" fontAlgn="base">
              <a:lnSpc>
                <a:spcPct val="120000"/>
              </a:lnSpc>
              <a:spcBef>
                <a:spcPts val="0"/>
              </a:spcBef>
              <a:buNone/>
            </a:pPr>
            <a:r>
              <a:rPr lang="en-US" sz="3200" dirty="0"/>
              <a:t>   Lamp </a:t>
            </a:r>
            <a:r>
              <a:rPr lang="en-US" sz="3200" dirty="0" err="1"/>
              <a:t>l1</a:t>
            </a:r>
            <a:r>
              <a:rPr lang="en-US" sz="3200" dirty="0"/>
              <a:t> = new Lamp(), </a:t>
            </a:r>
            <a:r>
              <a:rPr lang="en-US" sz="3200" dirty="0" err="1"/>
              <a:t>l2</a:t>
            </a:r>
            <a:r>
              <a:rPr lang="en-US" sz="3200" dirty="0"/>
              <a:t> = new Lamp</a:t>
            </a:r>
            <a:r>
              <a:rPr lang="en-US" sz="3200" dirty="0" smtClean="0"/>
              <a:t>();   </a:t>
            </a:r>
            <a:endParaRPr lang="en-US" sz="3200" dirty="0"/>
          </a:p>
          <a:p>
            <a:pPr marL="0" indent="0" algn="just" fontAlgn="base">
              <a:lnSpc>
                <a:spcPct val="120000"/>
              </a:lnSpc>
              <a:spcBef>
                <a:spcPts val="0"/>
              </a:spcBef>
              <a:buNone/>
            </a:pPr>
            <a:r>
              <a:rPr lang="en-US" sz="3200" dirty="0"/>
              <a:t>   </a:t>
            </a:r>
            <a:r>
              <a:rPr lang="en-US" sz="3200" dirty="0" err="1"/>
              <a:t>l1.turnOn</a:t>
            </a:r>
            <a:r>
              <a:rPr lang="en-US" sz="3200" dirty="0"/>
              <a:t>();</a:t>
            </a:r>
          </a:p>
          <a:p>
            <a:pPr marL="0" indent="0" algn="just" fontAlgn="base">
              <a:lnSpc>
                <a:spcPct val="120000"/>
              </a:lnSpc>
              <a:spcBef>
                <a:spcPts val="0"/>
              </a:spcBef>
              <a:buNone/>
            </a:pPr>
            <a:r>
              <a:rPr lang="en-US" sz="3200" dirty="0"/>
              <a:t>   </a:t>
            </a:r>
            <a:r>
              <a:rPr lang="en-US" sz="3200" dirty="0" err="1"/>
              <a:t>l2.turnOff</a:t>
            </a:r>
            <a:r>
              <a:rPr lang="en-US" sz="3200" dirty="0" smtClean="0"/>
              <a:t>();   </a:t>
            </a:r>
            <a:endParaRPr lang="en-US" sz="3200" dirty="0"/>
          </a:p>
          <a:p>
            <a:pPr marL="0" indent="0" algn="just" fontAlgn="base">
              <a:lnSpc>
                <a:spcPct val="120000"/>
              </a:lnSpc>
              <a:spcBef>
                <a:spcPts val="0"/>
              </a:spcBef>
              <a:buNone/>
            </a:pPr>
            <a:r>
              <a:rPr lang="en-US" sz="3200" dirty="0"/>
              <a:t>   </a:t>
            </a:r>
            <a:r>
              <a:rPr lang="en-US" sz="3200" dirty="0" err="1"/>
              <a:t>l1.displayLightStatus</a:t>
            </a:r>
            <a:r>
              <a:rPr lang="en-US" sz="3200" dirty="0"/>
              <a:t>();</a:t>
            </a:r>
          </a:p>
          <a:p>
            <a:pPr marL="0" indent="0" algn="just" fontAlgn="base">
              <a:lnSpc>
                <a:spcPct val="120000"/>
              </a:lnSpc>
              <a:spcBef>
                <a:spcPts val="0"/>
              </a:spcBef>
              <a:buNone/>
            </a:pPr>
            <a:r>
              <a:rPr lang="en-US" sz="3200" dirty="0"/>
              <a:t>   </a:t>
            </a:r>
            <a:r>
              <a:rPr lang="en-US" sz="3200" dirty="0" err="1"/>
              <a:t>l2.displayLightStatus</a:t>
            </a:r>
            <a:r>
              <a:rPr lang="en-US" sz="3200" dirty="0"/>
              <a:t>();</a:t>
            </a:r>
          </a:p>
          <a:p>
            <a:pPr marL="0" indent="0" algn="just" fontAlgn="base">
              <a:lnSpc>
                <a:spcPct val="120000"/>
              </a:lnSpc>
              <a:spcBef>
                <a:spcPts val="0"/>
              </a:spcBef>
              <a:buNone/>
            </a:pPr>
            <a:r>
              <a:rPr lang="en-US" sz="3200" dirty="0"/>
              <a:t>  }</a:t>
            </a:r>
          </a:p>
          <a:p>
            <a:pPr marL="0" indent="0" algn="just" fontAlgn="base">
              <a:lnSpc>
                <a:spcPct val="120000"/>
              </a:lnSpc>
              <a:spcBef>
                <a:spcPts val="0"/>
              </a:spcBef>
              <a:buNone/>
            </a:pPr>
            <a:r>
              <a:rPr lang="en-US" sz="3200" dirty="0"/>
              <a: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9</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6139543" y="4470401"/>
            <a:ext cx="2844800" cy="136434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200" dirty="0" smtClean="0"/>
              <a:t>Output</a:t>
            </a:r>
          </a:p>
          <a:p>
            <a:pPr marL="0" indent="0" algn="just" fontAlgn="base">
              <a:lnSpc>
                <a:spcPct val="100000"/>
              </a:lnSpc>
              <a:spcBef>
                <a:spcPts val="0"/>
              </a:spcBef>
              <a:buNone/>
            </a:pPr>
            <a:r>
              <a:rPr lang="en-US" sz="2200" dirty="0"/>
              <a:t>Light on? true</a:t>
            </a:r>
          </a:p>
          <a:p>
            <a:pPr marL="0" indent="0" algn="just" fontAlgn="base">
              <a:lnSpc>
                <a:spcPct val="100000"/>
              </a:lnSpc>
              <a:spcBef>
                <a:spcPts val="0"/>
              </a:spcBef>
              <a:buNone/>
            </a:pPr>
            <a:r>
              <a:rPr lang="en-US" sz="2200" dirty="0"/>
              <a:t>Light on? false</a:t>
            </a:r>
            <a:endParaRPr lang="en-US" sz="2200" dirty="0" smtClean="0"/>
          </a:p>
        </p:txBody>
      </p:sp>
    </p:spTree>
    <p:extLst>
      <p:ext uri="{BB962C8B-B14F-4D97-AF65-F5344CB8AC3E}">
        <p14:creationId xmlns:p14="http://schemas.microsoft.com/office/powerpoint/2010/main" val="281827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500914"/>
          </a:xfrm>
        </p:spPr>
        <p:txBody>
          <a:bodyPr>
            <a:normAutofit fontScale="55000" lnSpcReduction="20000"/>
          </a:bodyPr>
          <a:lstStyle/>
          <a:p>
            <a:pPr marL="0" indent="0" algn="just" fontAlgn="base">
              <a:lnSpc>
                <a:spcPct val="120000"/>
              </a:lnSpc>
              <a:spcBef>
                <a:spcPts val="0"/>
              </a:spcBef>
              <a:buNone/>
            </a:pPr>
            <a:r>
              <a:rPr lang="en-US" sz="3200" dirty="0"/>
              <a:t>class Box {</a:t>
            </a:r>
          </a:p>
          <a:p>
            <a:pPr marL="0" indent="0" algn="just" fontAlgn="base">
              <a:lnSpc>
                <a:spcPct val="120000"/>
              </a:lnSpc>
              <a:spcBef>
                <a:spcPts val="0"/>
              </a:spcBef>
              <a:buNone/>
            </a:pPr>
            <a:r>
              <a:rPr lang="en-US" sz="3200" dirty="0"/>
              <a:t>    double </a:t>
            </a:r>
            <a:r>
              <a:rPr lang="en-US" sz="3200" dirty="0" smtClean="0"/>
              <a:t>width, height, </a:t>
            </a:r>
            <a:r>
              <a:rPr lang="en-US" sz="3200" dirty="0"/>
              <a:t>depth; </a:t>
            </a:r>
          </a:p>
          <a:p>
            <a:pPr marL="0" indent="0" algn="just" fontAlgn="base">
              <a:lnSpc>
                <a:spcPct val="120000"/>
              </a:lnSpc>
              <a:spcBef>
                <a:spcPts val="0"/>
              </a:spcBef>
              <a:buNone/>
            </a:pPr>
            <a:r>
              <a:rPr lang="en-US" sz="3200" dirty="0"/>
              <a:t>    // compute and return volume </a:t>
            </a:r>
          </a:p>
          <a:p>
            <a:pPr marL="0" indent="0" algn="just" fontAlgn="base">
              <a:lnSpc>
                <a:spcPct val="120000"/>
              </a:lnSpc>
              <a:spcBef>
                <a:spcPts val="0"/>
              </a:spcBef>
              <a:buNone/>
            </a:pPr>
            <a:r>
              <a:rPr lang="en-US" sz="3200" dirty="0"/>
              <a:t>    double volume() </a:t>
            </a:r>
            <a:r>
              <a:rPr lang="en-US" sz="3200" dirty="0" smtClean="0"/>
              <a:t>{   return </a:t>
            </a:r>
            <a:r>
              <a:rPr lang="en-US" sz="3200" dirty="0"/>
              <a:t>width * height * depth</a:t>
            </a:r>
            <a:r>
              <a:rPr lang="en-US" sz="3200" dirty="0" smtClean="0"/>
              <a:t>;  </a:t>
            </a:r>
            <a:r>
              <a:rPr lang="en-US" sz="3200" dirty="0"/>
              <a:t>} </a:t>
            </a:r>
            <a:r>
              <a:rPr lang="en-US" sz="3200" dirty="0" smtClean="0"/>
              <a:t>    </a:t>
            </a:r>
            <a:endParaRPr lang="en-US" sz="3200" dirty="0"/>
          </a:p>
          <a:p>
            <a:pPr marL="0" indent="0" algn="just" fontAlgn="base">
              <a:lnSpc>
                <a:spcPct val="120000"/>
              </a:lnSpc>
              <a:spcBef>
                <a:spcPts val="0"/>
              </a:spcBef>
              <a:buNone/>
            </a:pPr>
            <a:r>
              <a:rPr lang="en-US" sz="3200" dirty="0"/>
              <a:t>    // sets dimensions of box</a:t>
            </a:r>
          </a:p>
          <a:p>
            <a:pPr marL="0" indent="0" algn="just" fontAlgn="base">
              <a:lnSpc>
                <a:spcPct val="120000"/>
              </a:lnSpc>
              <a:spcBef>
                <a:spcPts val="0"/>
              </a:spcBef>
              <a:buNone/>
            </a:pPr>
            <a:r>
              <a:rPr lang="en-US" sz="3200" dirty="0"/>
              <a:t>    void </a:t>
            </a:r>
            <a:r>
              <a:rPr lang="en-US" sz="3200" dirty="0" err="1"/>
              <a:t>setDimensions</a:t>
            </a:r>
            <a:r>
              <a:rPr lang="en-US" sz="3200" dirty="0"/>
              <a:t>(double w, double h, double d) {</a:t>
            </a:r>
          </a:p>
          <a:p>
            <a:pPr marL="0" indent="0" algn="just" fontAlgn="base">
              <a:lnSpc>
                <a:spcPct val="120000"/>
              </a:lnSpc>
              <a:spcBef>
                <a:spcPts val="0"/>
              </a:spcBef>
              <a:buNone/>
            </a:pPr>
            <a:r>
              <a:rPr lang="en-US" sz="3200" dirty="0"/>
              <a:t> </a:t>
            </a:r>
            <a:r>
              <a:rPr lang="en-US" sz="3200" dirty="0" smtClean="0"/>
              <a:t>       width </a:t>
            </a:r>
            <a:r>
              <a:rPr lang="en-US" sz="3200" dirty="0"/>
              <a:t>= </a:t>
            </a:r>
            <a:r>
              <a:rPr lang="en-US" sz="3200" dirty="0" smtClean="0"/>
              <a:t>w; height </a:t>
            </a:r>
            <a:r>
              <a:rPr lang="en-US" sz="3200" dirty="0"/>
              <a:t>= </a:t>
            </a:r>
            <a:r>
              <a:rPr lang="en-US" sz="3200" dirty="0" smtClean="0"/>
              <a:t>h; depth </a:t>
            </a:r>
            <a:r>
              <a:rPr lang="en-US" sz="3200" dirty="0"/>
              <a:t>= d;</a:t>
            </a:r>
          </a:p>
          <a:p>
            <a:pPr marL="0" indent="0" algn="just" fontAlgn="base">
              <a:lnSpc>
                <a:spcPct val="120000"/>
              </a:lnSpc>
              <a:spcBef>
                <a:spcPts val="0"/>
              </a:spcBef>
              <a:buNone/>
            </a:pPr>
            <a:r>
              <a:rPr lang="en-US" sz="3200" dirty="0"/>
              <a:t>    }</a:t>
            </a:r>
          </a:p>
          <a:p>
            <a:pPr marL="0" indent="0" algn="just" fontAlgn="base">
              <a:lnSpc>
                <a:spcPct val="120000"/>
              </a:lnSpc>
              <a:spcBef>
                <a:spcPts val="0"/>
              </a:spcBef>
              <a:buNone/>
            </a:pPr>
            <a:r>
              <a:rPr lang="en-US" sz="3200" dirty="0" smtClean="0"/>
              <a:t>}</a:t>
            </a:r>
            <a:endParaRPr lang="en-US" sz="3200" dirty="0"/>
          </a:p>
          <a:p>
            <a:pPr marL="0" indent="0" algn="just" fontAlgn="base">
              <a:lnSpc>
                <a:spcPct val="120000"/>
              </a:lnSpc>
              <a:spcBef>
                <a:spcPts val="0"/>
              </a:spcBef>
              <a:buNone/>
            </a:pPr>
            <a:r>
              <a:rPr lang="en-US" sz="3200" dirty="0"/>
              <a:t>class </a:t>
            </a:r>
            <a:r>
              <a:rPr lang="en-US" sz="3200" dirty="0" err="1"/>
              <a:t>DemoClassAndObject</a:t>
            </a:r>
            <a:r>
              <a:rPr lang="en-US" sz="3200" dirty="0"/>
              <a:t> {</a:t>
            </a:r>
          </a:p>
          <a:p>
            <a:pPr marL="0" indent="0" algn="just" fontAlgn="base">
              <a:lnSpc>
                <a:spcPct val="120000"/>
              </a:lnSpc>
              <a:spcBef>
                <a:spcPts val="0"/>
              </a:spcBef>
              <a:buNone/>
            </a:pPr>
            <a:r>
              <a:rPr lang="en-US" sz="3200" dirty="0"/>
              <a:t>    public static void main(String </a:t>
            </a:r>
            <a:r>
              <a:rPr lang="en-US" sz="3200" dirty="0" err="1"/>
              <a:t>args</a:t>
            </a:r>
            <a:r>
              <a:rPr lang="en-US" sz="3200" dirty="0"/>
              <a:t>[]) {</a:t>
            </a:r>
          </a:p>
          <a:p>
            <a:pPr marL="0" indent="0" algn="just" fontAlgn="base">
              <a:lnSpc>
                <a:spcPct val="120000"/>
              </a:lnSpc>
              <a:spcBef>
                <a:spcPts val="0"/>
              </a:spcBef>
              <a:buNone/>
            </a:pPr>
            <a:r>
              <a:rPr lang="en-US" sz="3200" dirty="0" smtClean="0"/>
              <a:t>        Box </a:t>
            </a:r>
            <a:r>
              <a:rPr lang="en-US" sz="3200" dirty="0" err="1"/>
              <a:t>mybox1</a:t>
            </a:r>
            <a:r>
              <a:rPr lang="en-US" sz="3200" dirty="0"/>
              <a:t> = new Box();</a:t>
            </a:r>
          </a:p>
          <a:p>
            <a:pPr marL="0" indent="0" algn="just" fontAlgn="base">
              <a:lnSpc>
                <a:spcPct val="120000"/>
              </a:lnSpc>
              <a:spcBef>
                <a:spcPts val="0"/>
              </a:spcBef>
              <a:buNone/>
            </a:pPr>
            <a:r>
              <a:rPr lang="en-US" sz="3200" dirty="0"/>
              <a:t>        Box </a:t>
            </a:r>
            <a:r>
              <a:rPr lang="en-US" sz="3200" dirty="0" err="1"/>
              <a:t>mybox2</a:t>
            </a:r>
            <a:r>
              <a:rPr lang="en-US" sz="3200" dirty="0"/>
              <a:t> = new Box();</a:t>
            </a:r>
          </a:p>
          <a:p>
            <a:pPr marL="0" indent="0" algn="just" fontAlgn="base">
              <a:lnSpc>
                <a:spcPct val="120000"/>
              </a:lnSpc>
              <a:spcBef>
                <a:spcPts val="0"/>
              </a:spcBef>
              <a:buNone/>
            </a:pPr>
            <a:r>
              <a:rPr lang="en-US" sz="3200" dirty="0" smtClean="0"/>
              <a:t>        </a:t>
            </a:r>
            <a:r>
              <a:rPr lang="en-US" sz="3200" dirty="0" err="1" smtClean="0"/>
              <a:t>mybox1.setDimensions</a:t>
            </a:r>
            <a:r>
              <a:rPr lang="en-US" sz="3200" dirty="0" smtClean="0"/>
              <a:t>(10</a:t>
            </a:r>
            <a:r>
              <a:rPr lang="en-US" sz="3200" dirty="0"/>
              <a:t>, 20, 15);</a:t>
            </a:r>
          </a:p>
          <a:p>
            <a:pPr marL="0" indent="0" algn="just" fontAlgn="base">
              <a:lnSpc>
                <a:spcPct val="120000"/>
              </a:lnSpc>
              <a:spcBef>
                <a:spcPts val="0"/>
              </a:spcBef>
              <a:buNone/>
            </a:pPr>
            <a:r>
              <a:rPr lang="en-US" sz="3200" dirty="0"/>
              <a:t>        </a:t>
            </a:r>
            <a:r>
              <a:rPr lang="en-US" sz="3200" dirty="0" err="1"/>
              <a:t>mybox2.setDimensions</a:t>
            </a:r>
            <a:r>
              <a:rPr lang="en-US" sz="3200" dirty="0"/>
              <a:t>(3, 6, 9); </a:t>
            </a:r>
          </a:p>
          <a:p>
            <a:pPr marL="0" indent="0" algn="just" fontAlgn="base">
              <a:lnSpc>
                <a:spcPct val="120000"/>
              </a:lnSpc>
              <a:spcBef>
                <a:spcPts val="0"/>
              </a:spcBef>
              <a:buNone/>
            </a:pPr>
            <a:r>
              <a:rPr lang="en-US" sz="3200" dirty="0" smtClean="0"/>
              <a:t>        </a:t>
            </a:r>
            <a:r>
              <a:rPr lang="en-US" sz="3200" dirty="0" err="1" smtClean="0"/>
              <a:t>System.out.println</a:t>
            </a:r>
            <a:r>
              <a:rPr lang="en-US" sz="3200" dirty="0"/>
              <a:t>("Volume of </a:t>
            </a:r>
            <a:r>
              <a:rPr lang="en-US" sz="3200" dirty="0" err="1"/>
              <a:t>mybox1</a:t>
            </a:r>
            <a:r>
              <a:rPr lang="en-US" sz="3200" dirty="0"/>
              <a:t> is " + </a:t>
            </a:r>
            <a:r>
              <a:rPr lang="en-US" sz="3200" dirty="0" err="1"/>
              <a:t>mybox1.volume</a:t>
            </a:r>
            <a:r>
              <a:rPr lang="en-US" sz="3200" dirty="0"/>
              <a:t>()</a:t>
            </a:r>
            <a:r>
              <a:rPr lang="en-US" sz="3200" dirty="0" smtClean="0"/>
              <a:t>); </a:t>
            </a:r>
            <a:endParaRPr lang="en-US" sz="3200" dirty="0"/>
          </a:p>
          <a:p>
            <a:pPr marL="0" indent="0" algn="just" fontAlgn="base">
              <a:lnSpc>
                <a:spcPct val="120000"/>
              </a:lnSpc>
              <a:spcBef>
                <a:spcPts val="0"/>
              </a:spcBef>
              <a:buNone/>
            </a:pPr>
            <a:r>
              <a:rPr lang="en-US" sz="3200" dirty="0" smtClean="0"/>
              <a:t>        </a:t>
            </a:r>
            <a:r>
              <a:rPr lang="en-US" sz="3200" dirty="0" err="1" smtClean="0"/>
              <a:t>System.out.println</a:t>
            </a:r>
            <a:r>
              <a:rPr lang="en-US" sz="3200" dirty="0"/>
              <a:t>("Volume of </a:t>
            </a:r>
            <a:r>
              <a:rPr lang="en-US" sz="3200" dirty="0" err="1"/>
              <a:t>mybox2</a:t>
            </a:r>
            <a:r>
              <a:rPr lang="en-US" sz="3200" dirty="0"/>
              <a:t> is " + </a:t>
            </a:r>
            <a:r>
              <a:rPr lang="en-US" sz="3200" dirty="0" err="1" smtClean="0"/>
              <a:t>mybox2.volume</a:t>
            </a:r>
            <a:r>
              <a:rPr lang="en-US" sz="3200" dirty="0" smtClean="0"/>
              <a:t>());</a:t>
            </a:r>
            <a:endParaRPr lang="en-US" sz="3200" dirty="0"/>
          </a:p>
          <a:p>
            <a:pPr marL="0" indent="0" algn="just" fontAlgn="base">
              <a:lnSpc>
                <a:spcPct val="120000"/>
              </a:lnSpc>
              <a:spcBef>
                <a:spcPts val="0"/>
              </a:spcBef>
              <a:buNone/>
            </a:pPr>
            <a:r>
              <a:rPr lang="en-US" sz="3200" dirty="0"/>
              <a:t>    }</a:t>
            </a:r>
          </a:p>
          <a:p>
            <a:pPr marL="0" indent="0" algn="just" fontAlgn="base">
              <a:lnSpc>
                <a:spcPct val="120000"/>
              </a:lnSpc>
              <a:spcBef>
                <a:spcPts val="0"/>
              </a:spcBef>
              <a:buNone/>
            </a:pPr>
            <a:r>
              <a:rPr lang="en-US" sz="3200" dirty="0"/>
              <a: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10</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7649029" y="3672118"/>
            <a:ext cx="4064000" cy="136434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en-US" sz="2000" dirty="0"/>
              <a:t>Volume of </a:t>
            </a:r>
            <a:r>
              <a:rPr lang="en-US" sz="2000" dirty="0" err="1"/>
              <a:t>mybox1</a:t>
            </a:r>
            <a:r>
              <a:rPr lang="en-US" sz="2000" dirty="0"/>
              <a:t> is 17500.0</a:t>
            </a:r>
          </a:p>
          <a:p>
            <a:pPr marL="0" indent="0" algn="just" fontAlgn="base">
              <a:lnSpc>
                <a:spcPct val="100000"/>
              </a:lnSpc>
              <a:spcBef>
                <a:spcPts val="0"/>
              </a:spcBef>
              <a:buNone/>
            </a:pPr>
            <a:r>
              <a:rPr lang="en-US" sz="2000" dirty="0"/>
              <a:t>Volume of </a:t>
            </a:r>
            <a:r>
              <a:rPr lang="en-US" sz="2000" dirty="0" err="1"/>
              <a:t>mybox2</a:t>
            </a:r>
            <a:r>
              <a:rPr lang="en-US" sz="2000" dirty="0"/>
              <a:t> is 240.0</a:t>
            </a:r>
            <a:endParaRPr lang="en-US" sz="2000" dirty="0" smtClean="0"/>
          </a:p>
        </p:txBody>
      </p:sp>
    </p:spTree>
    <p:extLst>
      <p:ext uri="{BB962C8B-B14F-4D97-AF65-F5344CB8AC3E}">
        <p14:creationId xmlns:p14="http://schemas.microsoft.com/office/powerpoint/2010/main" val="139064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Constructors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647417"/>
          </a:xfrm>
        </p:spPr>
        <p:txBody>
          <a:bodyPr>
            <a:normAutofit/>
          </a:bodyPr>
          <a:lstStyle/>
          <a:p>
            <a:pPr algn="just" fontAlgn="base"/>
            <a:r>
              <a:rPr lang="en-US" dirty="0" smtClean="0"/>
              <a:t>In </a:t>
            </a:r>
            <a:r>
              <a:rPr lang="en-US" dirty="0"/>
              <a:t>Java, a constructor is a block of codes similar to the method. It is called when an instance of the class is created. At the time of calling constructor, memory for the object is allocated in the memory</a:t>
            </a:r>
            <a:r>
              <a:rPr lang="en-US" dirty="0" smtClean="0"/>
              <a:t>.</a:t>
            </a:r>
            <a:endParaRPr lang="en-US" dirty="0"/>
          </a:p>
          <a:p>
            <a:pPr algn="just" fontAlgn="base"/>
            <a:r>
              <a:rPr lang="en-US" dirty="0"/>
              <a:t>It is a special type of method which is used to </a:t>
            </a:r>
            <a:r>
              <a:rPr lang="en-US" b="1" dirty="0"/>
              <a:t>initialize</a:t>
            </a:r>
            <a:r>
              <a:rPr lang="en-US" dirty="0"/>
              <a:t> the </a:t>
            </a:r>
            <a:r>
              <a:rPr lang="en-US" dirty="0" smtClean="0"/>
              <a:t>object. Every </a:t>
            </a:r>
            <a:r>
              <a:rPr lang="en-US" dirty="0"/>
              <a:t>time an object is created using the new() keyword, at least one constructor is </a:t>
            </a:r>
            <a:r>
              <a:rPr lang="en-US" dirty="0" smtClean="0"/>
              <a:t>called.</a:t>
            </a:r>
          </a:p>
          <a:p>
            <a:pPr algn="just" fontAlgn="base"/>
            <a:r>
              <a:rPr lang="en-US" dirty="0"/>
              <a:t>It calls a default constructor if there is no constructor available in the class. In such case, Java compiler provides a default constructor by default</a:t>
            </a:r>
            <a:r>
              <a:rPr lang="en-US" dirty="0" smtClean="0"/>
              <a:t>.</a:t>
            </a:r>
            <a:endParaRPr lang="en-US" dirty="0"/>
          </a:p>
          <a:p>
            <a:pPr algn="just" fontAlgn="base"/>
            <a:r>
              <a:rPr lang="en-US" dirty="0"/>
              <a:t>There are two types of constructors in Java: no-</a:t>
            </a:r>
            <a:r>
              <a:rPr lang="en-US" dirty="0" err="1"/>
              <a:t>arg</a:t>
            </a:r>
            <a:r>
              <a:rPr lang="en-US" dirty="0"/>
              <a:t> constructor, and parameterized constructor.</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11</a:t>
            </a:fld>
            <a:endParaRPr lang="en-US" dirty="0"/>
          </a:p>
        </p:txBody>
      </p:sp>
    </p:spTree>
    <p:extLst>
      <p:ext uri="{BB962C8B-B14F-4D97-AF65-F5344CB8AC3E}">
        <p14:creationId xmlns:p14="http://schemas.microsoft.com/office/powerpoint/2010/main" val="281190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Constructors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199" y="1074057"/>
            <a:ext cx="10816771" cy="5647417"/>
          </a:xfrm>
        </p:spPr>
        <p:txBody>
          <a:bodyPr>
            <a:normAutofit lnSpcReduction="10000"/>
          </a:bodyPr>
          <a:lstStyle/>
          <a:p>
            <a:pPr fontAlgn="base"/>
            <a:r>
              <a:rPr lang="en-US" b="1" dirty="0"/>
              <a:t>Java Default </a:t>
            </a:r>
            <a:r>
              <a:rPr lang="en-US" b="1" dirty="0" smtClean="0"/>
              <a:t>Constructor</a:t>
            </a:r>
            <a:r>
              <a:rPr lang="en-US" dirty="0" smtClean="0"/>
              <a:t>: A </a:t>
            </a:r>
            <a:r>
              <a:rPr lang="en-US" dirty="0"/>
              <a:t>constructor is called "Default Constructor" when it doesn't have any parameter</a:t>
            </a:r>
            <a:r>
              <a:rPr lang="en-US" dirty="0" smtClean="0"/>
              <a:t>.</a:t>
            </a:r>
            <a:endParaRPr lang="en-US" dirty="0"/>
          </a:p>
          <a:p>
            <a:pPr algn="just" fontAlgn="base"/>
            <a:r>
              <a:rPr lang="en-US" dirty="0"/>
              <a:t>Syntax of default constructor:</a:t>
            </a:r>
          </a:p>
          <a:p>
            <a:pPr marL="0" indent="0" algn="just" fontAlgn="base">
              <a:buNone/>
            </a:pPr>
            <a:r>
              <a:rPr lang="en-US" dirty="0" smtClean="0"/>
              <a:t>	</a:t>
            </a:r>
            <a:r>
              <a:rPr lang="en-US" b="1" dirty="0" smtClean="0"/>
              <a:t>&lt;</a:t>
            </a:r>
            <a:r>
              <a:rPr lang="en-US" b="1" dirty="0" err="1"/>
              <a:t>class_name</a:t>
            </a:r>
            <a:r>
              <a:rPr lang="en-US" b="1" dirty="0"/>
              <a:t>&gt;(){}  </a:t>
            </a:r>
          </a:p>
          <a:p>
            <a:pPr algn="just" fontAlgn="base"/>
            <a:r>
              <a:rPr lang="en-US" dirty="0"/>
              <a:t>Example </a:t>
            </a:r>
            <a:r>
              <a:rPr lang="en-US" dirty="0" smtClean="0"/>
              <a:t>:</a:t>
            </a:r>
          </a:p>
          <a:p>
            <a:pPr marL="457200" lvl="1" indent="0" algn="just" fontAlgn="base">
              <a:buNone/>
            </a:pPr>
            <a:r>
              <a:rPr lang="en-US" dirty="0" smtClean="0"/>
              <a:t>class </a:t>
            </a:r>
            <a:r>
              <a:rPr lang="en-US" dirty="0" err="1"/>
              <a:t>Bike1</a:t>
            </a:r>
            <a:r>
              <a:rPr lang="en-US" dirty="0"/>
              <a:t>{  </a:t>
            </a:r>
          </a:p>
          <a:p>
            <a:pPr marL="914400" lvl="2" indent="0" algn="just" fontAlgn="base">
              <a:buNone/>
            </a:pPr>
            <a:r>
              <a:rPr lang="en-US" dirty="0"/>
              <a:t>//creating a default constructor  </a:t>
            </a:r>
          </a:p>
          <a:p>
            <a:pPr marL="914400" lvl="2" indent="0" algn="just" fontAlgn="base">
              <a:buNone/>
            </a:pPr>
            <a:r>
              <a:rPr lang="en-US" dirty="0" err="1"/>
              <a:t>Bike1</a:t>
            </a:r>
            <a:r>
              <a:rPr lang="en-US" dirty="0" smtClean="0"/>
              <a:t>(){</a:t>
            </a:r>
          </a:p>
          <a:p>
            <a:pPr marL="1371600" lvl="3" indent="0" algn="just" fontAlgn="base">
              <a:buNone/>
            </a:pPr>
            <a:r>
              <a:rPr lang="en-US" dirty="0" err="1" smtClean="0"/>
              <a:t>System.out.println</a:t>
            </a:r>
            <a:r>
              <a:rPr lang="en-US" dirty="0"/>
              <a:t>("Bike is created</a:t>
            </a:r>
            <a:r>
              <a:rPr lang="en-US" dirty="0" smtClean="0"/>
              <a:t>");</a:t>
            </a:r>
          </a:p>
          <a:p>
            <a:pPr marL="914400" lvl="2" indent="0" algn="just" fontAlgn="base">
              <a:buNone/>
            </a:pPr>
            <a:r>
              <a:rPr lang="en-US" dirty="0" smtClean="0"/>
              <a:t>}  </a:t>
            </a:r>
            <a:endParaRPr lang="en-US" dirty="0"/>
          </a:p>
          <a:p>
            <a:pPr marL="914400" lvl="2" indent="0" algn="just" fontAlgn="base">
              <a:buNone/>
            </a:pPr>
            <a:r>
              <a:rPr lang="en-US" dirty="0"/>
              <a:t>//main method  </a:t>
            </a:r>
          </a:p>
          <a:p>
            <a:pPr marL="914400" lvl="2" indent="0" algn="just" fontAlgn="base">
              <a:buNone/>
            </a:pPr>
            <a:r>
              <a:rPr lang="en-US" dirty="0"/>
              <a:t>public static void main(String </a:t>
            </a:r>
            <a:r>
              <a:rPr lang="en-US" dirty="0" err="1"/>
              <a:t>args</a:t>
            </a:r>
            <a:r>
              <a:rPr lang="en-US" dirty="0"/>
              <a:t>[]){  </a:t>
            </a:r>
          </a:p>
          <a:p>
            <a:pPr marL="1371600" lvl="3" indent="0" algn="just" fontAlgn="base">
              <a:buNone/>
            </a:pPr>
            <a:r>
              <a:rPr lang="en-US" dirty="0"/>
              <a:t>//calling a default constructor  </a:t>
            </a:r>
          </a:p>
          <a:p>
            <a:pPr marL="1371600" lvl="3" indent="0" algn="just" fontAlgn="base">
              <a:buNone/>
            </a:pPr>
            <a:r>
              <a:rPr lang="en-US" dirty="0" err="1"/>
              <a:t>Bike1</a:t>
            </a:r>
            <a:r>
              <a:rPr lang="en-US" dirty="0"/>
              <a:t> b=new </a:t>
            </a:r>
            <a:r>
              <a:rPr lang="en-US" dirty="0" err="1"/>
              <a:t>Bike1</a:t>
            </a:r>
            <a:r>
              <a:rPr lang="en-US" dirty="0"/>
              <a:t>();  </a:t>
            </a:r>
          </a:p>
          <a:p>
            <a:pPr marL="914400" lvl="2" indent="0" algn="just" fontAlgn="base">
              <a:buNone/>
            </a:pPr>
            <a:r>
              <a:rPr lang="en-US" dirty="0"/>
              <a:t>}  </a:t>
            </a:r>
          </a:p>
          <a:p>
            <a:pPr marL="457200" lvl="1" indent="0" algn="just" fontAlgn="base">
              <a:buNone/>
            </a:pPr>
            <a:r>
              <a:rPr lang="en-US" dirty="0"/>
              <a:t>} </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12</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168572" y="5080005"/>
            <a:ext cx="2162628" cy="84182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en-US" sz="2000" dirty="0"/>
              <a:t>Bike is created</a:t>
            </a:r>
            <a:endParaRPr lang="en-US" sz="2000" dirty="0" smtClean="0"/>
          </a:p>
        </p:txBody>
      </p:sp>
    </p:spTree>
    <p:extLst>
      <p:ext uri="{BB962C8B-B14F-4D97-AF65-F5344CB8AC3E}">
        <p14:creationId xmlns:p14="http://schemas.microsoft.com/office/powerpoint/2010/main" val="8627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Constructors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647417"/>
          </a:xfrm>
        </p:spPr>
        <p:txBody>
          <a:bodyPr>
            <a:normAutofit fontScale="77500" lnSpcReduction="20000"/>
          </a:bodyPr>
          <a:lstStyle/>
          <a:p>
            <a:pPr algn="just" fontAlgn="base"/>
            <a:r>
              <a:rPr lang="en-US" b="1" dirty="0"/>
              <a:t>Java Parameterized </a:t>
            </a:r>
            <a:r>
              <a:rPr lang="en-US" b="1" dirty="0" smtClean="0"/>
              <a:t>Constructor</a:t>
            </a:r>
            <a:r>
              <a:rPr lang="en-US" dirty="0" smtClean="0"/>
              <a:t>: A </a:t>
            </a:r>
            <a:r>
              <a:rPr lang="en-US" dirty="0"/>
              <a:t>constructor which has a specific number of parameters is called a parameterized constructor</a:t>
            </a:r>
            <a:r>
              <a:rPr lang="en-US" dirty="0" smtClean="0"/>
              <a:t>.</a:t>
            </a:r>
            <a:endParaRPr lang="en-US" dirty="0"/>
          </a:p>
          <a:p>
            <a:pPr algn="just" fontAlgn="base"/>
            <a:r>
              <a:rPr lang="en-US" dirty="0" smtClean="0"/>
              <a:t>The </a:t>
            </a:r>
            <a:r>
              <a:rPr lang="en-US" dirty="0"/>
              <a:t>parameterized constructor is used to provide different values to distinct objects. However, you can provide the same values also</a:t>
            </a:r>
            <a:r>
              <a:rPr lang="en-US" dirty="0" smtClean="0"/>
              <a:t>.</a:t>
            </a:r>
            <a:endParaRPr lang="en-US" dirty="0"/>
          </a:p>
          <a:p>
            <a:pPr algn="just" fontAlgn="base"/>
            <a:r>
              <a:rPr lang="en-US" dirty="0"/>
              <a:t>Example </a:t>
            </a:r>
            <a:r>
              <a:rPr lang="en-US" dirty="0" smtClean="0"/>
              <a:t>:</a:t>
            </a:r>
          </a:p>
          <a:p>
            <a:pPr marL="457200" lvl="1" indent="0" algn="just" fontAlgn="base">
              <a:lnSpc>
                <a:spcPct val="120000"/>
              </a:lnSpc>
              <a:spcBef>
                <a:spcPts val="0"/>
              </a:spcBef>
              <a:buNone/>
            </a:pPr>
            <a:r>
              <a:rPr lang="en-US" dirty="0"/>
              <a:t>class </a:t>
            </a:r>
            <a:r>
              <a:rPr lang="en-US" dirty="0" err="1"/>
              <a:t>Student4</a:t>
            </a:r>
            <a:r>
              <a:rPr lang="en-US" dirty="0"/>
              <a:t>{  </a:t>
            </a:r>
          </a:p>
          <a:p>
            <a:pPr marL="457200" lvl="1" indent="0" algn="just" fontAlgn="base">
              <a:lnSpc>
                <a:spcPct val="120000"/>
              </a:lnSpc>
              <a:spcBef>
                <a:spcPts val="0"/>
              </a:spcBef>
              <a:buNone/>
            </a:pPr>
            <a:r>
              <a:rPr lang="en-US" dirty="0"/>
              <a:t>    </a:t>
            </a:r>
            <a:r>
              <a:rPr lang="en-US" dirty="0" err="1"/>
              <a:t>int</a:t>
            </a:r>
            <a:r>
              <a:rPr lang="en-US" dirty="0"/>
              <a:t> id;  </a:t>
            </a:r>
          </a:p>
          <a:p>
            <a:pPr marL="457200" lvl="1" indent="0" algn="just" fontAlgn="base">
              <a:lnSpc>
                <a:spcPct val="120000"/>
              </a:lnSpc>
              <a:spcBef>
                <a:spcPts val="0"/>
              </a:spcBef>
              <a:buNone/>
            </a:pPr>
            <a:r>
              <a:rPr lang="en-US" dirty="0"/>
              <a:t>    String name;  </a:t>
            </a:r>
          </a:p>
          <a:p>
            <a:pPr marL="457200" lvl="1" indent="0" algn="just" fontAlgn="base">
              <a:lnSpc>
                <a:spcPct val="120000"/>
              </a:lnSpc>
              <a:spcBef>
                <a:spcPts val="0"/>
              </a:spcBef>
              <a:buNone/>
            </a:pPr>
            <a:r>
              <a:rPr lang="en-US" dirty="0" smtClean="0"/>
              <a:t>    </a:t>
            </a:r>
            <a:r>
              <a:rPr lang="en-US" dirty="0" err="1" smtClean="0"/>
              <a:t>Student4</a:t>
            </a:r>
            <a:r>
              <a:rPr lang="en-US" dirty="0" smtClean="0"/>
              <a:t>(</a:t>
            </a:r>
            <a:r>
              <a:rPr lang="en-US" dirty="0" err="1" smtClean="0"/>
              <a:t>int</a:t>
            </a:r>
            <a:r>
              <a:rPr lang="en-US" dirty="0" smtClean="0"/>
              <a:t> </a:t>
            </a:r>
            <a:r>
              <a:rPr lang="en-US" dirty="0" err="1" smtClean="0"/>
              <a:t>i,String</a:t>
            </a:r>
            <a:r>
              <a:rPr lang="en-US" dirty="0" smtClean="0"/>
              <a:t> n){  </a:t>
            </a:r>
          </a:p>
          <a:p>
            <a:pPr marL="914400" lvl="2" indent="0" algn="just" fontAlgn="base">
              <a:lnSpc>
                <a:spcPct val="120000"/>
              </a:lnSpc>
              <a:spcBef>
                <a:spcPts val="0"/>
              </a:spcBef>
              <a:buNone/>
            </a:pPr>
            <a:r>
              <a:rPr lang="en-US" dirty="0" smtClean="0"/>
              <a:t>    </a:t>
            </a:r>
            <a:r>
              <a:rPr lang="en-US" dirty="0"/>
              <a:t>id = i;  </a:t>
            </a:r>
          </a:p>
          <a:p>
            <a:pPr marL="914400" lvl="2" indent="0" algn="just" fontAlgn="base">
              <a:lnSpc>
                <a:spcPct val="120000"/>
              </a:lnSpc>
              <a:spcBef>
                <a:spcPts val="0"/>
              </a:spcBef>
              <a:buNone/>
            </a:pPr>
            <a:r>
              <a:rPr lang="en-US" dirty="0"/>
              <a:t>    name = n;  </a:t>
            </a:r>
          </a:p>
          <a:p>
            <a:pPr marL="457200" lvl="1" indent="0" algn="just" fontAlgn="base">
              <a:lnSpc>
                <a:spcPct val="120000"/>
              </a:lnSpc>
              <a:spcBef>
                <a:spcPts val="0"/>
              </a:spcBef>
              <a:buNone/>
            </a:pPr>
            <a:r>
              <a:rPr lang="en-US" dirty="0"/>
              <a:t>    }  </a:t>
            </a:r>
          </a:p>
          <a:p>
            <a:pPr marL="457200" lvl="1" indent="0" algn="just" fontAlgn="base">
              <a:lnSpc>
                <a:spcPct val="120000"/>
              </a:lnSpc>
              <a:spcBef>
                <a:spcPts val="0"/>
              </a:spcBef>
              <a:buNone/>
            </a:pPr>
            <a:r>
              <a:rPr lang="en-US" dirty="0"/>
              <a:t>    </a:t>
            </a:r>
            <a:r>
              <a:rPr lang="en-US" dirty="0" smtClean="0"/>
              <a:t>void </a:t>
            </a:r>
            <a:r>
              <a:rPr lang="en-US" dirty="0"/>
              <a:t>display(){</a:t>
            </a:r>
            <a:r>
              <a:rPr lang="en-US" dirty="0" err="1"/>
              <a:t>System.out.println</a:t>
            </a:r>
            <a:r>
              <a:rPr lang="en-US" dirty="0"/>
              <a:t>(id+" "+name);}  </a:t>
            </a:r>
          </a:p>
          <a:p>
            <a:pPr marL="457200" lvl="1" indent="0" algn="just" fontAlgn="base">
              <a:lnSpc>
                <a:spcPct val="120000"/>
              </a:lnSpc>
              <a:spcBef>
                <a:spcPts val="0"/>
              </a:spcBef>
              <a:buNone/>
            </a:pPr>
            <a:r>
              <a:rPr lang="en-US" dirty="0"/>
              <a:t>    public static void main(String </a:t>
            </a:r>
            <a:r>
              <a:rPr lang="en-US" dirty="0" err="1"/>
              <a:t>args</a:t>
            </a:r>
            <a:r>
              <a:rPr lang="en-US" dirty="0"/>
              <a:t>[]){  </a:t>
            </a:r>
          </a:p>
          <a:p>
            <a:pPr marL="914400" lvl="2" indent="0" algn="just" fontAlgn="base">
              <a:lnSpc>
                <a:spcPct val="120000"/>
              </a:lnSpc>
              <a:spcBef>
                <a:spcPts val="0"/>
              </a:spcBef>
              <a:buNone/>
            </a:pPr>
            <a:r>
              <a:rPr lang="en-US" dirty="0" smtClean="0"/>
              <a:t>    </a:t>
            </a:r>
            <a:r>
              <a:rPr lang="en-US" dirty="0" err="1" smtClean="0"/>
              <a:t>Student4</a:t>
            </a:r>
            <a:r>
              <a:rPr lang="en-US" dirty="0" smtClean="0"/>
              <a:t> </a:t>
            </a:r>
            <a:r>
              <a:rPr lang="en-US" dirty="0" err="1"/>
              <a:t>s1</a:t>
            </a:r>
            <a:r>
              <a:rPr lang="en-US" dirty="0"/>
              <a:t> = new </a:t>
            </a:r>
            <a:r>
              <a:rPr lang="en-US" dirty="0" err="1"/>
              <a:t>Student4</a:t>
            </a:r>
            <a:r>
              <a:rPr lang="en-US" dirty="0"/>
              <a:t>(</a:t>
            </a:r>
            <a:r>
              <a:rPr lang="en-US" dirty="0" err="1"/>
              <a:t>111,"Karan</a:t>
            </a:r>
            <a:r>
              <a:rPr lang="en-US" dirty="0"/>
              <a:t>");  </a:t>
            </a:r>
          </a:p>
          <a:p>
            <a:pPr marL="914400" lvl="2" indent="0" algn="just" fontAlgn="base">
              <a:lnSpc>
                <a:spcPct val="120000"/>
              </a:lnSpc>
              <a:spcBef>
                <a:spcPts val="0"/>
              </a:spcBef>
              <a:buNone/>
            </a:pPr>
            <a:r>
              <a:rPr lang="en-US" dirty="0"/>
              <a:t>    </a:t>
            </a:r>
            <a:r>
              <a:rPr lang="en-US" dirty="0" err="1"/>
              <a:t>Student4</a:t>
            </a:r>
            <a:r>
              <a:rPr lang="en-US" dirty="0"/>
              <a:t> </a:t>
            </a:r>
            <a:r>
              <a:rPr lang="en-US" dirty="0" err="1"/>
              <a:t>s2</a:t>
            </a:r>
            <a:r>
              <a:rPr lang="en-US" dirty="0"/>
              <a:t> = new </a:t>
            </a:r>
            <a:r>
              <a:rPr lang="en-US" dirty="0" err="1"/>
              <a:t>Student4</a:t>
            </a:r>
            <a:r>
              <a:rPr lang="en-US" dirty="0"/>
              <a:t>(</a:t>
            </a:r>
            <a:r>
              <a:rPr lang="en-US" dirty="0" err="1"/>
              <a:t>222,"Aryan</a:t>
            </a:r>
            <a:r>
              <a:rPr lang="en-US" dirty="0"/>
              <a:t>");  </a:t>
            </a:r>
          </a:p>
          <a:p>
            <a:pPr marL="914400" lvl="2" indent="0" algn="just" fontAlgn="base">
              <a:lnSpc>
                <a:spcPct val="120000"/>
              </a:lnSpc>
              <a:spcBef>
                <a:spcPts val="0"/>
              </a:spcBef>
              <a:buNone/>
            </a:pPr>
            <a:r>
              <a:rPr lang="en-US" dirty="0" smtClean="0"/>
              <a:t>    </a:t>
            </a:r>
            <a:r>
              <a:rPr lang="en-US" dirty="0" err="1" smtClean="0"/>
              <a:t>s1.display</a:t>
            </a:r>
            <a:r>
              <a:rPr lang="en-US" dirty="0"/>
              <a:t>();  </a:t>
            </a:r>
          </a:p>
          <a:p>
            <a:pPr marL="914400" lvl="2" indent="0" algn="just" fontAlgn="base">
              <a:lnSpc>
                <a:spcPct val="120000"/>
              </a:lnSpc>
              <a:spcBef>
                <a:spcPts val="0"/>
              </a:spcBef>
              <a:buNone/>
            </a:pPr>
            <a:r>
              <a:rPr lang="en-US" dirty="0"/>
              <a:t>    </a:t>
            </a:r>
            <a:r>
              <a:rPr lang="en-US" dirty="0" err="1"/>
              <a:t>s2.display</a:t>
            </a:r>
            <a:r>
              <a:rPr lang="en-US" dirty="0"/>
              <a:t>();  </a:t>
            </a:r>
          </a:p>
          <a:p>
            <a:pPr marL="457200" lvl="1" indent="0" algn="just" fontAlgn="base">
              <a:lnSpc>
                <a:spcPct val="120000"/>
              </a:lnSpc>
              <a:spcBef>
                <a:spcPts val="0"/>
              </a:spcBef>
              <a:buNone/>
            </a:pPr>
            <a:r>
              <a:rPr lang="en-US" dirty="0"/>
              <a:t>   }  </a:t>
            </a:r>
          </a:p>
          <a:p>
            <a:pPr marL="457200" lvl="1" indent="0" algn="just" fontAlgn="base">
              <a:lnSpc>
                <a:spcPct val="120000"/>
              </a:lnSpc>
              <a:spcBef>
                <a:spcPts val="0"/>
              </a:spcBef>
              <a:buNone/>
            </a:pPr>
            <a:r>
              <a:rPr lang="en-US" dirty="0"/>
              <a:t>} </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dirty="0"/>
              <a:t>© VTCA</a:t>
            </a:r>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13</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168572" y="4963883"/>
            <a:ext cx="2162628" cy="114663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en-US" sz="2000" dirty="0"/>
              <a:t>111 Karan</a:t>
            </a:r>
          </a:p>
          <a:p>
            <a:pPr marL="0" indent="0" algn="just" fontAlgn="base">
              <a:lnSpc>
                <a:spcPct val="100000"/>
              </a:lnSpc>
              <a:spcBef>
                <a:spcPts val="0"/>
              </a:spcBef>
              <a:buNone/>
            </a:pPr>
            <a:r>
              <a:rPr lang="en-US" sz="2000" dirty="0"/>
              <a:t>222 Aryan</a:t>
            </a:r>
            <a:endParaRPr lang="en-US" sz="2000" dirty="0" smtClean="0"/>
          </a:p>
        </p:txBody>
      </p:sp>
    </p:spTree>
    <p:extLst>
      <p:ext uri="{BB962C8B-B14F-4D97-AF65-F5344CB8AC3E}">
        <p14:creationId xmlns:p14="http://schemas.microsoft.com/office/powerpoint/2010/main" val="162925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Constructors in Java</a:t>
            </a:r>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1" y="1074057"/>
            <a:ext cx="4532086" cy="5282293"/>
          </a:xfrm>
        </p:spPr>
        <p:txBody>
          <a:bodyPr>
            <a:normAutofit fontScale="92500" lnSpcReduction="20000"/>
          </a:bodyPr>
          <a:lstStyle/>
          <a:p>
            <a:pPr algn="just" fontAlgn="base"/>
            <a:r>
              <a:rPr lang="en-US" b="1" dirty="0"/>
              <a:t>Constructor Overloading in </a:t>
            </a:r>
            <a:r>
              <a:rPr lang="en-US" b="1" dirty="0" smtClean="0"/>
              <a:t>Java</a:t>
            </a:r>
            <a:r>
              <a:rPr lang="en-US" dirty="0" smtClean="0"/>
              <a:t>: a </a:t>
            </a:r>
            <a:r>
              <a:rPr lang="en-US" dirty="0"/>
              <a:t>constructor is just like a method but without return type. It can also be overloaded like Java methods</a:t>
            </a:r>
            <a:r>
              <a:rPr lang="en-US" dirty="0" smtClean="0"/>
              <a:t>.</a:t>
            </a:r>
            <a:endParaRPr lang="en-US" dirty="0"/>
          </a:p>
          <a:p>
            <a:pPr algn="just" fontAlgn="base"/>
            <a:r>
              <a:rPr lang="en-US" dirty="0"/>
              <a:t>Constructor overloading in Java is a technique of having more than one constructor with different parameter lists. They are arranged in a way that each constructor performs a different task. They are differentiated by the compiler by the number of parameters in the list and their types</a:t>
            </a:r>
            <a:r>
              <a:rPr lang="en-US" dirty="0" smtClean="0"/>
              <a: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14</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9085943" y="1269996"/>
            <a:ext cx="2162628" cy="114663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en-US" sz="2000" dirty="0"/>
              <a:t>111 Karan 0</a:t>
            </a:r>
          </a:p>
          <a:p>
            <a:pPr marL="0" indent="0" algn="just" fontAlgn="base">
              <a:lnSpc>
                <a:spcPct val="100000"/>
              </a:lnSpc>
              <a:spcBef>
                <a:spcPts val="0"/>
              </a:spcBef>
              <a:buNone/>
            </a:pPr>
            <a:r>
              <a:rPr lang="en-US" sz="2000" dirty="0"/>
              <a:t>222 Aryan 25</a:t>
            </a:r>
            <a:endParaRPr lang="en-US" sz="2000" dirty="0" smtClean="0"/>
          </a:p>
        </p:txBody>
      </p:sp>
      <p:sp>
        <p:nvSpPr>
          <p:cNvPr id="9" name="Content Placeholder 2">
            <a:extLst>
              <a:ext uri="{FF2B5EF4-FFF2-40B4-BE49-F238E27FC236}">
                <a16:creationId xmlns="" xmlns:a16="http://schemas.microsoft.com/office/drawing/2014/main" id="{21309EEA-748E-1B4D-9BA2-2ADAA2FBB16C}"/>
              </a:ext>
            </a:extLst>
          </p:cNvPr>
          <p:cNvSpPr txBox="1">
            <a:spLocks/>
          </p:cNvSpPr>
          <p:nvPr/>
        </p:nvSpPr>
        <p:spPr>
          <a:xfrm>
            <a:off x="5555342" y="926877"/>
            <a:ext cx="6477001" cy="579459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r>
              <a:rPr lang="en-US" dirty="0" smtClean="0"/>
              <a:t>Example:</a:t>
            </a:r>
          </a:p>
          <a:p>
            <a:pPr marL="457200" lvl="1" indent="0" algn="just" fontAlgn="base">
              <a:lnSpc>
                <a:spcPct val="120000"/>
              </a:lnSpc>
              <a:spcBef>
                <a:spcPts val="0"/>
              </a:spcBef>
              <a:buFont typeface="Arial" panose="020B0604020202020204" pitchFamily="34" charset="0"/>
              <a:buNone/>
            </a:pPr>
            <a:r>
              <a:rPr lang="en-US" dirty="0" smtClean="0"/>
              <a:t>class </a:t>
            </a:r>
            <a:r>
              <a:rPr lang="en-US" dirty="0" err="1" smtClean="0"/>
              <a:t>Student5</a:t>
            </a:r>
            <a:r>
              <a:rPr lang="en-US" dirty="0" smtClean="0"/>
              <a:t>{  </a:t>
            </a:r>
          </a:p>
          <a:p>
            <a:pPr marL="457200" lvl="1" indent="0" algn="just" fontAlgn="base">
              <a:lnSpc>
                <a:spcPct val="120000"/>
              </a:lnSpc>
              <a:spcBef>
                <a:spcPts val="0"/>
              </a:spcBef>
              <a:buFont typeface="Arial" panose="020B0604020202020204" pitchFamily="34" charset="0"/>
              <a:buNone/>
            </a:pPr>
            <a:r>
              <a:rPr lang="en-US" dirty="0" smtClean="0"/>
              <a:t>    </a:t>
            </a:r>
            <a:r>
              <a:rPr lang="en-US" dirty="0" err="1" smtClean="0"/>
              <a:t>int</a:t>
            </a:r>
            <a:r>
              <a:rPr lang="en-US" dirty="0" smtClean="0"/>
              <a:t> id;  </a:t>
            </a:r>
          </a:p>
          <a:p>
            <a:pPr marL="457200" lvl="1" indent="0" algn="just" fontAlgn="base">
              <a:lnSpc>
                <a:spcPct val="120000"/>
              </a:lnSpc>
              <a:spcBef>
                <a:spcPts val="0"/>
              </a:spcBef>
              <a:buFont typeface="Arial" panose="020B0604020202020204" pitchFamily="34" charset="0"/>
              <a:buNone/>
            </a:pPr>
            <a:r>
              <a:rPr lang="en-US" dirty="0" smtClean="0"/>
              <a:t>    String name;  </a:t>
            </a:r>
          </a:p>
          <a:p>
            <a:pPr marL="457200" lvl="1" indent="0" algn="just" fontAlgn="base">
              <a:lnSpc>
                <a:spcPct val="120000"/>
              </a:lnSpc>
              <a:spcBef>
                <a:spcPts val="0"/>
              </a:spcBef>
              <a:buFont typeface="Arial" panose="020B0604020202020204" pitchFamily="34" charset="0"/>
              <a:buNone/>
            </a:pPr>
            <a:r>
              <a:rPr lang="en-US" dirty="0" smtClean="0"/>
              <a:t>    </a:t>
            </a:r>
            <a:r>
              <a:rPr lang="en-US" dirty="0" err="1" smtClean="0"/>
              <a:t>int</a:t>
            </a:r>
            <a:r>
              <a:rPr lang="en-US" dirty="0" smtClean="0"/>
              <a:t> age;  </a:t>
            </a:r>
          </a:p>
          <a:p>
            <a:pPr marL="457200" lvl="1" indent="0" algn="just" fontAlgn="base">
              <a:lnSpc>
                <a:spcPct val="120000"/>
              </a:lnSpc>
              <a:spcBef>
                <a:spcPts val="0"/>
              </a:spcBef>
              <a:buFont typeface="Arial" panose="020B0604020202020204" pitchFamily="34" charset="0"/>
              <a:buNone/>
            </a:pPr>
            <a:r>
              <a:rPr lang="en-US" dirty="0" smtClean="0"/>
              <a:t>    </a:t>
            </a:r>
            <a:r>
              <a:rPr lang="en-US" dirty="0" err="1" smtClean="0"/>
              <a:t>Student5</a:t>
            </a:r>
            <a:r>
              <a:rPr lang="en-US" dirty="0" smtClean="0"/>
              <a:t>(</a:t>
            </a:r>
            <a:r>
              <a:rPr lang="en-US" dirty="0" err="1" smtClean="0"/>
              <a:t>int</a:t>
            </a:r>
            <a:r>
              <a:rPr lang="en-US" dirty="0" smtClean="0"/>
              <a:t> </a:t>
            </a:r>
            <a:r>
              <a:rPr lang="en-US" dirty="0" err="1" smtClean="0"/>
              <a:t>i,String</a:t>
            </a:r>
            <a:r>
              <a:rPr lang="en-US" dirty="0" smtClean="0"/>
              <a:t> n){  </a:t>
            </a:r>
          </a:p>
          <a:p>
            <a:pPr marL="914400" lvl="2" indent="0" algn="just" fontAlgn="base">
              <a:lnSpc>
                <a:spcPct val="120000"/>
              </a:lnSpc>
              <a:spcBef>
                <a:spcPts val="0"/>
              </a:spcBef>
              <a:buFont typeface="Arial" panose="020B0604020202020204" pitchFamily="34" charset="0"/>
              <a:buNone/>
            </a:pPr>
            <a:r>
              <a:rPr lang="en-US" dirty="0" smtClean="0"/>
              <a:t>    id = i;  </a:t>
            </a:r>
          </a:p>
          <a:p>
            <a:pPr marL="914400" lvl="2" indent="0" algn="just" fontAlgn="base">
              <a:lnSpc>
                <a:spcPct val="120000"/>
              </a:lnSpc>
              <a:spcBef>
                <a:spcPts val="0"/>
              </a:spcBef>
              <a:buFont typeface="Arial" panose="020B0604020202020204" pitchFamily="34" charset="0"/>
              <a:buNone/>
            </a:pPr>
            <a:r>
              <a:rPr lang="en-US" dirty="0" smtClean="0"/>
              <a:t>    name = n;  </a:t>
            </a:r>
          </a:p>
          <a:p>
            <a:pPr marL="457200" lvl="1" indent="0" algn="just" fontAlgn="base">
              <a:lnSpc>
                <a:spcPct val="120000"/>
              </a:lnSpc>
              <a:spcBef>
                <a:spcPts val="0"/>
              </a:spcBef>
              <a:buFont typeface="Arial" panose="020B0604020202020204" pitchFamily="34" charset="0"/>
              <a:buNone/>
            </a:pPr>
            <a:r>
              <a:rPr lang="en-US" dirty="0" smtClean="0"/>
              <a:t>    }  </a:t>
            </a:r>
          </a:p>
          <a:p>
            <a:pPr marL="457200" lvl="1" indent="0" algn="just" fontAlgn="base">
              <a:lnSpc>
                <a:spcPct val="120000"/>
              </a:lnSpc>
              <a:spcBef>
                <a:spcPts val="0"/>
              </a:spcBef>
              <a:buFont typeface="Arial" panose="020B0604020202020204" pitchFamily="34" charset="0"/>
              <a:buNone/>
            </a:pPr>
            <a:r>
              <a:rPr lang="en-US" dirty="0" smtClean="0"/>
              <a:t>    </a:t>
            </a:r>
            <a:r>
              <a:rPr lang="en-US" dirty="0" err="1" smtClean="0"/>
              <a:t>Student5</a:t>
            </a:r>
            <a:r>
              <a:rPr lang="en-US" dirty="0" smtClean="0"/>
              <a:t>(</a:t>
            </a:r>
            <a:r>
              <a:rPr lang="en-US" dirty="0" err="1" smtClean="0"/>
              <a:t>int</a:t>
            </a:r>
            <a:r>
              <a:rPr lang="en-US" dirty="0" smtClean="0"/>
              <a:t> </a:t>
            </a:r>
            <a:r>
              <a:rPr lang="en-US" dirty="0" err="1" smtClean="0"/>
              <a:t>i,String</a:t>
            </a:r>
            <a:r>
              <a:rPr lang="en-US" dirty="0" smtClean="0"/>
              <a:t> </a:t>
            </a:r>
            <a:r>
              <a:rPr lang="en-US" dirty="0" err="1" smtClean="0"/>
              <a:t>n,int</a:t>
            </a:r>
            <a:r>
              <a:rPr lang="en-US" dirty="0" smtClean="0"/>
              <a:t> a){  </a:t>
            </a:r>
          </a:p>
          <a:p>
            <a:pPr marL="914400" lvl="2" indent="0" algn="just" fontAlgn="base">
              <a:lnSpc>
                <a:spcPct val="120000"/>
              </a:lnSpc>
              <a:spcBef>
                <a:spcPts val="0"/>
              </a:spcBef>
              <a:buFont typeface="Arial" panose="020B0604020202020204" pitchFamily="34" charset="0"/>
              <a:buNone/>
            </a:pPr>
            <a:r>
              <a:rPr lang="en-US" dirty="0" smtClean="0"/>
              <a:t>    id = i;  </a:t>
            </a:r>
          </a:p>
          <a:p>
            <a:pPr marL="914400" lvl="2" indent="0" algn="just" fontAlgn="base">
              <a:lnSpc>
                <a:spcPct val="120000"/>
              </a:lnSpc>
              <a:spcBef>
                <a:spcPts val="0"/>
              </a:spcBef>
              <a:buFont typeface="Arial" panose="020B0604020202020204" pitchFamily="34" charset="0"/>
              <a:buNone/>
            </a:pPr>
            <a:r>
              <a:rPr lang="en-US" dirty="0" smtClean="0"/>
              <a:t>    name = n;  </a:t>
            </a:r>
          </a:p>
          <a:p>
            <a:pPr marL="914400" lvl="2" indent="0" algn="just" fontAlgn="base">
              <a:lnSpc>
                <a:spcPct val="120000"/>
              </a:lnSpc>
              <a:spcBef>
                <a:spcPts val="0"/>
              </a:spcBef>
              <a:buFont typeface="Arial" panose="020B0604020202020204" pitchFamily="34" charset="0"/>
              <a:buNone/>
            </a:pPr>
            <a:r>
              <a:rPr lang="en-US" dirty="0" smtClean="0"/>
              <a:t>    age=a;  </a:t>
            </a:r>
          </a:p>
          <a:p>
            <a:pPr marL="457200" lvl="1" indent="0" algn="just" fontAlgn="base">
              <a:lnSpc>
                <a:spcPct val="120000"/>
              </a:lnSpc>
              <a:spcBef>
                <a:spcPts val="0"/>
              </a:spcBef>
              <a:buFont typeface="Arial" panose="020B0604020202020204" pitchFamily="34" charset="0"/>
              <a:buNone/>
            </a:pPr>
            <a:r>
              <a:rPr lang="en-US" dirty="0" smtClean="0"/>
              <a:t>    }  </a:t>
            </a:r>
          </a:p>
          <a:p>
            <a:pPr marL="457200" lvl="1" indent="0" algn="just" fontAlgn="base">
              <a:lnSpc>
                <a:spcPct val="120000"/>
              </a:lnSpc>
              <a:spcBef>
                <a:spcPts val="0"/>
              </a:spcBef>
              <a:buFont typeface="Arial" panose="020B0604020202020204" pitchFamily="34" charset="0"/>
              <a:buNone/>
            </a:pPr>
            <a:r>
              <a:rPr lang="en-US" dirty="0" smtClean="0"/>
              <a:t>    void display(){</a:t>
            </a:r>
            <a:r>
              <a:rPr lang="en-US" dirty="0" err="1" smtClean="0"/>
              <a:t>System.out.println</a:t>
            </a:r>
            <a:r>
              <a:rPr lang="en-US" dirty="0" smtClean="0"/>
              <a:t>(id+" "+name+" "+age);</a:t>
            </a:r>
          </a:p>
          <a:p>
            <a:pPr marL="457200" lvl="1" indent="0" algn="just" fontAlgn="base">
              <a:lnSpc>
                <a:spcPct val="120000"/>
              </a:lnSpc>
              <a:spcBef>
                <a:spcPts val="0"/>
              </a:spcBef>
              <a:buFont typeface="Arial" panose="020B0604020202020204" pitchFamily="34" charset="0"/>
              <a:buNone/>
            </a:pPr>
            <a:r>
              <a:rPr lang="en-US" dirty="0" smtClean="0"/>
              <a:t>    public static void main(String </a:t>
            </a:r>
            <a:r>
              <a:rPr lang="en-US" dirty="0" err="1" smtClean="0"/>
              <a:t>args</a:t>
            </a:r>
            <a:r>
              <a:rPr lang="en-US" dirty="0" smtClean="0"/>
              <a:t>[]){  </a:t>
            </a:r>
          </a:p>
          <a:p>
            <a:pPr marL="914400" lvl="2" indent="0" algn="just" fontAlgn="base">
              <a:lnSpc>
                <a:spcPct val="120000"/>
              </a:lnSpc>
              <a:spcBef>
                <a:spcPts val="0"/>
              </a:spcBef>
              <a:buFont typeface="Arial" panose="020B0604020202020204" pitchFamily="34" charset="0"/>
              <a:buNone/>
            </a:pPr>
            <a:r>
              <a:rPr lang="en-US" dirty="0" smtClean="0"/>
              <a:t>    </a:t>
            </a:r>
            <a:r>
              <a:rPr lang="en-US" dirty="0" err="1" smtClean="0"/>
              <a:t>Student5</a:t>
            </a:r>
            <a:r>
              <a:rPr lang="en-US" dirty="0" smtClean="0"/>
              <a:t> </a:t>
            </a:r>
            <a:r>
              <a:rPr lang="en-US" dirty="0" err="1" smtClean="0"/>
              <a:t>s1</a:t>
            </a:r>
            <a:r>
              <a:rPr lang="en-US" dirty="0" smtClean="0"/>
              <a:t> = new </a:t>
            </a:r>
            <a:r>
              <a:rPr lang="en-US" dirty="0" err="1" smtClean="0"/>
              <a:t>Student5</a:t>
            </a:r>
            <a:r>
              <a:rPr lang="en-US" dirty="0" smtClean="0"/>
              <a:t>(</a:t>
            </a:r>
            <a:r>
              <a:rPr lang="en-US" dirty="0" err="1" smtClean="0"/>
              <a:t>111,"Karan</a:t>
            </a:r>
            <a:r>
              <a:rPr lang="en-US" dirty="0" smtClean="0"/>
              <a:t>");  </a:t>
            </a:r>
          </a:p>
          <a:p>
            <a:pPr marL="914400" lvl="2" indent="0" algn="just" fontAlgn="base">
              <a:lnSpc>
                <a:spcPct val="120000"/>
              </a:lnSpc>
              <a:spcBef>
                <a:spcPts val="0"/>
              </a:spcBef>
              <a:buFont typeface="Arial" panose="020B0604020202020204" pitchFamily="34" charset="0"/>
              <a:buNone/>
            </a:pPr>
            <a:r>
              <a:rPr lang="en-US" dirty="0" smtClean="0"/>
              <a:t>    </a:t>
            </a:r>
            <a:r>
              <a:rPr lang="en-US" dirty="0" err="1" smtClean="0"/>
              <a:t>Student5</a:t>
            </a:r>
            <a:r>
              <a:rPr lang="en-US" dirty="0" smtClean="0"/>
              <a:t> </a:t>
            </a:r>
            <a:r>
              <a:rPr lang="en-US" dirty="0" err="1" smtClean="0"/>
              <a:t>s2</a:t>
            </a:r>
            <a:r>
              <a:rPr lang="en-US" dirty="0" smtClean="0"/>
              <a:t> = new </a:t>
            </a:r>
            <a:r>
              <a:rPr lang="en-US" dirty="0" err="1" smtClean="0"/>
              <a:t>Student5</a:t>
            </a:r>
            <a:r>
              <a:rPr lang="en-US" dirty="0" smtClean="0"/>
              <a:t>(</a:t>
            </a:r>
            <a:r>
              <a:rPr lang="en-US" dirty="0" err="1" smtClean="0"/>
              <a:t>222,"Aryan",25</a:t>
            </a:r>
            <a:r>
              <a:rPr lang="en-US" dirty="0" smtClean="0"/>
              <a:t>);  </a:t>
            </a:r>
          </a:p>
          <a:p>
            <a:pPr marL="914400" lvl="2" indent="0" algn="just" fontAlgn="base">
              <a:lnSpc>
                <a:spcPct val="120000"/>
              </a:lnSpc>
              <a:spcBef>
                <a:spcPts val="0"/>
              </a:spcBef>
              <a:buFont typeface="Arial" panose="020B0604020202020204" pitchFamily="34" charset="0"/>
              <a:buNone/>
            </a:pPr>
            <a:r>
              <a:rPr lang="en-US" dirty="0" smtClean="0"/>
              <a:t>    </a:t>
            </a:r>
            <a:r>
              <a:rPr lang="en-US" dirty="0" err="1" smtClean="0"/>
              <a:t>s1.display</a:t>
            </a:r>
            <a:r>
              <a:rPr lang="en-US" dirty="0" smtClean="0"/>
              <a:t>();  </a:t>
            </a:r>
          </a:p>
          <a:p>
            <a:pPr marL="914400" lvl="2" indent="0" algn="just" fontAlgn="base">
              <a:lnSpc>
                <a:spcPct val="120000"/>
              </a:lnSpc>
              <a:spcBef>
                <a:spcPts val="0"/>
              </a:spcBef>
              <a:buFont typeface="Arial" panose="020B0604020202020204" pitchFamily="34" charset="0"/>
              <a:buNone/>
            </a:pPr>
            <a:r>
              <a:rPr lang="en-US" dirty="0" smtClean="0"/>
              <a:t>    </a:t>
            </a:r>
            <a:r>
              <a:rPr lang="en-US" dirty="0" err="1" smtClean="0"/>
              <a:t>s2.display</a:t>
            </a:r>
            <a:r>
              <a:rPr lang="en-US" dirty="0" smtClean="0"/>
              <a:t>();  </a:t>
            </a:r>
          </a:p>
          <a:p>
            <a:pPr marL="457200" lvl="1" indent="0" algn="just" fontAlgn="base">
              <a:lnSpc>
                <a:spcPct val="120000"/>
              </a:lnSpc>
              <a:spcBef>
                <a:spcPts val="0"/>
              </a:spcBef>
              <a:buFont typeface="Arial" panose="020B0604020202020204" pitchFamily="34" charset="0"/>
              <a:buNone/>
            </a:pPr>
            <a:r>
              <a:rPr lang="en-US" dirty="0" smtClean="0"/>
              <a:t>   }  </a:t>
            </a:r>
          </a:p>
          <a:p>
            <a:pPr marL="457200" lvl="1" indent="0" algn="just" fontAlgn="base">
              <a:lnSpc>
                <a:spcPct val="120000"/>
              </a:lnSpc>
              <a:spcBef>
                <a:spcPts val="0"/>
              </a:spcBef>
              <a:buFont typeface="Arial" panose="020B0604020202020204" pitchFamily="34" charset="0"/>
              <a:buNone/>
            </a:pPr>
            <a:r>
              <a:rPr lang="en-US" dirty="0" smtClean="0"/>
              <a:t>} </a:t>
            </a:r>
            <a:endParaRPr lang="en-US" dirty="0"/>
          </a:p>
        </p:txBody>
      </p:sp>
    </p:spTree>
    <p:extLst>
      <p:ext uri="{BB962C8B-B14F-4D97-AF65-F5344CB8AC3E}">
        <p14:creationId xmlns:p14="http://schemas.microsoft.com/office/powerpoint/2010/main" val="2450308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dirty="0"/>
              <a:t>Difference between constructor and method in Java</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75099604"/>
              </p:ext>
            </p:extLst>
          </p:nvPr>
        </p:nvGraphicFramePr>
        <p:xfrm>
          <a:off x="838198" y="1233715"/>
          <a:ext cx="10515600" cy="5012137"/>
        </p:xfrm>
        <a:graphic>
          <a:graphicData uri="http://schemas.openxmlformats.org/drawingml/2006/table">
            <a:tbl>
              <a:tblPr>
                <a:tableStyleId>{22838BEF-8BB2-4498-84A7-C5851F593DF1}</a:tableStyleId>
              </a:tblPr>
              <a:tblGrid>
                <a:gridCol w="5257800"/>
                <a:gridCol w="5257800"/>
              </a:tblGrid>
              <a:tr h="655663">
                <a:tc>
                  <a:txBody>
                    <a:bodyPr/>
                    <a:lstStyle/>
                    <a:p>
                      <a:pPr algn="ctr" fontAlgn="ctr"/>
                      <a:r>
                        <a:rPr lang="en-US" sz="2400" b="1" u="none" strike="noStrike" dirty="0">
                          <a:effectLst/>
                        </a:rPr>
                        <a:t>Java Constructor</a:t>
                      </a:r>
                      <a:endParaRPr lang="en-US" sz="2400" b="1" i="0" u="none" strike="noStrike" dirty="0">
                        <a:solidFill>
                          <a:srgbClr val="000000"/>
                        </a:solidFill>
                        <a:effectLst/>
                        <a:latin typeface="Times New Roman"/>
                      </a:endParaRPr>
                    </a:p>
                  </a:txBody>
                  <a:tcPr marL="9525" marR="9525" marT="9525" marB="0" anchor="ctr"/>
                </a:tc>
                <a:tc>
                  <a:txBody>
                    <a:bodyPr/>
                    <a:lstStyle/>
                    <a:p>
                      <a:pPr algn="ctr" fontAlgn="ctr"/>
                      <a:r>
                        <a:rPr lang="en-US" sz="2400" b="1" u="none" strike="noStrike" dirty="0">
                          <a:effectLst/>
                        </a:rPr>
                        <a:t>Java Method</a:t>
                      </a:r>
                      <a:endParaRPr lang="en-US" sz="2400" b="1" i="0" u="none" strike="noStrike" dirty="0">
                        <a:solidFill>
                          <a:srgbClr val="000000"/>
                        </a:solidFill>
                        <a:effectLst/>
                        <a:latin typeface="Times New Roman"/>
                      </a:endParaRPr>
                    </a:p>
                  </a:txBody>
                  <a:tcPr marL="9525" marR="9525" marT="9525" marB="0" anchor="ctr"/>
                </a:tc>
              </a:tr>
              <a:tr h="912227">
                <a:tc>
                  <a:txBody>
                    <a:bodyPr/>
                    <a:lstStyle/>
                    <a:p>
                      <a:pPr algn="l" fontAlgn="ctr"/>
                      <a:r>
                        <a:rPr lang="en-US" sz="2400" u="none" strike="noStrike">
                          <a:effectLst/>
                        </a:rPr>
                        <a:t>A constructor is used to initialize the state of an object.</a:t>
                      </a:r>
                      <a:endParaRPr lang="en-US" sz="2400" b="0" i="0" u="none" strike="noStrike">
                        <a:solidFill>
                          <a:srgbClr val="000000"/>
                        </a:solidFill>
                        <a:effectLst/>
                        <a:latin typeface="Verdana"/>
                      </a:endParaRPr>
                    </a:p>
                  </a:txBody>
                  <a:tcPr marL="9525" marR="9525" marT="76200" marB="76200" anchor="ctr"/>
                </a:tc>
                <a:tc>
                  <a:txBody>
                    <a:bodyPr/>
                    <a:lstStyle/>
                    <a:p>
                      <a:pPr algn="l" fontAlgn="ctr"/>
                      <a:r>
                        <a:rPr lang="en-US" sz="2400" u="none" strike="noStrike">
                          <a:effectLst/>
                        </a:rPr>
                        <a:t>A method is used to expose the behavior of an object.</a:t>
                      </a:r>
                      <a:endParaRPr lang="en-US" sz="2400" b="0" i="0" u="none" strike="noStrike">
                        <a:solidFill>
                          <a:srgbClr val="000000"/>
                        </a:solidFill>
                        <a:effectLst/>
                        <a:latin typeface="Verdana"/>
                      </a:endParaRPr>
                    </a:p>
                  </a:txBody>
                  <a:tcPr marL="9525" marR="9525" marT="9525" marB="0" anchor="ctr"/>
                </a:tc>
              </a:tr>
              <a:tr h="598649">
                <a:tc>
                  <a:txBody>
                    <a:bodyPr/>
                    <a:lstStyle/>
                    <a:p>
                      <a:pPr algn="l" fontAlgn="ctr"/>
                      <a:r>
                        <a:rPr lang="en-US" sz="2400" u="none" strike="noStrike" dirty="0">
                          <a:effectLst/>
                        </a:rPr>
                        <a:t>A constructor must not have a return type.</a:t>
                      </a:r>
                      <a:endParaRPr lang="en-US" sz="2400" b="0" i="0" u="none" strike="noStrike" dirty="0">
                        <a:solidFill>
                          <a:srgbClr val="000000"/>
                        </a:solidFill>
                        <a:effectLst/>
                        <a:latin typeface="Verdana"/>
                      </a:endParaRPr>
                    </a:p>
                  </a:txBody>
                  <a:tcPr marL="9525" marR="9525" marT="9525" marB="0" anchor="ctr"/>
                </a:tc>
                <a:tc>
                  <a:txBody>
                    <a:bodyPr/>
                    <a:lstStyle/>
                    <a:p>
                      <a:pPr algn="l" fontAlgn="ctr"/>
                      <a:r>
                        <a:rPr lang="en-US" sz="2400" u="none" strike="noStrike">
                          <a:effectLst/>
                        </a:rPr>
                        <a:t>A method must have a return type.</a:t>
                      </a:r>
                      <a:endParaRPr lang="en-US" sz="2400" b="0" i="0" u="none" strike="noStrike">
                        <a:solidFill>
                          <a:srgbClr val="000000"/>
                        </a:solidFill>
                        <a:effectLst/>
                        <a:latin typeface="Verdana"/>
                      </a:endParaRPr>
                    </a:p>
                  </a:txBody>
                  <a:tcPr marL="9525" marR="9525" marT="9525" marB="0" anchor="ctr"/>
                </a:tc>
              </a:tr>
              <a:tr h="598649">
                <a:tc>
                  <a:txBody>
                    <a:bodyPr/>
                    <a:lstStyle/>
                    <a:p>
                      <a:pPr algn="l" fontAlgn="ctr"/>
                      <a:r>
                        <a:rPr lang="en-US" sz="2400" u="none" strike="noStrike" dirty="0">
                          <a:effectLst/>
                        </a:rPr>
                        <a:t>The constructor is invoked implicitly.</a:t>
                      </a:r>
                      <a:endParaRPr lang="en-US" sz="2400" b="0" i="0" u="none" strike="noStrike" dirty="0">
                        <a:solidFill>
                          <a:srgbClr val="000000"/>
                        </a:solidFill>
                        <a:effectLst/>
                        <a:latin typeface="Verdana"/>
                      </a:endParaRPr>
                    </a:p>
                  </a:txBody>
                  <a:tcPr marL="9525" marR="9525" marT="9525" marB="0" anchor="ctr"/>
                </a:tc>
                <a:tc>
                  <a:txBody>
                    <a:bodyPr/>
                    <a:lstStyle/>
                    <a:p>
                      <a:pPr algn="l" fontAlgn="ctr"/>
                      <a:r>
                        <a:rPr lang="en-US" sz="2400" u="none" strike="noStrike">
                          <a:effectLst/>
                        </a:rPr>
                        <a:t>The method is invoked explicitly.</a:t>
                      </a:r>
                      <a:endParaRPr lang="en-US" sz="2400" b="0" i="0" u="none" strike="noStrike">
                        <a:solidFill>
                          <a:srgbClr val="000000"/>
                        </a:solidFill>
                        <a:effectLst/>
                        <a:latin typeface="Verdana"/>
                      </a:endParaRPr>
                    </a:p>
                  </a:txBody>
                  <a:tcPr marL="9525" marR="9525" marT="9525" marB="0" anchor="ctr"/>
                </a:tc>
              </a:tr>
              <a:tr h="997748">
                <a:tc>
                  <a:txBody>
                    <a:bodyPr/>
                    <a:lstStyle/>
                    <a:p>
                      <a:pPr algn="l" fontAlgn="ctr"/>
                      <a:r>
                        <a:rPr lang="en-US" sz="2400" u="none" strike="noStrike" dirty="0">
                          <a:effectLst/>
                        </a:rPr>
                        <a:t>The Java compiler provides a default constructor if you don't have any constructor in a class.</a:t>
                      </a:r>
                      <a:endParaRPr lang="en-US" sz="2400" b="0" i="0" u="none" strike="noStrike" dirty="0">
                        <a:solidFill>
                          <a:srgbClr val="000000"/>
                        </a:solidFill>
                        <a:effectLst/>
                        <a:latin typeface="Verdana"/>
                      </a:endParaRPr>
                    </a:p>
                  </a:txBody>
                  <a:tcPr marL="9525" marR="9525" marT="9525" marB="0" anchor="ctr"/>
                </a:tc>
                <a:tc>
                  <a:txBody>
                    <a:bodyPr/>
                    <a:lstStyle/>
                    <a:p>
                      <a:pPr algn="l" fontAlgn="ctr"/>
                      <a:r>
                        <a:rPr lang="en-US" sz="2400" u="none" strike="noStrike">
                          <a:effectLst/>
                        </a:rPr>
                        <a:t>The method is not provided by the compiler in any case.</a:t>
                      </a:r>
                      <a:endParaRPr lang="en-US" sz="2400" b="0" i="0" u="none" strike="noStrike">
                        <a:solidFill>
                          <a:srgbClr val="000000"/>
                        </a:solidFill>
                        <a:effectLst/>
                        <a:latin typeface="Verdana"/>
                      </a:endParaRPr>
                    </a:p>
                  </a:txBody>
                  <a:tcPr marL="9525" marR="9525" marT="9525" marB="0" anchor="ctr"/>
                </a:tc>
              </a:tr>
              <a:tr h="997748">
                <a:tc>
                  <a:txBody>
                    <a:bodyPr/>
                    <a:lstStyle/>
                    <a:p>
                      <a:pPr algn="l" fontAlgn="ctr"/>
                      <a:r>
                        <a:rPr lang="en-US" sz="2400" u="none" strike="noStrike">
                          <a:effectLst/>
                        </a:rPr>
                        <a:t>The constructor name must be same as the class name.</a:t>
                      </a:r>
                      <a:endParaRPr lang="en-US" sz="2400" b="0" i="0" u="none" strike="noStrike">
                        <a:solidFill>
                          <a:srgbClr val="000000"/>
                        </a:solidFill>
                        <a:effectLst/>
                        <a:latin typeface="Verdana"/>
                      </a:endParaRPr>
                    </a:p>
                  </a:txBody>
                  <a:tcPr marL="9525" marR="9525" marT="9525" marB="0" anchor="ctr"/>
                </a:tc>
                <a:tc>
                  <a:txBody>
                    <a:bodyPr/>
                    <a:lstStyle/>
                    <a:p>
                      <a:pPr algn="l" fontAlgn="ctr"/>
                      <a:r>
                        <a:rPr lang="en-US" sz="2400" u="none" strike="noStrike" dirty="0">
                          <a:effectLst/>
                        </a:rPr>
                        <a:t>The method name may or may not be same as the class name.</a:t>
                      </a:r>
                      <a:endParaRPr lang="en-US" sz="2400" b="0" i="0" u="none" strike="noStrike" dirty="0">
                        <a:solidFill>
                          <a:srgbClr val="000000"/>
                        </a:solidFill>
                        <a:effectLst/>
                        <a:latin typeface="Verdana"/>
                      </a:endParaRPr>
                    </a:p>
                  </a:txBody>
                  <a:tcPr marL="9525" marR="9525" marT="9525" marB="0" anchor="ctr"/>
                </a:tc>
              </a:tr>
            </a:tbl>
          </a:graphicData>
        </a:graphic>
      </p:graphicFrame>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15</a:t>
            </a:fld>
            <a:endParaRPr lang="en-US" dirty="0"/>
          </a:p>
        </p:txBody>
      </p:sp>
    </p:spTree>
    <p:extLst>
      <p:ext uri="{BB962C8B-B14F-4D97-AF65-F5344CB8AC3E}">
        <p14:creationId xmlns:p14="http://schemas.microsoft.com/office/powerpoint/2010/main" val="2649916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This </a:t>
            </a:r>
            <a:r>
              <a:rPr lang="en-US" sz="3200" dirty="0" smtClean="0"/>
              <a:t>keyword</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a:bodyPr>
          <a:lstStyle/>
          <a:p>
            <a:pPr algn="just" fontAlgn="base"/>
            <a:r>
              <a:rPr lang="en-US" sz="3200" dirty="0"/>
              <a:t>In java, this is a reference variable that refers to the current </a:t>
            </a:r>
            <a:r>
              <a:rPr lang="en-US" sz="3200" dirty="0" smtClean="0"/>
              <a:t>object.</a:t>
            </a:r>
          </a:p>
          <a:p>
            <a:pPr algn="just" fontAlgn="base"/>
            <a:r>
              <a:rPr lang="en-US" sz="3200" dirty="0"/>
              <a:t>Usage of java this </a:t>
            </a:r>
            <a:r>
              <a:rPr lang="en-US" sz="3200" dirty="0" smtClean="0"/>
              <a:t>keyword:</a:t>
            </a:r>
            <a:endParaRPr lang="en-US" sz="3200" dirty="0"/>
          </a:p>
          <a:p>
            <a:pPr marL="914400" lvl="1" indent="-457200" algn="just" fontAlgn="base">
              <a:buFont typeface="+mj-lt"/>
              <a:buAutoNum type="arabicPeriod"/>
            </a:pPr>
            <a:r>
              <a:rPr lang="en-US" i="1" dirty="0" smtClean="0"/>
              <a:t>this </a:t>
            </a:r>
            <a:r>
              <a:rPr lang="en-US" i="1" dirty="0"/>
              <a:t>can be used to refer current class instance variable.</a:t>
            </a:r>
          </a:p>
          <a:p>
            <a:pPr marL="914400" lvl="1" indent="-457200" algn="just" fontAlgn="base">
              <a:buFont typeface="+mj-lt"/>
              <a:buAutoNum type="arabicPeriod"/>
            </a:pPr>
            <a:r>
              <a:rPr lang="en-US" i="1" dirty="0"/>
              <a:t>this can be used to invoke current class method (implicitly)</a:t>
            </a:r>
          </a:p>
          <a:p>
            <a:pPr marL="914400" lvl="1" indent="-457200" algn="just" fontAlgn="base">
              <a:buFont typeface="+mj-lt"/>
              <a:buAutoNum type="arabicPeriod"/>
            </a:pPr>
            <a:r>
              <a:rPr lang="en-US" i="1" dirty="0"/>
              <a:t>this() can be used to invoke current class constructor.</a:t>
            </a:r>
          </a:p>
          <a:p>
            <a:pPr marL="914400" lvl="1" indent="-457200" algn="just" fontAlgn="base">
              <a:buFont typeface="+mj-lt"/>
              <a:buAutoNum type="arabicPeriod"/>
            </a:pPr>
            <a:r>
              <a:rPr lang="en-US" dirty="0"/>
              <a:t>this can be passed as an argument in the method call.</a:t>
            </a:r>
          </a:p>
          <a:p>
            <a:pPr marL="914400" lvl="1" indent="-457200" algn="just" fontAlgn="base">
              <a:buFont typeface="+mj-lt"/>
              <a:buAutoNum type="arabicPeriod"/>
            </a:pPr>
            <a:r>
              <a:rPr lang="en-US" dirty="0"/>
              <a:t>this can be passed as argument in the constructor call.</a:t>
            </a:r>
          </a:p>
          <a:p>
            <a:pPr marL="914400" lvl="1" indent="-457200" algn="just" fontAlgn="base">
              <a:buFont typeface="+mj-lt"/>
              <a:buAutoNum type="arabicPeriod"/>
            </a:pPr>
            <a:r>
              <a:rPr lang="en-US" dirty="0"/>
              <a:t>this can be used to return the current class instance from the method</a:t>
            </a:r>
            <a:r>
              <a:rPr lang="en-US" dirty="0" smtClean="0"/>
              <a:t>.</a:t>
            </a:r>
            <a:endParaRPr lang="en-US" dirty="0"/>
          </a:p>
          <a:p>
            <a:pPr algn="just" fontAlgn="base"/>
            <a:r>
              <a:rPr lang="en-US" dirty="0" smtClean="0"/>
              <a:t>In this session, we will discuss in three </a:t>
            </a:r>
            <a:r>
              <a:rPr lang="en-US" dirty="0"/>
              <a:t>usage of this </a:t>
            </a:r>
            <a:r>
              <a:rPr lang="en-US" dirty="0" smtClean="0"/>
              <a:t>keyword are 1, 2 &amp; 3, extant, </a:t>
            </a:r>
            <a:r>
              <a:rPr lang="en-US" i="1" dirty="0" smtClean="0"/>
              <a:t>we </a:t>
            </a:r>
            <a:r>
              <a:rPr lang="en-US" i="1" dirty="0"/>
              <a:t>will discuss in detail in OOP </a:t>
            </a:r>
            <a:r>
              <a:rPr lang="en-US" i="1" dirty="0" smtClean="0"/>
              <a:t>subject.</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16</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85012" y="2334985"/>
            <a:ext cx="3306988" cy="1437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41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This </a:t>
            </a:r>
            <a:r>
              <a:rPr lang="en-US" sz="3200" dirty="0" smtClean="0"/>
              <a:t>keyword</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77500" lnSpcReduction="20000"/>
          </a:bodyPr>
          <a:lstStyle/>
          <a:p>
            <a:pPr marL="0" indent="0" algn="just" fontAlgn="base">
              <a:buNone/>
            </a:pPr>
            <a:r>
              <a:rPr lang="en-US" b="1" dirty="0" smtClean="0"/>
              <a:t>1-This </a:t>
            </a:r>
            <a:r>
              <a:rPr lang="en-US" b="1" dirty="0"/>
              <a:t>can be used to refer current class instance variable: </a:t>
            </a:r>
            <a:r>
              <a:rPr lang="en-US" dirty="0" smtClean="0"/>
              <a:t>If </a:t>
            </a:r>
            <a:r>
              <a:rPr lang="en-US" dirty="0"/>
              <a:t>there is ambiguity between the instance variables and parameters, this keyword resolves the problem of ambiguity</a:t>
            </a:r>
            <a:r>
              <a:rPr lang="en-US" dirty="0" smtClean="0"/>
              <a:t>.</a:t>
            </a:r>
          </a:p>
          <a:p>
            <a:pPr marL="457200" lvl="1" indent="0" algn="just" fontAlgn="base">
              <a:buNone/>
            </a:pPr>
            <a:r>
              <a:rPr lang="en-US" dirty="0" smtClean="0"/>
              <a:t>class </a:t>
            </a:r>
            <a:r>
              <a:rPr lang="en-US" dirty="0"/>
              <a:t>Student{  </a:t>
            </a:r>
          </a:p>
          <a:p>
            <a:pPr marL="914400" lvl="2" indent="0" algn="just" fontAlgn="base">
              <a:buNone/>
            </a:pPr>
            <a:r>
              <a:rPr lang="en-US" dirty="0" err="1"/>
              <a:t>int</a:t>
            </a:r>
            <a:r>
              <a:rPr lang="en-US" dirty="0"/>
              <a:t> </a:t>
            </a:r>
            <a:r>
              <a:rPr lang="en-US" dirty="0" err="1"/>
              <a:t>rollno</a:t>
            </a:r>
            <a:r>
              <a:rPr lang="en-US" dirty="0"/>
              <a:t>;  </a:t>
            </a:r>
          </a:p>
          <a:p>
            <a:pPr marL="914400" lvl="2" indent="0" algn="just" fontAlgn="base">
              <a:buNone/>
            </a:pPr>
            <a:r>
              <a:rPr lang="en-US" dirty="0"/>
              <a:t>String name;  </a:t>
            </a:r>
          </a:p>
          <a:p>
            <a:pPr marL="914400" lvl="2" indent="0" algn="just" fontAlgn="base">
              <a:buNone/>
            </a:pPr>
            <a:r>
              <a:rPr lang="en-US" dirty="0"/>
              <a:t>float fee;  </a:t>
            </a:r>
          </a:p>
          <a:p>
            <a:pPr marL="914400" lvl="2" indent="0" algn="just" fontAlgn="base">
              <a:buNone/>
            </a:pPr>
            <a:r>
              <a:rPr lang="en-US" dirty="0"/>
              <a:t>Student(</a:t>
            </a:r>
            <a:r>
              <a:rPr lang="en-US" dirty="0" err="1"/>
              <a:t>int</a:t>
            </a:r>
            <a:r>
              <a:rPr lang="en-US" dirty="0"/>
              <a:t> </a:t>
            </a:r>
            <a:r>
              <a:rPr lang="en-US" dirty="0" err="1"/>
              <a:t>rollno,String</a:t>
            </a:r>
            <a:r>
              <a:rPr lang="en-US" dirty="0"/>
              <a:t> </a:t>
            </a:r>
            <a:r>
              <a:rPr lang="en-US" dirty="0" err="1"/>
              <a:t>name,float</a:t>
            </a:r>
            <a:r>
              <a:rPr lang="en-US" dirty="0"/>
              <a:t> fee){  </a:t>
            </a:r>
          </a:p>
          <a:p>
            <a:pPr marL="1371600" lvl="3" indent="0" algn="just" fontAlgn="base">
              <a:buNone/>
            </a:pPr>
            <a:r>
              <a:rPr lang="en-US" dirty="0" err="1"/>
              <a:t>this.rollno</a:t>
            </a:r>
            <a:r>
              <a:rPr lang="en-US" dirty="0"/>
              <a:t>=</a:t>
            </a:r>
            <a:r>
              <a:rPr lang="en-US" dirty="0" err="1"/>
              <a:t>rollno</a:t>
            </a:r>
            <a:r>
              <a:rPr lang="en-US" dirty="0"/>
              <a:t>;  </a:t>
            </a:r>
          </a:p>
          <a:p>
            <a:pPr marL="1371600" lvl="3" indent="0" algn="just" fontAlgn="base">
              <a:buNone/>
            </a:pPr>
            <a:r>
              <a:rPr lang="en-US" dirty="0" err="1"/>
              <a:t>this.name</a:t>
            </a:r>
            <a:r>
              <a:rPr lang="en-US" dirty="0"/>
              <a:t>=name;  </a:t>
            </a:r>
          </a:p>
          <a:p>
            <a:pPr marL="1371600" lvl="3" indent="0" algn="just" fontAlgn="base">
              <a:buNone/>
            </a:pPr>
            <a:r>
              <a:rPr lang="en-US" dirty="0" err="1"/>
              <a:t>this.fee</a:t>
            </a:r>
            <a:r>
              <a:rPr lang="en-US" dirty="0"/>
              <a:t>=fee;  </a:t>
            </a:r>
            <a:endParaRPr lang="en-US" dirty="0" smtClean="0"/>
          </a:p>
          <a:p>
            <a:pPr marL="914400" lvl="2" indent="0" algn="just" fontAlgn="base">
              <a:buNone/>
            </a:pPr>
            <a:r>
              <a:rPr lang="en-US" dirty="0" smtClean="0"/>
              <a:t>}  </a:t>
            </a:r>
            <a:endParaRPr lang="en-US" dirty="0"/>
          </a:p>
          <a:p>
            <a:pPr marL="914400" lvl="2" indent="0" algn="just" fontAlgn="base">
              <a:buNone/>
            </a:pPr>
            <a:r>
              <a:rPr lang="en-US" dirty="0"/>
              <a:t>void display(){</a:t>
            </a:r>
            <a:r>
              <a:rPr lang="en-US" dirty="0" err="1"/>
              <a:t>System.out.println</a:t>
            </a:r>
            <a:r>
              <a:rPr lang="en-US" dirty="0"/>
              <a:t>(</a:t>
            </a:r>
            <a:r>
              <a:rPr lang="en-US" dirty="0" err="1"/>
              <a:t>rollno</a:t>
            </a:r>
            <a:r>
              <a:rPr lang="en-US" dirty="0"/>
              <a:t>+" "+name+" "+fee);}  </a:t>
            </a:r>
          </a:p>
          <a:p>
            <a:pPr marL="457200" lvl="1" indent="0" algn="just" fontAlgn="base">
              <a:buNone/>
            </a:pPr>
            <a:r>
              <a:rPr lang="en-US" dirty="0"/>
              <a:t>}  </a:t>
            </a:r>
          </a:p>
          <a:p>
            <a:pPr marL="457200" lvl="1" indent="0" algn="just" fontAlgn="base">
              <a:buNone/>
            </a:pPr>
            <a:r>
              <a:rPr lang="en-US" dirty="0"/>
              <a:t>class </a:t>
            </a:r>
            <a:r>
              <a:rPr lang="en-US" dirty="0" err="1"/>
              <a:t>TestThis2</a:t>
            </a:r>
            <a:r>
              <a:rPr lang="en-US" dirty="0"/>
              <a:t>{  </a:t>
            </a:r>
          </a:p>
          <a:p>
            <a:pPr marL="914400" lvl="2" indent="0" algn="just" fontAlgn="base">
              <a:buNone/>
            </a:pPr>
            <a:r>
              <a:rPr lang="en-US" dirty="0"/>
              <a:t>public static void main(String </a:t>
            </a:r>
            <a:r>
              <a:rPr lang="en-US" dirty="0" err="1"/>
              <a:t>args</a:t>
            </a:r>
            <a:r>
              <a:rPr lang="en-US" dirty="0"/>
              <a:t>[]){  </a:t>
            </a:r>
          </a:p>
          <a:p>
            <a:pPr marL="1371600" lvl="3" indent="0" algn="just" fontAlgn="base">
              <a:buNone/>
            </a:pPr>
            <a:r>
              <a:rPr lang="en-US" dirty="0"/>
              <a:t>Student </a:t>
            </a:r>
            <a:r>
              <a:rPr lang="en-US" dirty="0" err="1"/>
              <a:t>s1</a:t>
            </a:r>
            <a:r>
              <a:rPr lang="en-US" dirty="0"/>
              <a:t>=new Student(111,"</a:t>
            </a:r>
            <a:r>
              <a:rPr lang="en-US" dirty="0" err="1"/>
              <a:t>ankit</a:t>
            </a:r>
            <a:r>
              <a:rPr lang="en-US" dirty="0"/>
              <a:t>",</a:t>
            </a:r>
            <a:r>
              <a:rPr lang="en-US" dirty="0" err="1"/>
              <a:t>5000f</a:t>
            </a:r>
            <a:r>
              <a:rPr lang="en-US" dirty="0"/>
              <a:t>);  </a:t>
            </a:r>
          </a:p>
          <a:p>
            <a:pPr marL="1371600" lvl="3" indent="0" algn="just" fontAlgn="base">
              <a:buNone/>
            </a:pPr>
            <a:r>
              <a:rPr lang="en-US" dirty="0"/>
              <a:t>Student </a:t>
            </a:r>
            <a:r>
              <a:rPr lang="en-US" dirty="0" err="1"/>
              <a:t>s2</a:t>
            </a:r>
            <a:r>
              <a:rPr lang="en-US" dirty="0"/>
              <a:t>=new Student(112,"</a:t>
            </a:r>
            <a:r>
              <a:rPr lang="en-US" dirty="0" err="1"/>
              <a:t>sumit</a:t>
            </a:r>
            <a:r>
              <a:rPr lang="en-US" dirty="0"/>
              <a:t>",</a:t>
            </a:r>
            <a:r>
              <a:rPr lang="en-US" dirty="0" err="1"/>
              <a:t>6000f</a:t>
            </a:r>
            <a:r>
              <a:rPr lang="en-US" dirty="0"/>
              <a:t>);  </a:t>
            </a:r>
          </a:p>
          <a:p>
            <a:pPr marL="1371600" lvl="3" indent="0" algn="just" fontAlgn="base">
              <a:buNone/>
            </a:pPr>
            <a:r>
              <a:rPr lang="en-US" dirty="0" err="1"/>
              <a:t>s1.display</a:t>
            </a:r>
            <a:r>
              <a:rPr lang="en-US" dirty="0"/>
              <a:t>();  </a:t>
            </a:r>
          </a:p>
          <a:p>
            <a:pPr marL="1371600" lvl="3" indent="0" algn="just" fontAlgn="base">
              <a:buNone/>
            </a:pPr>
            <a:r>
              <a:rPr lang="en-US" dirty="0" err="1"/>
              <a:t>s2.display</a:t>
            </a:r>
            <a:r>
              <a:rPr lang="en-US" dirty="0"/>
              <a:t>();  </a:t>
            </a:r>
          </a:p>
          <a:p>
            <a:pPr marL="457200" lvl="1" indent="0" algn="just" fontAlgn="base">
              <a:buNone/>
            </a:pPr>
            <a:r>
              <a:rPr lang="en-US" dirty="0" smtClean="0"/>
              <a:t>	}</a:t>
            </a:r>
          </a:p>
          <a:p>
            <a:pPr marL="457200" lvl="1" indent="0" algn="just" fontAlgn="base">
              <a:buNone/>
            </a:pPr>
            <a:r>
              <a:rPr lang="en-US" dirty="0" smtClean="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17</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241143" y="4615546"/>
            <a:ext cx="2148114" cy="1088563"/>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fi-FI" sz="2000" dirty="0"/>
              <a:t>111 ankit 5000</a:t>
            </a:r>
          </a:p>
          <a:p>
            <a:pPr marL="0" indent="0" algn="just" fontAlgn="base">
              <a:lnSpc>
                <a:spcPct val="100000"/>
              </a:lnSpc>
              <a:spcBef>
                <a:spcPts val="0"/>
              </a:spcBef>
              <a:buNone/>
            </a:pPr>
            <a:r>
              <a:rPr lang="fi-FI" sz="2000" dirty="0"/>
              <a:t>112 sumit 6000</a:t>
            </a:r>
            <a:endParaRPr lang="en-US" sz="2000" dirty="0" smtClean="0"/>
          </a:p>
        </p:txBody>
      </p:sp>
    </p:spTree>
    <p:extLst>
      <p:ext uri="{BB962C8B-B14F-4D97-AF65-F5344CB8AC3E}">
        <p14:creationId xmlns:p14="http://schemas.microsoft.com/office/powerpoint/2010/main" val="379647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This </a:t>
            </a:r>
            <a:r>
              <a:rPr lang="en-US" sz="3200" dirty="0" smtClean="0"/>
              <a:t>keyword</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85000" lnSpcReduction="20000"/>
          </a:bodyPr>
          <a:lstStyle/>
          <a:p>
            <a:pPr marL="0" indent="0" algn="just" fontAlgn="base">
              <a:buNone/>
            </a:pPr>
            <a:r>
              <a:rPr lang="en-US" b="1" dirty="0" smtClean="0"/>
              <a:t>2-this can be used to invoke </a:t>
            </a:r>
            <a:r>
              <a:rPr lang="en-US" b="1" dirty="0"/>
              <a:t>the method of the current </a:t>
            </a:r>
            <a:r>
              <a:rPr lang="en-US" b="1" dirty="0" smtClean="0"/>
              <a:t>class: </a:t>
            </a:r>
            <a:r>
              <a:rPr lang="en-US" dirty="0" smtClean="0"/>
              <a:t>If </a:t>
            </a:r>
            <a:r>
              <a:rPr lang="en-US" dirty="0"/>
              <a:t>you don't use the this keyword, compiler automatically adds this keyword while invoking the method</a:t>
            </a:r>
            <a:r>
              <a:rPr lang="en-US" b="1" dirty="0" smtClean="0"/>
              <a:t>.</a:t>
            </a:r>
          </a:p>
          <a:p>
            <a:pPr marL="0" indent="0" algn="just" fontAlgn="base">
              <a:buNone/>
            </a:pPr>
            <a:r>
              <a:rPr lang="en-US" dirty="0"/>
              <a:t>class A{  </a:t>
            </a:r>
          </a:p>
          <a:p>
            <a:pPr marL="457200" lvl="1" indent="0" algn="just" fontAlgn="base">
              <a:buNone/>
            </a:pPr>
            <a:r>
              <a:rPr lang="en-US" dirty="0"/>
              <a:t>void m</a:t>
            </a:r>
            <a:r>
              <a:rPr lang="en-US" dirty="0" smtClean="0"/>
              <a:t>(){</a:t>
            </a:r>
          </a:p>
          <a:p>
            <a:pPr marL="457200" lvl="1" indent="0" algn="just" fontAlgn="base">
              <a:buNone/>
            </a:pPr>
            <a:r>
              <a:rPr lang="en-US" dirty="0"/>
              <a:t>	</a:t>
            </a:r>
            <a:r>
              <a:rPr lang="en-US" dirty="0" err="1" smtClean="0"/>
              <a:t>System.out.println</a:t>
            </a:r>
            <a:r>
              <a:rPr lang="en-US" dirty="0"/>
              <a:t>("hello m</a:t>
            </a:r>
            <a:r>
              <a:rPr lang="en-US" dirty="0" smtClean="0"/>
              <a:t>");</a:t>
            </a:r>
          </a:p>
          <a:p>
            <a:pPr marL="457200" lvl="1" indent="0" algn="just" fontAlgn="base">
              <a:buNone/>
            </a:pPr>
            <a:r>
              <a:rPr lang="en-US" dirty="0" smtClean="0"/>
              <a:t>}  </a:t>
            </a:r>
            <a:endParaRPr lang="en-US" dirty="0"/>
          </a:p>
          <a:p>
            <a:pPr marL="457200" lvl="1" indent="0" algn="just" fontAlgn="base">
              <a:buNone/>
            </a:pPr>
            <a:r>
              <a:rPr lang="en-US" dirty="0"/>
              <a:t>void n(){  </a:t>
            </a:r>
          </a:p>
          <a:p>
            <a:pPr marL="914400" lvl="2" indent="0" algn="just" fontAlgn="base">
              <a:buNone/>
            </a:pPr>
            <a:r>
              <a:rPr lang="en-US" sz="2500" dirty="0" err="1"/>
              <a:t>System.out.println</a:t>
            </a:r>
            <a:r>
              <a:rPr lang="en-US" sz="2500" dirty="0"/>
              <a:t>("hello n");  </a:t>
            </a:r>
          </a:p>
          <a:p>
            <a:pPr marL="914400" lvl="2" indent="0" algn="just" fontAlgn="base">
              <a:buNone/>
            </a:pPr>
            <a:r>
              <a:rPr lang="en-US" sz="2500" dirty="0" err="1" smtClean="0"/>
              <a:t>this.m</a:t>
            </a:r>
            <a:r>
              <a:rPr lang="en-US" sz="2500" dirty="0"/>
              <a:t>(); //m();</a:t>
            </a:r>
          </a:p>
          <a:p>
            <a:pPr marL="457200" lvl="1" indent="0" algn="just" fontAlgn="base">
              <a:buNone/>
            </a:pPr>
            <a:r>
              <a:rPr lang="en-US" dirty="0"/>
              <a:t>}  </a:t>
            </a:r>
          </a:p>
          <a:p>
            <a:pPr marL="0" indent="0" algn="just" fontAlgn="base">
              <a:buNone/>
            </a:pPr>
            <a:r>
              <a:rPr lang="en-US" dirty="0"/>
              <a:t>}  </a:t>
            </a:r>
          </a:p>
          <a:p>
            <a:pPr marL="0" indent="0" algn="just" fontAlgn="base">
              <a:buNone/>
            </a:pPr>
            <a:r>
              <a:rPr lang="en-US" dirty="0"/>
              <a:t>class </a:t>
            </a:r>
            <a:r>
              <a:rPr lang="en-US" dirty="0" err="1"/>
              <a:t>TestThis4</a:t>
            </a:r>
            <a:r>
              <a:rPr lang="en-US" dirty="0"/>
              <a:t>{  </a:t>
            </a:r>
          </a:p>
          <a:p>
            <a:pPr marL="457200" lvl="1" indent="0" algn="just" fontAlgn="base">
              <a:buNone/>
            </a:pPr>
            <a:r>
              <a:rPr lang="en-US" dirty="0"/>
              <a:t>public static void main(String </a:t>
            </a:r>
            <a:r>
              <a:rPr lang="en-US" dirty="0" err="1"/>
              <a:t>args</a:t>
            </a:r>
            <a:r>
              <a:rPr lang="en-US" dirty="0"/>
              <a:t>[]){  </a:t>
            </a:r>
          </a:p>
          <a:p>
            <a:pPr marL="914400" lvl="2" indent="0" algn="just" fontAlgn="base">
              <a:buNone/>
            </a:pPr>
            <a:r>
              <a:rPr lang="en-US" sz="2500" dirty="0"/>
              <a:t>A a=new A();  </a:t>
            </a:r>
          </a:p>
          <a:p>
            <a:pPr marL="914400" lvl="2" indent="0" algn="just" fontAlgn="base">
              <a:buNone/>
            </a:pPr>
            <a:r>
              <a:rPr lang="en-US" sz="2500" dirty="0" err="1"/>
              <a:t>a.n</a:t>
            </a:r>
            <a:r>
              <a:rPr lang="en-US" sz="2500" dirty="0"/>
              <a:t>();  </a:t>
            </a:r>
          </a:p>
          <a:p>
            <a:pPr marL="457200" lvl="1" indent="0" algn="just" fontAlgn="base">
              <a:buNone/>
            </a:pPr>
            <a:r>
              <a:rPr lang="en-US" dirty="0" smtClean="0"/>
              <a:t>}</a:t>
            </a:r>
          </a:p>
          <a:p>
            <a:pPr marL="0" indent="0" algn="just" fontAlgn="base">
              <a:buNone/>
            </a:pPr>
            <a:r>
              <a:rPr lang="en-US" dirty="0" smtClean="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18</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6241143" y="4644570"/>
            <a:ext cx="1930400" cy="107406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fi-FI" sz="2000" dirty="0"/>
              <a:t>hello n</a:t>
            </a:r>
          </a:p>
          <a:p>
            <a:pPr marL="0" indent="0" algn="just" fontAlgn="base">
              <a:lnSpc>
                <a:spcPct val="100000"/>
              </a:lnSpc>
              <a:spcBef>
                <a:spcPts val="0"/>
              </a:spcBef>
              <a:buNone/>
            </a:pPr>
            <a:r>
              <a:rPr lang="fi-FI" sz="2000" dirty="0"/>
              <a:t>hello m</a:t>
            </a:r>
            <a:endParaRPr lang="en-US" sz="2000" dirty="0" smtClean="0"/>
          </a:p>
        </p:txBody>
      </p:sp>
    </p:spTree>
    <p:extLst>
      <p:ext uri="{BB962C8B-B14F-4D97-AF65-F5344CB8AC3E}">
        <p14:creationId xmlns:p14="http://schemas.microsoft.com/office/powerpoint/2010/main" val="3778441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a:t>This </a:t>
            </a:r>
            <a:r>
              <a:rPr lang="en-US" sz="3200" dirty="0" smtClean="0"/>
              <a:t>keyword</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200" y="1074057"/>
            <a:ext cx="10515600" cy="5282293"/>
          </a:xfrm>
        </p:spPr>
        <p:txBody>
          <a:bodyPr>
            <a:normAutofit fontScale="85000" lnSpcReduction="20000"/>
          </a:bodyPr>
          <a:lstStyle/>
          <a:p>
            <a:pPr marL="0" indent="0" algn="just" fontAlgn="base">
              <a:buNone/>
            </a:pPr>
            <a:r>
              <a:rPr lang="en-US" b="1" dirty="0"/>
              <a:t>3</a:t>
            </a:r>
            <a:r>
              <a:rPr lang="en-US" b="1" dirty="0" smtClean="0"/>
              <a:t>- this</a:t>
            </a:r>
            <a:r>
              <a:rPr lang="en-US" b="1" dirty="0"/>
              <a:t>() constructor call can be used to invoke the current class </a:t>
            </a:r>
            <a:r>
              <a:rPr lang="en-US" b="1" dirty="0" smtClean="0"/>
              <a:t>constructor: </a:t>
            </a:r>
            <a:r>
              <a:rPr lang="en-US" dirty="0"/>
              <a:t>It is used to reuse the constructor. In other words, it is used for constructor chaining</a:t>
            </a:r>
            <a:r>
              <a:rPr lang="en-US" b="1" dirty="0"/>
              <a:t>.</a:t>
            </a:r>
            <a:endParaRPr lang="en-US" dirty="0" smtClean="0"/>
          </a:p>
          <a:p>
            <a:pPr marL="0" indent="0" algn="just" fontAlgn="base">
              <a:buNone/>
            </a:pPr>
            <a:r>
              <a:rPr lang="en-US" dirty="0"/>
              <a:t>class A{  </a:t>
            </a:r>
          </a:p>
          <a:p>
            <a:pPr marL="457200" lvl="1" indent="0" algn="just" fontAlgn="base">
              <a:buNone/>
            </a:pPr>
            <a:r>
              <a:rPr lang="en-US" dirty="0"/>
              <a:t>A</a:t>
            </a:r>
            <a:r>
              <a:rPr lang="en-US" dirty="0" smtClean="0"/>
              <a:t>(){</a:t>
            </a:r>
          </a:p>
          <a:p>
            <a:pPr marL="457200" lvl="1" indent="0" algn="just" fontAlgn="base">
              <a:buNone/>
            </a:pPr>
            <a:r>
              <a:rPr lang="en-US" dirty="0"/>
              <a:t>	</a:t>
            </a:r>
            <a:r>
              <a:rPr lang="en-US" dirty="0" err="1" smtClean="0"/>
              <a:t>System.out.println</a:t>
            </a:r>
            <a:r>
              <a:rPr lang="en-US" dirty="0"/>
              <a:t>("hello a</a:t>
            </a:r>
            <a:r>
              <a:rPr lang="en-US" dirty="0" smtClean="0"/>
              <a:t>");</a:t>
            </a:r>
          </a:p>
          <a:p>
            <a:pPr marL="457200" lvl="1" indent="0" algn="just" fontAlgn="base">
              <a:buNone/>
            </a:pPr>
            <a:r>
              <a:rPr lang="en-US" dirty="0" smtClean="0"/>
              <a:t>}  </a:t>
            </a:r>
            <a:endParaRPr lang="en-US" dirty="0"/>
          </a:p>
          <a:p>
            <a:pPr marL="457200" lvl="1" indent="0" algn="just" fontAlgn="base">
              <a:buNone/>
            </a:pPr>
            <a:r>
              <a:rPr lang="en-US" dirty="0"/>
              <a:t>A(</a:t>
            </a:r>
            <a:r>
              <a:rPr lang="en-US" dirty="0" err="1"/>
              <a:t>int</a:t>
            </a:r>
            <a:r>
              <a:rPr lang="en-US" dirty="0"/>
              <a:t> x){  </a:t>
            </a:r>
          </a:p>
          <a:p>
            <a:pPr marL="914400" lvl="2" indent="0" algn="just" fontAlgn="base">
              <a:buNone/>
            </a:pPr>
            <a:r>
              <a:rPr lang="en-US" dirty="0"/>
              <a:t>this();  </a:t>
            </a:r>
          </a:p>
          <a:p>
            <a:pPr marL="914400" lvl="2" indent="0" algn="just" fontAlgn="base">
              <a:buNone/>
            </a:pPr>
            <a:r>
              <a:rPr lang="en-US" dirty="0" err="1"/>
              <a:t>System.out.println</a:t>
            </a:r>
            <a:r>
              <a:rPr lang="en-US" dirty="0"/>
              <a:t>(x);  </a:t>
            </a:r>
          </a:p>
          <a:p>
            <a:pPr marL="457200" lvl="1" indent="0" algn="just" fontAlgn="base">
              <a:buNone/>
            </a:pPr>
            <a:r>
              <a:rPr lang="en-US" dirty="0"/>
              <a:t>}  </a:t>
            </a:r>
          </a:p>
          <a:p>
            <a:pPr marL="0" indent="0" algn="just" fontAlgn="base">
              <a:buNone/>
            </a:pPr>
            <a:r>
              <a:rPr lang="en-US" dirty="0"/>
              <a:t>}  </a:t>
            </a:r>
          </a:p>
          <a:p>
            <a:pPr marL="0" indent="0" algn="just" fontAlgn="base">
              <a:buNone/>
            </a:pPr>
            <a:r>
              <a:rPr lang="en-US" dirty="0"/>
              <a:t>class </a:t>
            </a:r>
            <a:r>
              <a:rPr lang="en-US" dirty="0" err="1"/>
              <a:t>TestThis5</a:t>
            </a:r>
            <a:r>
              <a:rPr lang="en-US" dirty="0"/>
              <a:t>{  </a:t>
            </a:r>
          </a:p>
          <a:p>
            <a:pPr marL="457200" lvl="1" indent="0" algn="just" fontAlgn="base">
              <a:buNone/>
            </a:pPr>
            <a:r>
              <a:rPr lang="en-US" dirty="0"/>
              <a:t>public static void main(String </a:t>
            </a:r>
            <a:r>
              <a:rPr lang="en-US" dirty="0" err="1"/>
              <a:t>args</a:t>
            </a:r>
            <a:r>
              <a:rPr lang="en-US" dirty="0"/>
              <a:t>[]){  </a:t>
            </a:r>
          </a:p>
          <a:p>
            <a:pPr marL="457200" lvl="1" indent="0" algn="just" fontAlgn="base">
              <a:buNone/>
            </a:pPr>
            <a:r>
              <a:rPr lang="en-US" dirty="0" smtClean="0"/>
              <a:t>	A </a:t>
            </a:r>
            <a:r>
              <a:rPr lang="en-US" dirty="0"/>
              <a:t>a=new A(10);  </a:t>
            </a:r>
          </a:p>
          <a:p>
            <a:pPr marL="457200" lvl="1" indent="0" algn="just" fontAlgn="base">
              <a:buNone/>
            </a:pPr>
            <a:r>
              <a:rPr lang="en-US" dirty="0" smtClean="0"/>
              <a:t>}</a:t>
            </a:r>
          </a:p>
          <a:p>
            <a:pPr marL="0" indent="0" algn="just" fontAlgn="base">
              <a:buNone/>
            </a:pPr>
            <a:r>
              <a:rPr lang="en-US" dirty="0" smtClean="0"/>
              <a:t>} </a:t>
            </a:r>
            <a:endParaRPr lang="en-US" dirty="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19</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6241143" y="4513951"/>
            <a:ext cx="2032000" cy="1074049"/>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2000" dirty="0" smtClean="0"/>
              <a:t>Output</a:t>
            </a:r>
          </a:p>
          <a:p>
            <a:pPr marL="0" indent="0" algn="just" fontAlgn="base">
              <a:lnSpc>
                <a:spcPct val="100000"/>
              </a:lnSpc>
              <a:spcBef>
                <a:spcPts val="0"/>
              </a:spcBef>
              <a:buNone/>
            </a:pPr>
            <a:r>
              <a:rPr lang="fi-FI" sz="2000" dirty="0"/>
              <a:t>hello a</a:t>
            </a:r>
          </a:p>
          <a:p>
            <a:pPr marL="0" indent="0" algn="just" fontAlgn="base">
              <a:lnSpc>
                <a:spcPct val="100000"/>
              </a:lnSpc>
              <a:spcBef>
                <a:spcPts val="0"/>
              </a:spcBef>
              <a:buNone/>
            </a:pPr>
            <a:r>
              <a:rPr lang="fi-FI" sz="2000" dirty="0"/>
              <a:t>10</a:t>
            </a:r>
            <a:endParaRPr lang="en-US" sz="2000" dirty="0" smtClean="0"/>
          </a:p>
        </p:txBody>
      </p:sp>
    </p:spTree>
    <p:extLst>
      <p:ext uri="{BB962C8B-B14F-4D97-AF65-F5344CB8AC3E}">
        <p14:creationId xmlns:p14="http://schemas.microsoft.com/office/powerpoint/2010/main" val="1310122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198" y="914403"/>
            <a:ext cx="10515601" cy="5807072"/>
          </a:xfrm>
        </p:spPr>
        <p:txBody>
          <a:bodyPr>
            <a:noAutofit/>
          </a:bodyPr>
          <a:lstStyle/>
          <a:p>
            <a:pPr marL="0" indent="0" algn="just" fontAlgn="base">
              <a:lnSpc>
                <a:spcPct val="100000"/>
              </a:lnSpc>
              <a:spcBef>
                <a:spcPts val="0"/>
              </a:spcBef>
              <a:buNone/>
            </a:pPr>
            <a:r>
              <a:rPr lang="en-US" sz="1600" dirty="0"/>
              <a:t>public class Dog </a:t>
            </a:r>
          </a:p>
          <a:p>
            <a:pPr marL="0" indent="0" algn="just" fontAlgn="base">
              <a:lnSpc>
                <a:spcPct val="100000"/>
              </a:lnSpc>
              <a:spcBef>
                <a:spcPts val="0"/>
              </a:spcBef>
              <a:buNone/>
            </a:pPr>
            <a:r>
              <a:rPr lang="en-US" sz="1600" dirty="0"/>
              <a:t>{ </a:t>
            </a:r>
          </a:p>
          <a:p>
            <a:pPr marL="0" indent="0" algn="just" fontAlgn="base">
              <a:lnSpc>
                <a:spcPct val="100000"/>
              </a:lnSpc>
              <a:spcBef>
                <a:spcPts val="0"/>
              </a:spcBef>
              <a:buNone/>
            </a:pPr>
            <a:r>
              <a:rPr lang="en-US" sz="1600" dirty="0"/>
              <a:t> </a:t>
            </a:r>
            <a:r>
              <a:rPr lang="en-US" sz="1600" dirty="0" smtClean="0"/>
              <a:t>   String name; String breed; </a:t>
            </a:r>
            <a:r>
              <a:rPr lang="en-US" sz="1600" dirty="0" err="1" smtClean="0"/>
              <a:t>int</a:t>
            </a:r>
            <a:r>
              <a:rPr lang="en-US" sz="1600" dirty="0" smtClean="0"/>
              <a:t> age; String </a:t>
            </a:r>
            <a:r>
              <a:rPr lang="en-US" sz="1600" dirty="0"/>
              <a:t>color; </a:t>
            </a:r>
            <a:endParaRPr lang="en-US" sz="1600" dirty="0" smtClean="0"/>
          </a:p>
          <a:p>
            <a:pPr marL="0" indent="0" algn="just" fontAlgn="base">
              <a:lnSpc>
                <a:spcPct val="100000"/>
              </a:lnSpc>
              <a:spcBef>
                <a:spcPts val="0"/>
              </a:spcBef>
              <a:buNone/>
            </a:pPr>
            <a:r>
              <a:rPr lang="en-US" sz="1600" dirty="0"/>
              <a:t> </a:t>
            </a:r>
            <a:r>
              <a:rPr lang="en-US" sz="1600" dirty="0" smtClean="0"/>
              <a:t>   Public </a:t>
            </a:r>
            <a:r>
              <a:rPr lang="en-US" sz="1600" dirty="0"/>
              <a:t>Dog(String name, String breed</a:t>
            </a:r>
            <a:r>
              <a:rPr lang="en-US" sz="1600" dirty="0" smtClean="0"/>
              <a:t>,  </a:t>
            </a:r>
            <a:r>
              <a:rPr lang="en-US" sz="1600" dirty="0" err="1"/>
              <a:t>int</a:t>
            </a:r>
            <a:r>
              <a:rPr lang="en-US" sz="1600" dirty="0"/>
              <a:t> age, String color) </a:t>
            </a:r>
          </a:p>
          <a:p>
            <a:pPr marL="0" indent="0" algn="just" fontAlgn="base">
              <a:lnSpc>
                <a:spcPct val="100000"/>
              </a:lnSpc>
              <a:spcBef>
                <a:spcPts val="0"/>
              </a:spcBef>
              <a:buNone/>
            </a:pPr>
            <a:r>
              <a:rPr lang="en-US" sz="1600" dirty="0"/>
              <a:t>    { </a:t>
            </a:r>
          </a:p>
          <a:p>
            <a:pPr marL="0" indent="0" algn="just" fontAlgn="base">
              <a:lnSpc>
                <a:spcPct val="100000"/>
              </a:lnSpc>
              <a:spcBef>
                <a:spcPts val="0"/>
              </a:spcBef>
              <a:buNone/>
            </a:pPr>
            <a:r>
              <a:rPr lang="en-US" sz="1600" dirty="0"/>
              <a:t>        </a:t>
            </a:r>
            <a:r>
              <a:rPr lang="en-US" sz="1600" dirty="0" err="1"/>
              <a:t>this.name</a:t>
            </a:r>
            <a:r>
              <a:rPr lang="en-US" sz="1600" dirty="0"/>
              <a:t> = name; </a:t>
            </a:r>
            <a:r>
              <a:rPr lang="en-US" sz="1600" dirty="0" err="1" smtClean="0"/>
              <a:t>this.breed</a:t>
            </a:r>
            <a:r>
              <a:rPr lang="en-US" sz="1600" dirty="0" smtClean="0"/>
              <a:t> </a:t>
            </a:r>
            <a:r>
              <a:rPr lang="en-US" sz="1600" dirty="0"/>
              <a:t>= breed; </a:t>
            </a:r>
            <a:r>
              <a:rPr lang="en-US" sz="1600" dirty="0" err="1" smtClean="0"/>
              <a:t>this.age</a:t>
            </a:r>
            <a:r>
              <a:rPr lang="en-US" sz="1600" dirty="0" smtClean="0"/>
              <a:t> </a:t>
            </a:r>
            <a:r>
              <a:rPr lang="en-US" sz="1600" dirty="0"/>
              <a:t>= age</a:t>
            </a:r>
            <a:r>
              <a:rPr lang="en-US" sz="1600" dirty="0" smtClean="0"/>
              <a:t>; </a:t>
            </a:r>
            <a:r>
              <a:rPr lang="en-US" sz="1600" dirty="0" err="1"/>
              <a:t>this.color</a:t>
            </a:r>
            <a:r>
              <a:rPr lang="en-US" sz="1600" dirty="0"/>
              <a:t> = color; </a:t>
            </a:r>
            <a:endParaRPr lang="en-US" sz="1600" dirty="0" smtClean="0"/>
          </a:p>
          <a:p>
            <a:pPr marL="0" indent="0" algn="just" fontAlgn="base">
              <a:lnSpc>
                <a:spcPct val="100000"/>
              </a:lnSpc>
              <a:spcBef>
                <a:spcPts val="0"/>
              </a:spcBef>
              <a:buNone/>
            </a:pPr>
            <a:r>
              <a:rPr lang="en-US" sz="1600" dirty="0" smtClean="0"/>
              <a:t>    </a:t>
            </a:r>
            <a:r>
              <a:rPr lang="en-US" sz="1600" dirty="0"/>
              <a:t>} </a:t>
            </a:r>
          </a:p>
          <a:p>
            <a:pPr marL="0" indent="0" algn="just" fontAlgn="base">
              <a:lnSpc>
                <a:spcPct val="100000"/>
              </a:lnSpc>
              <a:spcBef>
                <a:spcPts val="0"/>
              </a:spcBef>
              <a:buNone/>
            </a:pPr>
            <a:r>
              <a:rPr lang="en-US" sz="1600" dirty="0" smtClean="0"/>
              <a:t>    public </a:t>
            </a:r>
            <a:r>
              <a:rPr lang="en-US" sz="1600" dirty="0"/>
              <a:t>String </a:t>
            </a:r>
            <a:r>
              <a:rPr lang="en-US" sz="1600" dirty="0" err="1"/>
              <a:t>getName</a:t>
            </a:r>
            <a:r>
              <a:rPr lang="en-US" sz="1600" dirty="0"/>
              <a:t>() </a:t>
            </a:r>
            <a:r>
              <a:rPr lang="en-US" sz="1600" dirty="0" smtClean="0"/>
              <a:t>{ return </a:t>
            </a:r>
            <a:r>
              <a:rPr lang="en-US" sz="1600" dirty="0"/>
              <a:t>name</a:t>
            </a:r>
            <a:r>
              <a:rPr lang="en-US" sz="1600" dirty="0" smtClean="0"/>
              <a:t>; } </a:t>
            </a:r>
            <a:endParaRPr lang="en-US" sz="1600" dirty="0"/>
          </a:p>
          <a:p>
            <a:pPr marL="0" indent="0" algn="just" fontAlgn="base">
              <a:lnSpc>
                <a:spcPct val="100000"/>
              </a:lnSpc>
              <a:spcBef>
                <a:spcPts val="0"/>
              </a:spcBef>
              <a:buNone/>
            </a:pPr>
            <a:r>
              <a:rPr lang="en-US" sz="1600" dirty="0" smtClean="0"/>
              <a:t>    public </a:t>
            </a:r>
            <a:r>
              <a:rPr lang="en-US" sz="1600" dirty="0"/>
              <a:t>String </a:t>
            </a:r>
            <a:r>
              <a:rPr lang="en-US" sz="1600" dirty="0" err="1"/>
              <a:t>getBreed</a:t>
            </a:r>
            <a:r>
              <a:rPr lang="en-US" sz="1600" dirty="0"/>
              <a:t>() </a:t>
            </a:r>
            <a:r>
              <a:rPr lang="en-US" sz="1600" dirty="0" smtClean="0"/>
              <a:t>{ </a:t>
            </a:r>
            <a:r>
              <a:rPr lang="en-US" sz="1600" dirty="0"/>
              <a:t>return breed; </a:t>
            </a:r>
            <a:r>
              <a:rPr lang="en-US" sz="1600" dirty="0" smtClean="0"/>
              <a:t>}</a:t>
            </a:r>
          </a:p>
          <a:p>
            <a:pPr marL="0" indent="0" algn="just" fontAlgn="base">
              <a:lnSpc>
                <a:spcPct val="100000"/>
              </a:lnSpc>
              <a:spcBef>
                <a:spcPts val="0"/>
              </a:spcBef>
              <a:buNone/>
            </a:pPr>
            <a:r>
              <a:rPr lang="en-US" sz="1600" dirty="0"/>
              <a:t> </a:t>
            </a:r>
            <a:r>
              <a:rPr lang="en-US" sz="1600" dirty="0" smtClean="0"/>
              <a:t>   public </a:t>
            </a:r>
            <a:r>
              <a:rPr lang="en-US" sz="1600" dirty="0" err="1"/>
              <a:t>int</a:t>
            </a:r>
            <a:r>
              <a:rPr lang="en-US" sz="1600" dirty="0"/>
              <a:t> </a:t>
            </a:r>
            <a:r>
              <a:rPr lang="en-US" sz="1600" dirty="0" err="1"/>
              <a:t>getAge</a:t>
            </a:r>
            <a:r>
              <a:rPr lang="en-US" sz="1600" dirty="0" smtClean="0"/>
              <a:t>() { </a:t>
            </a:r>
            <a:r>
              <a:rPr lang="en-US" sz="1600" dirty="0"/>
              <a:t>return age; </a:t>
            </a:r>
            <a:r>
              <a:rPr lang="en-US" sz="1600" dirty="0" smtClean="0"/>
              <a:t> } </a:t>
            </a:r>
            <a:endParaRPr lang="en-US" sz="1600" dirty="0"/>
          </a:p>
          <a:p>
            <a:pPr marL="0" indent="0" algn="just" fontAlgn="base">
              <a:lnSpc>
                <a:spcPct val="100000"/>
              </a:lnSpc>
              <a:spcBef>
                <a:spcPts val="0"/>
              </a:spcBef>
              <a:buNone/>
            </a:pPr>
            <a:r>
              <a:rPr lang="en-US" sz="1600" dirty="0" smtClean="0"/>
              <a:t>    public </a:t>
            </a:r>
            <a:r>
              <a:rPr lang="en-US" sz="1600" dirty="0"/>
              <a:t>String </a:t>
            </a:r>
            <a:r>
              <a:rPr lang="en-US" sz="1600" dirty="0" err="1"/>
              <a:t>getColor</a:t>
            </a:r>
            <a:r>
              <a:rPr lang="en-US" sz="1600" dirty="0" smtClean="0"/>
              <a:t>() { </a:t>
            </a:r>
            <a:r>
              <a:rPr lang="en-US" sz="1600" dirty="0"/>
              <a:t>return color; </a:t>
            </a:r>
            <a:r>
              <a:rPr lang="en-US" sz="1600" dirty="0" smtClean="0"/>
              <a:t>}   </a:t>
            </a:r>
            <a:endParaRPr lang="en-US" sz="1600" dirty="0"/>
          </a:p>
          <a:p>
            <a:pPr marL="0" indent="0" algn="just" fontAlgn="base">
              <a:lnSpc>
                <a:spcPct val="100000"/>
              </a:lnSpc>
              <a:spcBef>
                <a:spcPts val="0"/>
              </a:spcBef>
              <a:buNone/>
            </a:pPr>
            <a:r>
              <a:rPr lang="en-US" sz="1600" dirty="0" smtClean="0"/>
              <a:t>    public void display() </a:t>
            </a:r>
            <a:endParaRPr lang="en-US" sz="1600" dirty="0"/>
          </a:p>
          <a:p>
            <a:pPr marL="0" indent="0" algn="just" fontAlgn="base">
              <a:lnSpc>
                <a:spcPct val="100000"/>
              </a:lnSpc>
              <a:spcBef>
                <a:spcPts val="0"/>
              </a:spcBef>
              <a:buNone/>
            </a:pPr>
            <a:r>
              <a:rPr lang="en-US" sz="1600" dirty="0"/>
              <a:t>    { </a:t>
            </a:r>
          </a:p>
          <a:p>
            <a:pPr marL="0" indent="0" algn="just" fontAlgn="base">
              <a:lnSpc>
                <a:spcPct val="100000"/>
              </a:lnSpc>
              <a:spcBef>
                <a:spcPts val="0"/>
              </a:spcBef>
              <a:buNone/>
            </a:pPr>
            <a:r>
              <a:rPr lang="en-US" sz="1600" dirty="0"/>
              <a:t>        </a:t>
            </a:r>
            <a:r>
              <a:rPr lang="en-US" sz="1600" dirty="0" err="1"/>
              <a:t>System.out.println</a:t>
            </a:r>
            <a:r>
              <a:rPr lang="en-US" sz="1600" dirty="0"/>
              <a:t> </a:t>
            </a:r>
            <a:r>
              <a:rPr lang="en-US" sz="1600" dirty="0" smtClean="0"/>
              <a:t>("</a:t>
            </a:r>
            <a:r>
              <a:rPr lang="en-US" sz="1600" dirty="0"/>
              <a:t>Hi my name is "+ </a:t>
            </a:r>
            <a:r>
              <a:rPr lang="en-US" sz="1600" dirty="0" err="1"/>
              <a:t>this.getName</a:t>
            </a:r>
            <a:r>
              <a:rPr lang="en-US" sz="1600" dirty="0"/>
              <a:t>()+ </a:t>
            </a:r>
            <a:r>
              <a:rPr lang="en-US" sz="1600" dirty="0" smtClean="0"/>
              <a:t>".\</a:t>
            </a:r>
            <a:r>
              <a:rPr lang="en-US" sz="1600" dirty="0" err="1"/>
              <a:t>nMy</a:t>
            </a:r>
            <a:r>
              <a:rPr lang="en-US" sz="1600" dirty="0"/>
              <a:t> breed</a:t>
            </a:r>
            <a:r>
              <a:rPr lang="en-US" sz="1600" dirty="0" smtClean="0"/>
              <a:t>, age </a:t>
            </a:r>
            <a:r>
              <a:rPr lang="en-US" sz="1600" dirty="0"/>
              <a:t>and color are " </a:t>
            </a:r>
            <a:r>
              <a:rPr lang="en-US" sz="1600" dirty="0" smtClean="0"/>
              <a:t>+ </a:t>
            </a:r>
            <a:r>
              <a:rPr lang="en-US" sz="1600" dirty="0" err="1"/>
              <a:t>this.getBreed</a:t>
            </a:r>
            <a:r>
              <a:rPr lang="en-US" sz="1600" dirty="0" smtClean="0"/>
              <a:t>()+", " </a:t>
            </a:r>
            <a:r>
              <a:rPr lang="en-US" sz="1600" dirty="0"/>
              <a:t>+ </a:t>
            </a:r>
            <a:r>
              <a:rPr lang="en-US" sz="1600" dirty="0" smtClean="0"/>
              <a:t>			</a:t>
            </a:r>
            <a:r>
              <a:rPr lang="en-US" sz="1600" dirty="0" err="1" smtClean="0"/>
              <a:t>this.getAge</a:t>
            </a:r>
            <a:r>
              <a:rPr lang="en-US" sz="1600" dirty="0"/>
              <a:t>()+ </a:t>
            </a:r>
            <a:r>
              <a:rPr lang="en-US" sz="1600" dirty="0" smtClean="0"/>
              <a:t>", "+ </a:t>
            </a:r>
            <a:r>
              <a:rPr lang="en-US" sz="1600" dirty="0" err="1"/>
              <a:t>this.getColor</a:t>
            </a:r>
            <a:r>
              <a:rPr lang="en-US" sz="1600" dirty="0"/>
              <a:t>()); </a:t>
            </a:r>
          </a:p>
          <a:p>
            <a:pPr marL="0" indent="0" algn="just" fontAlgn="base">
              <a:lnSpc>
                <a:spcPct val="100000"/>
              </a:lnSpc>
              <a:spcBef>
                <a:spcPts val="0"/>
              </a:spcBef>
              <a:buNone/>
            </a:pPr>
            <a:r>
              <a:rPr lang="en-US" sz="1600" dirty="0"/>
              <a:t>    } </a:t>
            </a:r>
            <a:r>
              <a:rPr lang="en-US" sz="1600" dirty="0" smtClean="0"/>
              <a:t>  </a:t>
            </a:r>
            <a:endParaRPr lang="en-US" sz="1600" dirty="0"/>
          </a:p>
          <a:p>
            <a:pPr marL="0" indent="0" algn="just" fontAlgn="base">
              <a:lnSpc>
                <a:spcPct val="100000"/>
              </a:lnSpc>
              <a:spcBef>
                <a:spcPts val="0"/>
              </a:spcBef>
              <a:buNone/>
            </a:pPr>
            <a:r>
              <a:rPr lang="en-US" sz="1600" dirty="0"/>
              <a:t>    public static void main(String[] </a:t>
            </a:r>
            <a:r>
              <a:rPr lang="en-US" sz="1600" dirty="0" err="1"/>
              <a:t>args</a:t>
            </a:r>
            <a:r>
              <a:rPr lang="en-US" sz="1600" dirty="0"/>
              <a:t>) </a:t>
            </a:r>
          </a:p>
          <a:p>
            <a:pPr marL="0" indent="0" algn="just" fontAlgn="base">
              <a:lnSpc>
                <a:spcPct val="100000"/>
              </a:lnSpc>
              <a:spcBef>
                <a:spcPts val="0"/>
              </a:spcBef>
              <a:buNone/>
            </a:pPr>
            <a:r>
              <a:rPr lang="en-US" sz="1600" dirty="0"/>
              <a:t>    { </a:t>
            </a:r>
          </a:p>
          <a:p>
            <a:pPr marL="0" indent="0" algn="just" fontAlgn="base">
              <a:lnSpc>
                <a:spcPct val="100000"/>
              </a:lnSpc>
              <a:spcBef>
                <a:spcPts val="0"/>
              </a:spcBef>
              <a:buNone/>
            </a:pPr>
            <a:r>
              <a:rPr lang="en-US" sz="1600" dirty="0"/>
              <a:t>        Dog </a:t>
            </a:r>
            <a:r>
              <a:rPr lang="en-US" sz="1600" dirty="0" err="1"/>
              <a:t>tuffy</a:t>
            </a:r>
            <a:r>
              <a:rPr lang="en-US" sz="1600" dirty="0"/>
              <a:t> = new Dog("</a:t>
            </a:r>
            <a:r>
              <a:rPr lang="en-US" sz="1600" dirty="0" err="1"/>
              <a:t>tuffy</a:t>
            </a:r>
            <a:r>
              <a:rPr lang="en-US" sz="1600" dirty="0"/>
              <a:t>","</a:t>
            </a:r>
            <a:r>
              <a:rPr lang="en-US" sz="1600" dirty="0" err="1"/>
              <a:t>papillon</a:t>
            </a:r>
            <a:r>
              <a:rPr lang="en-US" sz="1600" dirty="0"/>
              <a:t>", 5, "white"); </a:t>
            </a:r>
          </a:p>
          <a:p>
            <a:pPr marL="0" indent="0" algn="just" fontAlgn="base">
              <a:lnSpc>
                <a:spcPct val="100000"/>
              </a:lnSpc>
              <a:spcBef>
                <a:spcPts val="0"/>
              </a:spcBef>
              <a:buNone/>
            </a:pPr>
            <a:r>
              <a:rPr lang="en-US" sz="1600" dirty="0"/>
              <a:t>        </a:t>
            </a:r>
            <a:r>
              <a:rPr lang="en-US" sz="1600" dirty="0" err="1" smtClean="0"/>
              <a:t>tuffy.display</a:t>
            </a:r>
            <a:r>
              <a:rPr lang="en-US" sz="1600" dirty="0" smtClean="0"/>
              <a:t>(); </a:t>
            </a:r>
            <a:endParaRPr lang="en-US" sz="1600" dirty="0"/>
          </a:p>
          <a:p>
            <a:pPr marL="0" indent="0" algn="just" fontAlgn="base">
              <a:lnSpc>
                <a:spcPct val="100000"/>
              </a:lnSpc>
              <a:spcBef>
                <a:spcPts val="0"/>
              </a:spcBef>
              <a:buNone/>
            </a:pPr>
            <a:r>
              <a:rPr lang="en-US" sz="1600" dirty="0"/>
              <a:t>    } </a:t>
            </a:r>
          </a:p>
          <a:p>
            <a:pPr marL="0" indent="0" algn="just" fontAlgn="base">
              <a:lnSpc>
                <a:spcPct val="100000"/>
              </a:lnSpc>
              <a:spcBef>
                <a:spcPts val="0"/>
              </a:spcBef>
              <a:buNone/>
            </a:pPr>
            <a:r>
              <a:rPr lang="en-US" sz="1600" dirty="0"/>
              <a:t>} </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20</a:t>
            </a:fld>
            <a:endParaRPr lang="en-US" dirty="0"/>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6041568" y="5021959"/>
            <a:ext cx="5312231" cy="936847"/>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1800" dirty="0" smtClean="0"/>
              <a:t>Output</a:t>
            </a:r>
          </a:p>
          <a:p>
            <a:pPr marL="0" indent="0" algn="just" fontAlgn="base">
              <a:lnSpc>
                <a:spcPct val="100000"/>
              </a:lnSpc>
              <a:spcBef>
                <a:spcPts val="0"/>
              </a:spcBef>
              <a:buNone/>
            </a:pPr>
            <a:r>
              <a:rPr lang="en-US" sz="1800" dirty="0"/>
              <a:t>Hi my name is </a:t>
            </a:r>
            <a:r>
              <a:rPr lang="en-US" sz="1800" dirty="0" err="1"/>
              <a:t>tuffy</a:t>
            </a:r>
            <a:r>
              <a:rPr lang="en-US" sz="1800" dirty="0"/>
              <a:t>.</a:t>
            </a:r>
          </a:p>
          <a:p>
            <a:pPr marL="0" indent="0" algn="just" fontAlgn="base">
              <a:lnSpc>
                <a:spcPct val="100000"/>
              </a:lnSpc>
              <a:spcBef>
                <a:spcPts val="0"/>
              </a:spcBef>
              <a:buNone/>
            </a:pPr>
            <a:r>
              <a:rPr lang="en-US" sz="1800" dirty="0"/>
              <a:t>My breed</a:t>
            </a:r>
            <a:r>
              <a:rPr lang="en-US" sz="1800" dirty="0" smtClean="0"/>
              <a:t>, age </a:t>
            </a:r>
            <a:r>
              <a:rPr lang="en-US" sz="1800" dirty="0"/>
              <a:t>and color are </a:t>
            </a:r>
            <a:r>
              <a:rPr lang="en-US" sz="1800" dirty="0" err="1"/>
              <a:t>papillon</a:t>
            </a:r>
            <a:r>
              <a:rPr lang="en-US" sz="1800" dirty="0" smtClean="0"/>
              <a:t>, 5, white</a:t>
            </a:r>
          </a:p>
        </p:txBody>
      </p:sp>
    </p:spTree>
    <p:extLst>
      <p:ext uri="{BB962C8B-B14F-4D97-AF65-F5344CB8AC3E}">
        <p14:creationId xmlns:p14="http://schemas.microsoft.com/office/powerpoint/2010/main" val="1334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Example</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a:xfrm>
            <a:off x="838199" y="914403"/>
            <a:ext cx="6955972" cy="5807072"/>
          </a:xfrm>
        </p:spPr>
        <p:txBody>
          <a:bodyPr>
            <a:noAutofit/>
          </a:bodyPr>
          <a:lstStyle/>
          <a:p>
            <a:pPr marL="0" indent="0" algn="just" fontAlgn="base">
              <a:lnSpc>
                <a:spcPct val="100000"/>
              </a:lnSpc>
              <a:spcBef>
                <a:spcPts val="0"/>
              </a:spcBef>
              <a:buNone/>
            </a:pPr>
            <a:r>
              <a:rPr lang="en-US" sz="1800" dirty="0"/>
              <a:t>class Account{  </a:t>
            </a:r>
          </a:p>
          <a:p>
            <a:pPr marL="457200" lvl="1" indent="0" algn="just" fontAlgn="base">
              <a:lnSpc>
                <a:spcPct val="100000"/>
              </a:lnSpc>
              <a:spcBef>
                <a:spcPts val="0"/>
              </a:spcBef>
              <a:buNone/>
            </a:pPr>
            <a:r>
              <a:rPr lang="en-US" sz="1800" dirty="0" err="1"/>
              <a:t>int</a:t>
            </a:r>
            <a:r>
              <a:rPr lang="en-US" sz="1800" dirty="0"/>
              <a:t> </a:t>
            </a:r>
            <a:r>
              <a:rPr lang="en-US" sz="1800" dirty="0" err="1"/>
              <a:t>acc_no</a:t>
            </a:r>
            <a:r>
              <a:rPr lang="en-US" sz="1800" dirty="0"/>
              <a:t>;  </a:t>
            </a:r>
            <a:r>
              <a:rPr lang="en-US" sz="1800" dirty="0" smtClean="0"/>
              <a:t>String </a:t>
            </a:r>
            <a:r>
              <a:rPr lang="en-US" sz="1800" dirty="0"/>
              <a:t>name;  </a:t>
            </a:r>
            <a:r>
              <a:rPr lang="en-US" sz="1800" dirty="0" smtClean="0"/>
              <a:t>float </a:t>
            </a:r>
            <a:r>
              <a:rPr lang="en-US" sz="1800" dirty="0"/>
              <a:t>amount;  </a:t>
            </a:r>
          </a:p>
          <a:p>
            <a:pPr marL="457200" lvl="1" indent="0" algn="just" fontAlgn="base">
              <a:lnSpc>
                <a:spcPct val="100000"/>
              </a:lnSpc>
              <a:spcBef>
                <a:spcPts val="0"/>
              </a:spcBef>
              <a:buNone/>
            </a:pPr>
            <a:r>
              <a:rPr lang="en-US" sz="1800" dirty="0" smtClean="0"/>
              <a:t>void </a:t>
            </a:r>
            <a:r>
              <a:rPr lang="en-US" sz="1800" dirty="0"/>
              <a:t>insert(</a:t>
            </a:r>
            <a:r>
              <a:rPr lang="en-US" sz="1800" dirty="0" err="1"/>
              <a:t>int</a:t>
            </a:r>
            <a:r>
              <a:rPr lang="en-US" sz="1800" dirty="0"/>
              <a:t> </a:t>
            </a:r>
            <a:r>
              <a:rPr lang="en-US" sz="1800" dirty="0" err="1"/>
              <a:t>a,String</a:t>
            </a:r>
            <a:r>
              <a:rPr lang="en-US" sz="1800" dirty="0"/>
              <a:t> </a:t>
            </a:r>
            <a:r>
              <a:rPr lang="en-US" sz="1800" dirty="0" err="1"/>
              <a:t>n,float</a:t>
            </a:r>
            <a:r>
              <a:rPr lang="en-US" sz="1800" dirty="0"/>
              <a:t> </a:t>
            </a:r>
            <a:r>
              <a:rPr lang="en-US" sz="1800" dirty="0" err="1"/>
              <a:t>amt</a:t>
            </a:r>
            <a:r>
              <a:rPr lang="en-US" sz="1800" dirty="0"/>
              <a:t>){  </a:t>
            </a:r>
          </a:p>
          <a:p>
            <a:pPr marL="457200" lvl="1" indent="0" algn="just" fontAlgn="base">
              <a:lnSpc>
                <a:spcPct val="100000"/>
              </a:lnSpc>
              <a:spcBef>
                <a:spcPts val="0"/>
              </a:spcBef>
              <a:buNone/>
            </a:pPr>
            <a:r>
              <a:rPr lang="en-US" sz="1800" dirty="0" smtClean="0"/>
              <a:t>	</a:t>
            </a:r>
            <a:r>
              <a:rPr lang="en-US" sz="1800" dirty="0" err="1" smtClean="0"/>
              <a:t>acc_no</a:t>
            </a:r>
            <a:r>
              <a:rPr lang="en-US" sz="1800" dirty="0" smtClean="0"/>
              <a:t>=a</a:t>
            </a:r>
            <a:r>
              <a:rPr lang="en-US" sz="1800" dirty="0"/>
              <a:t>;  </a:t>
            </a:r>
            <a:r>
              <a:rPr lang="en-US" sz="1800" dirty="0" smtClean="0"/>
              <a:t>name=n</a:t>
            </a:r>
            <a:r>
              <a:rPr lang="en-US" sz="1800" dirty="0"/>
              <a:t>;  </a:t>
            </a:r>
            <a:r>
              <a:rPr lang="en-US" sz="1800" dirty="0" smtClean="0"/>
              <a:t>amount=</a:t>
            </a:r>
            <a:r>
              <a:rPr lang="en-US" sz="1800" dirty="0" err="1" smtClean="0"/>
              <a:t>amt</a:t>
            </a:r>
            <a:r>
              <a:rPr lang="en-US" sz="1800" dirty="0"/>
              <a:t>;  </a:t>
            </a:r>
          </a:p>
          <a:p>
            <a:pPr marL="457200" lvl="1" indent="0" algn="just" fontAlgn="base">
              <a:lnSpc>
                <a:spcPct val="100000"/>
              </a:lnSpc>
              <a:spcBef>
                <a:spcPts val="0"/>
              </a:spcBef>
              <a:buNone/>
            </a:pPr>
            <a:r>
              <a:rPr lang="en-US" sz="1800" dirty="0"/>
              <a:t>}  </a:t>
            </a:r>
          </a:p>
          <a:p>
            <a:pPr marL="457200" lvl="1" indent="0" algn="just" fontAlgn="base">
              <a:lnSpc>
                <a:spcPct val="100000"/>
              </a:lnSpc>
              <a:spcBef>
                <a:spcPts val="0"/>
              </a:spcBef>
              <a:buNone/>
            </a:pPr>
            <a:r>
              <a:rPr lang="en-US" sz="1800" dirty="0" smtClean="0"/>
              <a:t>void </a:t>
            </a:r>
            <a:r>
              <a:rPr lang="en-US" sz="1800" dirty="0"/>
              <a:t>deposit(float </a:t>
            </a:r>
            <a:r>
              <a:rPr lang="en-US" sz="1800" dirty="0" err="1"/>
              <a:t>amt</a:t>
            </a:r>
            <a:r>
              <a:rPr lang="en-US" sz="1800" dirty="0"/>
              <a:t>){  </a:t>
            </a:r>
          </a:p>
          <a:p>
            <a:pPr marL="457200" lvl="1" indent="0" algn="just" fontAlgn="base">
              <a:lnSpc>
                <a:spcPct val="100000"/>
              </a:lnSpc>
              <a:spcBef>
                <a:spcPts val="0"/>
              </a:spcBef>
              <a:buNone/>
            </a:pPr>
            <a:r>
              <a:rPr lang="en-US" sz="1800" dirty="0" smtClean="0"/>
              <a:t>	amount=</a:t>
            </a:r>
            <a:r>
              <a:rPr lang="en-US" sz="1800" dirty="0" err="1" smtClean="0"/>
              <a:t>amount+amt</a:t>
            </a:r>
            <a:r>
              <a:rPr lang="en-US" sz="1800" dirty="0"/>
              <a:t>;  </a:t>
            </a:r>
          </a:p>
          <a:p>
            <a:pPr marL="457200" lvl="1" indent="0" algn="just" fontAlgn="base">
              <a:lnSpc>
                <a:spcPct val="100000"/>
              </a:lnSpc>
              <a:spcBef>
                <a:spcPts val="0"/>
              </a:spcBef>
              <a:buNone/>
            </a:pPr>
            <a:r>
              <a:rPr lang="en-US" sz="1800" dirty="0" smtClean="0"/>
              <a:t>	</a:t>
            </a:r>
            <a:r>
              <a:rPr lang="en-US" sz="1800" dirty="0" err="1" smtClean="0"/>
              <a:t>System.out.println</a:t>
            </a:r>
            <a:r>
              <a:rPr lang="en-US" sz="1800" dirty="0" smtClean="0"/>
              <a:t>(</a:t>
            </a:r>
            <a:r>
              <a:rPr lang="en-US" sz="1800" dirty="0" err="1" smtClean="0"/>
              <a:t>amt</a:t>
            </a:r>
            <a:r>
              <a:rPr lang="en-US" sz="1800" dirty="0"/>
              <a:t>+" deposited");  </a:t>
            </a:r>
          </a:p>
          <a:p>
            <a:pPr marL="457200" lvl="1" indent="0" algn="just" fontAlgn="base">
              <a:lnSpc>
                <a:spcPct val="100000"/>
              </a:lnSpc>
              <a:spcBef>
                <a:spcPts val="0"/>
              </a:spcBef>
              <a:buNone/>
            </a:pPr>
            <a:r>
              <a:rPr lang="en-US" sz="1800" dirty="0"/>
              <a:t>}  </a:t>
            </a:r>
          </a:p>
          <a:p>
            <a:pPr marL="457200" lvl="1" indent="0" algn="just" fontAlgn="base">
              <a:lnSpc>
                <a:spcPct val="100000"/>
              </a:lnSpc>
              <a:spcBef>
                <a:spcPts val="0"/>
              </a:spcBef>
              <a:buNone/>
            </a:pPr>
            <a:r>
              <a:rPr lang="en-US" sz="1800" dirty="0" smtClean="0"/>
              <a:t>void </a:t>
            </a:r>
            <a:r>
              <a:rPr lang="en-US" sz="1800" dirty="0"/>
              <a:t>withdraw(float </a:t>
            </a:r>
            <a:r>
              <a:rPr lang="en-US" sz="1800" dirty="0" err="1"/>
              <a:t>amt</a:t>
            </a:r>
            <a:r>
              <a:rPr lang="en-US" sz="1800" dirty="0"/>
              <a:t>){  </a:t>
            </a:r>
          </a:p>
          <a:p>
            <a:pPr marL="914400" lvl="2" indent="0" algn="just" fontAlgn="base">
              <a:lnSpc>
                <a:spcPct val="100000"/>
              </a:lnSpc>
              <a:spcBef>
                <a:spcPts val="0"/>
              </a:spcBef>
              <a:buNone/>
            </a:pPr>
            <a:r>
              <a:rPr lang="en-US" sz="1800" dirty="0"/>
              <a:t>if(amount&lt;</a:t>
            </a:r>
            <a:r>
              <a:rPr lang="en-US" sz="1800" dirty="0" err="1"/>
              <a:t>amt</a:t>
            </a:r>
            <a:r>
              <a:rPr lang="en-US" sz="1800" dirty="0"/>
              <a:t>){  </a:t>
            </a:r>
          </a:p>
          <a:p>
            <a:pPr marL="914400" lvl="2" indent="0" algn="just" fontAlgn="base">
              <a:lnSpc>
                <a:spcPct val="100000"/>
              </a:lnSpc>
              <a:spcBef>
                <a:spcPts val="0"/>
              </a:spcBef>
              <a:buNone/>
            </a:pPr>
            <a:r>
              <a:rPr lang="en-US" sz="1800" dirty="0"/>
              <a:t> </a:t>
            </a:r>
            <a:r>
              <a:rPr lang="en-US" sz="1800" dirty="0" smtClean="0"/>
              <a:t>              </a:t>
            </a:r>
            <a:r>
              <a:rPr lang="en-US" sz="1800" dirty="0" err="1" smtClean="0"/>
              <a:t>System.out.println</a:t>
            </a:r>
            <a:r>
              <a:rPr lang="en-US" sz="1800" dirty="0"/>
              <a:t>("Insufficient Balance");  </a:t>
            </a:r>
          </a:p>
          <a:p>
            <a:pPr marL="914400" lvl="2" indent="0" algn="just" fontAlgn="base">
              <a:lnSpc>
                <a:spcPct val="100000"/>
              </a:lnSpc>
              <a:spcBef>
                <a:spcPts val="0"/>
              </a:spcBef>
              <a:buNone/>
            </a:pPr>
            <a:r>
              <a:rPr lang="en-US" sz="1800" dirty="0"/>
              <a:t>}else{  </a:t>
            </a:r>
          </a:p>
          <a:p>
            <a:pPr marL="1371600" lvl="3" indent="0" algn="just" fontAlgn="base">
              <a:lnSpc>
                <a:spcPct val="100000"/>
              </a:lnSpc>
              <a:spcBef>
                <a:spcPts val="0"/>
              </a:spcBef>
              <a:buNone/>
            </a:pPr>
            <a:r>
              <a:rPr lang="en-US" dirty="0" smtClean="0"/>
              <a:t>amount=amount-</a:t>
            </a:r>
            <a:r>
              <a:rPr lang="en-US" dirty="0" err="1" smtClean="0"/>
              <a:t>amt</a:t>
            </a:r>
            <a:r>
              <a:rPr lang="en-US" dirty="0" smtClean="0"/>
              <a:t>;  </a:t>
            </a:r>
          </a:p>
          <a:p>
            <a:pPr marL="1371600" lvl="3" indent="0" algn="just" fontAlgn="base">
              <a:lnSpc>
                <a:spcPct val="100000"/>
              </a:lnSpc>
              <a:spcBef>
                <a:spcPts val="0"/>
              </a:spcBef>
              <a:buNone/>
            </a:pPr>
            <a:r>
              <a:rPr lang="en-US" dirty="0" err="1" smtClean="0"/>
              <a:t>System.out.println</a:t>
            </a:r>
            <a:r>
              <a:rPr lang="en-US" dirty="0" smtClean="0"/>
              <a:t>(</a:t>
            </a:r>
            <a:r>
              <a:rPr lang="en-US" dirty="0" err="1" smtClean="0"/>
              <a:t>amt</a:t>
            </a:r>
            <a:r>
              <a:rPr lang="en-US" dirty="0" smtClean="0"/>
              <a:t>+" withdrawn");  </a:t>
            </a:r>
          </a:p>
          <a:p>
            <a:pPr marL="914400" lvl="2" indent="0" algn="just" fontAlgn="base">
              <a:lnSpc>
                <a:spcPct val="100000"/>
              </a:lnSpc>
              <a:spcBef>
                <a:spcPts val="0"/>
              </a:spcBef>
              <a:buNone/>
            </a:pPr>
            <a:r>
              <a:rPr lang="en-US" sz="1800" dirty="0" smtClean="0"/>
              <a:t>}  </a:t>
            </a:r>
            <a:endParaRPr lang="en-US" sz="1800" dirty="0"/>
          </a:p>
          <a:p>
            <a:pPr marL="457200" lvl="1" indent="0" algn="just" fontAlgn="base">
              <a:lnSpc>
                <a:spcPct val="100000"/>
              </a:lnSpc>
              <a:spcBef>
                <a:spcPts val="0"/>
              </a:spcBef>
              <a:buNone/>
            </a:pPr>
            <a:r>
              <a:rPr lang="en-US" sz="1800" dirty="0"/>
              <a:t>}  </a:t>
            </a:r>
          </a:p>
          <a:p>
            <a:pPr marL="457200" lvl="1" indent="0" algn="just" fontAlgn="base">
              <a:lnSpc>
                <a:spcPct val="100000"/>
              </a:lnSpc>
              <a:spcBef>
                <a:spcPts val="0"/>
              </a:spcBef>
              <a:buNone/>
            </a:pPr>
            <a:r>
              <a:rPr lang="en-US" sz="1800" dirty="0" smtClean="0"/>
              <a:t>void </a:t>
            </a:r>
            <a:r>
              <a:rPr lang="en-US" sz="1800" dirty="0" err="1"/>
              <a:t>checkBalance</a:t>
            </a:r>
            <a:r>
              <a:rPr lang="en-US" sz="1800" dirty="0"/>
              <a:t>(){</a:t>
            </a:r>
            <a:r>
              <a:rPr lang="en-US" sz="1800" dirty="0" err="1"/>
              <a:t>System.out.println</a:t>
            </a:r>
            <a:r>
              <a:rPr lang="en-US" sz="1800" dirty="0"/>
              <a:t>("Balance is: "+amount);}  </a:t>
            </a:r>
          </a:p>
          <a:p>
            <a:pPr marL="457200" lvl="1" indent="0" algn="just" fontAlgn="base">
              <a:lnSpc>
                <a:spcPct val="100000"/>
              </a:lnSpc>
              <a:spcBef>
                <a:spcPts val="0"/>
              </a:spcBef>
              <a:buNone/>
            </a:pPr>
            <a:r>
              <a:rPr lang="en-US" sz="1800" dirty="0" smtClean="0"/>
              <a:t>void </a:t>
            </a:r>
            <a:r>
              <a:rPr lang="en-US" sz="1800" dirty="0"/>
              <a:t>display(){</a:t>
            </a:r>
            <a:r>
              <a:rPr lang="en-US" sz="1800" dirty="0" err="1"/>
              <a:t>System.out.println</a:t>
            </a:r>
            <a:r>
              <a:rPr lang="en-US" sz="1800" dirty="0"/>
              <a:t>(</a:t>
            </a:r>
            <a:r>
              <a:rPr lang="en-US" sz="1800" dirty="0" err="1"/>
              <a:t>acc_no</a:t>
            </a:r>
            <a:r>
              <a:rPr lang="en-US" sz="1800" dirty="0"/>
              <a:t>+" "+name+" "+amount);}  </a:t>
            </a:r>
          </a:p>
          <a:p>
            <a:pPr marL="0" indent="0" algn="just" fontAlgn="base">
              <a:lnSpc>
                <a:spcPct val="100000"/>
              </a:lnSpc>
              <a:spcBef>
                <a:spcPts val="0"/>
              </a:spcBef>
              <a:buNone/>
            </a:pPr>
            <a:r>
              <a:rPr lang="en-US" sz="1800" dirty="0"/>
              <a:t>}  </a:t>
            </a:r>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21</a:t>
            </a:fld>
            <a:endParaRPr lang="en-US" dirty="0"/>
          </a:p>
        </p:txBody>
      </p:sp>
      <p:sp>
        <p:nvSpPr>
          <p:cNvPr id="7" name="Content Placeholder 2">
            <a:extLst>
              <a:ext uri="{FF2B5EF4-FFF2-40B4-BE49-F238E27FC236}">
                <a16:creationId xmlns="" xmlns:a16="http://schemas.microsoft.com/office/drawing/2014/main" id="{21309EEA-748E-1B4D-9BA2-2ADAA2FBB16C}"/>
              </a:ext>
            </a:extLst>
          </p:cNvPr>
          <p:cNvSpPr txBox="1">
            <a:spLocks/>
          </p:cNvSpPr>
          <p:nvPr/>
        </p:nvSpPr>
        <p:spPr>
          <a:xfrm>
            <a:off x="7678057" y="1190172"/>
            <a:ext cx="4397829" cy="4368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fontAlgn="base">
              <a:lnSpc>
                <a:spcPct val="120000"/>
              </a:lnSpc>
              <a:spcBef>
                <a:spcPts val="0"/>
              </a:spcBef>
              <a:buFont typeface="Arial" panose="020B0604020202020204" pitchFamily="34" charset="0"/>
              <a:buNone/>
            </a:pPr>
            <a:r>
              <a:rPr lang="en-US" sz="1800" dirty="0" smtClean="0"/>
              <a:t>class </a:t>
            </a:r>
            <a:r>
              <a:rPr lang="en-US" sz="1800" dirty="0" err="1" smtClean="0"/>
              <a:t>TestAccount</a:t>
            </a:r>
            <a:r>
              <a:rPr lang="en-US" sz="1800" dirty="0" smtClean="0"/>
              <a:t>{  </a:t>
            </a:r>
          </a:p>
          <a:p>
            <a:pPr marL="457200" lvl="1" indent="0" algn="just" fontAlgn="base">
              <a:lnSpc>
                <a:spcPct val="120000"/>
              </a:lnSpc>
              <a:spcBef>
                <a:spcPts val="0"/>
              </a:spcBef>
              <a:buFont typeface="Arial" panose="020B0604020202020204" pitchFamily="34" charset="0"/>
              <a:buNone/>
            </a:pPr>
            <a:r>
              <a:rPr lang="en-US" sz="1800" dirty="0" smtClean="0"/>
              <a:t>public static void main(String[] </a:t>
            </a:r>
            <a:r>
              <a:rPr lang="en-US" sz="1800" dirty="0" err="1" smtClean="0"/>
              <a:t>args</a:t>
            </a:r>
            <a:r>
              <a:rPr lang="en-US" sz="1800" dirty="0" smtClean="0"/>
              <a:t>){  </a:t>
            </a:r>
          </a:p>
          <a:p>
            <a:pPr marL="914400" lvl="2" indent="0" algn="just" fontAlgn="base">
              <a:lnSpc>
                <a:spcPct val="120000"/>
              </a:lnSpc>
              <a:spcBef>
                <a:spcPts val="0"/>
              </a:spcBef>
              <a:buFont typeface="Arial" panose="020B0604020202020204" pitchFamily="34" charset="0"/>
              <a:buNone/>
            </a:pPr>
            <a:r>
              <a:rPr lang="en-US" sz="1800" dirty="0" smtClean="0"/>
              <a:t>Account </a:t>
            </a:r>
            <a:r>
              <a:rPr lang="en-US" sz="1800" dirty="0" err="1" smtClean="0"/>
              <a:t>a1</a:t>
            </a:r>
            <a:r>
              <a:rPr lang="en-US" sz="1800" dirty="0" smtClean="0"/>
              <a:t>=new Account();  </a:t>
            </a:r>
          </a:p>
          <a:p>
            <a:pPr marL="914400" lvl="2" indent="0" algn="just" fontAlgn="base">
              <a:lnSpc>
                <a:spcPct val="120000"/>
              </a:lnSpc>
              <a:spcBef>
                <a:spcPts val="0"/>
              </a:spcBef>
              <a:buFont typeface="Arial" panose="020B0604020202020204" pitchFamily="34" charset="0"/>
              <a:buNone/>
            </a:pPr>
            <a:r>
              <a:rPr lang="en-US" sz="1800" dirty="0" err="1" smtClean="0"/>
              <a:t>a1.insert</a:t>
            </a:r>
            <a:r>
              <a:rPr lang="en-US" sz="1800" dirty="0" smtClean="0"/>
              <a:t>(832345,"</a:t>
            </a:r>
            <a:r>
              <a:rPr lang="en-US" sz="1800" dirty="0" err="1" smtClean="0"/>
              <a:t>Ankit</a:t>
            </a:r>
            <a:r>
              <a:rPr lang="en-US" sz="1800" dirty="0" smtClean="0"/>
              <a:t>",1000);  </a:t>
            </a:r>
          </a:p>
          <a:p>
            <a:pPr marL="914400" lvl="2" indent="0" algn="just" fontAlgn="base">
              <a:lnSpc>
                <a:spcPct val="120000"/>
              </a:lnSpc>
              <a:spcBef>
                <a:spcPts val="0"/>
              </a:spcBef>
              <a:buFont typeface="Arial" panose="020B0604020202020204" pitchFamily="34" charset="0"/>
              <a:buNone/>
            </a:pPr>
            <a:r>
              <a:rPr lang="en-US" sz="1800" dirty="0" err="1" smtClean="0"/>
              <a:t>a1.display</a:t>
            </a:r>
            <a:r>
              <a:rPr lang="en-US" sz="1800" dirty="0" smtClean="0"/>
              <a:t>();  </a:t>
            </a:r>
          </a:p>
          <a:p>
            <a:pPr marL="914400" lvl="2" indent="0" algn="just" fontAlgn="base">
              <a:lnSpc>
                <a:spcPct val="120000"/>
              </a:lnSpc>
              <a:spcBef>
                <a:spcPts val="0"/>
              </a:spcBef>
              <a:buFont typeface="Arial" panose="020B0604020202020204" pitchFamily="34" charset="0"/>
              <a:buNone/>
            </a:pPr>
            <a:r>
              <a:rPr lang="en-US" sz="1800" dirty="0" err="1" smtClean="0"/>
              <a:t>a1.checkBalance</a:t>
            </a:r>
            <a:r>
              <a:rPr lang="en-US" sz="1800" dirty="0" smtClean="0"/>
              <a:t>();  </a:t>
            </a:r>
          </a:p>
          <a:p>
            <a:pPr marL="914400" lvl="2" indent="0" algn="just" fontAlgn="base">
              <a:lnSpc>
                <a:spcPct val="120000"/>
              </a:lnSpc>
              <a:spcBef>
                <a:spcPts val="0"/>
              </a:spcBef>
              <a:buFont typeface="Arial" panose="020B0604020202020204" pitchFamily="34" charset="0"/>
              <a:buNone/>
            </a:pPr>
            <a:r>
              <a:rPr lang="en-US" sz="1800" dirty="0" err="1" smtClean="0"/>
              <a:t>a1.deposit</a:t>
            </a:r>
            <a:r>
              <a:rPr lang="en-US" sz="1800" dirty="0" smtClean="0"/>
              <a:t>(40000);  </a:t>
            </a:r>
          </a:p>
          <a:p>
            <a:pPr marL="914400" lvl="2" indent="0" algn="just" fontAlgn="base">
              <a:lnSpc>
                <a:spcPct val="120000"/>
              </a:lnSpc>
              <a:spcBef>
                <a:spcPts val="0"/>
              </a:spcBef>
              <a:buFont typeface="Arial" panose="020B0604020202020204" pitchFamily="34" charset="0"/>
              <a:buNone/>
            </a:pPr>
            <a:r>
              <a:rPr lang="en-US" sz="1800" dirty="0" err="1" smtClean="0"/>
              <a:t>a1.checkBalance</a:t>
            </a:r>
            <a:r>
              <a:rPr lang="en-US" sz="1800" dirty="0" smtClean="0"/>
              <a:t>();  </a:t>
            </a:r>
          </a:p>
          <a:p>
            <a:pPr marL="914400" lvl="2" indent="0" algn="just" fontAlgn="base">
              <a:lnSpc>
                <a:spcPct val="120000"/>
              </a:lnSpc>
              <a:spcBef>
                <a:spcPts val="0"/>
              </a:spcBef>
              <a:buFont typeface="Arial" panose="020B0604020202020204" pitchFamily="34" charset="0"/>
              <a:buNone/>
            </a:pPr>
            <a:r>
              <a:rPr lang="en-US" sz="1800" dirty="0" err="1" smtClean="0"/>
              <a:t>a1.withdraw</a:t>
            </a:r>
            <a:r>
              <a:rPr lang="en-US" sz="1800" dirty="0" smtClean="0"/>
              <a:t>(15000);  </a:t>
            </a:r>
          </a:p>
          <a:p>
            <a:pPr marL="914400" lvl="2" indent="0" algn="just" fontAlgn="base">
              <a:lnSpc>
                <a:spcPct val="120000"/>
              </a:lnSpc>
              <a:spcBef>
                <a:spcPts val="0"/>
              </a:spcBef>
              <a:buFont typeface="Arial" panose="020B0604020202020204" pitchFamily="34" charset="0"/>
              <a:buNone/>
            </a:pPr>
            <a:r>
              <a:rPr lang="en-US" sz="1800" dirty="0" err="1" smtClean="0"/>
              <a:t>a1.checkBalance</a:t>
            </a:r>
            <a:r>
              <a:rPr lang="en-US" sz="1800" dirty="0" smtClean="0"/>
              <a:t>(); </a:t>
            </a:r>
          </a:p>
          <a:p>
            <a:pPr marL="457200" lvl="1" indent="0" algn="just" fontAlgn="base">
              <a:lnSpc>
                <a:spcPct val="120000"/>
              </a:lnSpc>
              <a:spcBef>
                <a:spcPts val="0"/>
              </a:spcBef>
              <a:buFont typeface="Arial" panose="020B0604020202020204" pitchFamily="34" charset="0"/>
              <a:buNone/>
            </a:pPr>
            <a:r>
              <a:rPr lang="en-US" sz="1800" dirty="0" smtClean="0"/>
              <a:t>}</a:t>
            </a:r>
          </a:p>
          <a:p>
            <a:pPr marL="0" indent="0" algn="just" fontAlgn="base">
              <a:lnSpc>
                <a:spcPct val="120000"/>
              </a:lnSpc>
              <a:spcBef>
                <a:spcPts val="0"/>
              </a:spcBef>
              <a:buFont typeface="Arial" panose="020B0604020202020204" pitchFamily="34" charset="0"/>
              <a:buNone/>
            </a:pPr>
            <a:r>
              <a:rPr lang="en-US" sz="1800" dirty="0" smtClean="0"/>
              <a:t>} </a:t>
            </a:r>
          </a:p>
        </p:txBody>
      </p:sp>
      <p:sp>
        <p:nvSpPr>
          <p:cNvPr id="8" name="Content Placeholder 2">
            <a:extLst>
              <a:ext uri="{FF2B5EF4-FFF2-40B4-BE49-F238E27FC236}">
                <a16:creationId xmlns="" xmlns:a16="http://schemas.microsoft.com/office/drawing/2014/main" id="{21309EEA-748E-1B4D-9BA2-2ADAA2FBB16C}"/>
              </a:ext>
            </a:extLst>
          </p:cNvPr>
          <p:cNvSpPr txBox="1">
            <a:spLocks/>
          </p:cNvSpPr>
          <p:nvPr/>
        </p:nvSpPr>
        <p:spPr>
          <a:xfrm>
            <a:off x="8679543" y="4847780"/>
            <a:ext cx="2380345" cy="1873695"/>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fontAlgn="base">
              <a:lnSpc>
                <a:spcPct val="100000"/>
              </a:lnSpc>
              <a:spcBef>
                <a:spcPts val="0"/>
              </a:spcBef>
            </a:pPr>
            <a:r>
              <a:rPr lang="en-US" sz="1600" dirty="0" smtClean="0"/>
              <a:t>Output</a:t>
            </a:r>
          </a:p>
          <a:p>
            <a:pPr marL="0" indent="0" algn="just" fontAlgn="base">
              <a:lnSpc>
                <a:spcPct val="100000"/>
              </a:lnSpc>
              <a:spcBef>
                <a:spcPts val="0"/>
              </a:spcBef>
              <a:buNone/>
            </a:pPr>
            <a:r>
              <a:rPr lang="en-US" sz="1600" dirty="0"/>
              <a:t>832345 </a:t>
            </a:r>
            <a:r>
              <a:rPr lang="en-US" sz="1600" dirty="0" err="1"/>
              <a:t>Ankit</a:t>
            </a:r>
            <a:r>
              <a:rPr lang="en-US" sz="1600" dirty="0"/>
              <a:t> 1000.0</a:t>
            </a:r>
          </a:p>
          <a:p>
            <a:pPr marL="0" indent="0" algn="just" fontAlgn="base">
              <a:lnSpc>
                <a:spcPct val="100000"/>
              </a:lnSpc>
              <a:spcBef>
                <a:spcPts val="0"/>
              </a:spcBef>
              <a:buNone/>
            </a:pPr>
            <a:r>
              <a:rPr lang="en-US" sz="1600" dirty="0"/>
              <a:t>Balance is: 1000.0</a:t>
            </a:r>
          </a:p>
          <a:p>
            <a:pPr marL="0" indent="0" algn="just" fontAlgn="base">
              <a:lnSpc>
                <a:spcPct val="100000"/>
              </a:lnSpc>
              <a:spcBef>
                <a:spcPts val="0"/>
              </a:spcBef>
              <a:buNone/>
            </a:pPr>
            <a:r>
              <a:rPr lang="en-US" sz="1600" dirty="0"/>
              <a:t>40000.0 deposited</a:t>
            </a:r>
          </a:p>
          <a:p>
            <a:pPr marL="0" indent="0" algn="just" fontAlgn="base">
              <a:lnSpc>
                <a:spcPct val="100000"/>
              </a:lnSpc>
              <a:spcBef>
                <a:spcPts val="0"/>
              </a:spcBef>
              <a:buNone/>
            </a:pPr>
            <a:r>
              <a:rPr lang="en-US" sz="1600" dirty="0"/>
              <a:t>Balance is: 41000.0</a:t>
            </a:r>
          </a:p>
          <a:p>
            <a:pPr marL="0" indent="0" algn="just" fontAlgn="base">
              <a:lnSpc>
                <a:spcPct val="100000"/>
              </a:lnSpc>
              <a:spcBef>
                <a:spcPts val="0"/>
              </a:spcBef>
              <a:buNone/>
            </a:pPr>
            <a:r>
              <a:rPr lang="en-US" sz="1600" dirty="0"/>
              <a:t>15000.0 withdrawn</a:t>
            </a:r>
          </a:p>
          <a:p>
            <a:pPr marL="0" indent="0" algn="just" fontAlgn="base">
              <a:lnSpc>
                <a:spcPct val="100000"/>
              </a:lnSpc>
              <a:spcBef>
                <a:spcPts val="0"/>
              </a:spcBef>
              <a:buNone/>
            </a:pPr>
            <a:r>
              <a:rPr lang="en-US" sz="1600" dirty="0"/>
              <a:t>Balance is: 26000.0</a:t>
            </a:r>
            <a:endParaRPr lang="en-US" sz="1600" dirty="0" smtClean="0"/>
          </a:p>
        </p:txBody>
      </p:sp>
    </p:spTree>
    <p:extLst>
      <p:ext uri="{BB962C8B-B14F-4D97-AF65-F5344CB8AC3E}">
        <p14:creationId xmlns:p14="http://schemas.microsoft.com/office/powerpoint/2010/main" val="1809846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D226F5C-4F30-CE40-A40F-5A13C8C2C1EF}"/>
              </a:ext>
            </a:extLst>
          </p:cNvPr>
          <p:cNvSpPr>
            <a:spLocks noGrp="1"/>
          </p:cNvSpPr>
          <p:nvPr>
            <p:ph type="title"/>
          </p:nvPr>
        </p:nvSpPr>
        <p:spPr/>
        <p:txBody>
          <a:bodyPr>
            <a:normAutofit/>
          </a:bodyPr>
          <a:lstStyle/>
          <a:p>
            <a:r>
              <a:rPr lang="en-US" sz="3200" dirty="0" smtClean="0"/>
              <a:t>References</a:t>
            </a:r>
            <a:endParaRPr lang="en-US" sz="3200" dirty="0"/>
          </a:p>
        </p:txBody>
      </p:sp>
      <p:sp>
        <p:nvSpPr>
          <p:cNvPr id="3" name="Content Placeholder 2">
            <a:extLst>
              <a:ext uri="{FF2B5EF4-FFF2-40B4-BE49-F238E27FC236}">
                <a16:creationId xmlns="" xmlns:a16="http://schemas.microsoft.com/office/drawing/2014/main" id="{21309EEA-748E-1B4D-9BA2-2ADAA2FBB16C}"/>
              </a:ext>
            </a:extLst>
          </p:cNvPr>
          <p:cNvSpPr>
            <a:spLocks noGrp="1"/>
          </p:cNvSpPr>
          <p:nvPr>
            <p:ph idx="1"/>
          </p:nvPr>
        </p:nvSpPr>
        <p:spPr/>
        <p:txBody>
          <a:bodyPr>
            <a:normAutofit/>
          </a:bodyPr>
          <a:lstStyle/>
          <a:p>
            <a:r>
              <a:rPr lang="en-US" dirty="0">
                <a:hlinkClick r:id="rId2"/>
              </a:rPr>
              <a:t>https://</a:t>
            </a:r>
            <a:r>
              <a:rPr lang="en-US" dirty="0" err="1">
                <a:hlinkClick r:id="rId2"/>
              </a:rPr>
              <a:t>www.geeksforgeeks.org</a:t>
            </a:r>
            <a:r>
              <a:rPr lang="en-US" dirty="0">
                <a:hlinkClick r:id="rId2"/>
              </a:rPr>
              <a:t>/classes-objects-java</a:t>
            </a:r>
            <a:r>
              <a:rPr lang="en-US" dirty="0" smtClean="0">
                <a:hlinkClick r:id="rId2"/>
              </a:rPr>
              <a:t>/</a:t>
            </a:r>
            <a:endParaRPr lang="en-US" dirty="0" smtClean="0"/>
          </a:p>
          <a:p>
            <a:r>
              <a:rPr lang="en-US" dirty="0">
                <a:hlinkClick r:id="rId3"/>
              </a:rPr>
              <a:t>https://</a:t>
            </a:r>
            <a:r>
              <a:rPr lang="en-US" dirty="0" err="1" smtClean="0">
                <a:hlinkClick r:id="rId3"/>
              </a:rPr>
              <a:t>www.w3schools.com</a:t>
            </a:r>
            <a:r>
              <a:rPr lang="en-US" dirty="0" smtClean="0">
                <a:hlinkClick r:id="rId3"/>
              </a:rPr>
              <a:t>/java/</a:t>
            </a:r>
            <a:r>
              <a:rPr lang="en-US" dirty="0" err="1" smtClean="0">
                <a:hlinkClick r:id="rId3"/>
              </a:rPr>
              <a:t>java_classes.asp</a:t>
            </a:r>
            <a:endParaRPr lang="en-US" dirty="0" smtClean="0"/>
          </a:p>
          <a:p>
            <a:r>
              <a:rPr lang="en-US" dirty="0">
                <a:hlinkClick r:id="rId4"/>
              </a:rPr>
              <a:t>https://</a:t>
            </a:r>
            <a:r>
              <a:rPr lang="en-US" dirty="0" err="1" smtClean="0">
                <a:hlinkClick r:id="rId4"/>
              </a:rPr>
              <a:t>www.javatpoint.com</a:t>
            </a:r>
            <a:r>
              <a:rPr lang="en-US" dirty="0" smtClean="0">
                <a:hlinkClick r:id="rId4"/>
              </a:rPr>
              <a:t>/object-and-class-in-java</a:t>
            </a:r>
            <a:endParaRPr lang="en-US" dirty="0" smtClean="0"/>
          </a:p>
          <a:p>
            <a:r>
              <a:rPr lang="en-US" dirty="0">
                <a:hlinkClick r:id="rId5"/>
              </a:rPr>
              <a:t>https://</a:t>
            </a:r>
            <a:r>
              <a:rPr lang="en-US" dirty="0" err="1" smtClean="0">
                <a:hlinkClick r:id="rId5"/>
              </a:rPr>
              <a:t>www.guru99.com</a:t>
            </a:r>
            <a:r>
              <a:rPr lang="en-US" dirty="0" smtClean="0">
                <a:hlinkClick r:id="rId5"/>
              </a:rPr>
              <a:t>/java-oops-class-</a:t>
            </a:r>
            <a:r>
              <a:rPr lang="en-US" dirty="0" err="1" smtClean="0">
                <a:hlinkClick r:id="rId5"/>
              </a:rPr>
              <a:t>objects.html</a:t>
            </a:r>
            <a:endParaRPr lang="en-US" dirty="0" smtClean="0"/>
          </a:p>
          <a:p>
            <a:r>
              <a:rPr lang="en-US" dirty="0">
                <a:hlinkClick r:id="rId6"/>
              </a:rPr>
              <a:t>https://</a:t>
            </a:r>
            <a:r>
              <a:rPr lang="en-US" dirty="0" err="1" smtClean="0">
                <a:hlinkClick r:id="rId6"/>
              </a:rPr>
              <a:t>www.programiz.com</a:t>
            </a:r>
            <a:r>
              <a:rPr lang="en-US" dirty="0" smtClean="0">
                <a:hlinkClick r:id="rId6"/>
              </a:rPr>
              <a:t>/java-programming/class-objects</a:t>
            </a:r>
            <a:endParaRPr lang="en-US" dirty="0" smtClean="0"/>
          </a:p>
          <a:p>
            <a:r>
              <a:rPr lang="en-US" dirty="0">
                <a:hlinkClick r:id="rId7"/>
              </a:rPr>
              <a:t>https://</a:t>
            </a:r>
            <a:r>
              <a:rPr lang="en-US" dirty="0" err="1" smtClean="0">
                <a:hlinkClick r:id="rId7"/>
              </a:rPr>
              <a:t>docs.oracle.com</a:t>
            </a:r>
            <a:r>
              <a:rPr lang="en-US" dirty="0" smtClean="0">
                <a:hlinkClick r:id="rId7"/>
              </a:rPr>
              <a:t>/</a:t>
            </a:r>
            <a:r>
              <a:rPr lang="en-US" dirty="0" err="1" smtClean="0">
                <a:hlinkClick r:id="rId7"/>
              </a:rPr>
              <a:t>javase</a:t>
            </a:r>
            <a:r>
              <a:rPr lang="en-US" dirty="0" smtClean="0">
                <a:hlinkClick r:id="rId7"/>
              </a:rPr>
              <a:t>/tutorial/java/</a:t>
            </a:r>
            <a:r>
              <a:rPr lang="en-US" dirty="0" err="1" smtClean="0">
                <a:hlinkClick r:id="rId7"/>
              </a:rPr>
              <a:t>javaOO</a:t>
            </a:r>
            <a:r>
              <a:rPr lang="en-US" dirty="0" smtClean="0">
                <a:hlinkClick r:id="rId7"/>
              </a:rPr>
              <a:t>/</a:t>
            </a:r>
            <a:r>
              <a:rPr lang="en-US" dirty="0" err="1" smtClean="0">
                <a:hlinkClick r:id="rId7"/>
              </a:rPr>
              <a:t>variables.html</a:t>
            </a:r>
            <a:endParaRPr lang="en-US" dirty="0" smtClean="0"/>
          </a:p>
          <a:p>
            <a:r>
              <a:rPr lang="en-US" dirty="0">
                <a:hlinkClick r:id="rId8"/>
              </a:rPr>
              <a:t>https://</a:t>
            </a:r>
            <a:r>
              <a:rPr lang="en-US" dirty="0" err="1" smtClean="0">
                <a:hlinkClick r:id="rId8"/>
              </a:rPr>
              <a:t>docs.oracle.com</a:t>
            </a:r>
            <a:r>
              <a:rPr lang="en-US" dirty="0" smtClean="0">
                <a:hlinkClick r:id="rId8"/>
              </a:rPr>
              <a:t>/</a:t>
            </a:r>
            <a:r>
              <a:rPr lang="en-US" dirty="0" err="1" smtClean="0">
                <a:hlinkClick r:id="rId8"/>
              </a:rPr>
              <a:t>javase</a:t>
            </a:r>
            <a:r>
              <a:rPr lang="en-US" dirty="0" smtClean="0">
                <a:hlinkClick r:id="rId8"/>
              </a:rPr>
              <a:t>/tutorial/java/</a:t>
            </a:r>
            <a:r>
              <a:rPr lang="en-US" dirty="0" err="1" smtClean="0">
                <a:hlinkClick r:id="rId8"/>
              </a:rPr>
              <a:t>javaOO</a:t>
            </a:r>
            <a:r>
              <a:rPr lang="en-US" dirty="0" smtClean="0">
                <a:hlinkClick r:id="rId8"/>
              </a:rPr>
              <a:t>/</a:t>
            </a:r>
            <a:r>
              <a:rPr lang="en-US" dirty="0" err="1" smtClean="0">
                <a:hlinkClick r:id="rId8"/>
              </a:rPr>
              <a:t>classdecl.html</a:t>
            </a:r>
            <a:endParaRPr lang="en-US" dirty="0" smtClean="0"/>
          </a:p>
          <a:p>
            <a:r>
              <a:rPr lang="en-US" dirty="0">
                <a:hlinkClick r:id="rId9"/>
              </a:rPr>
              <a:t>https://</a:t>
            </a:r>
            <a:r>
              <a:rPr lang="en-US" dirty="0" err="1">
                <a:hlinkClick r:id="rId9"/>
              </a:rPr>
              <a:t>blog.miyozinc.com</a:t>
            </a:r>
            <a:r>
              <a:rPr lang="en-US" dirty="0">
                <a:hlinkClick r:id="rId9"/>
              </a:rPr>
              <a:t>/java/class-and-object-in-java</a:t>
            </a:r>
            <a:r>
              <a:rPr lang="en-US" dirty="0" smtClean="0">
                <a:hlinkClick r:id="rId9"/>
              </a:rPr>
              <a:t>/</a:t>
            </a:r>
            <a:endParaRPr lang="en-US" dirty="0" smtClean="0"/>
          </a:p>
          <a:p>
            <a:r>
              <a:rPr lang="en-US" dirty="0">
                <a:hlinkClick r:id="rId10"/>
              </a:rPr>
              <a:t>https://</a:t>
            </a:r>
            <a:r>
              <a:rPr lang="en-US" dirty="0" err="1">
                <a:hlinkClick r:id="rId10"/>
              </a:rPr>
              <a:t>www.baeldung.com</a:t>
            </a:r>
            <a:r>
              <a:rPr lang="en-US" dirty="0">
                <a:hlinkClick r:id="rId10"/>
              </a:rPr>
              <a:t>/java-classes-objects</a:t>
            </a:r>
            <a:endParaRPr lang="en-US" dirty="0" smtClean="0"/>
          </a:p>
        </p:txBody>
      </p:sp>
      <p:sp>
        <p:nvSpPr>
          <p:cNvPr id="4" name="Date Placeholder 3">
            <a:extLst>
              <a:ext uri="{FF2B5EF4-FFF2-40B4-BE49-F238E27FC236}">
                <a16:creationId xmlns="" xmlns:a16="http://schemas.microsoft.com/office/drawing/2014/main" id="{291E8C4B-4E8D-F64F-BE3C-62B56F17ACA1}"/>
              </a:ext>
            </a:extLst>
          </p:cNvPr>
          <p:cNvSpPr>
            <a:spLocks noGrp="1"/>
          </p:cNvSpPr>
          <p:nvPr>
            <p:ph type="dt" sz="half" idx="10"/>
          </p:nvPr>
        </p:nvSpPr>
        <p:spPr/>
        <p:txBody>
          <a:bodyPr/>
          <a:lstStyle/>
          <a:p>
            <a:r>
              <a:rPr lang="en-US"/>
              <a:t>© VTCA</a:t>
            </a:r>
            <a:endParaRPr lang="en-US" dirty="0"/>
          </a:p>
        </p:txBody>
      </p:sp>
      <p:sp>
        <p:nvSpPr>
          <p:cNvPr id="5" name="Footer Placeholder 4">
            <a:extLst>
              <a:ext uri="{FF2B5EF4-FFF2-40B4-BE49-F238E27FC236}">
                <a16:creationId xmlns="" xmlns:a16="http://schemas.microsoft.com/office/drawing/2014/main" id="{65422569-5ADE-0445-9723-785B8D5A14D9}"/>
              </a:ext>
            </a:extLst>
          </p:cNvPr>
          <p:cNvSpPr>
            <a:spLocks noGrp="1"/>
          </p:cNvSpPr>
          <p:nvPr>
            <p:ph type="ftr" sz="quarter" idx="11"/>
          </p:nvPr>
        </p:nvSpPr>
        <p:spPr/>
        <p:txBody>
          <a:bodyPr/>
          <a:lstStyle/>
          <a:p>
            <a:r>
              <a:rPr lang="en-US" dirty="0"/>
              <a:t>Introduction to Programming</a:t>
            </a:r>
          </a:p>
        </p:txBody>
      </p:sp>
      <p:sp>
        <p:nvSpPr>
          <p:cNvPr id="6" name="Slide Number Placeholder 5">
            <a:extLst>
              <a:ext uri="{FF2B5EF4-FFF2-40B4-BE49-F238E27FC236}">
                <a16:creationId xmlns="" xmlns:a16="http://schemas.microsoft.com/office/drawing/2014/main" id="{1CC4D354-512F-CC4A-B39A-EDEC6E17F71C}"/>
              </a:ext>
            </a:extLst>
          </p:cNvPr>
          <p:cNvSpPr>
            <a:spLocks noGrp="1"/>
          </p:cNvSpPr>
          <p:nvPr>
            <p:ph type="sldNum" sz="quarter" idx="12"/>
          </p:nvPr>
        </p:nvSpPr>
        <p:spPr/>
        <p:txBody>
          <a:bodyPr/>
          <a:lstStyle/>
          <a:p>
            <a:fld id="{B9BA5F68-B450-774B-A94B-86322AF8B758}" type="slidenum">
              <a:rPr lang="en-US" smtClean="0"/>
              <a:t>22</a:t>
            </a:fld>
            <a:endParaRPr lang="en-US" dirty="0"/>
          </a:p>
        </p:txBody>
      </p:sp>
    </p:spTree>
    <p:extLst>
      <p:ext uri="{BB962C8B-B14F-4D97-AF65-F5344CB8AC3E}">
        <p14:creationId xmlns:p14="http://schemas.microsoft.com/office/powerpoint/2010/main" val="228262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0B37BB8C-BA62-BC4F-B0F8-D5F9321E2E79}"/>
              </a:ext>
            </a:extLst>
          </p:cNvPr>
          <p:cNvPicPr>
            <a:picLocks noChangeAspect="1"/>
          </p:cNvPicPr>
          <p:nvPr/>
        </p:nvPicPr>
        <p:blipFill>
          <a:blip r:embed="rId2"/>
          <a:stretch>
            <a:fillRect/>
          </a:stretch>
        </p:blipFill>
        <p:spPr>
          <a:xfrm>
            <a:off x="4440837" y="1888320"/>
            <a:ext cx="3310326" cy="3528808"/>
          </a:xfrm>
          <a:prstGeom prst="rect">
            <a:avLst/>
          </a:prstGeom>
        </p:spPr>
      </p:pic>
    </p:spTree>
    <p:extLst>
      <p:ext uri="{BB962C8B-B14F-4D97-AF65-F5344CB8AC3E}">
        <p14:creationId xmlns:p14="http://schemas.microsoft.com/office/powerpoint/2010/main" val="47562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TCA-Slide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VTCA-SlideTheme" id="{5A24C4A4-58B6-8948-A62B-40090020C92E}" vid="{BD9F6502-1B8F-D14C-8309-CDC4C42FF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8546</TotalTime>
  <Words>2208</Words>
  <Application>Microsoft Office PowerPoint</Application>
  <PresentationFormat>Custom</PresentationFormat>
  <Paragraphs>406</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VTCA-SlideTheme</vt:lpstr>
      <vt:lpstr>Introduction to Programming</vt:lpstr>
      <vt:lpstr>Objectives</vt:lpstr>
      <vt:lpstr>What are Classes and Objects?</vt:lpstr>
      <vt:lpstr>What are Classes and Objects?</vt:lpstr>
      <vt:lpstr>Classes in Java</vt:lpstr>
      <vt:lpstr>Define a class in Java</vt:lpstr>
      <vt:lpstr>Declaring Objects</vt:lpstr>
      <vt:lpstr>How to access members?</vt:lpstr>
      <vt:lpstr>Example</vt:lpstr>
      <vt:lpstr>Example</vt:lpstr>
      <vt:lpstr>Constructors in Java</vt:lpstr>
      <vt:lpstr>Constructors in Java</vt:lpstr>
      <vt:lpstr>Constructors in Java</vt:lpstr>
      <vt:lpstr>Constructors in Java</vt:lpstr>
      <vt:lpstr>Difference between constructor and method in Java</vt:lpstr>
      <vt:lpstr>This keyword</vt:lpstr>
      <vt:lpstr>This keyword</vt:lpstr>
      <vt:lpstr>This keyword</vt:lpstr>
      <vt:lpstr>This keyword</vt:lpstr>
      <vt:lpstr>Example</vt:lpstr>
      <vt:lpstr>Example</vt:lpstr>
      <vt:lpstr>References</vt:lpstr>
      <vt:lpstr>PowerPoint Presentation</vt:lpstr>
    </vt:vector>
  </TitlesOfParts>
  <Company>VTC Academy</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 hình đào tạo đáp ứng nhu cầu doanh nghiệp</dc:title>
  <dc:creator>hieutd@vtc.edu.vn</dc:creator>
  <cp:lastModifiedBy>Vitinh TT2</cp:lastModifiedBy>
  <cp:revision>817</cp:revision>
  <dcterms:created xsi:type="dcterms:W3CDTF">2019-05-17T12:57:33Z</dcterms:created>
  <dcterms:modified xsi:type="dcterms:W3CDTF">2019-11-14T14:01:37Z</dcterms:modified>
</cp:coreProperties>
</file>