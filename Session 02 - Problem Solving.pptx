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7" r:id="rId1"/>
  </p:sldMasterIdLst>
  <p:notesMasterIdLst>
    <p:notesMasterId r:id="rId29"/>
  </p:notesMasterIdLst>
  <p:sldIdLst>
    <p:sldId id="282" r:id="rId2"/>
    <p:sldId id="285" r:id="rId3"/>
    <p:sldId id="295" r:id="rId4"/>
    <p:sldId id="313" r:id="rId5"/>
    <p:sldId id="289" r:id="rId6"/>
    <p:sldId id="296" r:id="rId7"/>
    <p:sldId id="314" r:id="rId8"/>
    <p:sldId id="297" r:id="rId9"/>
    <p:sldId id="291" r:id="rId10"/>
    <p:sldId id="315" r:id="rId11"/>
    <p:sldId id="292" r:id="rId12"/>
    <p:sldId id="293" r:id="rId13"/>
    <p:sldId id="299" r:id="rId14"/>
    <p:sldId id="323" r:id="rId15"/>
    <p:sldId id="300" r:id="rId16"/>
    <p:sldId id="324" r:id="rId17"/>
    <p:sldId id="325" r:id="rId18"/>
    <p:sldId id="322" r:id="rId19"/>
    <p:sldId id="326" r:id="rId20"/>
    <p:sldId id="316" r:id="rId21"/>
    <p:sldId id="317" r:id="rId22"/>
    <p:sldId id="318" r:id="rId23"/>
    <p:sldId id="319" r:id="rId24"/>
    <p:sldId id="320" r:id="rId25"/>
    <p:sldId id="321" r:id="rId26"/>
    <p:sldId id="294" r:id="rId27"/>
    <p:sldId id="26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E5DA"/>
    <a:srgbClr val="244478"/>
    <a:srgbClr val="2B62B9"/>
    <a:srgbClr val="EF5452"/>
    <a:srgbClr val="F8C528"/>
    <a:srgbClr val="C09A24"/>
    <a:srgbClr val="068A85"/>
    <a:srgbClr val="99C272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61"/>
    <p:restoredTop sz="92514" autoAdjust="0"/>
  </p:normalViewPr>
  <p:slideViewPr>
    <p:cSldViewPr snapToGrid="0" snapToObjects="1">
      <p:cViewPr varScale="1">
        <p:scale>
          <a:sx n="67" d="100"/>
          <a:sy n="67" d="100"/>
        </p:scale>
        <p:origin x="84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DC2CD-8613-D146-8518-AC99D946DF95}" type="datetimeFigureOut">
              <a:rPr lang="en-US" smtClean="0"/>
              <a:t>29/12/2020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C4CF9-69BC-034A-86DA-E1DADC6FA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15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gradFill flip="none" rotWithShape="1">
          <a:gsLst>
            <a:gs pos="0">
              <a:srgbClr val="002060"/>
            </a:gs>
            <a:gs pos="91000">
              <a:schemeClr val="accent1">
                <a:lumMod val="89000"/>
              </a:schemeClr>
            </a:gs>
            <a:gs pos="85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C37A9-8C23-6B4F-88B3-AB73D61B7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775AE-BCE3-4B41-8ADB-E632DB8D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092D3-1A80-C841-BE0C-FB3B2449E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948AB-0BEE-7E40-BCE4-2360F70E6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03C7E-8755-DA48-8510-BD952A823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8C6B40-493E-D545-8618-31916324F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278924"/>
            <a:ext cx="4600575" cy="84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0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2816-FC3E-3244-B2EB-CEB70C88E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301"/>
            <a:ext cx="10515600" cy="66357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58429-6D80-3644-9565-0A158FEB6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057"/>
            <a:ext cx="10515600" cy="5128439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60295-D28D-5342-864C-DFD74E3BF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382488" cy="365125"/>
          </a:xfrm>
        </p:spPr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84FDE-39E1-CC43-ADEC-A2E40B807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5514" y="6356350"/>
            <a:ext cx="7489686" cy="365125"/>
          </a:xfrm>
        </p:spPr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BCC03-BB7B-8F4A-BDC0-0497BB61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00340" y="6356350"/>
            <a:ext cx="1353459" cy="365125"/>
          </a:xfrm>
        </p:spPr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78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87CA-DEB8-1246-A8A0-FC212DE45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34C65-DEA5-8F4A-A14B-0DF1A1E68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B5CC9-D24D-8D45-94E1-B8A6F082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4028"/>
            <a:ext cx="1367971" cy="365125"/>
          </a:xfrm>
        </p:spPr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43B7A-936C-F047-BD4A-CCBB3D41F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EEBFE-C4A6-0541-B16A-380D3EAAB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14856" y="6356350"/>
            <a:ext cx="1338943" cy="365125"/>
          </a:xfrm>
        </p:spPr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1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6102A-A1F7-3842-AAEA-F5C7311EA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042"/>
            <a:ext cx="10515600" cy="635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251E2-F43C-F64D-B993-CE6609ED1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92429"/>
            <a:ext cx="5181600" cy="5084534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4EDDE-EE3F-8F4B-9C7A-83E040645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92429"/>
            <a:ext cx="5181600" cy="5084534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15ADE-643D-314B-865E-D1A74E171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66CD4-6B44-554D-8C3E-1CC265FA5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5A39C-E79D-054D-AA55-AE55FBA2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FA0EE-3CC4-5243-A94C-6FACDA7F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63527"/>
            <a:ext cx="10515600" cy="6635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30389-7090-CD40-BEBF-0637D2031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9788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BABA1-0B0C-5D41-BD03-AF3497DBF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21796"/>
            <a:ext cx="5157787" cy="4167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3744A-9292-8949-A87C-3B6979EA7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119788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ADD4A-DB10-FB4A-A9BA-9D3DB500D4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21796"/>
            <a:ext cx="5183188" cy="4167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B58B35-25F2-6941-BC63-14140DB15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4CB44E-6D22-DC48-8A79-8CC24323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AC1E52-5D18-5A4D-B7CC-7DB931B3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9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8F28-5514-3C4F-8F16-87F0D27BF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861-35A6-C04A-AF18-0494795E5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A6BF7-1B35-7B45-8465-DA95BDF4F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ECE7A-5E3E-FA41-A2CF-2170043C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9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12E6E-C79E-5B49-9FDF-F6705D37C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BB082-60EA-F742-971F-16B6DC7F2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3344" y="987425"/>
            <a:ext cx="6408867" cy="52101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DA2A8-A776-FA4A-A5B2-6088AA8A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140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C5211-987C-0E4C-8A65-096CAF941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C83AD-025F-B541-9368-2FEDDC6B1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98FAB-9E39-4442-B432-009E972C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7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CED7-2E22-7046-B671-644D9867C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637231-3259-8148-A59B-BCA49EE18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52035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3E8CD-A682-AC45-B9C3-5CB187372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1335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DDB3D-EBBA-E54E-957D-18F54AC5A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68683-9DAF-2949-BB77-A0BA807B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31D61-53FD-B847-BC95-73B6763A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83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D9D8-CC86-7E4D-A036-7F666D58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D8279-4EB5-1B4C-AC96-6DA0B332F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71BE1-3E91-AC49-9604-441E4DD3A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F1837-E4C0-A34F-B38C-CBF0D65B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05FF2-DF89-7143-8050-5F1B7B5C5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1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6845-31B4-A14F-BE09-5BC74684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53081-AC87-8048-8BE9-CB8C3F24F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87348-DA5D-AE48-989D-AC1F04AC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211B5-930B-3C46-87F0-174D78E0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4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6845-31B4-A14F-BE09-5BC74684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53081-AC87-8048-8BE9-CB8C3F24F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87348-DA5D-AE48-989D-AC1F04AC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Subject Name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211B5-930B-3C46-87F0-174D78E0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7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4C0672D-63A5-7F4F-996A-A49C94A186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7315" y="345287"/>
            <a:ext cx="12192000" cy="47548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C1233-5907-7143-8A9A-729AB9D4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955"/>
            <a:ext cx="10515600" cy="677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E4728-1E09-A64F-9A06-2F96BC71F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55881"/>
            <a:ext cx="10515600" cy="5141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4233A-AE14-694A-BB8D-3E28E47EE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0"/>
            <a:ext cx="14115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VTC Academy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08028-B976-7C44-A1F6-F7265A554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65828" y="6356350"/>
            <a:ext cx="74893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6F93A-8372-7749-B2E4-1B714A6CC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5828" y="6356350"/>
            <a:ext cx="13679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A5F68-B450-774B-A94B-86322AF8B75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02E568-18E6-9A43-8CDC-1DF38DFF6BB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87694" y="306094"/>
            <a:ext cx="3116019" cy="57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0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206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lowchart" TargetMode="External"/><Relationship Id="rId2" Type="http://schemas.openxmlformats.org/officeDocument/2006/relationships/hyperlink" Target="https://en.wikipedia.org/wiki/Algorith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fundamentals-of-algorithms/" TargetMode="External"/><Relationship Id="rId4" Type="http://schemas.openxmlformats.org/officeDocument/2006/relationships/hyperlink" Target="https://10tin2k11.clan.su/news/thu_t_toan_va_cach_bieu_di_n_thu_t_toan/2011-08-19-19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D9EB45-1C59-C541-92E7-6FE421F290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A0CEDCB-5CE2-1B41-9D8B-CA0EB9D3BB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Session 02 </a:t>
            </a:r>
          </a:p>
          <a:p>
            <a:r>
              <a:rPr lang="en-US" sz="3600" dirty="0"/>
              <a:t>Problem Solving</a:t>
            </a:r>
          </a:p>
        </p:txBody>
      </p:sp>
    </p:spTree>
    <p:extLst>
      <p:ext uri="{BB962C8B-B14F-4D97-AF65-F5344CB8AC3E}">
        <p14:creationId xmlns:p14="http://schemas.microsoft.com/office/powerpoint/2010/main" val="285421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Problem solving</a:t>
            </a:r>
          </a:p>
          <a:p>
            <a:r>
              <a:rPr lang="en-US" sz="3200" dirty="0"/>
              <a:t>Introduction to Algorithms</a:t>
            </a:r>
          </a:p>
          <a:p>
            <a:r>
              <a:rPr lang="en-US" sz="3200" dirty="0"/>
              <a:t>Flowchart</a:t>
            </a:r>
          </a:p>
          <a:p>
            <a:r>
              <a:rPr lang="en-US" sz="3200" dirty="0"/>
              <a:t>Practice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68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Problem solving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Content Placeholder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331" y="951006"/>
            <a:ext cx="8529145" cy="5411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326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Problem solving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869950"/>
            <a:ext cx="85344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589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Not simply programming</a:t>
            </a:r>
          </a:p>
          <a:p>
            <a:pPr algn="just"/>
            <a:r>
              <a:rPr lang="en-US" sz="3200" dirty="0"/>
              <a:t>Complex, including many stages of development</a:t>
            </a:r>
          </a:p>
          <a:p>
            <a:pPr algn="just"/>
            <a:r>
              <a:rPr lang="en-US" sz="3200" dirty="0"/>
              <a:t>Important stages</a:t>
            </a:r>
          </a:p>
          <a:p>
            <a:pPr lvl="1" algn="just"/>
            <a:r>
              <a:rPr lang="en-US" sz="2800" dirty="0"/>
              <a:t>Step 1. Determine problem requirements</a:t>
            </a:r>
          </a:p>
          <a:p>
            <a:pPr lvl="1" algn="just"/>
            <a:r>
              <a:rPr lang="en-US" sz="2800" dirty="0"/>
              <a:t>Step 2. Analyze and design the problem</a:t>
            </a:r>
          </a:p>
          <a:p>
            <a:pPr lvl="2" algn="just"/>
            <a:r>
              <a:rPr lang="en-US" sz="2400" dirty="0"/>
              <a:t>Select solution (algorithm)</a:t>
            </a:r>
          </a:p>
          <a:p>
            <a:pPr lvl="2" algn="just"/>
            <a:r>
              <a:rPr lang="en-US" sz="2400" dirty="0"/>
              <a:t>Algorithm construction</a:t>
            </a:r>
          </a:p>
          <a:p>
            <a:pPr lvl="1" algn="just"/>
            <a:r>
              <a:rPr lang="en-US" sz="2800" dirty="0"/>
              <a:t>Step 3. Programming</a:t>
            </a:r>
          </a:p>
          <a:p>
            <a:pPr lvl="1" algn="just"/>
            <a:r>
              <a:rPr lang="en-US" sz="2800" dirty="0"/>
              <a:t>Step 4. Test and adjust the program</a:t>
            </a:r>
          </a:p>
          <a:p>
            <a:pPr lvl="1" algn="just"/>
            <a:r>
              <a:rPr lang="en-US" sz="2800" dirty="0"/>
              <a:t>Step 5. Deployment and maintenance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62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74057"/>
            <a:ext cx="6429704" cy="5128439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An algorithm, also known as an algorithm, is a finite set of rules or sequences of strict rules of instructions or a sequence of operations to solve a problem and provide a result (output) from a set of input data (input).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284" y="933014"/>
            <a:ext cx="3048000" cy="550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5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200" dirty="0"/>
              <a:t>An algorithm must ensure the properties:</a:t>
            </a:r>
          </a:p>
          <a:p>
            <a:pPr lvl="1" algn="just"/>
            <a:r>
              <a:rPr lang="en-US" sz="2800" dirty="0"/>
              <a:t>Accuracy: to ensure the calculation results or operations performed by the computer are accurate.</a:t>
            </a:r>
          </a:p>
          <a:p>
            <a:pPr lvl="1" algn="just"/>
            <a:r>
              <a:rPr lang="en-US" sz="2800" dirty="0"/>
              <a:t>Transparency: The algorithm must be expressed by transparent statements; The statements are arranged in a certain order.</a:t>
            </a:r>
          </a:p>
          <a:p>
            <a:pPr lvl="1" algn="just"/>
            <a:r>
              <a:rPr lang="en-US" sz="2800" dirty="0"/>
              <a:t>Objectivity: An algorithm, although written by many people on many computers, still has to produce the same result.</a:t>
            </a:r>
          </a:p>
          <a:p>
            <a:pPr lvl="1" algn="just"/>
            <a:r>
              <a:rPr lang="en-US" sz="2800" dirty="0"/>
              <a:t>Universality: An algorithm not only applies to a certain problem, but also to a class of problems with similar inputs.</a:t>
            </a:r>
          </a:p>
          <a:p>
            <a:pPr lvl="1" algn="just"/>
            <a:r>
              <a:rPr lang="en-US" sz="2800" dirty="0"/>
              <a:t>End calculation: The algorithm must consist of a finite number of calculation steps.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39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Describe an algorithm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1: Natural language</a:t>
            </a:r>
          </a:p>
          <a:p>
            <a:r>
              <a:rPr lang="en-US" dirty="0"/>
              <a:t>Method 2: Languages flowchart (flowchart diagram)</a:t>
            </a:r>
          </a:p>
          <a:p>
            <a:r>
              <a:rPr lang="en-US" dirty="0"/>
              <a:t>Method 3: </a:t>
            </a:r>
            <a:r>
              <a:rPr lang="en-US" dirty="0" err="1"/>
              <a:t>Pseudocode</a:t>
            </a:r>
            <a:r>
              <a:rPr lang="en-US" dirty="0"/>
              <a:t> is called a </a:t>
            </a:r>
            <a:r>
              <a:rPr lang="en-US" dirty="0" err="1"/>
              <a:t>PDL</a:t>
            </a:r>
            <a:r>
              <a:rPr lang="en-US" dirty="0"/>
              <a:t> (Programming Description Language) programming language.</a:t>
            </a:r>
          </a:p>
          <a:p>
            <a:r>
              <a:rPr lang="en-US" dirty="0"/>
              <a:t>Method 4: Programming languages like Pascal, C / C ++ or Java. However, it is not necessary to use the proper notation of those languages, which can remove some constraints.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65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Natural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>
                <a:latin typeface="Calibri (Body)"/>
              </a:rPr>
              <a:t>For example, the algorithm to solve the first order P (x): ax + b = c, (a, b, c are real numbers), the algorithm represents in natural language as follows:</a:t>
            </a:r>
          </a:p>
          <a:p>
            <a:pPr algn="just"/>
            <a:r>
              <a:rPr lang="en-US" sz="3200" dirty="0">
                <a:latin typeface="Calibri (Body)"/>
              </a:rPr>
              <a:t>If a = 0</a:t>
            </a:r>
          </a:p>
          <a:p>
            <a:pPr lvl="1" algn="just"/>
            <a:r>
              <a:rPr lang="en-US" dirty="0">
                <a:latin typeface="Calibri (Body)"/>
              </a:rPr>
              <a:t>b = c, then P (x) has any solution</a:t>
            </a:r>
          </a:p>
          <a:p>
            <a:pPr lvl="1" algn="just"/>
            <a:r>
              <a:rPr lang="en-US" dirty="0">
                <a:latin typeface="Calibri (Body)"/>
              </a:rPr>
              <a:t>b ≠ c then P (c) has no solution</a:t>
            </a:r>
          </a:p>
          <a:p>
            <a:pPr algn="just"/>
            <a:r>
              <a:rPr lang="en-US" sz="3200" dirty="0">
                <a:latin typeface="Calibri (Body)"/>
              </a:rPr>
              <a:t>If a ≠ 0</a:t>
            </a:r>
          </a:p>
          <a:p>
            <a:pPr lvl="1" algn="just"/>
            <a:r>
              <a:rPr lang="en-US" dirty="0">
                <a:latin typeface="Calibri (Body)"/>
              </a:rPr>
              <a:t>P (x) has only one solution x = (c - b) / a</a:t>
            </a:r>
            <a:endParaRPr lang="vi-VN" sz="2400" dirty="0">
              <a:latin typeface="Calibri (Body)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62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Natural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>
                <a:latin typeface="Calibri (Body)"/>
              </a:rPr>
              <a:t>Use a natural language to list the steps of the algorithm</a:t>
            </a:r>
          </a:p>
          <a:p>
            <a:pPr algn="just"/>
            <a:r>
              <a:rPr lang="en-US" sz="3200" dirty="0">
                <a:latin typeface="Calibri (Body)"/>
              </a:rPr>
              <a:t>Advantages</a:t>
            </a:r>
          </a:p>
          <a:p>
            <a:pPr lvl="1" algn="just"/>
            <a:r>
              <a:rPr lang="en-US" dirty="0">
                <a:latin typeface="Calibri (Body)"/>
              </a:rPr>
              <a:t>Simple</a:t>
            </a:r>
          </a:p>
          <a:p>
            <a:pPr lvl="1" algn="just"/>
            <a:r>
              <a:rPr lang="en-US" dirty="0">
                <a:latin typeface="Calibri (Body)"/>
              </a:rPr>
              <a:t>Does not require writers and readers to have a basic knowledge</a:t>
            </a:r>
          </a:p>
          <a:p>
            <a:pPr algn="just"/>
            <a:r>
              <a:rPr lang="en-US" sz="3200" dirty="0">
                <a:latin typeface="Calibri (Body)"/>
              </a:rPr>
              <a:t>Defect</a:t>
            </a:r>
          </a:p>
          <a:p>
            <a:pPr lvl="1" algn="just"/>
            <a:r>
              <a:rPr lang="en-US" dirty="0">
                <a:latin typeface="Calibri (Body)"/>
              </a:rPr>
              <a:t>Lengthy</a:t>
            </a:r>
          </a:p>
          <a:p>
            <a:pPr lvl="1" algn="just"/>
            <a:r>
              <a:rPr lang="en-US" dirty="0">
                <a:latin typeface="Calibri (Body)"/>
              </a:rPr>
              <a:t>Does not highlight the structure of the algorithm</a:t>
            </a:r>
          </a:p>
          <a:p>
            <a:pPr lvl="1" algn="just"/>
            <a:r>
              <a:rPr lang="en-US" dirty="0">
                <a:latin typeface="Calibri (Body)"/>
              </a:rPr>
              <a:t>Difficult to perform with complex math problems</a:t>
            </a:r>
            <a:endParaRPr lang="vi-VN" sz="2000" dirty="0">
              <a:latin typeface="Calibri (Body)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0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74057"/>
            <a:ext cx="5720255" cy="5128439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A flowchart is a type of diagram that represents a workflow or process. A flowchart can also be defined as a diagrammatic representation of an algorithm, a step-by-step approach to solving a task.</a:t>
            </a: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11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56" y="926876"/>
            <a:ext cx="4536984" cy="5384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262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Flowchart symbols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Content Placeholder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93" y="926876"/>
            <a:ext cx="10515437" cy="5411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262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Sequence Construct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074057"/>
            <a:ext cx="4348654" cy="5128439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The steps are done in a linear sequence, one step after another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74057"/>
            <a:ext cx="2701552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347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Sequence Construct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074057"/>
            <a:ext cx="4348654" cy="5128439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Example: input and display sum of two numbers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14</a:t>
            </a:fld>
            <a:endParaRPr lang="en-US" dirty="0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33038" y="1067477"/>
            <a:ext cx="4235315" cy="5039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838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If Construct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If the conditional expression is true (the truth value is True) perform job 1.</a:t>
            </a:r>
          </a:p>
          <a:p>
            <a:pPr algn="just"/>
            <a:r>
              <a:rPr lang="en-US" sz="3200" dirty="0"/>
              <a:t>If the conditional expression is false (the truth value is False) does job 2.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3429000"/>
            <a:ext cx="7086600" cy="2816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347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If Construct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057"/>
            <a:ext cx="5382888" cy="5128439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Example 1: input a number and check if it is an even number.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16</a:t>
            </a:fld>
            <a:endParaRPr lang="en-US" dirty="0"/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088" y="1074057"/>
            <a:ext cx="4447949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154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If Construct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057"/>
            <a:ext cx="4159469" cy="5128439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Example 2: input a number and check if it is an even or  a odd number.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17</a:t>
            </a:fld>
            <a:endParaRPr lang="en-US" dirty="0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334" y="1074057"/>
            <a:ext cx="6172200" cy="522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266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Loop Construct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When the expression is still true, executing the job (check the condition first)</a:t>
            </a:r>
          </a:p>
          <a:p>
            <a:pPr algn="just"/>
            <a:r>
              <a:rPr lang="en-US" sz="3200" dirty="0"/>
              <a:t>Executing the job when the expression is still true (check the condition after 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18</a:t>
            </a:fld>
            <a:endParaRPr lang="en-US" dirty="0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0" y="3193716"/>
            <a:ext cx="6819900" cy="300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344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Loop Construct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057"/>
            <a:ext cx="5073869" cy="5128439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Example: display to the screen with 10 lines “</a:t>
            </a:r>
            <a:r>
              <a:rPr lang="en-US" sz="3200" dirty="0" err="1"/>
              <a:t>VTC</a:t>
            </a:r>
            <a:r>
              <a:rPr lang="en-US" sz="3200" dirty="0"/>
              <a:t> Academy”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19</a:t>
            </a:fld>
            <a:endParaRPr lang="en-US" dirty="0"/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852" y="888397"/>
            <a:ext cx="4878182" cy="5270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761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Advantages</a:t>
            </a:r>
          </a:p>
          <a:p>
            <a:pPr lvl="1" algn="just"/>
            <a:r>
              <a:rPr lang="en-US" dirty="0"/>
              <a:t>Intuitive, easy to understand, easy to design</a:t>
            </a:r>
          </a:p>
          <a:p>
            <a:pPr lvl="1" algn="just"/>
            <a:r>
              <a:rPr lang="en-US" dirty="0"/>
              <a:t>Provides overview, algorithm overview</a:t>
            </a:r>
          </a:p>
          <a:p>
            <a:pPr algn="just"/>
            <a:r>
              <a:rPr lang="en-US" sz="3200" dirty="0"/>
              <a:t>Defect</a:t>
            </a:r>
          </a:p>
          <a:p>
            <a:pPr lvl="1" algn="just"/>
            <a:r>
              <a:rPr lang="en-US" dirty="0"/>
              <a:t>Bulky</a:t>
            </a:r>
          </a:p>
          <a:p>
            <a:pPr lvl="1" algn="just"/>
            <a:r>
              <a:rPr lang="en-US" dirty="0"/>
              <a:t>Difficult to perform with complex problems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84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Problem: Make conclusions about the correlation of two numbers a and b (&gt;, &lt;or =).</a:t>
            </a:r>
          </a:p>
          <a:p>
            <a:pPr algn="just"/>
            <a:r>
              <a:rPr lang="en-US" sz="3200" dirty="0"/>
              <a:t>Input: Two numbers a and b</a:t>
            </a:r>
          </a:p>
          <a:p>
            <a:pPr algn="just"/>
            <a:r>
              <a:rPr lang="en-US" sz="3200" dirty="0"/>
              <a:t>Output: Conclusion a&gt; b or a &lt;b or a = b.</a:t>
            </a:r>
          </a:p>
          <a:p>
            <a:pPr algn="just"/>
            <a:r>
              <a:rPr lang="en-US" sz="3200" dirty="0"/>
              <a:t>Algorithm:</a:t>
            </a:r>
          </a:p>
          <a:p>
            <a:pPr lvl="1" algn="just"/>
            <a:r>
              <a:rPr lang="en-US" dirty="0" err="1"/>
              <a:t>S1</a:t>
            </a:r>
            <a:r>
              <a:rPr lang="en-US" dirty="0"/>
              <a:t>: Enter the number a and number b.</a:t>
            </a:r>
          </a:p>
          <a:p>
            <a:pPr lvl="1" algn="just"/>
            <a:r>
              <a:rPr lang="en-US" dirty="0" err="1"/>
              <a:t>S2</a:t>
            </a:r>
            <a:r>
              <a:rPr lang="en-US" dirty="0"/>
              <a:t>: If a&gt; b, display "a&gt; b". Finish, Reverse to </a:t>
            </a:r>
            <a:r>
              <a:rPr lang="en-US" dirty="0" err="1"/>
              <a:t>S3</a:t>
            </a:r>
            <a:r>
              <a:rPr lang="en-US" dirty="0"/>
              <a:t>.</a:t>
            </a:r>
          </a:p>
          <a:p>
            <a:pPr lvl="1" algn="just"/>
            <a:r>
              <a:rPr lang="en-US" dirty="0" err="1"/>
              <a:t>S3</a:t>
            </a:r>
            <a:r>
              <a:rPr lang="en-US" dirty="0"/>
              <a:t>: If a = b, display "a = b". Finish, on the contrary, display "a &lt;b".</a:t>
            </a:r>
          </a:p>
          <a:p>
            <a:pPr lvl="1" algn="just"/>
            <a:r>
              <a:rPr lang="en-US" dirty="0" err="1"/>
              <a:t>S4</a:t>
            </a:r>
            <a:r>
              <a:rPr lang="en-US" dirty="0"/>
              <a:t>: Finish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88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sz="3200" dirty="0"/>
              <a:t>Problem: Find the maximum value of an integer sequence of N numbers</a:t>
            </a:r>
          </a:p>
          <a:p>
            <a:pPr algn="just"/>
            <a:r>
              <a:rPr lang="en-US" sz="3200" dirty="0"/>
              <a:t>Input: positive integers N and N integers </a:t>
            </a:r>
            <a:r>
              <a:rPr lang="en-US" sz="3200" dirty="0" err="1"/>
              <a:t>a1</a:t>
            </a:r>
            <a:r>
              <a:rPr lang="en-US" sz="3200" dirty="0"/>
              <a:t>, </a:t>
            </a:r>
            <a:r>
              <a:rPr lang="en-US" sz="3200" dirty="0" err="1"/>
              <a:t>a2</a:t>
            </a:r>
            <a:r>
              <a:rPr lang="en-US" sz="3200" dirty="0"/>
              <a:t>, ..., </a:t>
            </a:r>
            <a:r>
              <a:rPr lang="en-US" sz="3200" dirty="0" err="1"/>
              <a:t>aN</a:t>
            </a:r>
            <a:endParaRPr lang="en-US" sz="3200" dirty="0"/>
          </a:p>
          <a:p>
            <a:pPr algn="just"/>
            <a:r>
              <a:rPr lang="en-US" sz="3200" dirty="0"/>
              <a:t>Output: largest integer of the range</a:t>
            </a:r>
          </a:p>
          <a:p>
            <a:pPr algn="just"/>
            <a:r>
              <a:rPr lang="en-US" sz="3200" dirty="0"/>
              <a:t>Idea:</a:t>
            </a:r>
          </a:p>
          <a:p>
            <a:pPr lvl="1" algn="just"/>
            <a:r>
              <a:rPr lang="en-US" dirty="0"/>
              <a:t>Initialize value Max = </a:t>
            </a:r>
            <a:r>
              <a:rPr lang="en-US" dirty="0" err="1"/>
              <a:t>a1</a:t>
            </a:r>
            <a:endParaRPr lang="en-US" dirty="0"/>
          </a:p>
          <a:p>
            <a:pPr lvl="1" algn="just"/>
            <a:r>
              <a:rPr lang="en-US" dirty="0"/>
              <a:t>Compare Max with anyone in turn with i = 2,3, ..., N; </a:t>
            </a:r>
          </a:p>
          <a:p>
            <a:pPr lvl="2" algn="just"/>
            <a:r>
              <a:rPr lang="en-US" dirty="0"/>
              <a:t>if </a:t>
            </a:r>
            <a:r>
              <a:rPr lang="en-US" dirty="0" err="1"/>
              <a:t>ai</a:t>
            </a:r>
            <a:r>
              <a:rPr lang="en-US" dirty="0"/>
              <a:t> &gt; Max we assign </a:t>
            </a:r>
            <a:r>
              <a:rPr lang="en-US" dirty="0" err="1"/>
              <a:t>ai</a:t>
            </a:r>
            <a:r>
              <a:rPr lang="en-US" dirty="0"/>
              <a:t> new value to Max</a:t>
            </a:r>
          </a:p>
          <a:p>
            <a:pPr algn="just"/>
            <a:r>
              <a:rPr lang="en-US" dirty="0"/>
              <a:t>Algorithm:</a:t>
            </a:r>
          </a:p>
          <a:p>
            <a:pPr lvl="1" algn="just"/>
            <a:r>
              <a:rPr lang="en-US" dirty="0" err="1"/>
              <a:t>S1</a:t>
            </a:r>
            <a:r>
              <a:rPr lang="en-US" dirty="0"/>
              <a:t>: Enter n and the sequence number </a:t>
            </a:r>
            <a:r>
              <a:rPr lang="en-US" dirty="0" err="1"/>
              <a:t>a0</a:t>
            </a:r>
            <a:r>
              <a:rPr lang="en-US" dirty="0"/>
              <a:t>, </a:t>
            </a:r>
            <a:r>
              <a:rPr lang="en-US" dirty="0" err="1"/>
              <a:t>a1</a:t>
            </a:r>
            <a:r>
              <a:rPr lang="en-US" dirty="0"/>
              <a:t>, </a:t>
            </a:r>
            <a:r>
              <a:rPr lang="en-US" dirty="0" err="1"/>
              <a:t>a2</a:t>
            </a:r>
            <a:r>
              <a:rPr lang="en-US" dirty="0"/>
              <a:t>, ..., an-1.</a:t>
            </a:r>
          </a:p>
          <a:p>
            <a:pPr lvl="1" algn="just"/>
            <a:r>
              <a:rPr lang="en-US" dirty="0" err="1"/>
              <a:t>S2</a:t>
            </a:r>
            <a:r>
              <a:rPr lang="en-US" dirty="0"/>
              <a:t>: Max = </a:t>
            </a:r>
            <a:r>
              <a:rPr lang="en-US" dirty="0" err="1"/>
              <a:t>a0</a:t>
            </a:r>
            <a:r>
              <a:rPr lang="en-US" dirty="0"/>
              <a:t>; i = 1 (index of the next element).</a:t>
            </a:r>
          </a:p>
          <a:p>
            <a:pPr lvl="1" algn="just"/>
            <a:r>
              <a:rPr lang="en-US" dirty="0" err="1"/>
              <a:t>S3</a:t>
            </a:r>
            <a:r>
              <a:rPr lang="en-US" dirty="0"/>
              <a:t>: If i &lt;= n-1, go to </a:t>
            </a:r>
            <a:r>
              <a:rPr lang="en-US" dirty="0" err="1"/>
              <a:t>S4</a:t>
            </a:r>
            <a:r>
              <a:rPr lang="en-US" dirty="0"/>
              <a:t>, otherwise print the Max value. End.</a:t>
            </a:r>
          </a:p>
          <a:p>
            <a:pPr lvl="1" algn="just"/>
            <a:r>
              <a:rPr lang="en-US" dirty="0" err="1"/>
              <a:t>S4</a:t>
            </a:r>
            <a:r>
              <a:rPr lang="en-US" dirty="0"/>
              <a:t>: If </a:t>
            </a:r>
            <a:r>
              <a:rPr lang="en-US" dirty="0" err="1"/>
              <a:t>ai</a:t>
            </a:r>
            <a:r>
              <a:rPr lang="en-US" dirty="0"/>
              <a:t>&gt; Max, Max = </a:t>
            </a:r>
            <a:r>
              <a:rPr lang="en-US" dirty="0" err="1"/>
              <a:t>ai</a:t>
            </a:r>
            <a:endParaRPr lang="en-US" dirty="0"/>
          </a:p>
          <a:p>
            <a:pPr lvl="1" algn="just"/>
            <a:r>
              <a:rPr lang="en-US" dirty="0" err="1"/>
              <a:t>S5</a:t>
            </a:r>
            <a:r>
              <a:rPr lang="en-US" dirty="0"/>
              <a:t>: Increase i = i+  1. Jump to </a:t>
            </a:r>
            <a:r>
              <a:rPr lang="en-US" dirty="0" err="1"/>
              <a:t>S3</a:t>
            </a:r>
            <a:r>
              <a:rPr lang="en-US" dirty="0"/>
              <a:t>.</a:t>
            </a:r>
          </a:p>
          <a:p>
            <a:pPr lvl="1" algn="just"/>
            <a:r>
              <a:rPr lang="en-US" dirty="0" err="1"/>
              <a:t>S6</a:t>
            </a:r>
            <a:r>
              <a:rPr lang="en-US" dirty="0"/>
              <a:t>: Finish.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53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Prime number problem: Given a positive integer p. How do you know if p is a prime number or not?</a:t>
            </a:r>
          </a:p>
          <a:p>
            <a:pPr algn="just"/>
            <a:r>
              <a:rPr lang="en-US" sz="3200" dirty="0"/>
              <a:t>Input: p is positive integers</a:t>
            </a:r>
          </a:p>
          <a:p>
            <a:pPr algn="just"/>
            <a:r>
              <a:rPr lang="en-US" sz="3200" dirty="0"/>
              <a:t>Output: the conclusion about the prime of p</a:t>
            </a:r>
          </a:p>
          <a:p>
            <a:pPr algn="just"/>
            <a:r>
              <a:rPr lang="en-US" sz="3200" dirty="0"/>
              <a:t>Idea:</a:t>
            </a:r>
          </a:p>
          <a:p>
            <a:pPr lvl="1" algn="just"/>
            <a:r>
              <a:rPr lang="en-US" dirty="0"/>
              <a:t>p = 0 or 1? =&gt; Not a prime number</a:t>
            </a:r>
          </a:p>
          <a:p>
            <a:pPr lvl="1" algn="just"/>
            <a:r>
              <a:rPr lang="en-US" dirty="0"/>
              <a:t>p&gt; 1?</a:t>
            </a:r>
          </a:p>
          <a:p>
            <a:pPr lvl="1" algn="just"/>
            <a:r>
              <a:rPr lang="en-US" dirty="0"/>
              <a:t>Checks from 2 to p-1 is a divisor of p</a:t>
            </a:r>
          </a:p>
          <a:p>
            <a:pPr lvl="1" algn="just"/>
            <a:r>
              <a:rPr lang="en-US" dirty="0"/>
              <a:t>If yes then conclude p is not prime, otherwise there is no prime then conclude p is prime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47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sz="3200" dirty="0"/>
              <a:t>The problem of Finding greatest common divisor and least common multiple of two numbers.</a:t>
            </a:r>
          </a:p>
          <a:p>
            <a:pPr algn="just"/>
            <a:r>
              <a:rPr lang="en-US" sz="3200" dirty="0"/>
              <a:t>Input: 2 integers a &amp; b</a:t>
            </a:r>
          </a:p>
          <a:p>
            <a:pPr algn="just"/>
            <a:r>
              <a:rPr lang="en-US" sz="3200" dirty="0"/>
              <a:t>Output: </a:t>
            </a:r>
            <a:r>
              <a:rPr lang="en-US" sz="3200" dirty="0" err="1"/>
              <a:t>UCLN</a:t>
            </a:r>
            <a:r>
              <a:rPr lang="en-US" sz="3200" dirty="0"/>
              <a:t>, </a:t>
            </a:r>
            <a:r>
              <a:rPr lang="en-US" sz="3200" dirty="0" err="1"/>
              <a:t>BCNN</a:t>
            </a:r>
            <a:r>
              <a:rPr lang="en-US" sz="3200" dirty="0"/>
              <a:t> results of a &amp; b</a:t>
            </a:r>
          </a:p>
          <a:p>
            <a:pPr algn="just"/>
            <a:r>
              <a:rPr lang="en-US" sz="3200" dirty="0"/>
              <a:t>Idea</a:t>
            </a:r>
          </a:p>
          <a:p>
            <a:pPr lvl="1" algn="just"/>
            <a:r>
              <a:rPr lang="en-US" dirty="0" err="1"/>
              <a:t>S1</a:t>
            </a:r>
            <a:r>
              <a:rPr lang="en-US" dirty="0"/>
              <a:t>: Enter 2 numbers a, b</a:t>
            </a:r>
          </a:p>
          <a:p>
            <a:pPr lvl="1" algn="just"/>
            <a:r>
              <a:rPr lang="en-US" dirty="0" err="1"/>
              <a:t>S2</a:t>
            </a:r>
            <a:r>
              <a:rPr lang="en-US" dirty="0"/>
              <a:t>: x = a, y = b</a:t>
            </a:r>
          </a:p>
          <a:p>
            <a:pPr lvl="1" algn="just"/>
            <a:r>
              <a:rPr lang="en-US" dirty="0" err="1"/>
              <a:t>S3</a:t>
            </a:r>
            <a:r>
              <a:rPr lang="en-US" dirty="0"/>
              <a:t>: If y ≠ 0, go to </a:t>
            </a:r>
            <a:r>
              <a:rPr lang="en-US" dirty="0" err="1"/>
              <a:t>S4</a:t>
            </a:r>
            <a:r>
              <a:rPr lang="en-US" dirty="0"/>
              <a:t>, Conversely, </a:t>
            </a:r>
            <a:r>
              <a:rPr lang="en-US" dirty="0" err="1"/>
              <a:t>UCLN</a:t>
            </a:r>
            <a:r>
              <a:rPr lang="en-US" dirty="0"/>
              <a:t> = x, </a:t>
            </a:r>
            <a:r>
              <a:rPr lang="en-US" dirty="0" err="1"/>
              <a:t>BCNN</a:t>
            </a:r>
            <a:r>
              <a:rPr lang="en-US" dirty="0"/>
              <a:t> = (a * b) / </a:t>
            </a:r>
            <a:r>
              <a:rPr lang="en-US" dirty="0" err="1"/>
              <a:t>UCLN</a:t>
            </a:r>
            <a:r>
              <a:rPr lang="en-US" dirty="0"/>
              <a:t>. Showing </a:t>
            </a:r>
            <a:r>
              <a:rPr lang="en-US" dirty="0" err="1"/>
              <a:t>UCLN</a:t>
            </a:r>
            <a:r>
              <a:rPr lang="en-US" dirty="0"/>
              <a:t>, </a:t>
            </a:r>
            <a:r>
              <a:rPr lang="en-US" dirty="0" err="1"/>
              <a:t>BCNN</a:t>
            </a:r>
            <a:r>
              <a:rPr lang="en-US" dirty="0"/>
              <a:t>. End</a:t>
            </a:r>
          </a:p>
          <a:p>
            <a:pPr lvl="1" algn="just"/>
            <a:r>
              <a:rPr lang="en-US" dirty="0" err="1"/>
              <a:t>S4</a:t>
            </a:r>
            <a:r>
              <a:rPr lang="en-US" dirty="0"/>
              <a:t>:</a:t>
            </a:r>
          </a:p>
          <a:p>
            <a:pPr lvl="2" algn="just"/>
            <a:r>
              <a:rPr lang="en-US" dirty="0"/>
              <a:t>r = (x mod y)</a:t>
            </a:r>
          </a:p>
          <a:p>
            <a:pPr lvl="2" algn="just"/>
            <a:r>
              <a:rPr lang="en-US" dirty="0"/>
              <a:t>x = y</a:t>
            </a:r>
          </a:p>
          <a:p>
            <a:pPr lvl="2" algn="just"/>
            <a:r>
              <a:rPr lang="en-US" dirty="0"/>
              <a:t>y = r</a:t>
            </a:r>
          </a:p>
          <a:p>
            <a:pPr lvl="2" algn="just"/>
            <a:r>
              <a:rPr lang="en-US" dirty="0"/>
              <a:t>Back to </a:t>
            </a:r>
            <a:r>
              <a:rPr lang="en-US" dirty="0" err="1"/>
              <a:t>S3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2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Exercises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Problem 1: Find all divisors of a positive integer N</a:t>
            </a:r>
          </a:p>
          <a:p>
            <a:pPr algn="just"/>
            <a:r>
              <a:rPr lang="en-US" dirty="0"/>
              <a:t>Problem 2: Find all odd divisors of a positive integer N</a:t>
            </a:r>
          </a:p>
          <a:p>
            <a:pPr algn="just"/>
            <a:r>
              <a:rPr lang="en-US" dirty="0"/>
              <a:t>Problem 3: Check the perfection of positive integers N.</a:t>
            </a:r>
          </a:p>
          <a:p>
            <a:pPr algn="just"/>
            <a:r>
              <a:rPr lang="en-US" dirty="0"/>
              <a:t>Problem 4: Show all perfect numbers in paragraph [1,10000].</a:t>
            </a:r>
          </a:p>
          <a:p>
            <a:pPr algn="just"/>
            <a:r>
              <a:rPr lang="en-US" dirty="0"/>
              <a:t>Problem 5: Find the N Fibonacci number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278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F5C-4F30-CE40-A40F-5A13C8C2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9EEA-748E-1B4D-9BA2-2ADAA2FBB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en.wikipedia.org</a:t>
            </a:r>
            <a:r>
              <a:rPr lang="en-US" dirty="0">
                <a:hlinkClick r:id="rId2"/>
              </a:rPr>
              <a:t>/wiki/Algorithm</a:t>
            </a: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en.wikipedia.org</a:t>
            </a:r>
            <a:r>
              <a:rPr lang="en-US" dirty="0">
                <a:hlinkClick r:id="rId3"/>
              </a:rPr>
              <a:t>/wiki/Flowchart</a:t>
            </a:r>
            <a:endParaRPr lang="en-US" dirty="0"/>
          </a:p>
          <a:p>
            <a:r>
              <a:rPr lang="en-US" dirty="0">
                <a:hlinkClick r:id="rId4"/>
              </a:rPr>
              <a:t>https://</a:t>
            </a:r>
            <a:r>
              <a:rPr lang="en-US" dirty="0" err="1">
                <a:hlinkClick r:id="rId4"/>
              </a:rPr>
              <a:t>10tin2k11.clan.su</a:t>
            </a:r>
            <a:r>
              <a:rPr lang="en-US" dirty="0">
                <a:hlinkClick r:id="rId4"/>
              </a:rPr>
              <a:t>/news/</a:t>
            </a:r>
            <a:r>
              <a:rPr lang="en-US" dirty="0" err="1">
                <a:hlinkClick r:id="rId4"/>
              </a:rPr>
              <a:t>thu_t_toan_va_cach_bieu_di_n_thu_t_toan</a:t>
            </a:r>
            <a:r>
              <a:rPr lang="en-US" dirty="0">
                <a:hlinkClick r:id="rId4"/>
              </a:rPr>
              <a:t>/2011-08-19-19</a:t>
            </a:r>
            <a:endParaRPr lang="en-US" dirty="0"/>
          </a:p>
          <a:p>
            <a:r>
              <a:rPr lang="en-US" dirty="0">
                <a:hlinkClick r:id="rId5"/>
              </a:rPr>
              <a:t>https://</a:t>
            </a:r>
            <a:r>
              <a:rPr lang="en-US" dirty="0" err="1">
                <a:hlinkClick r:id="rId5"/>
              </a:rPr>
              <a:t>www.geeksforgeeks.org</a:t>
            </a:r>
            <a:r>
              <a:rPr lang="en-US">
                <a:hlinkClick r:id="rId5"/>
              </a:rPr>
              <a:t>/fundamentals-of-algorithms/</a:t>
            </a:r>
            <a:endParaRPr lang="en-US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8C4B-4E8D-F64F-BE3C-62B56F17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VTCA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2569-5ADE-0445-9723-785B8D5A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D354-512F-CC4A-B39A-EDEC6E17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A5F68-B450-774B-A94B-86322AF8B758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62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37BB8C-BA62-BC4F-B0F8-D5F9321E2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837" y="1888320"/>
            <a:ext cx="3310326" cy="35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2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TCA-Slide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TCA-SlideTheme" id="{5A24C4A4-58B6-8948-A62B-40090020C92E}" vid="{BD9F6502-1B8F-D14C-8309-CDC4C42FFF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7016</TotalTime>
  <Words>1341</Words>
  <Application>Microsoft Office PowerPoint</Application>
  <PresentationFormat>Widescreen</PresentationFormat>
  <Paragraphs>209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(Body)</vt:lpstr>
      <vt:lpstr>Calibri Light</vt:lpstr>
      <vt:lpstr>VTCA-SlideTheme</vt:lpstr>
      <vt:lpstr>Introduction to Programming</vt:lpstr>
      <vt:lpstr>Objectives</vt:lpstr>
      <vt:lpstr>Problem solving</vt:lpstr>
      <vt:lpstr>Problem solving</vt:lpstr>
      <vt:lpstr>Problem solving</vt:lpstr>
      <vt:lpstr>Algorithms</vt:lpstr>
      <vt:lpstr>Algorithms</vt:lpstr>
      <vt:lpstr>Describe an algorithm  </vt:lpstr>
      <vt:lpstr>Natural language</vt:lpstr>
      <vt:lpstr>Natural language</vt:lpstr>
      <vt:lpstr>Flowchart</vt:lpstr>
      <vt:lpstr>Flowchart symbols</vt:lpstr>
      <vt:lpstr>Sequence Construct</vt:lpstr>
      <vt:lpstr>Sequence Construct</vt:lpstr>
      <vt:lpstr>If Construct</vt:lpstr>
      <vt:lpstr>If Construct</vt:lpstr>
      <vt:lpstr>If Construct</vt:lpstr>
      <vt:lpstr>Loop Construct</vt:lpstr>
      <vt:lpstr>Loop Construct</vt:lpstr>
      <vt:lpstr>Flowchart</vt:lpstr>
      <vt:lpstr>Examples</vt:lpstr>
      <vt:lpstr>Examples</vt:lpstr>
      <vt:lpstr>Examples</vt:lpstr>
      <vt:lpstr>Examples</vt:lpstr>
      <vt:lpstr>Exercises </vt:lpstr>
      <vt:lpstr>References</vt:lpstr>
      <vt:lpstr>PowerPoint Presentation</vt:lpstr>
    </vt:vector>
  </TitlesOfParts>
  <Company>VTC Academy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Mô hình đào tạo đáp ứng nhu cầu doanh nghiệp</dc:title>
  <dc:creator>hieutd@vtc.edu.vn</dc:creator>
  <cp:lastModifiedBy>Nguyễn Trọng Tiến</cp:lastModifiedBy>
  <cp:revision>396</cp:revision>
  <dcterms:created xsi:type="dcterms:W3CDTF">2019-05-17T12:57:33Z</dcterms:created>
  <dcterms:modified xsi:type="dcterms:W3CDTF">2020-12-29T08:20:39Z</dcterms:modified>
</cp:coreProperties>
</file>