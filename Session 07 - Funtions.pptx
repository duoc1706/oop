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30"/>
  </p:notesMasterIdLst>
  <p:sldIdLst>
    <p:sldId id="282" r:id="rId2"/>
    <p:sldId id="285" r:id="rId3"/>
    <p:sldId id="297" r:id="rId4"/>
    <p:sldId id="359" r:id="rId5"/>
    <p:sldId id="358" r:id="rId6"/>
    <p:sldId id="321" r:id="rId7"/>
    <p:sldId id="325" r:id="rId8"/>
    <p:sldId id="337" r:id="rId9"/>
    <p:sldId id="338" r:id="rId10"/>
    <p:sldId id="345" r:id="rId11"/>
    <p:sldId id="339" r:id="rId12"/>
    <p:sldId id="340" r:id="rId13"/>
    <p:sldId id="346" r:id="rId14"/>
    <p:sldId id="347" r:id="rId15"/>
    <p:sldId id="348" r:id="rId16"/>
    <p:sldId id="344" r:id="rId17"/>
    <p:sldId id="361" r:id="rId18"/>
    <p:sldId id="360" r:id="rId19"/>
    <p:sldId id="349" r:id="rId20"/>
    <p:sldId id="351" r:id="rId21"/>
    <p:sldId id="352" r:id="rId22"/>
    <p:sldId id="350" r:id="rId23"/>
    <p:sldId id="353" r:id="rId24"/>
    <p:sldId id="355" r:id="rId25"/>
    <p:sldId id="356" r:id="rId26"/>
    <p:sldId id="357" r:id="rId27"/>
    <p:sldId id="294" r:id="rId28"/>
    <p:sldId id="26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2514" autoAdjust="0"/>
  </p:normalViewPr>
  <p:slideViewPr>
    <p:cSldViewPr snapToGrid="0" snapToObjects="1">
      <p:cViewPr>
        <p:scale>
          <a:sx n="66" d="100"/>
          <a:sy n="66" d="100"/>
        </p:scale>
        <p:origin x="-888" y="-14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13/11/2019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xmlns=""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xmlns=""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xmlns=""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xmlns=""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xmlns=""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xmlns=""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xmlns=""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xmlns=""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xmlns=""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xmlns=""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xmlns=""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xmlns=""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xmlns=""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programiz.com/java-programming/keywords-identifiers#identifier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www.geeksforgeeks.org/variable-scope-in-java/" TargetMode="External"/><Relationship Id="rId3" Type="http://schemas.openxmlformats.org/officeDocument/2006/relationships/hyperlink" Target="https://www.tutorialspoint.com/java/java_methods.htm" TargetMode="External"/><Relationship Id="rId7" Type="http://schemas.openxmlformats.org/officeDocument/2006/relationships/hyperlink" Target="https://www.w3schools.com/java/java_methods.asp" TargetMode="External"/><Relationship Id="rId2" Type="http://schemas.openxmlformats.org/officeDocument/2006/relationships/hyperlink" Target="https://www.programiz.com/java-programming/methods" TargetMode="External"/><Relationship Id="rId1" Type="http://schemas.openxmlformats.org/officeDocument/2006/relationships/slideLayout" Target="../slideLayouts/slideLayout2.xml"/><Relationship Id="rId6" Type="http://schemas.openxmlformats.org/officeDocument/2006/relationships/hyperlink" Target="https://www.geeksforgeeks.org/function-interface-in-java-with-examples/" TargetMode="External"/><Relationship Id="rId5" Type="http://schemas.openxmlformats.org/officeDocument/2006/relationships/hyperlink" Target="http://mrbool.com/functions-in-java-introduction-and-practical-examples/22194" TargetMode="External"/><Relationship Id="rId10" Type="http://schemas.openxmlformats.org/officeDocument/2006/relationships/hyperlink" Target="https://gpcoder.com/1790-bien-trong-java/" TargetMode="External"/><Relationship Id="rId4" Type="http://schemas.openxmlformats.org/officeDocument/2006/relationships/hyperlink" Target="https://data-flair.training/blogs/java-method/" TargetMode="External"/><Relationship Id="rId9" Type="http://schemas.openxmlformats.org/officeDocument/2006/relationships/hyperlink" Target="http://ecomputernotes.com/java/data-type-variable-and-array/scope-of-a-variable"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a16="http://schemas.microsoft.com/office/drawing/2014/main" xmlns="" id="{DA0CEDCB-5CE2-1B41-9D8B-CA0EB9D3BBD7}"/>
              </a:ext>
            </a:extLst>
          </p:cNvPr>
          <p:cNvSpPr>
            <a:spLocks noGrp="1"/>
          </p:cNvSpPr>
          <p:nvPr>
            <p:ph type="subTitle" idx="1"/>
          </p:nvPr>
        </p:nvSpPr>
        <p:spPr/>
        <p:txBody>
          <a:bodyPr>
            <a:normAutofit/>
          </a:bodyPr>
          <a:lstStyle/>
          <a:p>
            <a:r>
              <a:rPr lang="en-US" sz="3600" dirty="0"/>
              <a:t>Session </a:t>
            </a:r>
            <a:r>
              <a:rPr lang="en-US" sz="3600" dirty="0" smtClean="0"/>
              <a:t>07</a:t>
            </a:r>
          </a:p>
          <a:p>
            <a:r>
              <a:rPr lang="en-US" sz="3600" dirty="0" smtClean="0"/>
              <a:t>Functions in Java</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r>
              <a:rPr lang="en-US" sz="3200" dirty="0" smtClean="0"/>
              <a:t>Top-Down Design </a:t>
            </a:r>
          </a:p>
          <a:p>
            <a:r>
              <a:rPr lang="en-US" sz="3200" dirty="0" smtClean="0"/>
              <a:t>What is a function?</a:t>
            </a:r>
          </a:p>
          <a:p>
            <a:r>
              <a:rPr lang="en-US" sz="3200" dirty="0" smtClean="0"/>
              <a:t>Functions in Java</a:t>
            </a:r>
          </a:p>
          <a:p>
            <a:r>
              <a:rPr lang="en-US" sz="3200" dirty="0"/>
              <a:t>Types of Java </a:t>
            </a:r>
            <a:r>
              <a:rPr lang="en-US" sz="3200" dirty="0" smtClean="0"/>
              <a:t>functions</a:t>
            </a:r>
          </a:p>
          <a:p>
            <a:r>
              <a:rPr lang="en-US" sz="3200" dirty="0"/>
              <a:t>Standard Library </a:t>
            </a:r>
            <a:r>
              <a:rPr lang="en-US" sz="3200" dirty="0" smtClean="0"/>
              <a:t>functions</a:t>
            </a:r>
          </a:p>
          <a:p>
            <a:r>
              <a:rPr lang="en-US" sz="3200" dirty="0"/>
              <a:t>User-defined </a:t>
            </a:r>
            <a:r>
              <a:rPr lang="en-US" sz="3200" dirty="0" smtClean="0"/>
              <a:t>Method</a:t>
            </a:r>
          </a:p>
          <a:p>
            <a:r>
              <a:rPr lang="en-US" sz="3200" dirty="0"/>
              <a:t>Overloading</a:t>
            </a:r>
            <a:endParaRPr lang="en-US" sz="3200" dirty="0" smtClean="0"/>
          </a:p>
          <a:p>
            <a:r>
              <a:rPr lang="en-US" sz="3200" dirty="0"/>
              <a:t>The scope of the variable in </a:t>
            </a:r>
            <a:r>
              <a:rPr lang="en-US" sz="3200" dirty="0" smtClean="0"/>
              <a:t>java</a:t>
            </a:r>
          </a:p>
          <a:p>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Top-Down Design </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92500" lnSpcReduction="10000"/>
          </a:bodyPr>
          <a:lstStyle/>
          <a:p>
            <a:pPr algn="just" fontAlgn="base"/>
            <a:r>
              <a:rPr lang="en-US" sz="3200" dirty="0" smtClean="0"/>
              <a:t>A top-down approach (also known as stepwise design) is essentially the breaking down of a system to gain insight into the sub-system that make it up.</a:t>
            </a:r>
          </a:p>
          <a:p>
            <a:pPr algn="just" fontAlgn="base"/>
            <a:r>
              <a:rPr lang="en-US" sz="3200" dirty="0"/>
              <a:t>A top-down </a:t>
            </a:r>
            <a:r>
              <a:rPr lang="en-US" sz="3200" dirty="0" smtClean="0"/>
              <a:t>approach an overview of the system is formulated specifying but not detailing any first-level subsystems.</a:t>
            </a:r>
          </a:p>
          <a:p>
            <a:pPr algn="just" fontAlgn="base"/>
            <a:r>
              <a:rPr lang="en-US" sz="3200" dirty="0" smtClean="0"/>
              <a:t>Each subsystems  is then refined in yet greater detail, sometimes in many additional subsystems levels, until the entire specification is reduced to base elements.</a:t>
            </a:r>
          </a:p>
          <a:p>
            <a:pPr algn="just" fontAlgn="base"/>
            <a:r>
              <a:rPr lang="en-US" sz="3200" dirty="0" smtClean="0"/>
              <a:t>Once these base  elements are recognized then we can build these as computer modules.</a:t>
            </a:r>
          </a:p>
          <a:p>
            <a:pPr algn="just" fontAlgn="base"/>
            <a:r>
              <a:rPr lang="en-US" sz="3200" dirty="0" smtClean="0"/>
              <a:t>Once they are built we put them together, making the entire system from these individual components.</a:t>
            </a:r>
          </a:p>
          <a:p>
            <a:pPr algn="just" fontAlgn="base"/>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Top-Down Design </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688" y="856346"/>
            <a:ext cx="7968342" cy="5587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1134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What is a function?</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3766075"/>
          </a:xfrm>
        </p:spPr>
        <p:txBody>
          <a:bodyPr>
            <a:normAutofit fontScale="92500" lnSpcReduction="20000"/>
          </a:bodyPr>
          <a:lstStyle/>
          <a:p>
            <a:pPr algn="just" fontAlgn="base"/>
            <a:r>
              <a:rPr lang="en-US" sz="3200" dirty="0" smtClean="0"/>
              <a:t>In </a:t>
            </a:r>
            <a:r>
              <a:rPr lang="en-US" sz="3200" dirty="0"/>
              <a:t>mathematics, you might have studied about functions. For example, f(x) = </a:t>
            </a:r>
            <a:r>
              <a:rPr lang="en-US" sz="3200" dirty="0" err="1"/>
              <a:t>x</a:t>
            </a:r>
            <a:r>
              <a:rPr lang="en-US" sz="3200" baseline="30000" dirty="0" err="1"/>
              <a:t>2</a:t>
            </a:r>
            <a:r>
              <a:rPr lang="en-US" sz="3200" dirty="0"/>
              <a:t> is a function that returns squared value of x</a:t>
            </a:r>
            <a:r>
              <a:rPr lang="en-US" sz="3200" dirty="0" smtClean="0"/>
              <a:t>.</a:t>
            </a:r>
            <a:endParaRPr lang="en-US" sz="3200" dirty="0"/>
          </a:p>
          <a:p>
            <a:pPr lvl="1" algn="just" fontAlgn="base"/>
            <a:r>
              <a:rPr lang="en-US" dirty="0"/>
              <a:t>If x = 2, then f(2) = 4</a:t>
            </a:r>
          </a:p>
          <a:p>
            <a:pPr lvl="1" algn="just" fontAlgn="base"/>
            <a:r>
              <a:rPr lang="en-US" dirty="0"/>
              <a:t>If x = 3, f(3) = 9</a:t>
            </a:r>
          </a:p>
          <a:p>
            <a:pPr lvl="1" algn="just" fontAlgn="base"/>
            <a:r>
              <a:rPr lang="en-US" dirty="0" smtClean="0"/>
              <a:t>….</a:t>
            </a:r>
            <a:endParaRPr lang="en-US" dirty="0"/>
          </a:p>
          <a:p>
            <a:pPr algn="just" fontAlgn="base"/>
            <a:r>
              <a:rPr lang="en-US" sz="3200" dirty="0"/>
              <a:t>Similarly, in programming, a function is a block of code that performs a specific task</a:t>
            </a:r>
            <a:r>
              <a:rPr lang="en-US" sz="3200" dirty="0" smtClean="0"/>
              <a:t>.</a:t>
            </a:r>
            <a:endParaRPr lang="en-US" sz="3200" dirty="0"/>
          </a:p>
          <a:p>
            <a:pPr algn="just" fontAlgn="base"/>
            <a:r>
              <a:rPr lang="en-US" sz="3200" dirty="0"/>
              <a:t>In object-oriented programming, method is a jargon used for function. Methods are bound to a class and they define the behavior of a class.</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spTree>
    <p:extLst>
      <p:ext uri="{BB962C8B-B14F-4D97-AF65-F5344CB8AC3E}">
        <p14:creationId xmlns:p14="http://schemas.microsoft.com/office/powerpoint/2010/main" val="36550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Functions </a:t>
            </a:r>
            <a:r>
              <a:rPr lang="en-US" sz="3200" dirty="0"/>
              <a:t>in Java</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lnSpcReduction="10000"/>
          </a:bodyPr>
          <a:lstStyle/>
          <a:p>
            <a:pPr algn="just"/>
            <a:r>
              <a:rPr lang="en-US" sz="3200" dirty="0"/>
              <a:t>A </a:t>
            </a:r>
            <a:r>
              <a:rPr lang="en-US" sz="3200" dirty="0" smtClean="0"/>
              <a:t>function is </a:t>
            </a:r>
            <a:r>
              <a:rPr lang="en-US" sz="3200" dirty="0"/>
              <a:t>a block of code which only runs when it is called</a:t>
            </a:r>
            <a:r>
              <a:rPr lang="en-US" sz="3200" dirty="0" smtClean="0"/>
              <a:t>.</a:t>
            </a:r>
            <a:endParaRPr lang="en-US" sz="3200" dirty="0"/>
          </a:p>
          <a:p>
            <a:pPr algn="just"/>
            <a:r>
              <a:rPr lang="en-US" sz="3200" dirty="0"/>
              <a:t>You can pass data, known as parameters, into a method</a:t>
            </a:r>
            <a:r>
              <a:rPr lang="en-US" sz="3200" dirty="0" smtClean="0"/>
              <a:t>.</a:t>
            </a:r>
            <a:endParaRPr lang="en-US" sz="3200" dirty="0"/>
          </a:p>
          <a:p>
            <a:pPr algn="just"/>
            <a:r>
              <a:rPr lang="en-US" sz="3200" dirty="0" smtClean="0"/>
              <a:t>Functions are </a:t>
            </a:r>
            <a:r>
              <a:rPr lang="en-US" sz="3200" dirty="0"/>
              <a:t>used to perform certain actions, and they are also known as functions</a:t>
            </a:r>
            <a:r>
              <a:rPr lang="en-US" sz="3200" dirty="0" smtClean="0"/>
              <a:t>.</a:t>
            </a:r>
            <a:endParaRPr lang="en-US" sz="3200" dirty="0"/>
          </a:p>
          <a:p>
            <a:pPr algn="just"/>
            <a:r>
              <a:rPr lang="en-US" dirty="0" smtClean="0"/>
              <a:t>The </a:t>
            </a:r>
            <a:r>
              <a:rPr lang="en-US" dirty="0"/>
              <a:t>advantages of using </a:t>
            </a:r>
            <a:r>
              <a:rPr lang="en-US" dirty="0" smtClean="0"/>
              <a:t>functions?</a:t>
            </a:r>
            <a:endParaRPr lang="en-US" dirty="0"/>
          </a:p>
          <a:p>
            <a:pPr lvl="1" algn="just"/>
            <a:r>
              <a:rPr lang="en-US" dirty="0"/>
              <a:t>The main advantage is code reusability. You can write a </a:t>
            </a:r>
            <a:r>
              <a:rPr lang="en-US" dirty="0" err="1" smtClean="0"/>
              <a:t>functiononce</a:t>
            </a:r>
            <a:r>
              <a:rPr lang="en-US" dirty="0"/>
              <a:t>, and use it multiple times. You do not have to rewrite the entire code each time. Think of it as, "write once, reuse multiple times."</a:t>
            </a:r>
          </a:p>
          <a:p>
            <a:pPr lvl="1" algn="just"/>
            <a:r>
              <a:rPr lang="en-US" dirty="0" smtClean="0"/>
              <a:t>Functions make </a:t>
            </a:r>
            <a:r>
              <a:rPr lang="en-US" dirty="0"/>
              <a:t>code more readable and easier to debug. For example, </a:t>
            </a:r>
            <a:r>
              <a:rPr lang="en-US" dirty="0" err="1"/>
              <a:t>getSalaryInformation</a:t>
            </a:r>
            <a:r>
              <a:rPr lang="en-US" dirty="0"/>
              <a:t>() method is so readable, that we can know what this method will be doing than actually reading the lines of code that make this method.</a:t>
            </a:r>
            <a:endParaRPr lang="en-US" dirty="0" smtClean="0"/>
          </a:p>
        </p:txBody>
      </p:sp>
    </p:spTree>
    <p:extLst>
      <p:ext uri="{BB962C8B-B14F-4D97-AF65-F5344CB8AC3E}">
        <p14:creationId xmlns:p14="http://schemas.microsoft.com/office/powerpoint/2010/main" val="9789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Types of Java functions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a:bodyPr>
          <a:lstStyle/>
          <a:p>
            <a:pPr algn="just"/>
            <a:r>
              <a:rPr lang="en-US" sz="3200" dirty="0"/>
              <a:t>Depending on whether a </a:t>
            </a:r>
            <a:r>
              <a:rPr lang="en-US" sz="3200" dirty="0" smtClean="0"/>
              <a:t>function is </a:t>
            </a:r>
            <a:r>
              <a:rPr lang="en-US" sz="3200" dirty="0"/>
              <a:t>defined by the user, or available in standard library, there are two types of </a:t>
            </a:r>
            <a:r>
              <a:rPr lang="en-US" sz="3200" dirty="0" smtClean="0"/>
              <a:t>functions:</a:t>
            </a:r>
            <a:endParaRPr lang="en-US" sz="3200" dirty="0"/>
          </a:p>
          <a:p>
            <a:pPr lvl="1" algn="just"/>
            <a:r>
              <a:rPr lang="en-US" dirty="0"/>
              <a:t>Standard Library </a:t>
            </a:r>
            <a:r>
              <a:rPr lang="en-US" dirty="0" smtClean="0"/>
              <a:t>Methods	</a:t>
            </a:r>
            <a:endParaRPr lang="en-US" dirty="0"/>
          </a:p>
          <a:p>
            <a:pPr lvl="1" algn="just"/>
            <a:r>
              <a:rPr lang="en-US" dirty="0"/>
              <a:t>User-defined Methods</a:t>
            </a:r>
          </a:p>
        </p:txBody>
      </p:sp>
    </p:spTree>
    <p:extLst>
      <p:ext uri="{BB962C8B-B14F-4D97-AF65-F5344CB8AC3E}">
        <p14:creationId xmlns:p14="http://schemas.microsoft.com/office/powerpoint/2010/main" val="314513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Standard Library </a:t>
            </a:r>
            <a:r>
              <a:rPr lang="en-US" sz="3200" dirty="0" smtClean="0"/>
              <a:t>Functions</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92500" lnSpcReduction="10000"/>
          </a:bodyPr>
          <a:lstStyle/>
          <a:p>
            <a:pPr algn="just"/>
            <a:r>
              <a:rPr lang="en-US" sz="3200" dirty="0"/>
              <a:t>The standard library </a:t>
            </a:r>
            <a:r>
              <a:rPr lang="en-US" sz="3200" dirty="0" smtClean="0"/>
              <a:t>functions </a:t>
            </a:r>
            <a:r>
              <a:rPr lang="en-US" sz="3200" dirty="0"/>
              <a:t>are built-in </a:t>
            </a:r>
            <a:r>
              <a:rPr lang="en-US" sz="3200" dirty="0" smtClean="0"/>
              <a:t>s </a:t>
            </a:r>
            <a:r>
              <a:rPr lang="en-US" sz="3200" dirty="0"/>
              <a:t>in Java that are readily available for use. These standard libraries come along with the Java Class Library (JCL) in a Java archive (*.jar) file with </a:t>
            </a:r>
            <a:r>
              <a:rPr lang="en-US" sz="3200" dirty="0" err="1"/>
              <a:t>JVM</a:t>
            </a:r>
            <a:r>
              <a:rPr lang="en-US" sz="3200" dirty="0"/>
              <a:t> and </a:t>
            </a:r>
            <a:r>
              <a:rPr lang="en-US" sz="3200" dirty="0" err="1" smtClean="0"/>
              <a:t>JRE</a:t>
            </a:r>
            <a:r>
              <a:rPr lang="en-US" sz="3200" dirty="0" smtClean="0"/>
              <a:t>.</a:t>
            </a:r>
          </a:p>
          <a:p>
            <a:pPr algn="just"/>
            <a:r>
              <a:rPr lang="en-US" sz="3200" dirty="0" smtClean="0"/>
              <a:t>For example:</a:t>
            </a:r>
          </a:p>
          <a:p>
            <a:pPr lvl="1" algn="just"/>
            <a:r>
              <a:rPr lang="en-US" sz="2800" b="1" dirty="0" smtClean="0"/>
              <a:t>print</a:t>
            </a:r>
            <a:r>
              <a:rPr lang="en-US" sz="2800" b="1" dirty="0"/>
              <a:t>()</a:t>
            </a:r>
            <a:r>
              <a:rPr lang="en-US" sz="2800" dirty="0"/>
              <a:t> is </a:t>
            </a:r>
            <a:r>
              <a:rPr lang="en-US" sz="2800" dirty="0" smtClean="0"/>
              <a:t>a function used to  print </a:t>
            </a:r>
            <a:r>
              <a:rPr lang="en-US" sz="2800" dirty="0"/>
              <a:t>the string inside quotation </a:t>
            </a:r>
            <a:r>
              <a:rPr lang="en-US" sz="2800" dirty="0" smtClean="0"/>
              <a:t>marks.</a:t>
            </a:r>
          </a:p>
          <a:p>
            <a:pPr lvl="1" algn="just"/>
            <a:r>
              <a:rPr lang="en-US" sz="2800" b="1" dirty="0" err="1" smtClean="0"/>
              <a:t>sqrt</a:t>
            </a:r>
            <a:r>
              <a:rPr lang="en-US" sz="2800" b="1" dirty="0"/>
              <a:t>()</a:t>
            </a:r>
            <a:r>
              <a:rPr lang="en-US" sz="2800" dirty="0"/>
              <a:t> is a </a:t>
            </a:r>
            <a:r>
              <a:rPr lang="en-US" sz="2800" dirty="0" smtClean="0"/>
              <a:t> </a:t>
            </a:r>
            <a:r>
              <a:rPr lang="en-US" sz="2800" dirty="0"/>
              <a:t>of Math class. It returns square root of a number.</a:t>
            </a:r>
          </a:p>
          <a:p>
            <a:pPr algn="just"/>
            <a:r>
              <a:rPr lang="en-US" sz="3200" dirty="0" smtClean="0"/>
              <a:t>Example</a:t>
            </a:r>
            <a:r>
              <a:rPr lang="en-US" sz="3200" dirty="0"/>
              <a:t>:</a:t>
            </a:r>
          </a:p>
          <a:p>
            <a:pPr marL="457200" lvl="1" indent="0" algn="just">
              <a:buNone/>
            </a:pPr>
            <a:r>
              <a:rPr lang="en-US" dirty="0" smtClean="0"/>
              <a:t>public </a:t>
            </a:r>
            <a:r>
              <a:rPr lang="en-US" dirty="0"/>
              <a:t>class Numbers {</a:t>
            </a:r>
          </a:p>
          <a:p>
            <a:pPr marL="457200" lvl="1" indent="0" algn="just">
              <a:buNone/>
            </a:pPr>
            <a:r>
              <a:rPr lang="en-US" dirty="0"/>
              <a:t>    public static void main(String[] </a:t>
            </a:r>
            <a:r>
              <a:rPr lang="en-US" dirty="0" err="1"/>
              <a:t>args</a:t>
            </a:r>
            <a:r>
              <a:rPr lang="en-US" dirty="0"/>
              <a:t>) {</a:t>
            </a:r>
          </a:p>
          <a:p>
            <a:pPr marL="457200" lvl="1" indent="0" algn="just">
              <a:buNone/>
            </a:pPr>
            <a:r>
              <a:rPr lang="en-US" dirty="0"/>
              <a:t>        </a:t>
            </a:r>
            <a:r>
              <a:rPr lang="en-US" dirty="0" err="1"/>
              <a:t>System.out.print</a:t>
            </a:r>
            <a:r>
              <a:rPr lang="en-US" dirty="0"/>
              <a:t>("Square root of 4 is: " + </a:t>
            </a:r>
            <a:r>
              <a:rPr lang="en-US" dirty="0" err="1"/>
              <a:t>Math.sqrt</a:t>
            </a:r>
            <a:r>
              <a:rPr lang="en-US" dirty="0"/>
              <a:t>(4));</a:t>
            </a:r>
          </a:p>
          <a:p>
            <a:pPr marL="457200" lvl="1" indent="0" algn="just">
              <a:buNone/>
            </a:pPr>
            <a:r>
              <a:rPr lang="en-US" dirty="0"/>
              <a:t>    }</a:t>
            </a:r>
          </a:p>
          <a:p>
            <a:pPr marL="457200" lvl="1" indent="0" algn="just">
              <a:buNone/>
            </a:pPr>
            <a:r>
              <a:rPr lang="en-US"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8694337" y="4659086"/>
            <a:ext cx="2321725" cy="17117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Output:</a:t>
            </a:r>
          </a:p>
          <a:p>
            <a:pPr marL="0" indent="0">
              <a:buNone/>
            </a:pPr>
            <a:r>
              <a:rPr lang="en-US" sz="1800" dirty="0"/>
              <a:t>Square root of 4 is: 2.0</a:t>
            </a:r>
          </a:p>
        </p:txBody>
      </p:sp>
    </p:spTree>
    <p:extLst>
      <p:ext uri="{BB962C8B-B14F-4D97-AF65-F5344CB8AC3E}">
        <p14:creationId xmlns:p14="http://schemas.microsoft.com/office/powerpoint/2010/main" val="82643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User-defined </a:t>
            </a:r>
            <a:r>
              <a:rPr lang="en-US" sz="3200" dirty="0" smtClean="0"/>
              <a:t>Function</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282293"/>
          </a:xfrm>
        </p:spPr>
        <p:txBody>
          <a:bodyPr>
            <a:normAutofit fontScale="85000" lnSpcReduction="20000"/>
          </a:bodyPr>
          <a:lstStyle/>
          <a:p>
            <a:pPr algn="just"/>
            <a:r>
              <a:rPr lang="en-US" sz="3200" dirty="0" smtClean="0"/>
              <a:t>You </a:t>
            </a:r>
            <a:r>
              <a:rPr lang="en-US" sz="3200" dirty="0"/>
              <a:t>can also define </a:t>
            </a:r>
            <a:r>
              <a:rPr lang="en-US" sz="3200" dirty="0" smtClean="0"/>
              <a:t>functions inside </a:t>
            </a:r>
            <a:r>
              <a:rPr lang="en-US" sz="3200" dirty="0"/>
              <a:t>a class as per your </a:t>
            </a:r>
            <a:r>
              <a:rPr lang="en-US" sz="3200" dirty="0" smtClean="0"/>
              <a:t>wish</a:t>
            </a:r>
            <a:endParaRPr lang="en-US" sz="3200" dirty="0"/>
          </a:p>
          <a:p>
            <a:pPr algn="just"/>
            <a:r>
              <a:rPr lang="en-US" sz="3200" dirty="0" smtClean="0"/>
              <a:t>The complete syntax for defining a Java function is:</a:t>
            </a:r>
          </a:p>
          <a:p>
            <a:pPr marL="457200" lvl="1" indent="0" algn="just">
              <a:buNone/>
            </a:pPr>
            <a:r>
              <a:rPr lang="en-US" b="1" dirty="0" smtClean="0"/>
              <a:t>modifier </a:t>
            </a:r>
            <a:r>
              <a:rPr lang="en-US" b="1" dirty="0"/>
              <a:t>static </a:t>
            </a:r>
            <a:r>
              <a:rPr lang="en-US" b="1" dirty="0" err="1"/>
              <a:t>returnType</a:t>
            </a:r>
            <a:r>
              <a:rPr lang="en-US" b="1" dirty="0"/>
              <a:t> </a:t>
            </a:r>
            <a:r>
              <a:rPr lang="en-US" b="1" dirty="0" err="1" smtClean="0"/>
              <a:t>nameOffunction</a:t>
            </a:r>
            <a:r>
              <a:rPr lang="en-US" b="1" dirty="0" smtClean="0"/>
              <a:t> </a:t>
            </a:r>
            <a:r>
              <a:rPr lang="en-US" b="1" dirty="0"/>
              <a:t>(Parameter List</a:t>
            </a:r>
            <a:r>
              <a:rPr lang="en-US" b="1" dirty="0" smtClean="0"/>
              <a:t>){ </a:t>
            </a:r>
          </a:p>
          <a:p>
            <a:pPr marL="457200" lvl="1" indent="0" algn="just">
              <a:buNone/>
            </a:pPr>
            <a:r>
              <a:rPr lang="en-US" b="1" dirty="0" smtClean="0"/>
              <a:t>	// function </a:t>
            </a:r>
            <a:r>
              <a:rPr lang="en-US" b="1" dirty="0"/>
              <a:t>body </a:t>
            </a:r>
            <a:endParaRPr lang="en-US" b="1" dirty="0" smtClean="0"/>
          </a:p>
          <a:p>
            <a:pPr marL="457200" lvl="1" indent="0" algn="just">
              <a:buNone/>
            </a:pPr>
            <a:r>
              <a:rPr lang="en-US" b="1" dirty="0" smtClean="0"/>
              <a:t>}</a:t>
            </a:r>
          </a:p>
          <a:p>
            <a:pPr lvl="1" algn="just" fontAlgn="base"/>
            <a:r>
              <a:rPr lang="en-US" b="1" dirty="0"/>
              <a:t>modifier</a:t>
            </a:r>
            <a:r>
              <a:rPr lang="en-US" dirty="0"/>
              <a:t> - defines access type whether the </a:t>
            </a:r>
            <a:r>
              <a:rPr lang="en-US" dirty="0" smtClean="0"/>
              <a:t>function </a:t>
            </a:r>
            <a:r>
              <a:rPr lang="en-US" dirty="0"/>
              <a:t>is public, private and so on</a:t>
            </a:r>
            <a:r>
              <a:rPr lang="en-US" dirty="0" smtClean="0"/>
              <a:t>.</a:t>
            </a:r>
            <a:endParaRPr lang="en-US" dirty="0"/>
          </a:p>
          <a:p>
            <a:pPr lvl="1" algn="just" fontAlgn="base"/>
            <a:r>
              <a:rPr lang="en-US" b="1" dirty="0"/>
              <a:t>static</a:t>
            </a:r>
            <a:r>
              <a:rPr lang="en-US" dirty="0"/>
              <a:t> - If you use static keyword in a </a:t>
            </a:r>
            <a:r>
              <a:rPr lang="en-US" dirty="0" smtClean="0"/>
              <a:t>function </a:t>
            </a:r>
            <a:r>
              <a:rPr lang="en-US" dirty="0"/>
              <a:t>then it becomes a static </a:t>
            </a:r>
            <a:r>
              <a:rPr lang="en-US" dirty="0" smtClean="0"/>
              <a:t>function. </a:t>
            </a:r>
            <a:r>
              <a:rPr lang="en-US" dirty="0"/>
              <a:t>Static </a:t>
            </a:r>
            <a:r>
              <a:rPr lang="en-US" dirty="0" smtClean="0"/>
              <a:t>functions </a:t>
            </a:r>
            <a:r>
              <a:rPr lang="en-US" dirty="0"/>
              <a:t>can be called without creating an instance of a class</a:t>
            </a:r>
            <a:r>
              <a:rPr lang="en-US" dirty="0" smtClean="0"/>
              <a:t>.</a:t>
            </a:r>
          </a:p>
          <a:p>
            <a:pPr lvl="1" algn="just" fontAlgn="base"/>
            <a:r>
              <a:rPr lang="en-US" b="1" dirty="0" err="1" smtClean="0"/>
              <a:t>returnType</a:t>
            </a:r>
            <a:r>
              <a:rPr lang="en-US" dirty="0" smtClean="0"/>
              <a:t> - A function can return a value.  It can return native data types (</a:t>
            </a:r>
            <a:r>
              <a:rPr lang="en-US" dirty="0" err="1" smtClean="0"/>
              <a:t>int</a:t>
            </a:r>
            <a:r>
              <a:rPr lang="en-US" dirty="0" smtClean="0"/>
              <a:t>, float, double,...), native objects (String, Map, List etc.), or any other built-in and user defined objects. If the function does not return a value, its return type is </a:t>
            </a:r>
            <a:r>
              <a:rPr lang="en-US" b="1" dirty="0" smtClean="0"/>
              <a:t>void</a:t>
            </a:r>
            <a:r>
              <a:rPr lang="en-US" dirty="0" smtClean="0"/>
              <a:t>.</a:t>
            </a:r>
          </a:p>
          <a:p>
            <a:pPr lvl="1" algn="just" fontAlgn="base"/>
            <a:r>
              <a:rPr lang="en-US" b="1" dirty="0" err="1" smtClean="0"/>
              <a:t>nameOffunction</a:t>
            </a:r>
            <a:r>
              <a:rPr lang="en-US" dirty="0" smtClean="0"/>
              <a:t> - The name of the function is an </a:t>
            </a:r>
            <a:r>
              <a:rPr lang="en-US" dirty="0" smtClean="0">
                <a:hlinkClick r:id="rId2"/>
              </a:rPr>
              <a:t>identifier</a:t>
            </a:r>
            <a:r>
              <a:rPr lang="en-US" dirty="0" smtClean="0"/>
              <a:t>. You can give any name to a function. However, it is more conventional to name it after the tasks it performs. For example, </a:t>
            </a:r>
            <a:r>
              <a:rPr lang="en-US" dirty="0" err="1" smtClean="0"/>
              <a:t>calculateInterest</a:t>
            </a:r>
            <a:r>
              <a:rPr lang="en-US" dirty="0" smtClean="0"/>
              <a:t>, </a:t>
            </a:r>
            <a:r>
              <a:rPr lang="en-US" dirty="0" err="1" smtClean="0"/>
              <a:t>calculateArea</a:t>
            </a:r>
            <a:r>
              <a:rPr lang="en-US" dirty="0" smtClean="0"/>
              <a:t>, and so on.</a:t>
            </a:r>
          </a:p>
          <a:p>
            <a:pPr lvl="1" algn="just" fontAlgn="base"/>
            <a:r>
              <a:rPr lang="en-US" b="1" dirty="0" smtClean="0"/>
              <a:t>Parameters </a:t>
            </a:r>
            <a:r>
              <a:rPr lang="en-US" b="1" dirty="0"/>
              <a:t>(arguments)</a:t>
            </a:r>
            <a:r>
              <a:rPr lang="en-US" dirty="0"/>
              <a:t> - Parameters are the values passed to a </a:t>
            </a:r>
            <a:r>
              <a:rPr lang="en-US" dirty="0" smtClean="0"/>
              <a:t>function. </a:t>
            </a:r>
            <a:r>
              <a:rPr lang="en-US" dirty="0"/>
              <a:t>You can pass any number of arguments to a </a:t>
            </a:r>
            <a:r>
              <a:rPr lang="en-US" dirty="0" smtClean="0"/>
              <a:t>function.</a:t>
            </a:r>
            <a:endParaRPr lang="en-US" dirty="0"/>
          </a:p>
          <a:p>
            <a:pPr lvl="1" algn="just" fontAlgn="base"/>
            <a:r>
              <a:rPr lang="en-US" b="1" dirty="0" smtClean="0"/>
              <a:t>function </a:t>
            </a:r>
            <a:r>
              <a:rPr lang="en-US" b="1" dirty="0"/>
              <a:t>body</a:t>
            </a:r>
            <a:r>
              <a:rPr lang="en-US" dirty="0"/>
              <a:t> - It defines what the </a:t>
            </a:r>
            <a:r>
              <a:rPr lang="en-US" dirty="0" smtClean="0"/>
              <a:t>function </a:t>
            </a:r>
            <a:r>
              <a:rPr lang="en-US" dirty="0"/>
              <a:t>actually does, how the parameters are manipulated with programming statements and what values are returned. The codes inside curly braces { } is the body of the </a:t>
            </a:r>
            <a:r>
              <a:rPr lang="en-US" dirty="0" smtClean="0"/>
              <a:t>function.</a:t>
            </a:r>
            <a:endParaRPr lang="en-US" dirty="0"/>
          </a:p>
        </p:txBody>
      </p:sp>
    </p:spTree>
    <p:extLst>
      <p:ext uri="{BB962C8B-B14F-4D97-AF65-F5344CB8AC3E}">
        <p14:creationId xmlns:p14="http://schemas.microsoft.com/office/powerpoint/2010/main" val="74066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User-defined </a:t>
            </a:r>
            <a:r>
              <a:rPr lang="en-US" sz="3200" dirty="0" smtClean="0"/>
              <a:t>Function</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1000" y="1175544"/>
            <a:ext cx="8890000" cy="5080000"/>
          </a:xfrm>
        </p:spPr>
      </p:pic>
    </p:spTree>
    <p:extLst>
      <p:ext uri="{BB962C8B-B14F-4D97-AF65-F5344CB8AC3E}">
        <p14:creationId xmlns:p14="http://schemas.microsoft.com/office/powerpoint/2010/main" val="80088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How to call a Java </a:t>
            </a:r>
            <a:r>
              <a:rPr lang="en-US" sz="3200" dirty="0" smtClean="0"/>
              <a:t>function</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85000" lnSpcReduction="20000"/>
          </a:bodyPr>
          <a:lstStyle/>
          <a:p>
            <a:pPr algn="just"/>
            <a:r>
              <a:rPr lang="en-US" sz="3200" dirty="0"/>
              <a:t>Now you defined a </a:t>
            </a:r>
            <a:r>
              <a:rPr lang="en-US" sz="3200" dirty="0" smtClean="0"/>
              <a:t>function, </a:t>
            </a:r>
            <a:r>
              <a:rPr lang="en-US" sz="3200" dirty="0"/>
              <a:t>you need to use it. For that, you have to call the </a:t>
            </a:r>
            <a:r>
              <a:rPr lang="en-US" sz="3200" dirty="0" smtClean="0"/>
              <a:t>function. </a:t>
            </a:r>
            <a:r>
              <a:rPr lang="en-US" sz="3200" dirty="0"/>
              <a:t>Here's </a:t>
            </a:r>
            <a:r>
              <a:rPr lang="en-US" sz="3200" dirty="0" smtClean="0"/>
              <a:t>how: </a:t>
            </a:r>
            <a:r>
              <a:rPr lang="en-US" sz="3200" b="1" dirty="0" err="1" smtClean="0"/>
              <a:t>myFuntion</a:t>
            </a:r>
            <a:r>
              <a:rPr lang="en-US" sz="3200" b="1" dirty="0" smtClean="0"/>
              <a:t>();</a:t>
            </a:r>
          </a:p>
          <a:p>
            <a:pPr fontAlgn="base"/>
            <a:r>
              <a:rPr lang="en-US" sz="3200" dirty="0" smtClean="0"/>
              <a:t>While </a:t>
            </a:r>
            <a:r>
              <a:rPr lang="en-US" sz="3200" dirty="0"/>
              <a:t>Java is executing the program code, </a:t>
            </a:r>
            <a:endParaRPr lang="en-US" sz="3200" dirty="0" smtClean="0"/>
          </a:p>
          <a:p>
            <a:pPr marL="0" indent="0" fontAlgn="base">
              <a:buNone/>
            </a:pPr>
            <a:r>
              <a:rPr lang="en-US" sz="3200" dirty="0" smtClean="0"/>
              <a:t>it </a:t>
            </a:r>
            <a:r>
              <a:rPr lang="en-US" sz="3200" dirty="0"/>
              <a:t>encounters </a:t>
            </a:r>
            <a:r>
              <a:rPr lang="en-US" sz="3200" b="1" dirty="0" err="1" smtClean="0"/>
              <a:t>myFunction</a:t>
            </a:r>
            <a:r>
              <a:rPr lang="en-US" sz="3200" dirty="0" smtClean="0"/>
              <a:t>();</a:t>
            </a:r>
            <a:r>
              <a:rPr lang="en-US" sz="3200" dirty="0"/>
              <a:t> </a:t>
            </a:r>
            <a:r>
              <a:rPr lang="en-US" sz="3200" dirty="0" smtClean="0"/>
              <a:t>in </a:t>
            </a:r>
            <a:r>
              <a:rPr lang="en-US" sz="3200" dirty="0"/>
              <a:t>the code.</a:t>
            </a:r>
          </a:p>
          <a:p>
            <a:pPr fontAlgn="base"/>
            <a:r>
              <a:rPr lang="en-US" sz="3200" dirty="0"/>
              <a:t>The execution then branches </a:t>
            </a:r>
            <a:r>
              <a:rPr lang="en-US" sz="3200" dirty="0" smtClean="0"/>
              <a:t>to the</a:t>
            </a:r>
          </a:p>
          <a:p>
            <a:pPr marL="0" indent="0" fontAlgn="base">
              <a:buNone/>
            </a:pPr>
            <a:r>
              <a:rPr lang="en-US" sz="3200" dirty="0" err="1" smtClean="0"/>
              <a:t>myFunction</a:t>
            </a:r>
            <a:r>
              <a:rPr lang="en-US" sz="3200" dirty="0"/>
              <a:t>() method, </a:t>
            </a:r>
            <a:r>
              <a:rPr lang="en-US" sz="3200" dirty="0" smtClean="0"/>
              <a:t>and </a:t>
            </a:r>
          </a:p>
          <a:p>
            <a:pPr marL="0" indent="0" fontAlgn="base">
              <a:buNone/>
            </a:pPr>
            <a:r>
              <a:rPr lang="en-US" sz="3200" dirty="0" smtClean="0"/>
              <a:t>executes code </a:t>
            </a:r>
            <a:r>
              <a:rPr lang="en-US" sz="3200" dirty="0"/>
              <a:t>inside the </a:t>
            </a:r>
            <a:r>
              <a:rPr lang="en-US" sz="3200" dirty="0" smtClean="0"/>
              <a:t>body</a:t>
            </a:r>
          </a:p>
          <a:p>
            <a:pPr marL="0" indent="0" fontAlgn="base">
              <a:buNone/>
            </a:pPr>
            <a:r>
              <a:rPr lang="en-US" sz="3200" dirty="0" smtClean="0"/>
              <a:t>of </a:t>
            </a:r>
            <a:r>
              <a:rPr lang="en-US" sz="3200" dirty="0"/>
              <a:t>the </a:t>
            </a:r>
            <a:r>
              <a:rPr lang="en-US" sz="3200" dirty="0" smtClean="0"/>
              <a:t>function.</a:t>
            </a:r>
            <a:endParaRPr lang="en-US" sz="3200" dirty="0"/>
          </a:p>
          <a:p>
            <a:pPr fontAlgn="base"/>
            <a:r>
              <a:rPr lang="en-US" sz="3200" dirty="0"/>
              <a:t>After the codes execution inside </a:t>
            </a:r>
            <a:endParaRPr lang="en-US" sz="3200" dirty="0" smtClean="0"/>
          </a:p>
          <a:p>
            <a:pPr marL="0" indent="0" fontAlgn="base">
              <a:buNone/>
            </a:pPr>
            <a:r>
              <a:rPr lang="en-US" sz="3200" dirty="0" smtClean="0"/>
              <a:t>The function body </a:t>
            </a:r>
            <a:r>
              <a:rPr lang="en-US" sz="3200" dirty="0"/>
              <a:t>is completed, </a:t>
            </a:r>
            <a:endParaRPr lang="en-US" sz="3200" dirty="0" smtClean="0"/>
          </a:p>
          <a:p>
            <a:pPr marL="0" indent="0" fontAlgn="base">
              <a:buNone/>
            </a:pPr>
            <a:r>
              <a:rPr lang="en-US" sz="3200" dirty="0" smtClean="0"/>
              <a:t>the program </a:t>
            </a:r>
            <a:r>
              <a:rPr lang="en-US" sz="3200" dirty="0"/>
              <a:t>returns to the original </a:t>
            </a:r>
            <a:endParaRPr lang="en-US" sz="3200" dirty="0" smtClean="0"/>
          </a:p>
          <a:p>
            <a:pPr marL="0" indent="0" fontAlgn="base">
              <a:buNone/>
            </a:pPr>
            <a:r>
              <a:rPr lang="en-US" sz="3200" dirty="0" smtClean="0"/>
              <a:t>state</a:t>
            </a:r>
            <a:r>
              <a:rPr lang="en-US" sz="3200" dirty="0"/>
              <a:t> </a:t>
            </a:r>
            <a:r>
              <a:rPr lang="en-US" sz="3200" dirty="0" smtClean="0"/>
              <a:t>and </a:t>
            </a:r>
            <a:r>
              <a:rPr lang="en-US" sz="3200" dirty="0"/>
              <a:t>executes the next statement</a:t>
            </a:r>
            <a:r>
              <a:rPr lang="en-US" sz="3200" dirty="0" smtClean="0"/>
              <a:t>.</a:t>
            </a:r>
            <a:r>
              <a:rPr lang="en-US" sz="3200" dirty="0"/>
              <a:t/>
            </a:r>
            <a:br>
              <a:rPr lang="en-US" sz="3200" dirty="0"/>
            </a:br>
            <a:endParaRPr lang="en-US" sz="3200" b="1" dirty="0" smtClean="0"/>
          </a:p>
          <a:p>
            <a:pPr algn="just"/>
            <a:endParaRPr lang="en-US"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6285" y="2513448"/>
            <a:ext cx="5776683" cy="3187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5596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85000" lnSpcReduction="20000"/>
          </a:bodyPr>
          <a:lstStyle/>
          <a:p>
            <a:pPr marL="0" indent="0">
              <a:buNone/>
            </a:pPr>
            <a:r>
              <a:rPr lang="en-US" sz="3200" dirty="0"/>
              <a:t>class Main {</a:t>
            </a:r>
          </a:p>
          <a:p>
            <a:pPr marL="0" indent="0">
              <a:buNone/>
            </a:pPr>
            <a:r>
              <a:rPr lang="en-US" sz="3200" dirty="0"/>
              <a:t>   public static void main(String[] </a:t>
            </a:r>
            <a:r>
              <a:rPr lang="en-US" sz="3200" dirty="0" err="1"/>
              <a:t>args</a:t>
            </a:r>
            <a:r>
              <a:rPr lang="en-US" sz="3200" dirty="0"/>
              <a:t>) {</a:t>
            </a:r>
          </a:p>
          <a:p>
            <a:pPr marL="0" indent="0">
              <a:buNone/>
            </a:pPr>
            <a:r>
              <a:rPr lang="en-US" sz="3200" dirty="0"/>
              <a:t>       </a:t>
            </a:r>
            <a:r>
              <a:rPr lang="en-US" sz="3200" dirty="0" err="1"/>
              <a:t>System.out.println</a:t>
            </a:r>
            <a:r>
              <a:rPr lang="en-US" sz="3200" dirty="0"/>
              <a:t>("About to encounter a </a:t>
            </a:r>
            <a:r>
              <a:rPr lang="en-US" sz="3200" dirty="0" smtClean="0"/>
              <a:t>function.");</a:t>
            </a:r>
            <a:endParaRPr lang="en-US" sz="3200" dirty="0"/>
          </a:p>
          <a:p>
            <a:pPr marL="0" indent="0">
              <a:buNone/>
            </a:pPr>
            <a:r>
              <a:rPr lang="en-US" sz="3200" dirty="0"/>
              <a:t>       // </a:t>
            </a:r>
            <a:r>
              <a:rPr lang="en-US" sz="3200" dirty="0" smtClean="0"/>
              <a:t>function call</a:t>
            </a:r>
            <a:endParaRPr lang="en-US" sz="3200" dirty="0"/>
          </a:p>
          <a:p>
            <a:pPr marL="0" indent="0">
              <a:buNone/>
            </a:pPr>
            <a:r>
              <a:rPr lang="en-US" sz="3200" dirty="0"/>
              <a:t>       </a:t>
            </a:r>
            <a:r>
              <a:rPr lang="en-US" sz="3200" dirty="0" err="1" smtClean="0"/>
              <a:t>myFunction</a:t>
            </a:r>
            <a:r>
              <a:rPr lang="en-US" sz="3200" dirty="0" smtClean="0"/>
              <a:t>();</a:t>
            </a:r>
            <a:endParaRPr lang="en-US" sz="3200" dirty="0"/>
          </a:p>
          <a:p>
            <a:pPr marL="0" indent="0">
              <a:buNone/>
            </a:pPr>
            <a:r>
              <a:rPr lang="en-US" sz="3200" dirty="0"/>
              <a:t>       </a:t>
            </a:r>
            <a:r>
              <a:rPr lang="en-US" sz="3200" dirty="0" err="1" smtClean="0"/>
              <a:t>System.out.println</a:t>
            </a:r>
            <a:r>
              <a:rPr lang="en-US" sz="3200" dirty="0" smtClean="0"/>
              <a:t>(</a:t>
            </a:r>
            <a:r>
              <a:rPr lang="en-US" sz="3200" dirty="0"/>
              <a:t>"</a:t>
            </a:r>
            <a:r>
              <a:rPr lang="en-US" sz="3200" dirty="0" smtClean="0"/>
              <a:t>Function was </a:t>
            </a:r>
            <a:r>
              <a:rPr lang="en-US" sz="3200" dirty="0"/>
              <a:t>executed successfully!");</a:t>
            </a:r>
          </a:p>
          <a:p>
            <a:pPr marL="0" indent="0">
              <a:buNone/>
            </a:pPr>
            <a:r>
              <a:rPr lang="en-US" sz="3200" dirty="0"/>
              <a:t>   }</a:t>
            </a:r>
          </a:p>
          <a:p>
            <a:pPr marL="0" indent="0">
              <a:buNone/>
            </a:pPr>
            <a:r>
              <a:rPr lang="en-US" sz="3200" dirty="0"/>
              <a:t>   </a:t>
            </a:r>
            <a:r>
              <a:rPr lang="en-US" sz="3200" dirty="0" smtClean="0"/>
              <a:t>    // </a:t>
            </a:r>
            <a:r>
              <a:rPr lang="en-US" sz="3200" dirty="0"/>
              <a:t>method definition</a:t>
            </a:r>
          </a:p>
          <a:p>
            <a:pPr marL="0" indent="0">
              <a:buNone/>
            </a:pPr>
            <a:r>
              <a:rPr lang="en-US" sz="3200" dirty="0"/>
              <a:t> </a:t>
            </a:r>
            <a:r>
              <a:rPr lang="en-US" sz="3200" dirty="0" smtClean="0"/>
              <a:t>      static </a:t>
            </a:r>
            <a:r>
              <a:rPr lang="en-US" sz="3200" dirty="0"/>
              <a:t>void </a:t>
            </a:r>
            <a:r>
              <a:rPr lang="en-US" sz="3200" dirty="0" err="1" smtClean="0"/>
              <a:t>myFunction</a:t>
            </a:r>
            <a:r>
              <a:rPr lang="en-US" sz="3200" dirty="0" smtClean="0"/>
              <a:t>(){</a:t>
            </a:r>
            <a:endParaRPr lang="en-US" sz="3200" dirty="0"/>
          </a:p>
          <a:p>
            <a:pPr marL="0" indent="0">
              <a:buNone/>
            </a:pPr>
            <a:r>
              <a:rPr lang="en-US" sz="3200" dirty="0"/>
              <a:t>       </a:t>
            </a:r>
            <a:r>
              <a:rPr lang="en-US" sz="3200" dirty="0" err="1"/>
              <a:t>System.out.println</a:t>
            </a:r>
            <a:r>
              <a:rPr lang="en-US" sz="3200" dirty="0" smtClean="0"/>
              <a:t>("Inside </a:t>
            </a:r>
            <a:r>
              <a:rPr lang="en-US" sz="3200" dirty="0" err="1" smtClean="0"/>
              <a:t>myFunction</a:t>
            </a:r>
            <a:r>
              <a:rPr lang="en-US" sz="3200" dirty="0" smtClean="0"/>
              <a:t>()!");</a:t>
            </a:r>
            <a:endParaRPr lang="en-US" sz="3200" dirty="0"/>
          </a:p>
          <a:p>
            <a:pPr marL="0" indent="0">
              <a:buNone/>
            </a:pPr>
            <a:r>
              <a:rPr lang="en-US" sz="3200" dirty="0"/>
              <a:t>   }</a:t>
            </a:r>
          </a:p>
          <a:p>
            <a:pPr marL="0" indent="0">
              <a:buNone/>
            </a:pPr>
            <a:r>
              <a:rPr lang="en-US" sz="32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7997369" y="3933370"/>
            <a:ext cx="4122057" cy="2119088"/>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About to encounter a function</a:t>
            </a:r>
            <a:r>
              <a:rPr lang="en-US" sz="2000" dirty="0" smtClean="0"/>
              <a:t>.</a:t>
            </a:r>
          </a:p>
          <a:p>
            <a:pPr marL="0" indent="0">
              <a:buNone/>
            </a:pPr>
            <a:r>
              <a:rPr lang="en-US" sz="2000" dirty="0"/>
              <a:t>Inside </a:t>
            </a:r>
            <a:r>
              <a:rPr lang="en-US" sz="2000" dirty="0" err="1"/>
              <a:t>myFunction</a:t>
            </a:r>
            <a:r>
              <a:rPr lang="en-US" sz="2000" dirty="0"/>
              <a:t>()!</a:t>
            </a:r>
            <a:endParaRPr lang="en-US" sz="2000" dirty="0" smtClean="0"/>
          </a:p>
          <a:p>
            <a:pPr marL="0" indent="0">
              <a:buNone/>
            </a:pPr>
            <a:r>
              <a:rPr lang="en-US" sz="2000" dirty="0"/>
              <a:t>Function was executed successfully!</a:t>
            </a:r>
          </a:p>
        </p:txBody>
      </p:sp>
    </p:spTree>
    <p:extLst>
      <p:ext uri="{BB962C8B-B14F-4D97-AF65-F5344CB8AC3E}">
        <p14:creationId xmlns:p14="http://schemas.microsoft.com/office/powerpoint/2010/main" val="107422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70000" lnSpcReduction="20000"/>
          </a:bodyPr>
          <a:lstStyle/>
          <a:p>
            <a:pPr marL="0" indent="0">
              <a:buNone/>
            </a:pPr>
            <a:r>
              <a:rPr lang="en-US" sz="3200" dirty="0"/>
              <a:t>public class </a:t>
            </a:r>
            <a:r>
              <a:rPr lang="en-US" sz="3200" dirty="0" err="1"/>
              <a:t>SquareMain</a:t>
            </a:r>
            <a:r>
              <a:rPr lang="en-US" sz="3200" dirty="0"/>
              <a:t> </a:t>
            </a:r>
            <a:r>
              <a:rPr lang="en-US" sz="3200" dirty="0" smtClean="0"/>
              <a:t>{</a:t>
            </a:r>
            <a:endParaRPr lang="en-US" sz="3200" dirty="0"/>
          </a:p>
          <a:p>
            <a:pPr marL="0" indent="0">
              <a:buNone/>
            </a:pPr>
            <a:r>
              <a:rPr lang="en-US" sz="3200" dirty="0"/>
              <a:t>    public static void main(String[] </a:t>
            </a:r>
            <a:r>
              <a:rPr lang="en-US" sz="3200" dirty="0" err="1"/>
              <a:t>args</a:t>
            </a:r>
            <a:r>
              <a:rPr lang="en-US" sz="3200" dirty="0"/>
              <a:t>) {</a:t>
            </a:r>
          </a:p>
          <a:p>
            <a:pPr marL="0" indent="0">
              <a:buNone/>
            </a:pPr>
            <a:r>
              <a:rPr lang="en-US" sz="3200" dirty="0"/>
              <a:t>        </a:t>
            </a:r>
            <a:r>
              <a:rPr lang="en-US" sz="3200" dirty="0" err="1"/>
              <a:t>int</a:t>
            </a:r>
            <a:r>
              <a:rPr lang="en-US" sz="3200" dirty="0"/>
              <a:t> result, n</a:t>
            </a:r>
            <a:r>
              <a:rPr lang="en-US" sz="3200" dirty="0" smtClean="0"/>
              <a:t>;</a:t>
            </a:r>
            <a:endParaRPr lang="en-US" sz="3200" dirty="0"/>
          </a:p>
          <a:p>
            <a:pPr marL="0" indent="0">
              <a:buNone/>
            </a:pPr>
            <a:r>
              <a:rPr lang="en-US" sz="3200" dirty="0"/>
              <a:t>        n = 3</a:t>
            </a:r>
          </a:p>
          <a:p>
            <a:pPr marL="0" indent="0">
              <a:buNone/>
            </a:pPr>
            <a:r>
              <a:rPr lang="en-US" sz="3200" dirty="0"/>
              <a:t>        result = square(n);</a:t>
            </a:r>
          </a:p>
          <a:p>
            <a:pPr marL="0" indent="0">
              <a:buNone/>
            </a:pPr>
            <a:r>
              <a:rPr lang="en-US" sz="3200" dirty="0"/>
              <a:t>        </a:t>
            </a:r>
            <a:r>
              <a:rPr lang="en-US" sz="3200" dirty="0" err="1"/>
              <a:t>System.out.println</a:t>
            </a:r>
            <a:r>
              <a:rPr lang="en-US" sz="3200" dirty="0"/>
              <a:t>("Square of 3 is: " + result</a:t>
            </a:r>
            <a:r>
              <a:rPr lang="en-US" sz="3200" dirty="0" smtClean="0"/>
              <a:t>);       </a:t>
            </a:r>
            <a:endParaRPr lang="en-US" sz="3200" dirty="0"/>
          </a:p>
          <a:p>
            <a:pPr marL="0" indent="0">
              <a:buNone/>
            </a:pPr>
            <a:r>
              <a:rPr lang="en-US" sz="3200" dirty="0"/>
              <a:t>        n = 4</a:t>
            </a:r>
          </a:p>
          <a:p>
            <a:pPr marL="0" indent="0">
              <a:buNone/>
            </a:pPr>
            <a:r>
              <a:rPr lang="en-US" sz="3200" dirty="0"/>
              <a:t>        result = square(n); </a:t>
            </a:r>
          </a:p>
          <a:p>
            <a:pPr marL="0" indent="0">
              <a:buNone/>
            </a:pPr>
            <a:r>
              <a:rPr lang="en-US" sz="3200" dirty="0"/>
              <a:t>        </a:t>
            </a:r>
            <a:r>
              <a:rPr lang="en-US" sz="3200" dirty="0" err="1"/>
              <a:t>System.out.println</a:t>
            </a:r>
            <a:r>
              <a:rPr lang="en-US" sz="3200" dirty="0"/>
              <a:t>("Square of 4 is: " + result);</a:t>
            </a:r>
          </a:p>
          <a:p>
            <a:pPr marL="0" indent="0">
              <a:buNone/>
            </a:pPr>
            <a:r>
              <a:rPr lang="en-US" sz="3200" dirty="0"/>
              <a:t>    }</a:t>
            </a:r>
          </a:p>
          <a:p>
            <a:pPr marL="0" indent="0">
              <a:buNone/>
            </a:pPr>
            <a:r>
              <a:rPr lang="en-US" sz="3200" dirty="0"/>
              <a:t> </a:t>
            </a:r>
            <a:r>
              <a:rPr lang="en-US" sz="3200" dirty="0" smtClean="0"/>
              <a:t>       private static </a:t>
            </a:r>
            <a:r>
              <a:rPr lang="en-US" sz="3200" dirty="0" err="1"/>
              <a:t>int</a:t>
            </a:r>
            <a:r>
              <a:rPr lang="en-US" sz="3200" dirty="0"/>
              <a:t> square(</a:t>
            </a:r>
            <a:r>
              <a:rPr lang="en-US" sz="3200" dirty="0" err="1"/>
              <a:t>int</a:t>
            </a:r>
            <a:r>
              <a:rPr lang="en-US" sz="3200" dirty="0"/>
              <a:t> i) {</a:t>
            </a:r>
          </a:p>
          <a:p>
            <a:pPr marL="0" indent="0">
              <a:buNone/>
            </a:pPr>
            <a:r>
              <a:rPr lang="en-US" sz="3200" dirty="0"/>
              <a:t>        </a:t>
            </a:r>
            <a:r>
              <a:rPr lang="en-US" sz="3200" dirty="0" smtClean="0"/>
              <a:t>	return </a:t>
            </a:r>
            <a:r>
              <a:rPr lang="en-US" sz="3200" dirty="0"/>
              <a:t>i * i;</a:t>
            </a:r>
          </a:p>
          <a:p>
            <a:pPr marL="0" indent="0">
              <a:buNone/>
            </a:pPr>
            <a:r>
              <a:rPr lang="en-US" sz="3200" dirty="0"/>
              <a:t>    }</a:t>
            </a:r>
          </a:p>
          <a:p>
            <a:pPr marL="0" indent="0">
              <a:buNone/>
            </a:pPr>
            <a:r>
              <a:rPr lang="en-US" sz="32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5754914" y="4682311"/>
            <a:ext cx="3033488" cy="167403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Squared value of 3 is: 9</a:t>
            </a:r>
          </a:p>
          <a:p>
            <a:pPr marL="0" indent="0">
              <a:buNone/>
            </a:pPr>
            <a:r>
              <a:rPr lang="en-US" sz="2000" dirty="0"/>
              <a:t>Squared value of 4 is: 16</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1658" y="1153524"/>
            <a:ext cx="4586810" cy="351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1155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85000" lnSpcReduction="20000"/>
          </a:bodyPr>
          <a:lstStyle/>
          <a:p>
            <a:pPr marL="0" indent="0">
              <a:buNone/>
            </a:pPr>
            <a:r>
              <a:rPr lang="en-US" sz="3200" dirty="0"/>
              <a:t>public class </a:t>
            </a:r>
            <a:r>
              <a:rPr lang="en-US" sz="3200" dirty="0" err="1"/>
              <a:t>ArithematicMain</a:t>
            </a:r>
            <a:r>
              <a:rPr lang="en-US" sz="3200" dirty="0"/>
              <a:t> {</a:t>
            </a:r>
          </a:p>
          <a:p>
            <a:pPr marL="0" indent="0">
              <a:buNone/>
            </a:pPr>
            <a:r>
              <a:rPr lang="en-US" sz="3200" dirty="0"/>
              <a:t>    public static </a:t>
            </a:r>
            <a:r>
              <a:rPr lang="en-US" sz="3200" dirty="0" err="1"/>
              <a:t>int</a:t>
            </a:r>
            <a:r>
              <a:rPr lang="en-US" sz="3200" dirty="0"/>
              <a:t> </a:t>
            </a:r>
            <a:r>
              <a:rPr lang="en-US" sz="3200" dirty="0" err="1"/>
              <a:t>getIntegerSum</a:t>
            </a:r>
            <a:r>
              <a:rPr lang="en-US" sz="3200" dirty="0"/>
              <a:t> (</a:t>
            </a:r>
            <a:r>
              <a:rPr lang="en-US" sz="3200" dirty="0" err="1"/>
              <a:t>int</a:t>
            </a:r>
            <a:r>
              <a:rPr lang="en-US" sz="3200" dirty="0"/>
              <a:t> i, </a:t>
            </a:r>
            <a:r>
              <a:rPr lang="en-US" sz="3200" dirty="0" err="1"/>
              <a:t>int</a:t>
            </a:r>
            <a:r>
              <a:rPr lang="en-US" sz="3200" dirty="0"/>
              <a:t> j) {</a:t>
            </a:r>
          </a:p>
          <a:p>
            <a:pPr marL="0" indent="0">
              <a:buNone/>
            </a:pPr>
            <a:r>
              <a:rPr lang="en-US" sz="3200" dirty="0"/>
              <a:t>        return i + j;</a:t>
            </a:r>
          </a:p>
          <a:p>
            <a:pPr marL="0" indent="0">
              <a:buNone/>
            </a:pPr>
            <a:r>
              <a:rPr lang="en-US" sz="3200" dirty="0"/>
              <a:t>    }</a:t>
            </a:r>
          </a:p>
          <a:p>
            <a:pPr marL="0" indent="0">
              <a:buNone/>
            </a:pPr>
            <a:r>
              <a:rPr lang="en-US" sz="3200" dirty="0"/>
              <a:t>    public static </a:t>
            </a:r>
            <a:r>
              <a:rPr lang="en-US" sz="3200" dirty="0" err="1"/>
              <a:t>int</a:t>
            </a:r>
            <a:r>
              <a:rPr lang="en-US" sz="3200" dirty="0"/>
              <a:t> </a:t>
            </a:r>
            <a:r>
              <a:rPr lang="en-US" sz="3200" dirty="0" err="1"/>
              <a:t>multiplyInteger</a:t>
            </a:r>
            <a:r>
              <a:rPr lang="en-US" sz="3200" dirty="0"/>
              <a:t> (</a:t>
            </a:r>
            <a:r>
              <a:rPr lang="en-US" sz="3200" dirty="0" err="1"/>
              <a:t>int</a:t>
            </a:r>
            <a:r>
              <a:rPr lang="en-US" sz="3200" dirty="0"/>
              <a:t> x, </a:t>
            </a:r>
            <a:r>
              <a:rPr lang="en-US" sz="3200" dirty="0" err="1"/>
              <a:t>int</a:t>
            </a:r>
            <a:r>
              <a:rPr lang="en-US" sz="3200" dirty="0"/>
              <a:t> y) {</a:t>
            </a:r>
          </a:p>
          <a:p>
            <a:pPr marL="0" indent="0">
              <a:buNone/>
            </a:pPr>
            <a:r>
              <a:rPr lang="en-US" sz="3200" dirty="0"/>
              <a:t>        return x * y;</a:t>
            </a:r>
          </a:p>
          <a:p>
            <a:pPr marL="0" indent="0">
              <a:buNone/>
            </a:pPr>
            <a:r>
              <a:rPr lang="en-US" sz="3200" dirty="0"/>
              <a:t>    }</a:t>
            </a:r>
          </a:p>
          <a:p>
            <a:pPr marL="0" indent="0">
              <a:buNone/>
            </a:pPr>
            <a:r>
              <a:rPr lang="en-US" sz="3200" dirty="0"/>
              <a:t>    public static void main(String[] </a:t>
            </a:r>
            <a:r>
              <a:rPr lang="en-US" sz="3200" dirty="0" err="1"/>
              <a:t>args</a:t>
            </a:r>
            <a:r>
              <a:rPr lang="en-US" sz="3200" dirty="0"/>
              <a:t>) {</a:t>
            </a:r>
          </a:p>
          <a:p>
            <a:pPr marL="0" indent="0">
              <a:buNone/>
            </a:pPr>
            <a:r>
              <a:rPr lang="en-US" sz="3200" dirty="0"/>
              <a:t>        </a:t>
            </a:r>
            <a:r>
              <a:rPr lang="en-US" sz="3200" dirty="0" err="1"/>
              <a:t>System.out.println</a:t>
            </a:r>
            <a:r>
              <a:rPr lang="en-US" sz="3200" dirty="0"/>
              <a:t>("10 + 20 = " + </a:t>
            </a:r>
            <a:r>
              <a:rPr lang="en-US" sz="3200" dirty="0" err="1"/>
              <a:t>getIntegerSum</a:t>
            </a:r>
            <a:r>
              <a:rPr lang="en-US" sz="3200" dirty="0"/>
              <a:t>(10, 20));</a:t>
            </a:r>
          </a:p>
          <a:p>
            <a:pPr marL="0" indent="0">
              <a:buNone/>
            </a:pPr>
            <a:r>
              <a:rPr lang="en-US" sz="3200" dirty="0"/>
              <a:t>        </a:t>
            </a:r>
            <a:r>
              <a:rPr lang="en-US" sz="3200" dirty="0" err="1"/>
              <a:t>System.out.println</a:t>
            </a:r>
            <a:r>
              <a:rPr lang="en-US" sz="3200" dirty="0"/>
              <a:t>("20 x 40 = " + </a:t>
            </a:r>
            <a:r>
              <a:rPr lang="en-US" sz="3200" dirty="0" err="1"/>
              <a:t>multiplyInteger</a:t>
            </a:r>
            <a:r>
              <a:rPr lang="en-US" sz="3200" dirty="0"/>
              <a:t>(20, 40));</a:t>
            </a:r>
          </a:p>
          <a:p>
            <a:pPr marL="0" indent="0">
              <a:buNone/>
            </a:pPr>
            <a:r>
              <a:rPr lang="en-US" sz="3200" dirty="0"/>
              <a:t>    }</a:t>
            </a:r>
          </a:p>
          <a:p>
            <a:pPr marL="0" indent="0">
              <a:buNone/>
            </a:pPr>
            <a:r>
              <a:rPr lang="en-US" sz="32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8614229" y="2084254"/>
            <a:ext cx="3033488" cy="167403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10 + 20 = 30</a:t>
            </a:r>
          </a:p>
          <a:p>
            <a:pPr marL="0" indent="0">
              <a:buNone/>
            </a:pPr>
            <a:r>
              <a:rPr lang="en-US" sz="2000" dirty="0"/>
              <a:t>20 x 40 = 800</a:t>
            </a:r>
          </a:p>
        </p:txBody>
      </p:sp>
    </p:spTree>
    <p:extLst>
      <p:ext uri="{BB962C8B-B14F-4D97-AF65-F5344CB8AC3E}">
        <p14:creationId xmlns:p14="http://schemas.microsoft.com/office/powerpoint/2010/main" val="108064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85000" lnSpcReduction="20000"/>
          </a:bodyPr>
          <a:lstStyle/>
          <a:p>
            <a:pPr marL="0" indent="0">
              <a:buNone/>
            </a:pPr>
            <a:r>
              <a:rPr lang="en-US" sz="3200" dirty="0"/>
              <a:t>public class </a:t>
            </a:r>
            <a:r>
              <a:rPr lang="en-US" sz="3200" dirty="0" err="1" smtClean="0"/>
              <a:t>JFunctions</a:t>
            </a:r>
            <a:r>
              <a:rPr lang="en-US" sz="3200" dirty="0" smtClean="0"/>
              <a:t> </a:t>
            </a:r>
            <a:r>
              <a:rPr lang="en-US" sz="3200" dirty="0"/>
              <a:t>{</a:t>
            </a:r>
          </a:p>
          <a:p>
            <a:pPr marL="0" indent="0">
              <a:buNone/>
            </a:pPr>
            <a:r>
              <a:rPr lang="en-US" sz="3200" dirty="0"/>
              <a:t>    // method defined</a:t>
            </a:r>
          </a:p>
          <a:p>
            <a:pPr marL="0" indent="0">
              <a:buNone/>
            </a:pPr>
            <a:r>
              <a:rPr lang="en-US" sz="3200" dirty="0"/>
              <a:t>    private static </a:t>
            </a:r>
            <a:r>
              <a:rPr lang="en-US" sz="3200" dirty="0" err="1"/>
              <a:t>int</a:t>
            </a:r>
            <a:r>
              <a:rPr lang="en-US" sz="3200" dirty="0"/>
              <a:t> </a:t>
            </a:r>
            <a:r>
              <a:rPr lang="en-US" sz="3200" dirty="0" err="1"/>
              <a:t>getSquare</a:t>
            </a:r>
            <a:r>
              <a:rPr lang="en-US" sz="3200" dirty="0"/>
              <a:t>(</a:t>
            </a:r>
            <a:r>
              <a:rPr lang="en-US" sz="3200" dirty="0" err="1"/>
              <a:t>int</a:t>
            </a:r>
            <a:r>
              <a:rPr lang="en-US" sz="3200" dirty="0"/>
              <a:t> x){</a:t>
            </a:r>
          </a:p>
          <a:p>
            <a:pPr marL="0" indent="0">
              <a:buNone/>
            </a:pPr>
            <a:r>
              <a:rPr lang="en-US" sz="3200" dirty="0"/>
              <a:t>        return x * x;</a:t>
            </a:r>
          </a:p>
          <a:p>
            <a:pPr marL="0" indent="0">
              <a:buNone/>
            </a:pPr>
            <a:r>
              <a:rPr lang="en-US" sz="3200" dirty="0"/>
              <a:t>    }</a:t>
            </a:r>
          </a:p>
          <a:p>
            <a:pPr marL="0" indent="0">
              <a:buNone/>
            </a:pPr>
            <a:r>
              <a:rPr lang="en-US" sz="3200" dirty="0"/>
              <a:t>    public static void main(String[] </a:t>
            </a:r>
            <a:r>
              <a:rPr lang="en-US" sz="3200" dirty="0" err="1"/>
              <a:t>args</a:t>
            </a:r>
            <a:r>
              <a:rPr lang="en-US" sz="3200" dirty="0"/>
              <a:t>) {</a:t>
            </a:r>
          </a:p>
          <a:p>
            <a:pPr marL="0" indent="0">
              <a:buNone/>
            </a:pPr>
            <a:r>
              <a:rPr lang="en-US" sz="3200" dirty="0"/>
              <a:t>        for (</a:t>
            </a:r>
            <a:r>
              <a:rPr lang="en-US" sz="3200" dirty="0" err="1"/>
              <a:t>int</a:t>
            </a:r>
            <a:r>
              <a:rPr lang="en-US" sz="3200" dirty="0"/>
              <a:t> i = 1; i &lt;= 5; i++) {</a:t>
            </a:r>
          </a:p>
          <a:p>
            <a:pPr marL="0" indent="0">
              <a:buNone/>
            </a:pPr>
            <a:r>
              <a:rPr lang="en-US" sz="3200" dirty="0"/>
              <a:t>            // method call</a:t>
            </a:r>
          </a:p>
          <a:p>
            <a:pPr marL="0" indent="0">
              <a:buNone/>
            </a:pPr>
            <a:r>
              <a:rPr lang="en-US" sz="3200" dirty="0"/>
              <a:t>            result = </a:t>
            </a:r>
            <a:r>
              <a:rPr lang="en-US" sz="3200" dirty="0" err="1"/>
              <a:t>getSquare</a:t>
            </a:r>
            <a:r>
              <a:rPr lang="en-US" sz="3200" dirty="0"/>
              <a:t>(i)</a:t>
            </a:r>
          </a:p>
          <a:p>
            <a:pPr marL="0" indent="0">
              <a:buNone/>
            </a:pPr>
            <a:r>
              <a:rPr lang="en-US" sz="3200" dirty="0"/>
              <a:t>            </a:t>
            </a:r>
            <a:r>
              <a:rPr lang="en-US" sz="3200" dirty="0" err="1"/>
              <a:t>System.out.println</a:t>
            </a:r>
            <a:r>
              <a:rPr lang="en-US" sz="3200" dirty="0"/>
              <a:t>("Square of " + i + " is : " + result); }</a:t>
            </a:r>
          </a:p>
          <a:p>
            <a:pPr marL="0" indent="0">
              <a:buNone/>
            </a:pPr>
            <a:r>
              <a:rPr lang="en-US" sz="3200" dirty="0"/>
              <a:t>    }</a:t>
            </a:r>
          </a:p>
          <a:p>
            <a:pPr marL="0" indent="0">
              <a:buNone/>
            </a:pPr>
            <a:r>
              <a:rPr lang="en-US" sz="32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8766629" y="2092965"/>
            <a:ext cx="2815771" cy="248774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Square of 1 is : 1</a:t>
            </a:r>
          </a:p>
          <a:p>
            <a:pPr marL="0" indent="0">
              <a:buNone/>
            </a:pPr>
            <a:r>
              <a:rPr lang="en-US" sz="2000" dirty="0"/>
              <a:t>Square of 2 is : 4</a:t>
            </a:r>
          </a:p>
          <a:p>
            <a:pPr marL="0" indent="0">
              <a:buNone/>
            </a:pPr>
            <a:r>
              <a:rPr lang="en-US" sz="2000" dirty="0"/>
              <a:t>Square of 3 is : 9</a:t>
            </a:r>
          </a:p>
          <a:p>
            <a:pPr marL="0" indent="0">
              <a:buNone/>
            </a:pPr>
            <a:r>
              <a:rPr lang="en-US" sz="2000" dirty="0"/>
              <a:t>Square of 4 is : 16</a:t>
            </a:r>
          </a:p>
          <a:p>
            <a:pPr marL="0" indent="0">
              <a:buNone/>
            </a:pPr>
            <a:r>
              <a:rPr lang="en-US" sz="2000" dirty="0"/>
              <a:t>Square of 5 is : 25</a:t>
            </a:r>
          </a:p>
        </p:txBody>
      </p:sp>
    </p:spTree>
    <p:extLst>
      <p:ext uri="{BB962C8B-B14F-4D97-AF65-F5344CB8AC3E}">
        <p14:creationId xmlns:p14="http://schemas.microsoft.com/office/powerpoint/2010/main" val="3028266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Overloading</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lnSpcReduction="10000"/>
          </a:bodyPr>
          <a:lstStyle/>
          <a:p>
            <a:pPr algn="just">
              <a:lnSpc>
                <a:spcPct val="120000"/>
              </a:lnSpc>
              <a:spcBef>
                <a:spcPts val="0"/>
              </a:spcBef>
            </a:pPr>
            <a:r>
              <a:rPr lang="en-US" sz="3200" dirty="0"/>
              <a:t>When a class has two or more </a:t>
            </a:r>
            <a:r>
              <a:rPr lang="en-US" sz="3200" dirty="0" smtClean="0"/>
              <a:t>functions </a:t>
            </a:r>
            <a:r>
              <a:rPr lang="en-US" sz="3200" dirty="0"/>
              <a:t>by the same name but different parameters, it is known as </a:t>
            </a:r>
            <a:r>
              <a:rPr lang="en-US" sz="3200" dirty="0" smtClean="0"/>
              <a:t>function </a:t>
            </a:r>
            <a:r>
              <a:rPr lang="en-US" sz="3200" b="1" dirty="0"/>
              <a:t>overloading</a:t>
            </a:r>
            <a:r>
              <a:rPr lang="en-US" sz="3200" dirty="0"/>
              <a:t>. It is different from </a:t>
            </a:r>
            <a:r>
              <a:rPr lang="en-US" sz="3200" b="1" dirty="0"/>
              <a:t>overriding</a:t>
            </a:r>
            <a:r>
              <a:rPr lang="en-US" sz="3200" dirty="0"/>
              <a:t>. In overriding, a </a:t>
            </a:r>
            <a:r>
              <a:rPr lang="en-US" sz="3200" dirty="0" smtClean="0"/>
              <a:t>function </a:t>
            </a:r>
            <a:r>
              <a:rPr lang="en-US" sz="3200" dirty="0"/>
              <a:t>has the same </a:t>
            </a:r>
            <a:r>
              <a:rPr lang="en-US" sz="3200" dirty="0" smtClean="0"/>
              <a:t>function </a:t>
            </a:r>
            <a:r>
              <a:rPr lang="en-US" sz="3200" dirty="0"/>
              <a:t>name, type, number of parameters, etc</a:t>
            </a:r>
            <a:r>
              <a:rPr lang="en-US" sz="3200" dirty="0" smtClean="0"/>
              <a:t>.</a:t>
            </a:r>
            <a:endParaRPr lang="en-US" sz="3200" dirty="0"/>
          </a:p>
          <a:p>
            <a:pPr algn="just">
              <a:lnSpc>
                <a:spcPct val="120000"/>
              </a:lnSpc>
              <a:spcBef>
                <a:spcPts val="0"/>
              </a:spcBef>
            </a:pPr>
            <a:r>
              <a:rPr lang="en-US" sz="3200" dirty="0"/>
              <a:t>Let’s consider the example discussed earlier for finding minimum numbers of integer type. If, let’s say we want to find the minimum number of double type. Then the concept of overloading will be introduced to create two or more </a:t>
            </a:r>
            <a:r>
              <a:rPr lang="en-US" sz="3200" dirty="0" smtClean="0"/>
              <a:t>functions </a:t>
            </a:r>
            <a:r>
              <a:rPr lang="en-US" sz="3200" dirty="0"/>
              <a:t>with the same name but different parameters.</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spTree>
    <p:extLst>
      <p:ext uri="{BB962C8B-B14F-4D97-AF65-F5344CB8AC3E}">
        <p14:creationId xmlns:p14="http://schemas.microsoft.com/office/powerpoint/2010/main" val="81286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Overloading</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1712685" y="783777"/>
            <a:ext cx="9641113" cy="5647418"/>
          </a:xfrm>
        </p:spPr>
        <p:txBody>
          <a:bodyPr>
            <a:noAutofit/>
          </a:bodyPr>
          <a:lstStyle/>
          <a:p>
            <a:pPr marL="0" indent="0" algn="just">
              <a:lnSpc>
                <a:spcPct val="100000"/>
              </a:lnSpc>
              <a:spcBef>
                <a:spcPts val="0"/>
              </a:spcBef>
              <a:buNone/>
            </a:pPr>
            <a:r>
              <a:rPr lang="en-US" sz="1800" dirty="0"/>
              <a:t>public class </a:t>
            </a:r>
            <a:r>
              <a:rPr lang="en-US" sz="1800" dirty="0" err="1"/>
              <a:t>ExampleOverloading</a:t>
            </a:r>
            <a:r>
              <a:rPr lang="en-US" sz="1800" dirty="0"/>
              <a:t> </a:t>
            </a:r>
            <a:r>
              <a:rPr lang="en-US" sz="1800" dirty="0" smtClean="0"/>
              <a:t>{</a:t>
            </a:r>
            <a:endParaRPr lang="en-US" sz="1800" dirty="0"/>
          </a:p>
          <a:p>
            <a:pPr marL="0" indent="0" algn="just">
              <a:lnSpc>
                <a:spcPct val="100000"/>
              </a:lnSpc>
              <a:spcBef>
                <a:spcPts val="0"/>
              </a:spcBef>
              <a:buNone/>
            </a:pPr>
            <a:r>
              <a:rPr lang="en-US" sz="1800" dirty="0"/>
              <a:t>   public static void main(String[] </a:t>
            </a:r>
            <a:r>
              <a:rPr lang="en-US" sz="1800" dirty="0" err="1"/>
              <a:t>args</a:t>
            </a:r>
            <a:r>
              <a:rPr lang="en-US" sz="1800" dirty="0"/>
              <a:t>) {</a:t>
            </a:r>
          </a:p>
          <a:p>
            <a:pPr marL="0" indent="0" algn="just">
              <a:lnSpc>
                <a:spcPct val="100000"/>
              </a:lnSpc>
              <a:spcBef>
                <a:spcPts val="0"/>
              </a:spcBef>
              <a:buNone/>
            </a:pPr>
            <a:r>
              <a:rPr lang="en-US" sz="1800" dirty="0"/>
              <a:t>      </a:t>
            </a:r>
            <a:r>
              <a:rPr lang="en-US" sz="1800" dirty="0" err="1"/>
              <a:t>int</a:t>
            </a:r>
            <a:r>
              <a:rPr lang="en-US" sz="1800" dirty="0"/>
              <a:t> a = </a:t>
            </a:r>
            <a:r>
              <a:rPr lang="en-US" sz="1800" dirty="0" smtClean="0"/>
              <a:t>11, b </a:t>
            </a:r>
            <a:r>
              <a:rPr lang="en-US" sz="1800" dirty="0"/>
              <a:t>= 6;</a:t>
            </a:r>
          </a:p>
          <a:p>
            <a:pPr marL="0" indent="0" algn="just">
              <a:lnSpc>
                <a:spcPct val="100000"/>
              </a:lnSpc>
              <a:spcBef>
                <a:spcPts val="0"/>
              </a:spcBef>
              <a:buNone/>
            </a:pPr>
            <a:r>
              <a:rPr lang="en-US" sz="1800" dirty="0"/>
              <a:t>      double c = </a:t>
            </a:r>
            <a:r>
              <a:rPr lang="en-US" sz="1800" dirty="0" smtClean="0"/>
              <a:t>7.3, d </a:t>
            </a:r>
            <a:r>
              <a:rPr lang="en-US" sz="1800" dirty="0"/>
              <a:t>= 9.4;</a:t>
            </a:r>
          </a:p>
          <a:p>
            <a:pPr marL="0" indent="0" algn="just">
              <a:lnSpc>
                <a:spcPct val="100000"/>
              </a:lnSpc>
              <a:spcBef>
                <a:spcPts val="0"/>
              </a:spcBef>
              <a:buNone/>
            </a:pPr>
            <a:r>
              <a:rPr lang="en-US" sz="1800" dirty="0"/>
              <a:t>      </a:t>
            </a:r>
            <a:r>
              <a:rPr lang="en-US" sz="1800" dirty="0" err="1"/>
              <a:t>int</a:t>
            </a:r>
            <a:r>
              <a:rPr lang="en-US" sz="1800" dirty="0"/>
              <a:t> </a:t>
            </a:r>
            <a:r>
              <a:rPr lang="en-US" sz="1800" dirty="0" err="1"/>
              <a:t>result1</a:t>
            </a:r>
            <a:r>
              <a:rPr lang="en-US" sz="1800" dirty="0"/>
              <a:t> = </a:t>
            </a:r>
            <a:r>
              <a:rPr lang="en-US" sz="1800" b="1" dirty="0" err="1"/>
              <a:t>minFunction</a:t>
            </a:r>
            <a:r>
              <a:rPr lang="en-US" sz="1800" dirty="0"/>
              <a:t>(a, b</a:t>
            </a:r>
            <a:r>
              <a:rPr lang="en-US" sz="1800" dirty="0" smtClean="0"/>
              <a:t>);</a:t>
            </a:r>
            <a:endParaRPr lang="en-US" sz="1800" dirty="0"/>
          </a:p>
          <a:p>
            <a:pPr marL="0" indent="0" algn="just">
              <a:lnSpc>
                <a:spcPct val="100000"/>
              </a:lnSpc>
              <a:spcBef>
                <a:spcPts val="0"/>
              </a:spcBef>
              <a:buNone/>
            </a:pPr>
            <a:r>
              <a:rPr lang="en-US" sz="1800" dirty="0" smtClean="0"/>
              <a:t>      double </a:t>
            </a:r>
            <a:r>
              <a:rPr lang="en-US" sz="1800" dirty="0" err="1"/>
              <a:t>result2</a:t>
            </a:r>
            <a:r>
              <a:rPr lang="en-US" sz="1800" dirty="0"/>
              <a:t> =</a:t>
            </a:r>
            <a:r>
              <a:rPr lang="en-US" sz="1800" b="1" dirty="0"/>
              <a:t> </a:t>
            </a:r>
            <a:r>
              <a:rPr lang="en-US" sz="1800" b="1" dirty="0" err="1"/>
              <a:t>minFunction</a:t>
            </a:r>
            <a:r>
              <a:rPr lang="en-US" sz="1800" dirty="0"/>
              <a:t>(c, d);</a:t>
            </a:r>
          </a:p>
          <a:p>
            <a:pPr marL="0" indent="0" algn="just">
              <a:lnSpc>
                <a:spcPct val="100000"/>
              </a:lnSpc>
              <a:spcBef>
                <a:spcPts val="0"/>
              </a:spcBef>
              <a:buNone/>
            </a:pPr>
            <a:r>
              <a:rPr lang="en-US" sz="1800" dirty="0"/>
              <a:t>      </a:t>
            </a:r>
            <a:r>
              <a:rPr lang="en-US" sz="1800" dirty="0" err="1"/>
              <a:t>System.out.println</a:t>
            </a:r>
            <a:r>
              <a:rPr lang="en-US" sz="1800" dirty="0"/>
              <a:t>("Minimum Value = " + </a:t>
            </a:r>
            <a:r>
              <a:rPr lang="en-US" sz="1800" dirty="0" err="1"/>
              <a:t>result1</a:t>
            </a:r>
            <a:r>
              <a:rPr lang="en-US" sz="1800" dirty="0"/>
              <a:t>);</a:t>
            </a:r>
          </a:p>
          <a:p>
            <a:pPr marL="0" indent="0" algn="just">
              <a:lnSpc>
                <a:spcPct val="100000"/>
              </a:lnSpc>
              <a:spcBef>
                <a:spcPts val="0"/>
              </a:spcBef>
              <a:buNone/>
            </a:pPr>
            <a:r>
              <a:rPr lang="en-US" sz="1800" dirty="0"/>
              <a:t>      </a:t>
            </a:r>
            <a:r>
              <a:rPr lang="en-US" sz="1800" dirty="0" err="1"/>
              <a:t>System.out.println</a:t>
            </a:r>
            <a:r>
              <a:rPr lang="en-US" sz="1800" dirty="0"/>
              <a:t>("Minimum Value = " + </a:t>
            </a:r>
            <a:r>
              <a:rPr lang="en-US" sz="1800" dirty="0" err="1"/>
              <a:t>result2</a:t>
            </a:r>
            <a:r>
              <a:rPr lang="en-US" sz="1800" dirty="0"/>
              <a:t>);</a:t>
            </a:r>
          </a:p>
          <a:p>
            <a:pPr marL="0" indent="0" algn="just">
              <a:lnSpc>
                <a:spcPct val="100000"/>
              </a:lnSpc>
              <a:spcBef>
                <a:spcPts val="0"/>
              </a:spcBef>
              <a:buNone/>
            </a:pPr>
            <a:r>
              <a:rPr lang="en-US" sz="1800" dirty="0"/>
              <a:t>   </a:t>
            </a:r>
            <a:r>
              <a:rPr lang="en-US" sz="1800" dirty="0" smtClean="0"/>
              <a:t>}</a:t>
            </a:r>
            <a:endParaRPr lang="en-US" sz="1800" dirty="0"/>
          </a:p>
          <a:p>
            <a:pPr marL="0" indent="0" algn="just">
              <a:lnSpc>
                <a:spcPct val="100000"/>
              </a:lnSpc>
              <a:spcBef>
                <a:spcPts val="0"/>
              </a:spcBef>
              <a:buNone/>
            </a:pPr>
            <a:r>
              <a:rPr lang="en-US" sz="1800" dirty="0"/>
              <a:t> </a:t>
            </a:r>
            <a:r>
              <a:rPr lang="en-US" sz="1800" dirty="0" smtClean="0"/>
              <a:t>  public </a:t>
            </a:r>
            <a:r>
              <a:rPr lang="en-US" sz="1800" dirty="0"/>
              <a:t>static </a:t>
            </a:r>
            <a:r>
              <a:rPr lang="en-US" sz="1800" dirty="0" err="1"/>
              <a:t>int</a:t>
            </a:r>
            <a:r>
              <a:rPr lang="en-US" sz="1800" dirty="0"/>
              <a:t> </a:t>
            </a:r>
            <a:r>
              <a:rPr lang="en-US" sz="1800" b="1" dirty="0" err="1"/>
              <a:t>minFunction</a:t>
            </a:r>
            <a:r>
              <a:rPr lang="en-US" sz="1800" dirty="0"/>
              <a:t>(</a:t>
            </a:r>
            <a:r>
              <a:rPr lang="en-US" sz="1800" dirty="0" err="1"/>
              <a:t>int</a:t>
            </a:r>
            <a:r>
              <a:rPr lang="en-US" sz="1800" dirty="0"/>
              <a:t> </a:t>
            </a:r>
            <a:r>
              <a:rPr lang="en-US" sz="1800" dirty="0" err="1"/>
              <a:t>n1</a:t>
            </a:r>
            <a:r>
              <a:rPr lang="en-US" sz="1800" dirty="0"/>
              <a:t>, </a:t>
            </a:r>
            <a:r>
              <a:rPr lang="en-US" sz="1800" dirty="0" err="1"/>
              <a:t>int</a:t>
            </a:r>
            <a:r>
              <a:rPr lang="en-US" sz="1800" dirty="0"/>
              <a:t> </a:t>
            </a:r>
            <a:r>
              <a:rPr lang="en-US" sz="1800" dirty="0" err="1"/>
              <a:t>n2</a:t>
            </a:r>
            <a:r>
              <a:rPr lang="en-US" sz="1800" dirty="0"/>
              <a:t>) </a:t>
            </a:r>
            <a:r>
              <a:rPr lang="en-US" sz="1800" dirty="0" smtClean="0"/>
              <a:t>{</a:t>
            </a:r>
            <a:r>
              <a:rPr lang="en-US" sz="1800" dirty="0"/>
              <a:t>// for integer</a:t>
            </a:r>
          </a:p>
          <a:p>
            <a:pPr marL="0" indent="0" algn="just">
              <a:lnSpc>
                <a:spcPct val="100000"/>
              </a:lnSpc>
              <a:spcBef>
                <a:spcPts val="0"/>
              </a:spcBef>
              <a:buNone/>
            </a:pPr>
            <a:r>
              <a:rPr lang="en-US" sz="1800" dirty="0"/>
              <a:t>      </a:t>
            </a:r>
            <a:r>
              <a:rPr lang="en-US" sz="1800" dirty="0" err="1"/>
              <a:t>int</a:t>
            </a:r>
            <a:r>
              <a:rPr lang="en-US" sz="1800" dirty="0"/>
              <a:t> </a:t>
            </a:r>
            <a:r>
              <a:rPr lang="en-US" sz="1800" dirty="0" smtClean="0"/>
              <a:t>min=</a:t>
            </a:r>
            <a:r>
              <a:rPr lang="en-US" sz="1800" dirty="0" err="1" smtClean="0"/>
              <a:t>n2</a:t>
            </a:r>
            <a:r>
              <a:rPr lang="en-US" sz="1800" dirty="0" smtClean="0"/>
              <a:t>;</a:t>
            </a:r>
            <a:endParaRPr lang="en-US" sz="1800" dirty="0"/>
          </a:p>
          <a:p>
            <a:pPr marL="0" indent="0" algn="just">
              <a:lnSpc>
                <a:spcPct val="100000"/>
              </a:lnSpc>
              <a:spcBef>
                <a:spcPts val="0"/>
              </a:spcBef>
              <a:buNone/>
            </a:pPr>
            <a:r>
              <a:rPr lang="en-US" sz="1800" dirty="0"/>
              <a:t>      if (</a:t>
            </a:r>
            <a:r>
              <a:rPr lang="en-US" sz="1800" dirty="0" err="1"/>
              <a:t>n1</a:t>
            </a:r>
            <a:r>
              <a:rPr lang="en-US" sz="1800" dirty="0"/>
              <a:t> &gt; </a:t>
            </a:r>
            <a:r>
              <a:rPr lang="en-US" sz="1800" dirty="0" err="1"/>
              <a:t>n2</a:t>
            </a:r>
            <a:r>
              <a:rPr lang="en-US" sz="1800" dirty="0"/>
              <a:t>)</a:t>
            </a:r>
          </a:p>
          <a:p>
            <a:pPr marL="0" indent="0" algn="just">
              <a:lnSpc>
                <a:spcPct val="100000"/>
              </a:lnSpc>
              <a:spcBef>
                <a:spcPts val="0"/>
              </a:spcBef>
              <a:buNone/>
            </a:pPr>
            <a:r>
              <a:rPr lang="en-US" sz="1800" dirty="0"/>
              <a:t>         min = </a:t>
            </a:r>
            <a:r>
              <a:rPr lang="en-US" sz="1800" dirty="0" err="1"/>
              <a:t>n2</a:t>
            </a:r>
            <a:r>
              <a:rPr lang="en-US" sz="1800" dirty="0"/>
              <a:t>;</a:t>
            </a:r>
          </a:p>
          <a:p>
            <a:pPr marL="0" indent="0" algn="just">
              <a:lnSpc>
                <a:spcPct val="100000"/>
              </a:lnSpc>
              <a:spcBef>
                <a:spcPts val="0"/>
              </a:spcBef>
              <a:buNone/>
            </a:pPr>
            <a:r>
              <a:rPr lang="en-US" sz="1800" dirty="0" smtClean="0"/>
              <a:t>      return </a:t>
            </a:r>
            <a:r>
              <a:rPr lang="en-US" sz="1800" dirty="0"/>
              <a:t>min; </a:t>
            </a:r>
          </a:p>
          <a:p>
            <a:pPr marL="0" indent="0" algn="just">
              <a:lnSpc>
                <a:spcPct val="100000"/>
              </a:lnSpc>
              <a:spcBef>
                <a:spcPts val="0"/>
              </a:spcBef>
              <a:buNone/>
            </a:pPr>
            <a:r>
              <a:rPr lang="en-US" sz="1800" dirty="0"/>
              <a:t>   </a:t>
            </a:r>
            <a:r>
              <a:rPr lang="en-US" sz="1800" dirty="0" smtClean="0"/>
              <a:t>}</a:t>
            </a:r>
            <a:endParaRPr lang="en-US" sz="1800" dirty="0"/>
          </a:p>
          <a:p>
            <a:pPr marL="0" indent="0" algn="just">
              <a:lnSpc>
                <a:spcPct val="100000"/>
              </a:lnSpc>
              <a:spcBef>
                <a:spcPts val="0"/>
              </a:spcBef>
              <a:buNone/>
            </a:pPr>
            <a:r>
              <a:rPr lang="en-US" sz="1800" dirty="0"/>
              <a:t>   public static double </a:t>
            </a:r>
            <a:r>
              <a:rPr lang="en-US" sz="1800" b="1" dirty="0" err="1"/>
              <a:t>minFunction</a:t>
            </a:r>
            <a:r>
              <a:rPr lang="en-US" sz="1800" dirty="0"/>
              <a:t>(double </a:t>
            </a:r>
            <a:r>
              <a:rPr lang="en-US" sz="1800" dirty="0" err="1"/>
              <a:t>n1</a:t>
            </a:r>
            <a:r>
              <a:rPr lang="en-US" sz="1800" dirty="0"/>
              <a:t>, double </a:t>
            </a:r>
            <a:r>
              <a:rPr lang="en-US" sz="1800" dirty="0" err="1"/>
              <a:t>n2</a:t>
            </a:r>
            <a:r>
              <a:rPr lang="en-US" sz="1800" dirty="0"/>
              <a:t>) </a:t>
            </a:r>
            <a:r>
              <a:rPr lang="en-US" sz="1800" dirty="0" smtClean="0"/>
              <a:t>{</a:t>
            </a:r>
            <a:r>
              <a:rPr lang="en-US" sz="1800" dirty="0"/>
              <a:t>// for double</a:t>
            </a:r>
          </a:p>
          <a:p>
            <a:pPr marL="0" indent="0" algn="just">
              <a:lnSpc>
                <a:spcPct val="100000"/>
              </a:lnSpc>
              <a:spcBef>
                <a:spcPts val="0"/>
              </a:spcBef>
              <a:buNone/>
            </a:pPr>
            <a:r>
              <a:rPr lang="en-US" sz="1800" dirty="0"/>
              <a:t>     double </a:t>
            </a:r>
            <a:r>
              <a:rPr lang="en-US" sz="1800" dirty="0" smtClean="0"/>
              <a:t>min=</a:t>
            </a:r>
            <a:r>
              <a:rPr lang="en-US" sz="1800" dirty="0" err="1" smtClean="0"/>
              <a:t>n2</a:t>
            </a:r>
            <a:r>
              <a:rPr lang="en-US" sz="1800" dirty="0" smtClean="0"/>
              <a:t>;</a:t>
            </a:r>
            <a:endParaRPr lang="en-US" sz="1800" dirty="0"/>
          </a:p>
          <a:p>
            <a:pPr marL="0" indent="0" algn="just">
              <a:lnSpc>
                <a:spcPct val="100000"/>
              </a:lnSpc>
              <a:spcBef>
                <a:spcPts val="0"/>
              </a:spcBef>
              <a:buNone/>
            </a:pPr>
            <a:r>
              <a:rPr lang="en-US" sz="1800" dirty="0"/>
              <a:t>      if (</a:t>
            </a:r>
            <a:r>
              <a:rPr lang="en-US" sz="1800" dirty="0" err="1"/>
              <a:t>n1</a:t>
            </a:r>
            <a:r>
              <a:rPr lang="en-US" sz="1800" dirty="0"/>
              <a:t> &gt; </a:t>
            </a:r>
            <a:r>
              <a:rPr lang="en-US" sz="1800" dirty="0" err="1"/>
              <a:t>n2</a:t>
            </a:r>
            <a:r>
              <a:rPr lang="en-US" sz="1800" dirty="0"/>
              <a:t>)</a:t>
            </a:r>
          </a:p>
          <a:p>
            <a:pPr marL="0" indent="0" algn="just">
              <a:lnSpc>
                <a:spcPct val="100000"/>
              </a:lnSpc>
              <a:spcBef>
                <a:spcPts val="0"/>
              </a:spcBef>
              <a:buNone/>
            </a:pPr>
            <a:r>
              <a:rPr lang="en-US" sz="1800" dirty="0"/>
              <a:t>         min = </a:t>
            </a:r>
            <a:r>
              <a:rPr lang="en-US" sz="1800" dirty="0" err="1" smtClean="0"/>
              <a:t>n2</a:t>
            </a:r>
            <a:r>
              <a:rPr lang="en-US" sz="1800" dirty="0"/>
              <a:t>;</a:t>
            </a:r>
          </a:p>
          <a:p>
            <a:pPr marL="0" indent="0" algn="just">
              <a:lnSpc>
                <a:spcPct val="100000"/>
              </a:lnSpc>
              <a:spcBef>
                <a:spcPts val="0"/>
              </a:spcBef>
              <a:buNone/>
            </a:pPr>
            <a:r>
              <a:rPr lang="en-US" sz="1800" dirty="0" smtClean="0"/>
              <a:t>      return </a:t>
            </a:r>
            <a:r>
              <a:rPr lang="en-US" sz="1800" dirty="0"/>
              <a:t>min; </a:t>
            </a:r>
          </a:p>
          <a:p>
            <a:pPr marL="0" indent="0" algn="just">
              <a:lnSpc>
                <a:spcPct val="100000"/>
              </a:lnSpc>
              <a:spcBef>
                <a:spcPts val="0"/>
              </a:spcBef>
              <a:buNone/>
            </a:pPr>
            <a:r>
              <a:rPr lang="en-US" sz="1800" dirty="0"/>
              <a:t>   }</a:t>
            </a:r>
          </a:p>
          <a:p>
            <a:pPr marL="0" indent="0" algn="just">
              <a:lnSpc>
                <a:spcPct val="100000"/>
              </a:lnSpc>
              <a:spcBef>
                <a:spcPts val="0"/>
              </a:spcBef>
              <a:buNone/>
            </a:pPr>
            <a:r>
              <a:rPr lang="en-US" sz="1800" dirty="0"/>
              <a:t>}</a:t>
            </a:r>
            <a:endParaRPr lang="en-US" sz="16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8113485" y="2513878"/>
            <a:ext cx="2815771" cy="176783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Minimum Value = 6</a:t>
            </a:r>
          </a:p>
          <a:p>
            <a:pPr marL="0" indent="0">
              <a:buNone/>
            </a:pPr>
            <a:r>
              <a:rPr lang="en-US" sz="2000" dirty="0"/>
              <a:t>Minimum Value = 7.3</a:t>
            </a:r>
          </a:p>
        </p:txBody>
      </p:sp>
    </p:spTree>
    <p:extLst>
      <p:ext uri="{BB962C8B-B14F-4D97-AF65-F5344CB8AC3E}">
        <p14:creationId xmlns:p14="http://schemas.microsoft.com/office/powerpoint/2010/main" val="407565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The scope of the variable in java</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a:bodyPr>
          <a:lstStyle/>
          <a:p>
            <a:pPr>
              <a:lnSpc>
                <a:spcPct val="120000"/>
              </a:lnSpc>
              <a:spcBef>
                <a:spcPts val="0"/>
              </a:spcBef>
            </a:pPr>
            <a:r>
              <a:rPr lang="en-US" sz="3200" dirty="0"/>
              <a:t>In java, </a:t>
            </a:r>
            <a:r>
              <a:rPr lang="en-US" sz="3200" b="1" dirty="0"/>
              <a:t>variable</a:t>
            </a:r>
            <a:r>
              <a:rPr lang="en-US" sz="3200" dirty="0"/>
              <a:t> is the name of the </a:t>
            </a:r>
            <a:r>
              <a:rPr lang="en-US" sz="3200" dirty="0" smtClean="0"/>
              <a:t>computer memory. </a:t>
            </a:r>
          </a:p>
          <a:p>
            <a:pPr>
              <a:lnSpc>
                <a:spcPct val="120000"/>
              </a:lnSpc>
              <a:spcBef>
                <a:spcPts val="0"/>
              </a:spcBef>
            </a:pPr>
            <a:r>
              <a:rPr lang="en-US" sz="3200" dirty="0" smtClean="0"/>
              <a:t>There </a:t>
            </a:r>
            <a:r>
              <a:rPr lang="en-US" sz="3200" dirty="0"/>
              <a:t>are 3 types of variables in java, </a:t>
            </a:r>
            <a:r>
              <a:rPr lang="en-US" sz="3200" dirty="0" smtClean="0"/>
              <a:t>including</a:t>
            </a:r>
          </a:p>
          <a:p>
            <a:pPr lvl="1">
              <a:lnSpc>
                <a:spcPct val="120000"/>
              </a:lnSpc>
              <a:spcBef>
                <a:spcPts val="0"/>
              </a:spcBef>
            </a:pPr>
            <a:r>
              <a:rPr lang="en-US" b="1" dirty="0" smtClean="0"/>
              <a:t>Local</a:t>
            </a:r>
            <a:r>
              <a:rPr lang="en-US" dirty="0" smtClean="0"/>
              <a:t> </a:t>
            </a:r>
            <a:r>
              <a:rPr lang="en-US" dirty="0"/>
              <a:t>variables (</a:t>
            </a:r>
            <a:r>
              <a:rPr lang="en-US" dirty="0" smtClean="0"/>
              <a:t>local)</a:t>
            </a:r>
          </a:p>
          <a:p>
            <a:pPr lvl="1">
              <a:lnSpc>
                <a:spcPct val="120000"/>
              </a:lnSpc>
              <a:spcBef>
                <a:spcPts val="0"/>
              </a:spcBef>
            </a:pPr>
            <a:r>
              <a:rPr lang="en-US" b="1" dirty="0" smtClean="0"/>
              <a:t>Global</a:t>
            </a:r>
            <a:r>
              <a:rPr lang="en-US" dirty="0" smtClean="0"/>
              <a:t> variables </a:t>
            </a:r>
            <a:r>
              <a:rPr lang="en-US" dirty="0"/>
              <a:t>(</a:t>
            </a:r>
            <a:r>
              <a:rPr lang="en-US" dirty="0" smtClean="0"/>
              <a:t>instance)</a:t>
            </a:r>
          </a:p>
          <a:p>
            <a:pPr lvl="1">
              <a:lnSpc>
                <a:spcPct val="120000"/>
              </a:lnSpc>
              <a:spcBef>
                <a:spcPts val="0"/>
              </a:spcBef>
            </a:pPr>
            <a:r>
              <a:rPr lang="en-US" b="1" dirty="0" smtClean="0"/>
              <a:t>Static</a:t>
            </a:r>
            <a:r>
              <a:rPr lang="en-US" dirty="0" smtClean="0"/>
              <a:t> </a:t>
            </a:r>
            <a:r>
              <a:rPr lang="en-US" dirty="0"/>
              <a:t>variables (static).</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Tree>
    <p:extLst>
      <p:ext uri="{BB962C8B-B14F-4D97-AF65-F5344CB8AC3E}">
        <p14:creationId xmlns:p14="http://schemas.microsoft.com/office/powerpoint/2010/main" val="898898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Local variables </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a:bodyPr>
          <a:lstStyle/>
          <a:p>
            <a:pPr algn="just">
              <a:lnSpc>
                <a:spcPct val="120000"/>
              </a:lnSpc>
              <a:spcBef>
                <a:spcPts val="0"/>
              </a:spcBef>
            </a:pPr>
            <a:r>
              <a:rPr lang="en-US" sz="3200" b="1" dirty="0"/>
              <a:t>Local</a:t>
            </a:r>
            <a:r>
              <a:rPr lang="en-US" sz="3200" dirty="0"/>
              <a:t> variables are declared in </a:t>
            </a:r>
            <a:r>
              <a:rPr lang="en-US" sz="3200" dirty="0" smtClean="0"/>
              <a:t>functions, constructor </a:t>
            </a:r>
            <a:r>
              <a:rPr lang="en-US" sz="3200" dirty="0"/>
              <a:t>functions, or in blocks.</a:t>
            </a:r>
          </a:p>
          <a:p>
            <a:pPr algn="just">
              <a:lnSpc>
                <a:spcPct val="120000"/>
              </a:lnSpc>
              <a:spcBef>
                <a:spcPts val="0"/>
              </a:spcBef>
            </a:pPr>
            <a:r>
              <a:rPr lang="en-US" sz="3200" b="1" dirty="0"/>
              <a:t>Local</a:t>
            </a:r>
            <a:r>
              <a:rPr lang="en-US" sz="3200" dirty="0"/>
              <a:t> variables are created inside </a:t>
            </a:r>
            <a:r>
              <a:rPr lang="en-US" sz="3200" dirty="0" smtClean="0"/>
              <a:t>functions, constructors</a:t>
            </a:r>
            <a:r>
              <a:rPr lang="en-US" sz="3200" dirty="0"/>
              <a:t>, and blocks and will be destroyed at the end of </a:t>
            </a:r>
            <a:r>
              <a:rPr lang="en-US" sz="3200" dirty="0" smtClean="0"/>
              <a:t>functions, constructors </a:t>
            </a:r>
            <a:r>
              <a:rPr lang="en-US" sz="3200" dirty="0"/>
              <a:t>and blocks.</a:t>
            </a:r>
          </a:p>
          <a:p>
            <a:pPr algn="just">
              <a:lnSpc>
                <a:spcPct val="120000"/>
              </a:lnSpc>
              <a:spcBef>
                <a:spcPts val="0"/>
              </a:spcBef>
            </a:pPr>
            <a:r>
              <a:rPr lang="en-US" sz="3200" dirty="0"/>
              <a:t>Do not use "access modifier" when declaring local variables.</a:t>
            </a:r>
          </a:p>
          <a:p>
            <a:pPr algn="just">
              <a:lnSpc>
                <a:spcPct val="120000"/>
              </a:lnSpc>
              <a:spcBef>
                <a:spcPts val="0"/>
              </a:spcBef>
            </a:pPr>
            <a:r>
              <a:rPr lang="en-US" sz="3200" b="1" dirty="0"/>
              <a:t>Local</a:t>
            </a:r>
            <a:r>
              <a:rPr lang="en-US" sz="3200" dirty="0"/>
              <a:t> variables are stored on the memory stack.</a:t>
            </a:r>
          </a:p>
          <a:p>
            <a:pPr algn="just">
              <a:lnSpc>
                <a:spcPct val="120000"/>
              </a:lnSpc>
              <a:spcBef>
                <a:spcPts val="0"/>
              </a:spcBef>
            </a:pPr>
            <a:r>
              <a:rPr lang="en-US" sz="3200" dirty="0"/>
              <a:t>You need to </a:t>
            </a:r>
            <a:r>
              <a:rPr lang="en-US" sz="3200" b="1" dirty="0"/>
              <a:t>initialize</a:t>
            </a:r>
            <a:r>
              <a:rPr lang="en-US" sz="3200" dirty="0"/>
              <a:t> the default value for the local variable before you can use it.</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spTree>
    <p:extLst>
      <p:ext uri="{BB962C8B-B14F-4D97-AF65-F5344CB8AC3E}">
        <p14:creationId xmlns:p14="http://schemas.microsoft.com/office/powerpoint/2010/main" val="1331395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Local variables </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a:bodyPr>
          <a:lstStyle/>
          <a:p>
            <a:pPr marL="0" indent="0" algn="just">
              <a:lnSpc>
                <a:spcPct val="120000"/>
              </a:lnSpc>
              <a:spcBef>
                <a:spcPts val="0"/>
              </a:spcBef>
              <a:buNone/>
            </a:pPr>
            <a:r>
              <a:rPr lang="en-US" sz="3200" dirty="0"/>
              <a:t>public class </a:t>
            </a:r>
            <a:r>
              <a:rPr lang="en-US" sz="3200" dirty="0" err="1" smtClean="0"/>
              <a:t>LocalVariable</a:t>
            </a:r>
            <a:r>
              <a:rPr lang="en-US" sz="3200" dirty="0" smtClean="0"/>
              <a:t> {</a:t>
            </a:r>
            <a:endParaRPr lang="en-US" sz="3200" dirty="0"/>
          </a:p>
          <a:p>
            <a:pPr marL="0" indent="0" algn="just">
              <a:lnSpc>
                <a:spcPct val="120000"/>
              </a:lnSpc>
              <a:spcBef>
                <a:spcPts val="0"/>
              </a:spcBef>
              <a:buNone/>
            </a:pPr>
            <a:r>
              <a:rPr lang="en-US" sz="3200" dirty="0"/>
              <a:t>    </a:t>
            </a:r>
            <a:r>
              <a:rPr lang="en-US" sz="3200" dirty="0" smtClean="0"/>
              <a:t>static </a:t>
            </a:r>
            <a:r>
              <a:rPr lang="en-US" sz="3200" dirty="0"/>
              <a:t>void </a:t>
            </a:r>
            <a:r>
              <a:rPr lang="en-US" sz="3200" dirty="0" err="1" smtClean="0"/>
              <a:t>printValue</a:t>
            </a:r>
            <a:r>
              <a:rPr lang="en-US" sz="3200" dirty="0" smtClean="0"/>
              <a:t>() </a:t>
            </a:r>
            <a:r>
              <a:rPr lang="en-US" sz="3200" dirty="0"/>
              <a:t>{</a:t>
            </a:r>
          </a:p>
          <a:p>
            <a:pPr marL="0" indent="0" algn="just">
              <a:lnSpc>
                <a:spcPct val="120000"/>
              </a:lnSpc>
              <a:spcBef>
                <a:spcPts val="0"/>
              </a:spcBef>
              <a:buNone/>
            </a:pPr>
            <a:r>
              <a:rPr lang="en-US" sz="3200" dirty="0"/>
              <a:t>        </a:t>
            </a:r>
            <a:r>
              <a:rPr lang="en-US" sz="3200" dirty="0" err="1"/>
              <a:t>int</a:t>
            </a:r>
            <a:r>
              <a:rPr lang="en-US" sz="3200" dirty="0"/>
              <a:t> n = 10; </a:t>
            </a:r>
            <a:r>
              <a:rPr lang="en-US" sz="3200" dirty="0" smtClean="0"/>
              <a:t>// local variable</a:t>
            </a:r>
            <a:endParaRPr lang="en-US" sz="3200" dirty="0"/>
          </a:p>
          <a:p>
            <a:pPr marL="0" indent="0" algn="just">
              <a:lnSpc>
                <a:spcPct val="120000"/>
              </a:lnSpc>
              <a:spcBef>
                <a:spcPts val="0"/>
              </a:spcBef>
              <a:buNone/>
            </a:pPr>
            <a:r>
              <a:rPr lang="en-US" sz="3200" dirty="0"/>
              <a:t>        </a:t>
            </a:r>
            <a:r>
              <a:rPr lang="en-US" sz="3200" dirty="0" err="1" smtClean="0"/>
              <a:t>System.out.println</a:t>
            </a:r>
            <a:r>
              <a:rPr lang="en-US" sz="3200" dirty="0" smtClean="0"/>
              <a:t>(</a:t>
            </a:r>
            <a:r>
              <a:rPr lang="en-US" sz="3200" dirty="0"/>
              <a:t>" </a:t>
            </a:r>
            <a:r>
              <a:rPr lang="en-US" sz="3200" dirty="0" smtClean="0"/>
              <a:t>value of n: </a:t>
            </a:r>
            <a:r>
              <a:rPr lang="en-US" sz="3200" dirty="0"/>
              <a:t>" + n);</a:t>
            </a:r>
          </a:p>
          <a:p>
            <a:pPr marL="0" indent="0" algn="just">
              <a:lnSpc>
                <a:spcPct val="120000"/>
              </a:lnSpc>
              <a:spcBef>
                <a:spcPts val="0"/>
              </a:spcBef>
              <a:buNone/>
            </a:pPr>
            <a:r>
              <a:rPr lang="en-US" sz="3200" dirty="0"/>
              <a:t>    </a:t>
            </a:r>
            <a:r>
              <a:rPr lang="en-US" sz="3200" dirty="0" smtClean="0"/>
              <a:t>}</a:t>
            </a:r>
            <a:endParaRPr lang="en-US" sz="3200" dirty="0"/>
          </a:p>
          <a:p>
            <a:pPr marL="0" indent="0" algn="just">
              <a:lnSpc>
                <a:spcPct val="120000"/>
              </a:lnSpc>
              <a:spcBef>
                <a:spcPts val="0"/>
              </a:spcBef>
              <a:buNone/>
            </a:pPr>
            <a:r>
              <a:rPr lang="en-US" sz="3200" dirty="0"/>
              <a:t>    public static void main(String[] </a:t>
            </a:r>
            <a:r>
              <a:rPr lang="en-US" sz="3200" dirty="0" err="1"/>
              <a:t>args</a:t>
            </a:r>
            <a:r>
              <a:rPr lang="en-US" sz="3200" dirty="0"/>
              <a:t>) {</a:t>
            </a:r>
          </a:p>
          <a:p>
            <a:pPr marL="0" indent="0" algn="just">
              <a:lnSpc>
                <a:spcPct val="120000"/>
              </a:lnSpc>
              <a:spcBef>
                <a:spcPts val="0"/>
              </a:spcBef>
              <a:buNone/>
            </a:pPr>
            <a:r>
              <a:rPr lang="en-US" sz="3200" dirty="0" smtClean="0"/>
              <a:t>	</a:t>
            </a:r>
            <a:r>
              <a:rPr lang="en-US" sz="3200" dirty="0"/>
              <a:t> </a:t>
            </a:r>
            <a:r>
              <a:rPr lang="en-US" sz="3200" dirty="0" err="1"/>
              <a:t>printValue</a:t>
            </a:r>
            <a:r>
              <a:rPr lang="en-US" sz="3200" dirty="0" smtClean="0"/>
              <a:t>();</a:t>
            </a:r>
            <a:endParaRPr lang="en-US" sz="3200" dirty="0"/>
          </a:p>
          <a:p>
            <a:pPr marL="0" indent="0" algn="just">
              <a:lnSpc>
                <a:spcPct val="120000"/>
              </a:lnSpc>
              <a:spcBef>
                <a:spcPts val="0"/>
              </a:spcBef>
              <a:buNone/>
            </a:pPr>
            <a:r>
              <a:rPr lang="en-US" sz="3200" dirty="0"/>
              <a:t>    }</a:t>
            </a:r>
          </a:p>
          <a:p>
            <a:pPr marL="0" indent="0" algn="just">
              <a:lnSpc>
                <a:spcPct val="120000"/>
              </a:lnSpc>
              <a:spcBef>
                <a:spcPts val="0"/>
              </a:spcBef>
              <a:buNone/>
            </a:pPr>
            <a:r>
              <a:rPr lang="en-US" sz="3200" dirty="0"/>
              <a:t>}</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8538029" y="4180113"/>
            <a:ext cx="2815771" cy="144562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smtClean="0"/>
              <a:t>Value of n: 10</a:t>
            </a:r>
            <a:endParaRPr lang="en-US" sz="2000" dirty="0"/>
          </a:p>
        </p:txBody>
      </p:sp>
    </p:spTree>
    <p:extLst>
      <p:ext uri="{BB962C8B-B14F-4D97-AF65-F5344CB8AC3E}">
        <p14:creationId xmlns:p14="http://schemas.microsoft.com/office/powerpoint/2010/main" val="194908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Local variables </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a:bodyPr>
          <a:lstStyle/>
          <a:p>
            <a:pPr marL="0" indent="0" algn="just">
              <a:lnSpc>
                <a:spcPct val="120000"/>
              </a:lnSpc>
              <a:spcBef>
                <a:spcPts val="0"/>
              </a:spcBef>
              <a:buNone/>
            </a:pPr>
            <a:r>
              <a:rPr lang="en-US" sz="3200" dirty="0"/>
              <a:t>public class </a:t>
            </a:r>
            <a:r>
              <a:rPr lang="en-US" sz="3200" dirty="0" err="1" smtClean="0"/>
              <a:t>LocalVariable1</a:t>
            </a:r>
            <a:r>
              <a:rPr lang="en-US" sz="3200" dirty="0" smtClean="0"/>
              <a:t> {</a:t>
            </a:r>
            <a:endParaRPr lang="en-US" sz="3200" dirty="0"/>
          </a:p>
          <a:p>
            <a:pPr marL="0" indent="0" algn="just">
              <a:lnSpc>
                <a:spcPct val="120000"/>
              </a:lnSpc>
              <a:spcBef>
                <a:spcPts val="0"/>
              </a:spcBef>
              <a:buNone/>
            </a:pPr>
            <a:r>
              <a:rPr lang="en-US" sz="3200" dirty="0"/>
              <a:t>    </a:t>
            </a:r>
            <a:r>
              <a:rPr lang="en-US" sz="3200" dirty="0" smtClean="0"/>
              <a:t>static </a:t>
            </a:r>
            <a:r>
              <a:rPr lang="en-US" sz="3200" dirty="0"/>
              <a:t>void </a:t>
            </a:r>
            <a:r>
              <a:rPr lang="en-US" sz="3200" dirty="0" err="1" smtClean="0"/>
              <a:t>printValue</a:t>
            </a:r>
            <a:r>
              <a:rPr lang="en-US" sz="3200" dirty="0" smtClean="0"/>
              <a:t>() </a:t>
            </a:r>
            <a:r>
              <a:rPr lang="en-US" sz="3200" dirty="0"/>
              <a:t>{</a:t>
            </a:r>
          </a:p>
          <a:p>
            <a:pPr marL="0" indent="0" algn="just">
              <a:lnSpc>
                <a:spcPct val="120000"/>
              </a:lnSpc>
              <a:spcBef>
                <a:spcPts val="0"/>
              </a:spcBef>
              <a:buNone/>
            </a:pPr>
            <a:r>
              <a:rPr lang="en-US" sz="3200" dirty="0"/>
              <a:t>        </a:t>
            </a:r>
            <a:r>
              <a:rPr lang="en-US" sz="3200" dirty="0" err="1"/>
              <a:t>int</a:t>
            </a:r>
            <a:r>
              <a:rPr lang="en-US" sz="3200" dirty="0"/>
              <a:t> </a:t>
            </a:r>
            <a:r>
              <a:rPr lang="en-US" sz="3200" dirty="0" smtClean="0"/>
              <a:t>n; // local variable</a:t>
            </a:r>
            <a:endParaRPr lang="en-US" sz="3200" dirty="0"/>
          </a:p>
          <a:p>
            <a:pPr marL="0" indent="0" algn="just">
              <a:lnSpc>
                <a:spcPct val="120000"/>
              </a:lnSpc>
              <a:spcBef>
                <a:spcPts val="0"/>
              </a:spcBef>
              <a:buNone/>
            </a:pPr>
            <a:r>
              <a:rPr lang="en-US" sz="3200" dirty="0"/>
              <a:t>        </a:t>
            </a:r>
            <a:r>
              <a:rPr lang="en-US" sz="3200" dirty="0" err="1" smtClean="0"/>
              <a:t>System.out.println</a:t>
            </a:r>
            <a:r>
              <a:rPr lang="en-US" sz="3200" dirty="0" smtClean="0"/>
              <a:t>(</a:t>
            </a:r>
            <a:r>
              <a:rPr lang="en-US" sz="3200" dirty="0"/>
              <a:t>" </a:t>
            </a:r>
            <a:r>
              <a:rPr lang="en-US" sz="3200" dirty="0" smtClean="0"/>
              <a:t>value of n: </a:t>
            </a:r>
            <a:r>
              <a:rPr lang="en-US" sz="3200" dirty="0"/>
              <a:t>" + n);</a:t>
            </a:r>
          </a:p>
          <a:p>
            <a:pPr marL="0" indent="0" algn="just">
              <a:lnSpc>
                <a:spcPct val="120000"/>
              </a:lnSpc>
              <a:spcBef>
                <a:spcPts val="0"/>
              </a:spcBef>
              <a:buNone/>
            </a:pPr>
            <a:r>
              <a:rPr lang="en-US" sz="3200" dirty="0"/>
              <a:t>    </a:t>
            </a:r>
            <a:r>
              <a:rPr lang="en-US" sz="3200" dirty="0" smtClean="0"/>
              <a:t>}</a:t>
            </a:r>
            <a:endParaRPr lang="en-US" sz="3200" dirty="0"/>
          </a:p>
          <a:p>
            <a:pPr marL="0" indent="0" algn="just">
              <a:lnSpc>
                <a:spcPct val="120000"/>
              </a:lnSpc>
              <a:spcBef>
                <a:spcPts val="0"/>
              </a:spcBef>
              <a:buNone/>
            </a:pPr>
            <a:r>
              <a:rPr lang="en-US" sz="3200" dirty="0"/>
              <a:t>    public static void main(String[] </a:t>
            </a:r>
            <a:r>
              <a:rPr lang="en-US" sz="3200" dirty="0" err="1"/>
              <a:t>args</a:t>
            </a:r>
            <a:r>
              <a:rPr lang="en-US" sz="3200" dirty="0"/>
              <a:t>) {</a:t>
            </a:r>
          </a:p>
          <a:p>
            <a:pPr marL="0" indent="0" algn="just">
              <a:lnSpc>
                <a:spcPct val="120000"/>
              </a:lnSpc>
              <a:spcBef>
                <a:spcPts val="0"/>
              </a:spcBef>
              <a:buNone/>
            </a:pPr>
            <a:r>
              <a:rPr lang="en-US" sz="3200" dirty="0" smtClean="0"/>
              <a:t>	</a:t>
            </a:r>
            <a:r>
              <a:rPr lang="en-US" sz="3200" dirty="0"/>
              <a:t> </a:t>
            </a:r>
            <a:r>
              <a:rPr lang="en-US" sz="3200" dirty="0" err="1"/>
              <a:t>printValue</a:t>
            </a:r>
            <a:r>
              <a:rPr lang="en-US" sz="3200" dirty="0" smtClean="0"/>
              <a:t>();</a:t>
            </a:r>
            <a:endParaRPr lang="en-US" sz="3200" dirty="0"/>
          </a:p>
          <a:p>
            <a:pPr marL="0" indent="0" algn="just">
              <a:lnSpc>
                <a:spcPct val="120000"/>
              </a:lnSpc>
              <a:spcBef>
                <a:spcPts val="0"/>
              </a:spcBef>
              <a:buNone/>
            </a:pPr>
            <a:r>
              <a:rPr lang="en-US" sz="3200" dirty="0"/>
              <a:t>    }</a:t>
            </a:r>
          </a:p>
          <a:p>
            <a:pPr marL="0" indent="0" algn="just">
              <a:lnSpc>
                <a:spcPct val="120000"/>
              </a:lnSpc>
              <a:spcBef>
                <a:spcPts val="0"/>
              </a:spcBef>
              <a:buNone/>
            </a:pPr>
            <a:r>
              <a:rPr lang="en-US" sz="3200" dirty="0"/>
              <a:t>}</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8447314" y="3137993"/>
            <a:ext cx="2815771" cy="248774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Exception in thread "main" </a:t>
            </a:r>
            <a:r>
              <a:rPr lang="en-US" sz="2000" dirty="0" err="1"/>
              <a:t>java.lang.Error</a:t>
            </a:r>
            <a:r>
              <a:rPr lang="en-US" sz="2000" dirty="0"/>
              <a:t>: Unresolved compilation problem: The local variable n may not have been initialized</a:t>
            </a:r>
          </a:p>
        </p:txBody>
      </p:sp>
    </p:spTree>
    <p:extLst>
      <p:ext uri="{BB962C8B-B14F-4D97-AF65-F5344CB8AC3E}">
        <p14:creationId xmlns:p14="http://schemas.microsoft.com/office/powerpoint/2010/main" val="2481411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Global variables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fontScale="70000" lnSpcReduction="20000"/>
          </a:bodyPr>
          <a:lstStyle/>
          <a:p>
            <a:pPr algn="just">
              <a:lnSpc>
                <a:spcPct val="120000"/>
              </a:lnSpc>
              <a:spcBef>
                <a:spcPts val="0"/>
              </a:spcBef>
            </a:pPr>
            <a:r>
              <a:rPr lang="en-US" sz="3200" b="1" dirty="0"/>
              <a:t>Instance</a:t>
            </a:r>
            <a:r>
              <a:rPr lang="en-US" sz="3200" dirty="0"/>
              <a:t> variables are declared in a class, outside of </a:t>
            </a:r>
            <a:r>
              <a:rPr lang="en-US" sz="3200" dirty="0" smtClean="0"/>
              <a:t>functions</a:t>
            </a:r>
            <a:r>
              <a:rPr lang="en-US" sz="3200" dirty="0"/>
              <a:t>, constructors, and blocks.</a:t>
            </a:r>
          </a:p>
          <a:p>
            <a:pPr algn="just">
              <a:lnSpc>
                <a:spcPct val="120000"/>
              </a:lnSpc>
              <a:spcBef>
                <a:spcPts val="0"/>
              </a:spcBef>
            </a:pPr>
            <a:r>
              <a:rPr lang="en-US" sz="3200" b="1" dirty="0"/>
              <a:t>Instance</a:t>
            </a:r>
            <a:r>
              <a:rPr lang="en-US" sz="3200" dirty="0"/>
              <a:t> variables are stored in heap memory.</a:t>
            </a:r>
          </a:p>
          <a:p>
            <a:pPr algn="just">
              <a:lnSpc>
                <a:spcPct val="120000"/>
              </a:lnSpc>
              <a:spcBef>
                <a:spcPts val="0"/>
              </a:spcBef>
            </a:pPr>
            <a:r>
              <a:rPr lang="en-US" sz="3200" b="1" dirty="0"/>
              <a:t>Instance</a:t>
            </a:r>
            <a:r>
              <a:rPr lang="en-US" sz="3200" dirty="0"/>
              <a:t> variables are created when an object is created using the keyword "new" and will be destroyed when the object is destroyed.</a:t>
            </a:r>
          </a:p>
          <a:p>
            <a:pPr algn="just">
              <a:lnSpc>
                <a:spcPct val="120000"/>
              </a:lnSpc>
              <a:spcBef>
                <a:spcPts val="0"/>
              </a:spcBef>
            </a:pPr>
            <a:r>
              <a:rPr lang="en-US" sz="3200" b="1" dirty="0"/>
              <a:t>Instance</a:t>
            </a:r>
            <a:r>
              <a:rPr lang="en-US" sz="3200" dirty="0"/>
              <a:t> variables can be used by </a:t>
            </a:r>
            <a:r>
              <a:rPr lang="en-US" sz="3200" dirty="0" smtClean="0"/>
              <a:t>functions</a:t>
            </a:r>
            <a:r>
              <a:rPr lang="en-US" sz="3200" dirty="0"/>
              <a:t>, constructors, blocks</a:t>
            </a:r>
            <a:r>
              <a:rPr lang="en-US" sz="3200" dirty="0" smtClean="0"/>
              <a:t>,…. </a:t>
            </a:r>
            <a:r>
              <a:rPr lang="en-US" sz="3200" dirty="0"/>
              <a:t>But it must be used through a specific object.</a:t>
            </a:r>
          </a:p>
          <a:p>
            <a:pPr algn="just">
              <a:lnSpc>
                <a:spcPct val="120000"/>
              </a:lnSpc>
              <a:spcBef>
                <a:spcPts val="0"/>
              </a:spcBef>
            </a:pPr>
            <a:r>
              <a:rPr lang="en-US" sz="3200" dirty="0"/>
              <a:t>You are allowed to use "access modifier" when declaring instance variables, the default is "default".</a:t>
            </a:r>
          </a:p>
          <a:p>
            <a:pPr algn="just">
              <a:lnSpc>
                <a:spcPct val="120000"/>
              </a:lnSpc>
              <a:spcBef>
                <a:spcPts val="0"/>
              </a:spcBef>
            </a:pPr>
            <a:r>
              <a:rPr lang="en-US" sz="3200" dirty="0"/>
              <a:t>The </a:t>
            </a:r>
            <a:r>
              <a:rPr lang="en-US" sz="3200" b="1" dirty="0"/>
              <a:t>instance</a:t>
            </a:r>
            <a:r>
              <a:rPr lang="en-US" sz="3200" dirty="0"/>
              <a:t> variable has a default value depending on its data type. For example, if the </a:t>
            </a:r>
            <a:r>
              <a:rPr lang="en-US" sz="3200" dirty="0" err="1"/>
              <a:t>int</a:t>
            </a:r>
            <a:r>
              <a:rPr lang="en-US" sz="3200" dirty="0"/>
              <a:t> type, short, byte, the default value is 0, the double type is </a:t>
            </a:r>
            <a:r>
              <a:rPr lang="en-US" sz="3200" dirty="0" err="1"/>
              <a:t>0.0d</a:t>
            </a:r>
            <a:r>
              <a:rPr lang="en-US" sz="3200" dirty="0"/>
              <a:t>, ... So you will not need to initialize the value of the instance variable before using.</a:t>
            </a:r>
          </a:p>
          <a:p>
            <a:pPr algn="just">
              <a:lnSpc>
                <a:spcPct val="120000"/>
              </a:lnSpc>
              <a:spcBef>
                <a:spcPts val="0"/>
              </a:spcBef>
            </a:pPr>
            <a:r>
              <a:rPr lang="en-US" sz="3200" dirty="0"/>
              <a:t>Inside the class where you declare instance variables, you can call it directly by name when used everywhere inside that class.</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22</a:t>
            </a:fld>
            <a:endParaRPr lang="en-US" dirty="0"/>
          </a:p>
        </p:txBody>
      </p:sp>
    </p:spTree>
    <p:extLst>
      <p:ext uri="{BB962C8B-B14F-4D97-AF65-F5344CB8AC3E}">
        <p14:creationId xmlns:p14="http://schemas.microsoft.com/office/powerpoint/2010/main" val="207050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Global variables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fontScale="62500" lnSpcReduction="20000"/>
          </a:bodyPr>
          <a:lstStyle/>
          <a:p>
            <a:pPr marL="0" indent="0" algn="just">
              <a:lnSpc>
                <a:spcPct val="120000"/>
              </a:lnSpc>
              <a:spcBef>
                <a:spcPts val="0"/>
              </a:spcBef>
              <a:buNone/>
            </a:pPr>
            <a:r>
              <a:rPr lang="vi-VN" dirty="0">
                <a:latin typeface="Calibri" pitchFamily="34" charset="0"/>
                <a:cs typeface="Calibri" pitchFamily="34" charset="0"/>
              </a:rPr>
              <a:t>public class Sinhvien </a:t>
            </a:r>
            <a:r>
              <a:rPr lang="vi-VN" dirty="0" smtClean="0">
                <a:latin typeface="Calibri" pitchFamily="34" charset="0"/>
                <a:cs typeface="Calibri" pitchFamily="34" charset="0"/>
              </a:rPr>
              <a:t>{</a:t>
            </a:r>
          </a:p>
          <a:p>
            <a:pPr marL="0" indent="0" algn="just">
              <a:lnSpc>
                <a:spcPct val="120000"/>
              </a:lnSpc>
              <a:spcBef>
                <a:spcPts val="0"/>
              </a:spcBef>
              <a:buNone/>
            </a:pPr>
            <a:r>
              <a:rPr lang="vi-VN" dirty="0" smtClean="0">
                <a:latin typeface="Calibri" pitchFamily="34" charset="0"/>
                <a:cs typeface="Calibri" pitchFamily="34" charset="0"/>
              </a:rPr>
              <a:t>    public String ten;</a:t>
            </a:r>
            <a:r>
              <a:rPr lang="vi-VN" dirty="0">
                <a:latin typeface="Calibri" pitchFamily="34" charset="0"/>
                <a:cs typeface="Calibri" pitchFamily="34" charset="0"/>
              </a:rPr>
              <a:t> // biến instance "ten" kiểu String, có giá trị mặc định là </a:t>
            </a:r>
            <a:r>
              <a:rPr lang="vi-VN" dirty="0" smtClean="0">
                <a:latin typeface="Calibri" pitchFamily="34" charset="0"/>
                <a:cs typeface="Calibri" pitchFamily="34" charset="0"/>
              </a:rPr>
              <a:t>null</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private int tuoi</a:t>
            </a:r>
            <a:r>
              <a:rPr lang="vi-VN" dirty="0" smtClean="0">
                <a:latin typeface="Calibri" pitchFamily="34" charset="0"/>
                <a:cs typeface="Calibri" pitchFamily="34" charset="0"/>
              </a:rPr>
              <a:t>;</a:t>
            </a:r>
            <a:r>
              <a:rPr lang="vi-VN" dirty="0">
                <a:latin typeface="Calibri" pitchFamily="34" charset="0"/>
                <a:cs typeface="Calibri" pitchFamily="34" charset="0"/>
              </a:rPr>
              <a:t> // biến instance "tuoi" kiểu Integer, có giá trị mặc định là </a:t>
            </a:r>
            <a:r>
              <a:rPr lang="vi-VN" dirty="0" smtClean="0">
                <a:latin typeface="Calibri" pitchFamily="34" charset="0"/>
                <a:cs typeface="Calibri" pitchFamily="34" charset="0"/>
              </a:rPr>
              <a:t>0</a:t>
            </a:r>
          </a:p>
          <a:p>
            <a:pPr marL="0" indent="0" algn="just">
              <a:lnSpc>
                <a:spcPct val="120000"/>
              </a:lnSpc>
              <a:spcBef>
                <a:spcPts val="0"/>
              </a:spcBef>
              <a:buNone/>
            </a:pPr>
            <a:r>
              <a:rPr lang="vi-VN" dirty="0" smtClean="0">
                <a:latin typeface="Calibri" pitchFamily="34" charset="0"/>
                <a:cs typeface="Calibri" pitchFamily="34" charset="0"/>
              </a:rPr>
              <a:t>    public Sinhvien(String ten) {</a:t>
            </a:r>
            <a:r>
              <a:rPr lang="vi-VN" dirty="0">
                <a:latin typeface="Calibri" pitchFamily="34" charset="0"/>
                <a:cs typeface="Calibri" pitchFamily="34" charset="0"/>
              </a:rPr>
              <a:t>// sử dụng biến ten trong một constructor</a:t>
            </a:r>
            <a:endParaRPr lang="vi-VN" dirty="0" smtClean="0">
              <a:latin typeface="Calibri" pitchFamily="34" charset="0"/>
              <a:cs typeface="Calibri" pitchFamily="34" charset="0"/>
            </a:endParaRPr>
          </a:p>
          <a:p>
            <a:pPr marL="0" indent="0" algn="just">
              <a:lnSpc>
                <a:spcPct val="120000"/>
              </a:lnSpc>
              <a:spcBef>
                <a:spcPts val="0"/>
              </a:spcBef>
              <a:buNone/>
            </a:pPr>
            <a:r>
              <a:rPr lang="vi-VN" dirty="0" smtClean="0">
                <a:latin typeface="Calibri" pitchFamily="34" charset="0"/>
                <a:cs typeface="Calibri" pitchFamily="34" charset="0"/>
              </a:rPr>
              <a:t>        </a:t>
            </a:r>
            <a:r>
              <a:rPr lang="vi-VN" dirty="0">
                <a:latin typeface="Calibri" pitchFamily="34" charset="0"/>
                <a:cs typeface="Calibri" pitchFamily="34" charset="0"/>
              </a:rPr>
              <a:t>this.ten = ten;</a:t>
            </a:r>
          </a:p>
          <a:p>
            <a:pPr marL="0" indent="0" algn="just">
              <a:lnSpc>
                <a:spcPct val="120000"/>
              </a:lnSpc>
              <a:spcBef>
                <a:spcPts val="0"/>
              </a:spcBef>
              <a:buNone/>
            </a:pPr>
            <a:r>
              <a:rPr lang="vi-VN" dirty="0">
                <a:latin typeface="Calibri" pitchFamily="34" charset="0"/>
                <a:cs typeface="Calibri" pitchFamily="34" charset="0"/>
              </a:rPr>
              <a:t>    </a:t>
            </a:r>
            <a:r>
              <a:rPr lang="vi-VN" dirty="0" smtClean="0">
                <a:latin typeface="Calibri" pitchFamily="34" charset="0"/>
                <a:cs typeface="Calibri" pitchFamily="34" charset="0"/>
              </a:rPr>
              <a:t>} </a:t>
            </a:r>
          </a:p>
          <a:p>
            <a:pPr marL="0" indent="0" algn="just">
              <a:lnSpc>
                <a:spcPct val="120000"/>
              </a:lnSpc>
              <a:spcBef>
                <a:spcPts val="0"/>
              </a:spcBef>
              <a:buNone/>
            </a:pPr>
            <a:r>
              <a:rPr lang="vi-VN" dirty="0" smtClean="0">
                <a:latin typeface="Calibri" pitchFamily="34" charset="0"/>
                <a:cs typeface="Calibri" pitchFamily="34" charset="0"/>
              </a:rPr>
              <a:t>    public void setTuoi(int tuoi) {</a:t>
            </a:r>
            <a:r>
              <a:rPr lang="vi-VN" dirty="0">
                <a:latin typeface="Calibri" pitchFamily="34" charset="0"/>
                <a:cs typeface="Calibri" pitchFamily="34" charset="0"/>
              </a:rPr>
              <a:t>// sử dụng biến tuoi trong phương thức setTuoi</a:t>
            </a:r>
            <a:endParaRPr lang="vi-VN" dirty="0" smtClean="0">
              <a:latin typeface="Calibri" pitchFamily="34" charset="0"/>
              <a:cs typeface="Calibri" pitchFamily="34" charset="0"/>
            </a:endParaRPr>
          </a:p>
          <a:p>
            <a:pPr marL="0" indent="0" algn="just">
              <a:lnSpc>
                <a:spcPct val="120000"/>
              </a:lnSpc>
              <a:spcBef>
                <a:spcPts val="0"/>
              </a:spcBef>
              <a:buNone/>
            </a:pPr>
            <a:r>
              <a:rPr lang="vi-VN" dirty="0" smtClean="0">
                <a:latin typeface="Calibri" pitchFamily="34" charset="0"/>
                <a:cs typeface="Calibri" pitchFamily="34" charset="0"/>
              </a:rPr>
              <a:t>        </a:t>
            </a:r>
            <a:r>
              <a:rPr lang="vi-VN" dirty="0">
                <a:latin typeface="Calibri" pitchFamily="34" charset="0"/>
                <a:cs typeface="Calibri" pitchFamily="34" charset="0"/>
              </a:rPr>
              <a:t>this.tuoi = tuoi;</a:t>
            </a:r>
          </a:p>
          <a:p>
            <a:pPr marL="0" indent="0" algn="just">
              <a:lnSpc>
                <a:spcPct val="120000"/>
              </a:lnSpc>
              <a:spcBef>
                <a:spcPts val="0"/>
              </a:spcBef>
              <a:buNone/>
            </a:pPr>
            <a:r>
              <a:rPr lang="vi-VN" dirty="0">
                <a:latin typeface="Calibri" pitchFamily="34" charset="0"/>
                <a:cs typeface="Calibri" pitchFamily="34" charset="0"/>
              </a:rPr>
              <a:t>    </a:t>
            </a:r>
            <a:r>
              <a:rPr lang="vi-VN" dirty="0" smtClean="0">
                <a:latin typeface="Calibri" pitchFamily="34" charset="0"/>
                <a:cs typeface="Calibri" pitchFamily="34" charset="0"/>
              </a:rPr>
              <a:t>} </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public void showStudent() {</a:t>
            </a:r>
          </a:p>
          <a:p>
            <a:pPr marL="0" indent="0" algn="just">
              <a:lnSpc>
                <a:spcPct val="120000"/>
              </a:lnSpc>
              <a:spcBef>
                <a:spcPts val="0"/>
              </a:spcBef>
              <a:buNone/>
            </a:pPr>
            <a:r>
              <a:rPr lang="vi-VN" dirty="0">
                <a:latin typeface="Calibri" pitchFamily="34" charset="0"/>
                <a:cs typeface="Calibri" pitchFamily="34" charset="0"/>
              </a:rPr>
              <a:t>        System.out.println("Ten  : " + ten);</a:t>
            </a:r>
          </a:p>
          <a:p>
            <a:pPr marL="0" indent="0" algn="just">
              <a:lnSpc>
                <a:spcPct val="120000"/>
              </a:lnSpc>
              <a:spcBef>
                <a:spcPts val="0"/>
              </a:spcBef>
              <a:buNone/>
            </a:pPr>
            <a:r>
              <a:rPr lang="vi-VN" dirty="0">
                <a:latin typeface="Calibri" pitchFamily="34" charset="0"/>
                <a:cs typeface="Calibri" pitchFamily="34" charset="0"/>
              </a:rPr>
              <a:t>        System.out.println("Tuoi : " + tuoi);</a:t>
            </a:r>
          </a:p>
          <a:p>
            <a:pPr marL="0" indent="0" algn="just">
              <a:lnSpc>
                <a:spcPct val="120000"/>
              </a:lnSpc>
              <a:spcBef>
                <a:spcPts val="0"/>
              </a:spcBef>
              <a:buNone/>
            </a:pPr>
            <a:r>
              <a:rPr lang="vi-VN" dirty="0">
                <a:latin typeface="Calibri" pitchFamily="34" charset="0"/>
                <a:cs typeface="Calibri" pitchFamily="34" charset="0"/>
              </a:rPr>
              <a:t>    </a:t>
            </a:r>
            <a:r>
              <a:rPr lang="vi-VN" dirty="0" smtClean="0">
                <a:latin typeface="Calibri" pitchFamily="34" charset="0"/>
                <a:cs typeface="Calibri" pitchFamily="34" charset="0"/>
              </a:rPr>
              <a:t>} </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public static void main(String args[]) {</a:t>
            </a:r>
          </a:p>
          <a:p>
            <a:pPr marL="0" indent="0" algn="just">
              <a:lnSpc>
                <a:spcPct val="120000"/>
              </a:lnSpc>
              <a:spcBef>
                <a:spcPts val="0"/>
              </a:spcBef>
              <a:buNone/>
            </a:pPr>
            <a:r>
              <a:rPr lang="vi-VN" dirty="0">
                <a:latin typeface="Calibri" pitchFamily="34" charset="0"/>
                <a:cs typeface="Calibri" pitchFamily="34" charset="0"/>
              </a:rPr>
              <a:t>        Sinhvien sv = new Sinhvien("Nguyen Van A");</a:t>
            </a:r>
          </a:p>
          <a:p>
            <a:pPr marL="0" indent="0" algn="just">
              <a:lnSpc>
                <a:spcPct val="120000"/>
              </a:lnSpc>
              <a:spcBef>
                <a:spcPts val="0"/>
              </a:spcBef>
              <a:buNone/>
            </a:pPr>
            <a:r>
              <a:rPr lang="vi-VN" dirty="0">
                <a:latin typeface="Calibri" pitchFamily="34" charset="0"/>
                <a:cs typeface="Calibri" pitchFamily="34" charset="0"/>
              </a:rPr>
              <a:t>        sv.setTuoi(21);</a:t>
            </a:r>
          </a:p>
          <a:p>
            <a:pPr marL="0" indent="0" algn="just">
              <a:lnSpc>
                <a:spcPct val="120000"/>
              </a:lnSpc>
              <a:spcBef>
                <a:spcPts val="0"/>
              </a:spcBef>
              <a:buNone/>
            </a:pPr>
            <a:r>
              <a:rPr lang="vi-VN" dirty="0">
                <a:latin typeface="Calibri" pitchFamily="34" charset="0"/>
                <a:cs typeface="Calibri" pitchFamily="34" charset="0"/>
              </a:rPr>
              <a:t>        sv.showStudent();</a:t>
            </a:r>
          </a:p>
          <a:p>
            <a:pPr marL="0" indent="0" algn="just">
              <a:lnSpc>
                <a:spcPct val="120000"/>
              </a:lnSpc>
              <a:spcBef>
                <a:spcPts val="0"/>
              </a:spcBef>
              <a:buNone/>
            </a:pPr>
            <a:r>
              <a:rPr lang="vi-VN" dirty="0">
                <a:latin typeface="Calibri" pitchFamily="34" charset="0"/>
                <a:cs typeface="Calibri" pitchFamily="34" charset="0"/>
              </a:rPr>
              <a:t>    }</a:t>
            </a:r>
          </a:p>
          <a:p>
            <a:pPr marL="0" indent="0" algn="just">
              <a:lnSpc>
                <a:spcPct val="120000"/>
              </a:lnSpc>
              <a:spcBef>
                <a:spcPts val="0"/>
              </a:spcBef>
              <a:buNone/>
            </a:pPr>
            <a:r>
              <a:rPr lang="vi-VN" dirty="0">
                <a:latin typeface="Calibri" pitchFamily="34" charset="0"/>
                <a:cs typeface="Calibri" pitchFamily="34" charset="0"/>
              </a:rPr>
              <a:t>}</a:t>
            </a:r>
            <a:endParaRPr lang="en-US" dirty="0">
              <a:latin typeface="Calibri" pitchFamily="34" charset="0"/>
              <a:cs typeface="Calibri" pitchFamily="34" charset="0"/>
            </a:endParaRP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23</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184569" y="3573422"/>
            <a:ext cx="2815771" cy="178234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nl-NL" sz="2000" dirty="0"/>
              <a:t>Ten  : Nguyen Van A</a:t>
            </a:r>
          </a:p>
          <a:p>
            <a:pPr marL="0" indent="0">
              <a:buNone/>
            </a:pPr>
            <a:r>
              <a:rPr lang="nl-NL" sz="2000" dirty="0"/>
              <a:t>Tuoi : 21</a:t>
            </a:r>
            <a:endParaRPr lang="en-US" sz="2000" dirty="0"/>
          </a:p>
        </p:txBody>
      </p:sp>
    </p:spTree>
    <p:extLst>
      <p:ext uri="{BB962C8B-B14F-4D97-AF65-F5344CB8AC3E}">
        <p14:creationId xmlns:p14="http://schemas.microsoft.com/office/powerpoint/2010/main" val="137859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Static variables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fontScale="92500" lnSpcReduction="10000"/>
          </a:bodyPr>
          <a:lstStyle/>
          <a:p>
            <a:pPr algn="just">
              <a:lnSpc>
                <a:spcPct val="120000"/>
              </a:lnSpc>
              <a:spcBef>
                <a:spcPts val="0"/>
              </a:spcBef>
            </a:pPr>
            <a:r>
              <a:rPr lang="en-US" sz="3200" b="1" dirty="0"/>
              <a:t>Static</a:t>
            </a:r>
            <a:r>
              <a:rPr lang="en-US" sz="3200" dirty="0"/>
              <a:t> variables are declared in a class with the keyword "static", outside of </a:t>
            </a:r>
            <a:r>
              <a:rPr lang="en-US" sz="3200" dirty="0" smtClean="0"/>
              <a:t>functions</a:t>
            </a:r>
            <a:r>
              <a:rPr lang="en-US" sz="3200" dirty="0"/>
              <a:t>, constructors and blocks.</a:t>
            </a:r>
          </a:p>
          <a:p>
            <a:pPr algn="just">
              <a:lnSpc>
                <a:spcPct val="120000"/>
              </a:lnSpc>
              <a:spcBef>
                <a:spcPts val="0"/>
              </a:spcBef>
            </a:pPr>
            <a:r>
              <a:rPr lang="en-US" sz="3200" b="1" dirty="0" smtClean="0"/>
              <a:t>Static</a:t>
            </a:r>
            <a:r>
              <a:rPr lang="en-US" sz="3200" dirty="0" smtClean="0"/>
              <a:t> </a:t>
            </a:r>
            <a:r>
              <a:rPr lang="en-US" sz="3200" dirty="0"/>
              <a:t>variables are stored in separate static memory.</a:t>
            </a:r>
          </a:p>
          <a:p>
            <a:pPr algn="just">
              <a:lnSpc>
                <a:spcPct val="120000"/>
              </a:lnSpc>
              <a:spcBef>
                <a:spcPts val="0"/>
              </a:spcBef>
            </a:pPr>
            <a:r>
              <a:rPr lang="en-US" sz="3200" b="1" dirty="0"/>
              <a:t>Static</a:t>
            </a:r>
            <a:r>
              <a:rPr lang="en-US" sz="3200" dirty="0"/>
              <a:t> variables are created when the program starts running and only destroyed when the program stops.</a:t>
            </a:r>
          </a:p>
          <a:p>
            <a:pPr algn="just">
              <a:lnSpc>
                <a:spcPct val="120000"/>
              </a:lnSpc>
              <a:spcBef>
                <a:spcPts val="0"/>
              </a:spcBef>
            </a:pPr>
            <a:r>
              <a:rPr lang="en-US" sz="3200" dirty="0"/>
              <a:t>The default value of the static variable depends on the data type you declare is similar to the instance variable.</a:t>
            </a:r>
          </a:p>
          <a:p>
            <a:pPr algn="just">
              <a:lnSpc>
                <a:spcPct val="120000"/>
              </a:lnSpc>
              <a:spcBef>
                <a:spcPts val="0"/>
              </a:spcBef>
            </a:pPr>
            <a:r>
              <a:rPr lang="en-US" sz="3200" dirty="0"/>
              <a:t>The static variable is accessed via the name of the class that contains it, with the syntax: </a:t>
            </a:r>
            <a:r>
              <a:rPr lang="en-US" sz="3200" b="1" dirty="0" err="1" smtClean="0"/>
              <a:t>ClassName.VariableName</a:t>
            </a:r>
            <a:r>
              <a:rPr lang="en-US" sz="3200" dirty="0" smtClean="0"/>
              <a:t>.</a:t>
            </a:r>
            <a:endParaRPr lang="en-US" sz="3200" dirty="0"/>
          </a:p>
          <a:p>
            <a:pPr algn="just">
              <a:lnSpc>
                <a:spcPct val="120000"/>
              </a:lnSpc>
              <a:spcBef>
                <a:spcPts val="0"/>
              </a:spcBef>
            </a:pPr>
            <a:r>
              <a:rPr lang="en-US" sz="3200" dirty="0"/>
              <a:t>In a class, methods use a static variable by calling its name when that method is also declared with the keyword "static".</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24</a:t>
            </a:fld>
            <a:endParaRPr lang="en-US" dirty="0"/>
          </a:p>
        </p:txBody>
      </p:sp>
    </p:spTree>
    <p:extLst>
      <p:ext uri="{BB962C8B-B14F-4D97-AF65-F5344CB8AC3E}">
        <p14:creationId xmlns:p14="http://schemas.microsoft.com/office/powerpoint/2010/main" val="264380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Static variables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fontScale="92500" lnSpcReduction="10000"/>
          </a:bodyPr>
          <a:lstStyle/>
          <a:p>
            <a:pPr marL="0" indent="0" algn="just">
              <a:lnSpc>
                <a:spcPct val="120000"/>
              </a:lnSpc>
              <a:spcBef>
                <a:spcPts val="0"/>
              </a:spcBef>
              <a:buNone/>
            </a:pPr>
            <a:r>
              <a:rPr lang="vi-VN" dirty="0">
                <a:latin typeface="Calibri" pitchFamily="34" charset="0"/>
                <a:cs typeface="Calibri" pitchFamily="34" charset="0"/>
              </a:rPr>
              <a:t>public class Sinhvien {</a:t>
            </a:r>
          </a:p>
          <a:p>
            <a:pPr marL="0" indent="0" algn="just">
              <a:lnSpc>
                <a:spcPct val="120000"/>
              </a:lnSpc>
              <a:spcBef>
                <a:spcPts val="0"/>
              </a:spcBef>
              <a:buNone/>
            </a:pPr>
            <a:r>
              <a:rPr lang="vi-VN" dirty="0">
                <a:latin typeface="Calibri" pitchFamily="34" charset="0"/>
                <a:cs typeface="Calibri" pitchFamily="34" charset="0"/>
              </a:rPr>
              <a:t>    // </a:t>
            </a:r>
            <a:r>
              <a:rPr lang="vi-VN" dirty="0" smtClean="0">
                <a:latin typeface="Calibri" pitchFamily="34" charset="0"/>
                <a:cs typeface="Calibri" pitchFamily="34" charset="0"/>
              </a:rPr>
              <a:t>static</a:t>
            </a:r>
            <a:r>
              <a:rPr lang="en-US" dirty="0" smtClean="0">
                <a:latin typeface="Calibri" pitchFamily="34" charset="0"/>
                <a:cs typeface="Calibri" pitchFamily="34" charset="0"/>
              </a:rPr>
              <a:t> variable </a:t>
            </a:r>
            <a:r>
              <a:rPr lang="vi-VN" dirty="0" smtClean="0">
                <a:latin typeface="Calibri" pitchFamily="34" charset="0"/>
                <a:cs typeface="Calibri" pitchFamily="34" charset="0"/>
              </a:rPr>
              <a:t> </a:t>
            </a:r>
            <a:r>
              <a:rPr lang="vi-VN" dirty="0">
                <a:latin typeface="Calibri" pitchFamily="34" charset="0"/>
                <a:cs typeface="Calibri" pitchFamily="34" charset="0"/>
              </a:rPr>
              <a:t>'ten'</a:t>
            </a:r>
          </a:p>
          <a:p>
            <a:pPr marL="0" indent="0" algn="just">
              <a:lnSpc>
                <a:spcPct val="120000"/>
              </a:lnSpc>
              <a:spcBef>
                <a:spcPts val="0"/>
              </a:spcBef>
              <a:buNone/>
            </a:pPr>
            <a:r>
              <a:rPr lang="vi-VN" dirty="0">
                <a:latin typeface="Calibri" pitchFamily="34" charset="0"/>
                <a:cs typeface="Calibri" pitchFamily="34" charset="0"/>
              </a:rPr>
              <a:t>    public </a:t>
            </a:r>
            <a:r>
              <a:rPr lang="vi-VN" b="1" dirty="0">
                <a:latin typeface="Calibri" pitchFamily="34" charset="0"/>
                <a:cs typeface="Calibri" pitchFamily="34" charset="0"/>
              </a:rPr>
              <a:t>static</a:t>
            </a:r>
            <a:r>
              <a:rPr lang="vi-VN" dirty="0">
                <a:latin typeface="Calibri" pitchFamily="34" charset="0"/>
                <a:cs typeface="Calibri" pitchFamily="34" charset="0"/>
              </a:rPr>
              <a:t> String ten = "Nguyen Van A</a:t>
            </a:r>
            <a:r>
              <a:rPr lang="vi-VN" dirty="0" smtClean="0">
                <a:latin typeface="Calibri" pitchFamily="34" charset="0"/>
                <a:cs typeface="Calibri" pitchFamily="34" charset="0"/>
              </a:rPr>
              <a:t>";</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 </a:t>
            </a:r>
            <a:r>
              <a:rPr lang="vi-VN" dirty="0" smtClean="0">
                <a:latin typeface="Calibri" pitchFamily="34" charset="0"/>
                <a:cs typeface="Calibri" pitchFamily="34" charset="0"/>
              </a:rPr>
              <a:t>static</a:t>
            </a:r>
            <a:r>
              <a:rPr lang="en-US" dirty="0" smtClean="0">
                <a:latin typeface="Calibri" pitchFamily="34" charset="0"/>
                <a:cs typeface="Calibri" pitchFamily="34" charset="0"/>
              </a:rPr>
              <a:t> variable</a:t>
            </a:r>
            <a:r>
              <a:rPr lang="vi-VN" dirty="0" smtClean="0">
                <a:latin typeface="Calibri" pitchFamily="34" charset="0"/>
                <a:cs typeface="Calibri" pitchFamily="34" charset="0"/>
              </a:rPr>
              <a:t> </a:t>
            </a:r>
            <a:r>
              <a:rPr lang="vi-VN" dirty="0">
                <a:latin typeface="Calibri" pitchFamily="34" charset="0"/>
                <a:cs typeface="Calibri" pitchFamily="34" charset="0"/>
              </a:rPr>
              <a:t>'tuoi'</a:t>
            </a:r>
          </a:p>
          <a:p>
            <a:pPr marL="0" indent="0" algn="just">
              <a:lnSpc>
                <a:spcPct val="120000"/>
              </a:lnSpc>
              <a:spcBef>
                <a:spcPts val="0"/>
              </a:spcBef>
              <a:buNone/>
            </a:pPr>
            <a:r>
              <a:rPr lang="vi-VN" dirty="0">
                <a:latin typeface="Calibri" pitchFamily="34" charset="0"/>
                <a:cs typeface="Calibri" pitchFamily="34" charset="0"/>
              </a:rPr>
              <a:t>    public static int tuoi = 21</a:t>
            </a:r>
            <a:r>
              <a:rPr lang="vi-VN" dirty="0" smtClean="0">
                <a:latin typeface="Calibri" pitchFamily="34" charset="0"/>
                <a:cs typeface="Calibri" pitchFamily="34" charset="0"/>
              </a:rPr>
              <a:t>;</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public static void main(String args[]) {</a:t>
            </a:r>
          </a:p>
          <a:p>
            <a:pPr marL="0" indent="0" algn="just">
              <a:lnSpc>
                <a:spcPct val="120000"/>
              </a:lnSpc>
              <a:spcBef>
                <a:spcPts val="0"/>
              </a:spcBef>
              <a:buNone/>
            </a:pPr>
            <a:r>
              <a:rPr lang="vi-VN" dirty="0">
                <a:latin typeface="Calibri" pitchFamily="34" charset="0"/>
                <a:cs typeface="Calibri" pitchFamily="34" charset="0"/>
              </a:rPr>
              <a:t>        // </a:t>
            </a:r>
            <a:r>
              <a:rPr lang="en-US" dirty="0" smtClean="0">
                <a:latin typeface="Calibri" pitchFamily="34" charset="0"/>
                <a:cs typeface="Calibri" pitchFamily="34" charset="0"/>
              </a:rPr>
              <a:t>call directory</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System.out.println("Ten : " + ten</a:t>
            </a:r>
            <a:r>
              <a:rPr lang="vi-VN" dirty="0" smtClean="0">
                <a:latin typeface="Calibri" pitchFamily="34" charset="0"/>
                <a:cs typeface="Calibri" pitchFamily="34" charset="0"/>
              </a:rPr>
              <a:t>);</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 </a:t>
            </a:r>
            <a:r>
              <a:rPr lang="en-US" dirty="0" smtClean="0">
                <a:latin typeface="Calibri" pitchFamily="34" charset="0"/>
                <a:cs typeface="Calibri" pitchFamily="34" charset="0"/>
              </a:rPr>
              <a:t>call by using class name</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System.out.println("Ten : " + Sinhvien.tuoi);</a:t>
            </a:r>
          </a:p>
          <a:p>
            <a:pPr marL="0" indent="0" algn="just">
              <a:lnSpc>
                <a:spcPct val="120000"/>
              </a:lnSpc>
              <a:spcBef>
                <a:spcPts val="0"/>
              </a:spcBef>
              <a:buNone/>
            </a:pPr>
            <a:r>
              <a:rPr lang="vi-VN" dirty="0">
                <a:latin typeface="Calibri" pitchFamily="34" charset="0"/>
                <a:cs typeface="Calibri" pitchFamily="34" charset="0"/>
              </a:rPr>
              <a:t>    }</a:t>
            </a:r>
          </a:p>
          <a:p>
            <a:pPr marL="0" indent="0" algn="just">
              <a:lnSpc>
                <a:spcPct val="120000"/>
              </a:lnSpc>
              <a:spcBef>
                <a:spcPts val="0"/>
              </a:spcBef>
              <a:buNone/>
            </a:pPr>
            <a:r>
              <a:rPr lang="vi-VN" dirty="0">
                <a:latin typeface="Calibri" pitchFamily="34" charset="0"/>
                <a:cs typeface="Calibri" pitchFamily="34" charset="0"/>
              </a:rPr>
              <a:t>}</a:t>
            </a:r>
            <a:endParaRPr lang="en-US" dirty="0">
              <a:latin typeface="Calibri" pitchFamily="34" charset="0"/>
              <a:cs typeface="Calibri" pitchFamily="34" charset="0"/>
            </a:endParaRP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25</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8244112" y="1802679"/>
            <a:ext cx="2815771" cy="169526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nl-NL" sz="2000" dirty="0"/>
              <a:t>Ten  : Nguyen Van A</a:t>
            </a:r>
          </a:p>
          <a:p>
            <a:pPr marL="0" indent="0">
              <a:buNone/>
            </a:pPr>
            <a:r>
              <a:rPr lang="nl-NL" sz="2000" dirty="0"/>
              <a:t>Tuoi : 21</a:t>
            </a:r>
            <a:endParaRPr lang="en-US" sz="2000" dirty="0"/>
          </a:p>
        </p:txBody>
      </p:sp>
    </p:spTree>
    <p:extLst>
      <p:ext uri="{BB962C8B-B14F-4D97-AF65-F5344CB8AC3E}">
        <p14:creationId xmlns:p14="http://schemas.microsoft.com/office/powerpoint/2010/main" val="101613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1" y="1074057"/>
            <a:ext cx="10515598" cy="5647418"/>
          </a:xfrm>
        </p:spPr>
        <p:txBody>
          <a:bodyPr>
            <a:normAutofit fontScale="85000" lnSpcReduction="20000"/>
          </a:bodyPr>
          <a:lstStyle/>
          <a:p>
            <a:pPr marL="0" indent="0" algn="just">
              <a:lnSpc>
                <a:spcPct val="120000"/>
              </a:lnSpc>
              <a:spcBef>
                <a:spcPts val="0"/>
              </a:spcBef>
              <a:buNone/>
            </a:pPr>
            <a:r>
              <a:rPr lang="vi-VN" dirty="0">
                <a:latin typeface="Calibri" pitchFamily="34" charset="0"/>
                <a:cs typeface="Calibri" pitchFamily="34" charset="0"/>
              </a:rPr>
              <a:t>public class VariableTutorial { </a:t>
            </a:r>
          </a:p>
          <a:p>
            <a:pPr marL="0" indent="0" algn="just">
              <a:lnSpc>
                <a:spcPct val="120000"/>
              </a:lnSpc>
              <a:spcBef>
                <a:spcPts val="0"/>
              </a:spcBef>
              <a:buNone/>
            </a:pPr>
            <a:r>
              <a:rPr lang="vi-VN" dirty="0">
                <a:latin typeface="Calibri" pitchFamily="34" charset="0"/>
                <a:cs typeface="Calibri" pitchFamily="34" charset="0"/>
              </a:rPr>
              <a:t>    // </a:t>
            </a:r>
            <a:r>
              <a:rPr lang="en-US" dirty="0" smtClean="0">
                <a:latin typeface="Calibri" pitchFamily="34" charset="0"/>
                <a:cs typeface="Calibri" pitchFamily="34" charset="0"/>
              </a:rPr>
              <a:t>static variable</a:t>
            </a:r>
          </a:p>
          <a:p>
            <a:pPr marL="0" indent="0" algn="just">
              <a:lnSpc>
                <a:spcPct val="120000"/>
              </a:lnSpc>
              <a:spcBef>
                <a:spcPts val="0"/>
              </a:spcBef>
              <a:buNone/>
            </a:pPr>
            <a:r>
              <a:rPr lang="en-US" dirty="0" smtClean="0">
                <a:latin typeface="Calibri" pitchFamily="34" charset="0"/>
                <a:cs typeface="Calibri" pitchFamily="34" charset="0"/>
              </a:rPr>
              <a:t>    static </a:t>
            </a:r>
            <a:r>
              <a:rPr lang="vi-VN" dirty="0" smtClean="0">
                <a:latin typeface="Calibri" pitchFamily="34" charset="0"/>
                <a:cs typeface="Calibri" pitchFamily="34" charset="0"/>
              </a:rPr>
              <a:t>int So </a:t>
            </a:r>
            <a:r>
              <a:rPr lang="vi-VN" dirty="0">
                <a:latin typeface="Calibri" pitchFamily="34" charset="0"/>
                <a:cs typeface="Calibri" pitchFamily="34" charset="0"/>
              </a:rPr>
              <a:t>= 10</a:t>
            </a:r>
            <a:r>
              <a:rPr lang="vi-VN" dirty="0" smtClean="0">
                <a:latin typeface="Calibri" pitchFamily="34" charset="0"/>
                <a:cs typeface="Calibri" pitchFamily="34" charset="0"/>
              </a:rPr>
              <a:t>;</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 </a:t>
            </a:r>
            <a:r>
              <a:rPr lang="en-US" dirty="0" smtClean="0">
                <a:latin typeface="Calibri" pitchFamily="34" charset="0"/>
                <a:cs typeface="Calibri" pitchFamily="34" charset="0"/>
              </a:rPr>
              <a:t>global variable</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String </a:t>
            </a:r>
            <a:r>
              <a:rPr lang="en-US" dirty="0" err="1" smtClean="0">
                <a:latin typeface="Calibri" pitchFamily="34" charset="0"/>
                <a:cs typeface="Calibri" pitchFamily="34" charset="0"/>
              </a:rPr>
              <a:t>globalVariable</a:t>
            </a:r>
            <a:r>
              <a:rPr lang="vi-VN" dirty="0" smtClean="0">
                <a:latin typeface="Calibri" pitchFamily="34" charset="0"/>
                <a:cs typeface="Calibri" pitchFamily="34" charset="0"/>
              </a:rPr>
              <a:t>= </a:t>
            </a:r>
            <a:r>
              <a:rPr lang="vi-VN" dirty="0">
                <a:latin typeface="Calibri" pitchFamily="34" charset="0"/>
                <a:cs typeface="Calibri" pitchFamily="34" charset="0"/>
              </a:rPr>
              <a:t>"</a:t>
            </a:r>
            <a:r>
              <a:rPr lang="en-US" dirty="0" smtClean="0">
                <a:latin typeface="Calibri" pitchFamily="34" charset="0"/>
                <a:cs typeface="Calibri" pitchFamily="34" charset="0"/>
              </a:rPr>
              <a:t>Global variable</a:t>
            </a:r>
            <a:r>
              <a:rPr lang="vi-VN" dirty="0" smtClean="0">
                <a:latin typeface="Calibri" pitchFamily="34" charset="0"/>
                <a:cs typeface="Calibri" pitchFamily="34" charset="0"/>
              </a:rPr>
              <a:t>";</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int number1 = 10</a:t>
            </a:r>
            <a:r>
              <a:rPr lang="vi-VN" dirty="0" smtClean="0">
                <a:latin typeface="Calibri" pitchFamily="34" charset="0"/>
                <a:cs typeface="Calibri" pitchFamily="34" charset="0"/>
              </a:rPr>
              <a:t>;     </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public void testVarial() {</a:t>
            </a:r>
          </a:p>
          <a:p>
            <a:pPr marL="0" indent="0" algn="just">
              <a:lnSpc>
                <a:spcPct val="120000"/>
              </a:lnSpc>
              <a:spcBef>
                <a:spcPts val="0"/>
              </a:spcBef>
              <a:buNone/>
            </a:pPr>
            <a:r>
              <a:rPr lang="en-US" dirty="0">
                <a:latin typeface="Calibri" pitchFamily="34" charset="0"/>
                <a:cs typeface="Calibri" pitchFamily="34" charset="0"/>
              </a:rPr>
              <a:t> </a:t>
            </a:r>
            <a:r>
              <a:rPr lang="en-US" dirty="0" smtClean="0">
                <a:latin typeface="Calibri" pitchFamily="34" charset="0"/>
                <a:cs typeface="Calibri" pitchFamily="34" charset="0"/>
              </a:rPr>
              <a:t>      </a:t>
            </a:r>
            <a:r>
              <a:rPr lang="vi-VN" dirty="0" smtClean="0">
                <a:latin typeface="Calibri" pitchFamily="34" charset="0"/>
                <a:cs typeface="Calibri" pitchFamily="34" charset="0"/>
              </a:rPr>
              <a:t> </a:t>
            </a:r>
            <a:r>
              <a:rPr lang="vi-VN" dirty="0">
                <a:latin typeface="Calibri" pitchFamily="34" charset="0"/>
                <a:cs typeface="Calibri" pitchFamily="34" charset="0"/>
              </a:rPr>
              <a:t>// </a:t>
            </a:r>
            <a:r>
              <a:rPr lang="en-US" dirty="0">
                <a:latin typeface="Calibri" pitchFamily="34" charset="0"/>
                <a:cs typeface="Calibri" pitchFamily="34" charset="0"/>
              </a:rPr>
              <a:t>local </a:t>
            </a:r>
            <a:r>
              <a:rPr lang="en-US" dirty="0" smtClean="0">
                <a:latin typeface="Calibri" pitchFamily="34" charset="0"/>
                <a:cs typeface="Calibri" pitchFamily="34" charset="0"/>
              </a:rPr>
              <a:t>variable</a:t>
            </a:r>
          </a:p>
          <a:p>
            <a:pPr marL="0" indent="0" algn="just">
              <a:lnSpc>
                <a:spcPct val="120000"/>
              </a:lnSpc>
              <a:spcBef>
                <a:spcPts val="0"/>
              </a:spcBef>
              <a:buNone/>
            </a:pPr>
            <a:r>
              <a:rPr lang="vi-VN" dirty="0" smtClean="0">
                <a:latin typeface="Calibri" pitchFamily="34" charset="0"/>
                <a:cs typeface="Calibri" pitchFamily="34" charset="0"/>
              </a:rPr>
              <a:t>        </a:t>
            </a:r>
            <a:r>
              <a:rPr lang="en-US" dirty="0" err="1" smtClean="0">
                <a:latin typeface="Calibri" pitchFamily="34" charset="0"/>
                <a:cs typeface="Calibri" pitchFamily="34" charset="0"/>
              </a:rPr>
              <a:t>int</a:t>
            </a:r>
            <a:r>
              <a:rPr lang="en-US" dirty="0" smtClean="0">
                <a:latin typeface="Calibri" pitchFamily="34" charset="0"/>
                <a:cs typeface="Calibri" pitchFamily="34" charset="0"/>
              </a:rPr>
              <a:t> </a:t>
            </a:r>
            <a:r>
              <a:rPr lang="vi-VN" dirty="0" smtClean="0">
                <a:latin typeface="Calibri" pitchFamily="34" charset="0"/>
                <a:cs typeface="Calibri" pitchFamily="34" charset="0"/>
              </a:rPr>
              <a:t>number</a:t>
            </a:r>
            <a:r>
              <a:rPr lang="en-US" dirty="0" smtClean="0">
                <a:latin typeface="Calibri" pitchFamily="34" charset="0"/>
                <a:cs typeface="Calibri" pitchFamily="34" charset="0"/>
              </a:rPr>
              <a:t>2</a:t>
            </a:r>
            <a:r>
              <a:rPr lang="vi-VN" dirty="0" smtClean="0">
                <a:latin typeface="Calibri" pitchFamily="34" charset="0"/>
                <a:cs typeface="Calibri" pitchFamily="34" charset="0"/>
              </a:rPr>
              <a:t> </a:t>
            </a:r>
            <a:r>
              <a:rPr lang="vi-VN" dirty="0">
                <a:latin typeface="Calibri" pitchFamily="34" charset="0"/>
                <a:cs typeface="Calibri" pitchFamily="34" charset="0"/>
              </a:rPr>
              <a:t>= 20</a:t>
            </a:r>
            <a:r>
              <a:rPr lang="vi-VN" dirty="0" smtClean="0">
                <a:latin typeface="Calibri" pitchFamily="34" charset="0"/>
                <a:cs typeface="Calibri" pitchFamily="34" charset="0"/>
              </a:rPr>
              <a:t>;</a:t>
            </a:r>
            <a:endParaRPr lang="en-US" dirty="0" smtClean="0">
              <a:latin typeface="Calibri" pitchFamily="34" charset="0"/>
              <a:cs typeface="Calibri" pitchFamily="34" charset="0"/>
            </a:endParaRPr>
          </a:p>
          <a:p>
            <a:pPr marL="0" indent="0" algn="just">
              <a:lnSpc>
                <a:spcPct val="120000"/>
              </a:lnSpc>
              <a:spcBef>
                <a:spcPts val="0"/>
              </a:spcBef>
              <a:buNone/>
            </a:pPr>
            <a:r>
              <a:rPr lang="en-US" dirty="0">
                <a:latin typeface="Calibri" pitchFamily="34" charset="0"/>
                <a:cs typeface="Calibri" pitchFamily="34" charset="0"/>
              </a:rPr>
              <a:t> </a:t>
            </a:r>
            <a:r>
              <a:rPr lang="en-US" dirty="0" smtClean="0">
                <a:latin typeface="Calibri" pitchFamily="34" charset="0"/>
                <a:cs typeface="Calibri" pitchFamily="34" charset="0"/>
              </a:rPr>
              <a:t>   </a:t>
            </a:r>
            <a:r>
              <a:rPr lang="vi-VN" dirty="0" smtClean="0">
                <a:latin typeface="Calibri" pitchFamily="34" charset="0"/>
                <a:cs typeface="Calibri" pitchFamily="34" charset="0"/>
              </a:rPr>
              <a:t>}     </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public static void main(String[] args) {</a:t>
            </a:r>
          </a:p>
          <a:p>
            <a:pPr marL="0" indent="0" algn="just">
              <a:lnSpc>
                <a:spcPct val="120000"/>
              </a:lnSpc>
              <a:spcBef>
                <a:spcPts val="0"/>
              </a:spcBef>
              <a:buNone/>
            </a:pPr>
            <a:r>
              <a:rPr lang="vi-VN" dirty="0">
                <a:latin typeface="Calibri" pitchFamily="34" charset="0"/>
                <a:cs typeface="Calibri" pitchFamily="34" charset="0"/>
              </a:rPr>
              <a:t>        // </a:t>
            </a:r>
            <a:r>
              <a:rPr lang="en-US" dirty="0" smtClean="0">
                <a:latin typeface="Calibri" pitchFamily="34" charset="0"/>
                <a:cs typeface="Calibri" pitchFamily="34" charset="0"/>
              </a:rPr>
              <a:t>local variable</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a:t>
            </a:r>
            <a:r>
              <a:rPr lang="vi-VN" dirty="0" smtClean="0">
                <a:latin typeface="Calibri" pitchFamily="34" charset="0"/>
                <a:cs typeface="Calibri" pitchFamily="34" charset="0"/>
              </a:rPr>
              <a:t>String</a:t>
            </a:r>
            <a:r>
              <a:rPr lang="en-US" dirty="0" smtClean="0">
                <a:latin typeface="Calibri" pitchFamily="34" charset="0"/>
                <a:cs typeface="Calibri" pitchFamily="34" charset="0"/>
              </a:rPr>
              <a:t> </a:t>
            </a:r>
            <a:r>
              <a:rPr lang="en-US" dirty="0" err="1" smtClean="0">
                <a:latin typeface="Calibri" pitchFamily="34" charset="0"/>
                <a:cs typeface="Calibri" pitchFamily="34" charset="0"/>
              </a:rPr>
              <a:t>localVariable</a:t>
            </a:r>
            <a:r>
              <a:rPr lang="vi-VN" dirty="0" smtClean="0">
                <a:latin typeface="Calibri" pitchFamily="34" charset="0"/>
                <a:cs typeface="Calibri" pitchFamily="34" charset="0"/>
              </a:rPr>
              <a:t> </a:t>
            </a:r>
            <a:r>
              <a:rPr lang="vi-VN" dirty="0">
                <a:latin typeface="Calibri" pitchFamily="34" charset="0"/>
                <a:cs typeface="Calibri" pitchFamily="34" charset="0"/>
              </a:rPr>
              <a:t>= </a:t>
            </a:r>
            <a:r>
              <a:rPr lang="vi-VN" dirty="0" smtClean="0">
                <a:latin typeface="Calibri" pitchFamily="34" charset="0"/>
                <a:cs typeface="Calibri" pitchFamily="34" charset="0"/>
              </a:rPr>
              <a:t>"</a:t>
            </a:r>
            <a:r>
              <a:rPr lang="en-US" dirty="0" smtClean="0">
                <a:latin typeface="Calibri" pitchFamily="34" charset="0"/>
                <a:cs typeface="Calibri" pitchFamily="34" charset="0"/>
              </a:rPr>
              <a:t>local variable</a:t>
            </a:r>
            <a:r>
              <a:rPr lang="vi-VN" dirty="0" smtClean="0">
                <a:latin typeface="Calibri" pitchFamily="34" charset="0"/>
                <a:cs typeface="Calibri" pitchFamily="34" charset="0"/>
              </a:rPr>
              <a:t>";        </a:t>
            </a:r>
            <a:endParaRPr lang="vi-VN" dirty="0">
              <a:latin typeface="Calibri" pitchFamily="34" charset="0"/>
              <a:cs typeface="Calibri" pitchFamily="34" charset="0"/>
            </a:endParaRPr>
          </a:p>
          <a:p>
            <a:pPr marL="0" indent="0" algn="just">
              <a:lnSpc>
                <a:spcPct val="120000"/>
              </a:lnSpc>
              <a:spcBef>
                <a:spcPts val="0"/>
              </a:spcBef>
              <a:buNone/>
            </a:pPr>
            <a:r>
              <a:rPr lang="vi-VN" dirty="0">
                <a:latin typeface="Calibri" pitchFamily="34" charset="0"/>
                <a:cs typeface="Calibri" pitchFamily="34" charset="0"/>
              </a:rPr>
              <a:t>    }   </a:t>
            </a:r>
          </a:p>
          <a:p>
            <a:pPr marL="0" indent="0" algn="just">
              <a:lnSpc>
                <a:spcPct val="120000"/>
              </a:lnSpc>
              <a:spcBef>
                <a:spcPts val="0"/>
              </a:spcBef>
              <a:buNone/>
            </a:pPr>
            <a:r>
              <a:rPr lang="vi-VN" dirty="0">
                <a:latin typeface="Calibri" pitchFamily="34" charset="0"/>
                <a:cs typeface="Calibri" pitchFamily="34" charset="0"/>
              </a:rPr>
              <a:t>}</a:t>
            </a:r>
            <a:endParaRPr lang="en-US" dirty="0">
              <a:latin typeface="Calibri" pitchFamily="34" charset="0"/>
              <a:cs typeface="Calibri" pitchFamily="34" charset="0"/>
            </a:endParaRP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26</a:t>
            </a:fld>
            <a:endParaRPr lang="en-US" dirty="0"/>
          </a:p>
        </p:txBody>
      </p:sp>
    </p:spTree>
    <p:extLst>
      <p:ext uri="{BB962C8B-B14F-4D97-AF65-F5344CB8AC3E}">
        <p14:creationId xmlns:p14="http://schemas.microsoft.com/office/powerpoint/2010/main" val="19875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fontScale="92500"/>
          </a:bodyPr>
          <a:lstStyle/>
          <a:p>
            <a:r>
              <a:rPr lang="en-US" dirty="0">
                <a:hlinkClick r:id="rId2"/>
              </a:rPr>
              <a:t>https://</a:t>
            </a:r>
            <a:r>
              <a:rPr lang="en-US" dirty="0" err="1" smtClean="0">
                <a:hlinkClick r:id="rId2"/>
              </a:rPr>
              <a:t>www.programiz.com</a:t>
            </a:r>
            <a:r>
              <a:rPr lang="en-US" dirty="0" smtClean="0">
                <a:hlinkClick r:id="rId2"/>
              </a:rPr>
              <a:t>/java-programming/methods</a:t>
            </a:r>
            <a:endParaRPr lang="en-US" dirty="0" smtClean="0"/>
          </a:p>
          <a:p>
            <a:r>
              <a:rPr lang="en-US" dirty="0">
                <a:hlinkClick r:id="rId3"/>
              </a:rPr>
              <a:t>https://</a:t>
            </a:r>
            <a:r>
              <a:rPr lang="en-US" dirty="0" err="1" smtClean="0">
                <a:hlinkClick r:id="rId3"/>
              </a:rPr>
              <a:t>www.tutorialspoint.com</a:t>
            </a:r>
            <a:r>
              <a:rPr lang="en-US" dirty="0" smtClean="0">
                <a:hlinkClick r:id="rId3"/>
              </a:rPr>
              <a:t>/java/</a:t>
            </a:r>
            <a:r>
              <a:rPr lang="en-US" dirty="0" err="1" smtClean="0">
                <a:hlinkClick r:id="rId3"/>
              </a:rPr>
              <a:t>java_methods.htm</a:t>
            </a:r>
            <a:endParaRPr lang="en-US" dirty="0" smtClean="0"/>
          </a:p>
          <a:p>
            <a:r>
              <a:rPr lang="en-US" dirty="0">
                <a:hlinkClick r:id="rId4"/>
              </a:rPr>
              <a:t>https://data-</a:t>
            </a:r>
            <a:r>
              <a:rPr lang="en-US" dirty="0" err="1">
                <a:hlinkClick r:id="rId4"/>
              </a:rPr>
              <a:t>flair.training</a:t>
            </a:r>
            <a:r>
              <a:rPr lang="en-US" dirty="0">
                <a:hlinkClick r:id="rId4"/>
              </a:rPr>
              <a:t>/blogs/java-method</a:t>
            </a:r>
            <a:r>
              <a:rPr lang="en-US" dirty="0" smtClean="0">
                <a:hlinkClick r:id="rId4"/>
              </a:rPr>
              <a:t>/</a:t>
            </a:r>
            <a:endParaRPr lang="en-US" dirty="0" smtClean="0"/>
          </a:p>
          <a:p>
            <a:r>
              <a:rPr lang="en-US" dirty="0">
                <a:hlinkClick r:id="rId5"/>
              </a:rPr>
              <a:t>http://</a:t>
            </a:r>
            <a:r>
              <a:rPr lang="en-US" dirty="0" err="1" smtClean="0">
                <a:hlinkClick r:id="rId5"/>
              </a:rPr>
              <a:t>mrbool.com</a:t>
            </a:r>
            <a:r>
              <a:rPr lang="en-US" dirty="0" smtClean="0">
                <a:hlinkClick r:id="rId5"/>
              </a:rPr>
              <a:t>/functions-in-java-introduction-and-practical-examples/22194</a:t>
            </a:r>
            <a:endParaRPr lang="en-US" dirty="0" smtClean="0"/>
          </a:p>
          <a:p>
            <a:r>
              <a:rPr lang="en-US" dirty="0">
                <a:hlinkClick r:id="rId6"/>
              </a:rPr>
              <a:t>https://</a:t>
            </a:r>
            <a:r>
              <a:rPr lang="en-US" dirty="0" err="1">
                <a:hlinkClick r:id="rId6"/>
              </a:rPr>
              <a:t>www.geeksforgeeks.org</a:t>
            </a:r>
            <a:r>
              <a:rPr lang="en-US" dirty="0">
                <a:hlinkClick r:id="rId6"/>
              </a:rPr>
              <a:t>/function-interface-in-java-with-examples</a:t>
            </a:r>
            <a:r>
              <a:rPr lang="en-US" dirty="0" smtClean="0">
                <a:hlinkClick r:id="rId6"/>
              </a:rPr>
              <a:t>/</a:t>
            </a:r>
            <a:endParaRPr lang="en-US" dirty="0" smtClean="0"/>
          </a:p>
          <a:p>
            <a:r>
              <a:rPr lang="en-US" dirty="0">
                <a:hlinkClick r:id="rId7"/>
              </a:rPr>
              <a:t>https://</a:t>
            </a:r>
            <a:r>
              <a:rPr lang="en-US" dirty="0" err="1" smtClean="0">
                <a:hlinkClick r:id="rId7"/>
              </a:rPr>
              <a:t>www.w3schools.com</a:t>
            </a:r>
            <a:r>
              <a:rPr lang="en-US" dirty="0" smtClean="0">
                <a:hlinkClick r:id="rId7"/>
              </a:rPr>
              <a:t>/java/</a:t>
            </a:r>
            <a:r>
              <a:rPr lang="en-US" dirty="0" err="1" smtClean="0">
                <a:hlinkClick r:id="rId7"/>
              </a:rPr>
              <a:t>java_methods.asp</a:t>
            </a:r>
            <a:endParaRPr lang="en-US" dirty="0" smtClean="0"/>
          </a:p>
          <a:p>
            <a:r>
              <a:rPr lang="en-US" dirty="0">
                <a:hlinkClick r:id="rId8"/>
              </a:rPr>
              <a:t>https://</a:t>
            </a:r>
            <a:r>
              <a:rPr lang="en-US" dirty="0" err="1">
                <a:hlinkClick r:id="rId8"/>
              </a:rPr>
              <a:t>www.geeksforgeeks.org</a:t>
            </a:r>
            <a:r>
              <a:rPr lang="en-US" dirty="0">
                <a:hlinkClick r:id="rId8"/>
              </a:rPr>
              <a:t>/variable-scope-in-java</a:t>
            </a:r>
            <a:r>
              <a:rPr lang="en-US" dirty="0" smtClean="0">
                <a:hlinkClick r:id="rId8"/>
              </a:rPr>
              <a:t>/</a:t>
            </a:r>
            <a:endParaRPr lang="en-US" dirty="0" smtClean="0"/>
          </a:p>
          <a:p>
            <a:r>
              <a:rPr lang="en-US" dirty="0">
                <a:hlinkClick r:id="rId9"/>
              </a:rPr>
              <a:t>http://</a:t>
            </a:r>
            <a:r>
              <a:rPr lang="en-US" dirty="0" err="1" smtClean="0">
                <a:hlinkClick r:id="rId9"/>
              </a:rPr>
              <a:t>ecomputernotes.com</a:t>
            </a:r>
            <a:r>
              <a:rPr lang="en-US" dirty="0" smtClean="0">
                <a:hlinkClick r:id="rId9"/>
              </a:rPr>
              <a:t>/java/data-type-variable-and-array/scope-of-a-variable</a:t>
            </a:r>
            <a:endParaRPr lang="en-US" dirty="0" smtClean="0"/>
          </a:p>
          <a:p>
            <a:r>
              <a:rPr lang="en-US" dirty="0">
                <a:hlinkClick r:id="rId10"/>
              </a:rPr>
              <a:t>https://</a:t>
            </a:r>
            <a:r>
              <a:rPr lang="en-US" dirty="0" err="1">
                <a:hlinkClick r:id="rId10"/>
              </a:rPr>
              <a:t>gpcoder.com</a:t>
            </a:r>
            <a:r>
              <a:rPr lang="en-US" dirty="0">
                <a:hlinkClick r:id="rId10"/>
              </a:rPr>
              <a:t>/1790-</a:t>
            </a:r>
            <a:r>
              <a:rPr lang="en-US" dirty="0" err="1">
                <a:hlinkClick r:id="rId10"/>
              </a:rPr>
              <a:t>bien</a:t>
            </a:r>
            <a:r>
              <a:rPr lang="en-US" dirty="0">
                <a:hlinkClick r:id="rId10"/>
              </a:rPr>
              <a:t>-</a:t>
            </a:r>
            <a:r>
              <a:rPr lang="en-US" dirty="0" err="1">
                <a:hlinkClick r:id="rId10"/>
              </a:rPr>
              <a:t>trong</a:t>
            </a:r>
            <a:r>
              <a:rPr lang="en-US" dirty="0">
                <a:hlinkClick r:id="rId10"/>
              </a:rPr>
              <a:t>-java/</a:t>
            </a:r>
            <a:endParaRPr lang="en-US"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27</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8450</TotalTime>
  <Words>2260</Words>
  <Application>Microsoft Office PowerPoint</Application>
  <PresentationFormat>Custom</PresentationFormat>
  <Paragraphs>368</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VTCA-SlideTheme</vt:lpstr>
      <vt:lpstr>Introduction to Programming</vt:lpstr>
      <vt:lpstr>Objectives</vt:lpstr>
      <vt:lpstr>Top-Down Design </vt:lpstr>
      <vt:lpstr>Top-Down Design </vt:lpstr>
      <vt:lpstr>What is a function?</vt:lpstr>
      <vt:lpstr>Functions in Java</vt:lpstr>
      <vt:lpstr>Types of Java functions</vt:lpstr>
      <vt:lpstr>Standard Library Functions</vt:lpstr>
      <vt:lpstr>User-defined Function</vt:lpstr>
      <vt:lpstr>User-defined Function</vt:lpstr>
      <vt:lpstr>How to call a Java function</vt:lpstr>
      <vt:lpstr>Example</vt:lpstr>
      <vt:lpstr>Example</vt:lpstr>
      <vt:lpstr>Example</vt:lpstr>
      <vt:lpstr>Example</vt:lpstr>
      <vt:lpstr>Overloading</vt:lpstr>
      <vt:lpstr>Overloading</vt:lpstr>
      <vt:lpstr>The scope of the variable in java</vt:lpstr>
      <vt:lpstr>Local variables </vt:lpstr>
      <vt:lpstr>Local variables </vt:lpstr>
      <vt:lpstr>Local variables </vt:lpstr>
      <vt:lpstr>Global variables </vt:lpstr>
      <vt:lpstr>Global variables </vt:lpstr>
      <vt:lpstr>Static variables </vt:lpstr>
      <vt:lpstr>Static variables </vt:lpstr>
      <vt:lpstr>Example</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688</cp:revision>
  <dcterms:created xsi:type="dcterms:W3CDTF">2019-05-17T12:57:33Z</dcterms:created>
  <dcterms:modified xsi:type="dcterms:W3CDTF">2019-11-13T00:34:46Z</dcterms:modified>
</cp:coreProperties>
</file>