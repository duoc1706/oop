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7" r:id="rId1"/>
  </p:sldMasterIdLst>
  <p:notesMasterIdLst>
    <p:notesMasterId r:id="rId19"/>
  </p:notesMasterIdLst>
  <p:sldIdLst>
    <p:sldId id="282" r:id="rId2"/>
    <p:sldId id="285" r:id="rId3"/>
    <p:sldId id="297" r:id="rId4"/>
    <p:sldId id="321" r:id="rId5"/>
    <p:sldId id="325" r:id="rId6"/>
    <p:sldId id="337" r:id="rId7"/>
    <p:sldId id="338" r:id="rId8"/>
    <p:sldId id="339" r:id="rId9"/>
    <p:sldId id="340" r:id="rId10"/>
    <p:sldId id="323" r:id="rId11"/>
    <p:sldId id="341" r:id="rId12"/>
    <p:sldId id="342" r:id="rId13"/>
    <p:sldId id="343" r:id="rId14"/>
    <p:sldId id="344" r:id="rId15"/>
    <p:sldId id="345" r:id="rId16"/>
    <p:sldId id="294" r:id="rId17"/>
    <p:sldId id="26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E5DA"/>
    <a:srgbClr val="244478"/>
    <a:srgbClr val="2B62B9"/>
    <a:srgbClr val="EF5452"/>
    <a:srgbClr val="F8C528"/>
    <a:srgbClr val="C09A24"/>
    <a:srgbClr val="068A85"/>
    <a:srgbClr val="99C272"/>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94" autoAdjust="0"/>
    <p:restoredTop sz="92514" autoAdjust="0"/>
  </p:normalViewPr>
  <p:slideViewPr>
    <p:cSldViewPr snapToGrid="0" snapToObjects="1">
      <p:cViewPr>
        <p:scale>
          <a:sx n="66" d="100"/>
          <a:sy n="66" d="100"/>
        </p:scale>
        <p:origin x="-888" y="-144"/>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DC2CD-8613-D146-8518-AC99D946DF95}" type="datetimeFigureOut">
              <a:rPr lang="en-US" smtClean="0"/>
              <a:t>09/11/2019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EC4CF9-69BC-034A-86DA-E1DADC6FAF10}" type="slidenum">
              <a:rPr lang="en-US" smtClean="0"/>
              <a:t>‹#›</a:t>
            </a:fld>
            <a:endParaRPr lang="en-US"/>
          </a:p>
        </p:txBody>
      </p:sp>
    </p:spTree>
    <p:extLst>
      <p:ext uri="{BB962C8B-B14F-4D97-AF65-F5344CB8AC3E}">
        <p14:creationId xmlns:p14="http://schemas.microsoft.com/office/powerpoint/2010/main" val="1498815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2_Title Slide">
    <p:bg>
      <p:bgPr>
        <a:gradFill flip="none" rotWithShape="1">
          <a:gsLst>
            <a:gs pos="0">
              <a:srgbClr val="002060"/>
            </a:gs>
            <a:gs pos="91000">
              <a:schemeClr val="accent1">
                <a:lumMod val="89000"/>
              </a:schemeClr>
            </a:gs>
            <a:gs pos="85000">
              <a:schemeClr val="accent1">
                <a:lumMod val="75000"/>
              </a:schemeClr>
            </a:gs>
            <a:gs pos="97000">
              <a:schemeClr val="accent1">
                <a:lumMod val="7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79C37A9-8C23-6B4F-88B3-AB73D61B7148}"/>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 xmlns:a16="http://schemas.microsoft.com/office/drawing/2014/main" id="{176775AE-BCE3-4B41-8ADB-E632DB8DE999}"/>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939092D3-1A80-C841-BE0C-FB3B2449ED61}"/>
              </a:ext>
            </a:extLst>
          </p:cNvPr>
          <p:cNvSpPr>
            <a:spLocks noGrp="1"/>
          </p:cNvSpPr>
          <p:nvPr>
            <p:ph type="dt" sz="half" idx="10"/>
          </p:nvPr>
        </p:nvSpPr>
        <p:spPr/>
        <p:txBody>
          <a:bodyPr/>
          <a:lstStyle/>
          <a:p>
            <a:r>
              <a:rPr lang="en-US"/>
              <a:t>© VTCA</a:t>
            </a:r>
          </a:p>
        </p:txBody>
      </p:sp>
      <p:sp>
        <p:nvSpPr>
          <p:cNvPr id="5" name="Footer Placeholder 4">
            <a:extLst>
              <a:ext uri="{FF2B5EF4-FFF2-40B4-BE49-F238E27FC236}">
                <a16:creationId xmlns="" xmlns:a16="http://schemas.microsoft.com/office/drawing/2014/main" id="{320948AB-0BEE-7E40-BCE4-2360F70E6140}"/>
              </a:ext>
            </a:extLst>
          </p:cNvPr>
          <p:cNvSpPr>
            <a:spLocks noGrp="1"/>
          </p:cNvSpPr>
          <p:nvPr>
            <p:ph type="ftr" sz="quarter" idx="11"/>
          </p:nvPr>
        </p:nvSpPr>
        <p:spPr/>
        <p:txBody>
          <a:bodyPr/>
          <a:lstStyle/>
          <a:p>
            <a:r>
              <a:rPr lang="en-US"/>
              <a:t>Subject Name</a:t>
            </a:r>
            <a:endParaRPr lang="en-US" dirty="0"/>
          </a:p>
        </p:txBody>
      </p:sp>
      <p:sp>
        <p:nvSpPr>
          <p:cNvPr id="6" name="Slide Number Placeholder 5">
            <a:extLst>
              <a:ext uri="{FF2B5EF4-FFF2-40B4-BE49-F238E27FC236}">
                <a16:creationId xmlns="" xmlns:a16="http://schemas.microsoft.com/office/drawing/2014/main" id="{9FD03C7E-8755-DA48-8510-BD952A82333E}"/>
              </a:ext>
            </a:extLst>
          </p:cNvPr>
          <p:cNvSpPr>
            <a:spLocks noGrp="1"/>
          </p:cNvSpPr>
          <p:nvPr>
            <p:ph type="sldNum" sz="quarter" idx="12"/>
          </p:nvPr>
        </p:nvSpPr>
        <p:spPr/>
        <p:txBody>
          <a:bodyPr/>
          <a:lstStyle/>
          <a:p>
            <a:fld id="{B9BA5F68-B450-774B-A94B-86322AF8B758}" type="slidenum">
              <a:rPr lang="en-US" smtClean="0"/>
              <a:t>‹#›</a:t>
            </a:fld>
            <a:endParaRPr lang="en-US"/>
          </a:p>
        </p:txBody>
      </p:sp>
      <p:pic>
        <p:nvPicPr>
          <p:cNvPr id="8" name="Picture 7">
            <a:extLst>
              <a:ext uri="{FF2B5EF4-FFF2-40B4-BE49-F238E27FC236}">
                <a16:creationId xmlns="" xmlns:a16="http://schemas.microsoft.com/office/drawing/2014/main" id="{338C6B40-493E-D545-8618-31916324F2BA}"/>
              </a:ext>
            </a:extLst>
          </p:cNvPr>
          <p:cNvPicPr>
            <a:picLocks noChangeAspect="1"/>
          </p:cNvPicPr>
          <p:nvPr/>
        </p:nvPicPr>
        <p:blipFill>
          <a:blip r:embed="rId2"/>
          <a:stretch>
            <a:fillRect/>
          </a:stretch>
        </p:blipFill>
        <p:spPr>
          <a:xfrm>
            <a:off x="414338" y="278924"/>
            <a:ext cx="4600575" cy="843439"/>
          </a:xfrm>
          <a:prstGeom prst="rect">
            <a:avLst/>
          </a:prstGeom>
        </p:spPr>
      </p:pic>
    </p:spTree>
    <p:extLst>
      <p:ext uri="{BB962C8B-B14F-4D97-AF65-F5344CB8AC3E}">
        <p14:creationId xmlns:p14="http://schemas.microsoft.com/office/powerpoint/2010/main" val="995701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54C2816-FC3E-3244-B2EB-CEB70C88E508}"/>
              </a:ext>
            </a:extLst>
          </p:cNvPr>
          <p:cNvSpPr>
            <a:spLocks noGrp="1"/>
          </p:cNvSpPr>
          <p:nvPr>
            <p:ph type="title"/>
          </p:nvPr>
        </p:nvSpPr>
        <p:spPr>
          <a:xfrm>
            <a:off x="838200" y="263301"/>
            <a:ext cx="10515600" cy="663575"/>
          </a:xfrm>
        </p:spPr>
        <p:txBody>
          <a:bodyPr>
            <a:normAutofit/>
          </a:bodyPr>
          <a:lstStyle>
            <a:lvl1pPr>
              <a:defRPr sz="2800">
                <a:solidFill>
                  <a:schemeClr val="bg1"/>
                </a:solidFill>
              </a:defRPr>
            </a:lvl1pPr>
          </a:lstStyle>
          <a:p>
            <a:r>
              <a:rPr lang="en-US" dirty="0"/>
              <a:t>Click to edit Master title style</a:t>
            </a:r>
          </a:p>
        </p:txBody>
      </p:sp>
      <p:sp>
        <p:nvSpPr>
          <p:cNvPr id="3" name="Content Placeholder 2">
            <a:extLst>
              <a:ext uri="{FF2B5EF4-FFF2-40B4-BE49-F238E27FC236}">
                <a16:creationId xmlns="" xmlns:a16="http://schemas.microsoft.com/office/drawing/2014/main" id="{B6358429-6D80-3644-9565-0A158FEB660D}"/>
              </a:ext>
            </a:extLst>
          </p:cNvPr>
          <p:cNvSpPr>
            <a:spLocks noGrp="1"/>
          </p:cNvSpPr>
          <p:nvPr>
            <p:ph idx="1"/>
          </p:nvPr>
        </p:nvSpPr>
        <p:spPr>
          <a:xfrm>
            <a:off x="838200" y="1074057"/>
            <a:ext cx="10515600" cy="5128439"/>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 xmlns:a16="http://schemas.microsoft.com/office/drawing/2014/main" id="{07A60295-D28D-5342-864C-DFD74E3BF4AC}"/>
              </a:ext>
            </a:extLst>
          </p:cNvPr>
          <p:cNvSpPr>
            <a:spLocks noGrp="1"/>
          </p:cNvSpPr>
          <p:nvPr>
            <p:ph type="dt" sz="half" idx="10"/>
          </p:nvPr>
        </p:nvSpPr>
        <p:spPr>
          <a:xfrm>
            <a:off x="838199" y="6356350"/>
            <a:ext cx="1382488" cy="365125"/>
          </a:xfrm>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20084FDE-39E1-CC43-ADEC-A2E40B807239}"/>
              </a:ext>
            </a:extLst>
          </p:cNvPr>
          <p:cNvSpPr>
            <a:spLocks noGrp="1"/>
          </p:cNvSpPr>
          <p:nvPr>
            <p:ph type="ftr" sz="quarter" idx="11"/>
          </p:nvPr>
        </p:nvSpPr>
        <p:spPr>
          <a:xfrm>
            <a:off x="2365514" y="6356350"/>
            <a:ext cx="7489686" cy="365125"/>
          </a:xfrm>
        </p:spPr>
        <p:txBody>
          <a:bodyPr/>
          <a:lstStyle/>
          <a:p>
            <a:r>
              <a:rPr lang="en-US"/>
              <a:t>Subject Name</a:t>
            </a:r>
          </a:p>
        </p:txBody>
      </p:sp>
      <p:sp>
        <p:nvSpPr>
          <p:cNvPr id="6" name="Slide Number Placeholder 5">
            <a:extLst>
              <a:ext uri="{FF2B5EF4-FFF2-40B4-BE49-F238E27FC236}">
                <a16:creationId xmlns="" xmlns:a16="http://schemas.microsoft.com/office/drawing/2014/main" id="{24CBCC03-BB7B-8F4A-BDC0-0497BB610957}"/>
              </a:ext>
            </a:extLst>
          </p:cNvPr>
          <p:cNvSpPr>
            <a:spLocks noGrp="1"/>
          </p:cNvSpPr>
          <p:nvPr>
            <p:ph type="sldNum" sz="quarter" idx="12"/>
          </p:nvPr>
        </p:nvSpPr>
        <p:spPr>
          <a:xfrm>
            <a:off x="10000340" y="6356350"/>
            <a:ext cx="1353459" cy="365125"/>
          </a:xfrm>
        </p:spPr>
        <p:txBody>
          <a:bodyPr/>
          <a:lstStyle/>
          <a:p>
            <a:fld id="{B9BA5F68-B450-774B-A94B-86322AF8B758}" type="slidenum">
              <a:rPr lang="en-US" smtClean="0"/>
              <a:t>‹#›</a:t>
            </a:fld>
            <a:endParaRPr lang="en-US" dirty="0"/>
          </a:p>
        </p:txBody>
      </p:sp>
    </p:spTree>
    <p:extLst>
      <p:ext uri="{BB962C8B-B14F-4D97-AF65-F5344CB8AC3E}">
        <p14:creationId xmlns:p14="http://schemas.microsoft.com/office/powerpoint/2010/main" val="2532785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92987CA-DEB8-1246-A8A0-FC212DE453AF}"/>
              </a:ext>
            </a:extLst>
          </p:cNvPr>
          <p:cNvSpPr>
            <a:spLocks noGrp="1"/>
          </p:cNvSpPr>
          <p:nvPr>
            <p:ph type="title"/>
          </p:nvPr>
        </p:nvSpPr>
        <p:spPr>
          <a:xfrm>
            <a:off x="831850" y="1709738"/>
            <a:ext cx="10515600" cy="2852737"/>
          </a:xfrm>
        </p:spPr>
        <p:txBody>
          <a:bodyPr anchor="b"/>
          <a:lstStyle>
            <a:lvl1pPr>
              <a:defRPr sz="6000">
                <a:solidFill>
                  <a:srgbClr val="002060"/>
                </a:solidFill>
              </a:defRPr>
            </a:lvl1pPr>
          </a:lstStyle>
          <a:p>
            <a:r>
              <a:rPr lang="en-US"/>
              <a:t>Click to edit Master title style</a:t>
            </a:r>
          </a:p>
        </p:txBody>
      </p:sp>
      <p:sp>
        <p:nvSpPr>
          <p:cNvPr id="3" name="Text Placeholder 2">
            <a:extLst>
              <a:ext uri="{FF2B5EF4-FFF2-40B4-BE49-F238E27FC236}">
                <a16:creationId xmlns="" xmlns:a16="http://schemas.microsoft.com/office/drawing/2014/main" id="{EAA34C65-DEA5-8F4A-A14B-0DF1A1E68918}"/>
              </a:ext>
            </a:extLst>
          </p:cNvPr>
          <p:cNvSpPr>
            <a:spLocks noGrp="1"/>
          </p:cNvSpPr>
          <p:nvPr>
            <p:ph type="body" idx="1"/>
          </p:nvPr>
        </p:nvSpPr>
        <p:spPr>
          <a:xfrm>
            <a:off x="831850" y="4589463"/>
            <a:ext cx="10515600" cy="1500187"/>
          </a:xfrm>
        </p:spPr>
        <p:txBody>
          <a:bodyPr/>
          <a:lstStyle>
            <a:lvl1pPr marL="0" indent="0">
              <a:buNone/>
              <a:defRPr sz="2400">
                <a:solidFill>
                  <a:srgbClr val="00206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1EFB5CC9-D24D-8D45-94E1-B8A6F082E35A}"/>
              </a:ext>
            </a:extLst>
          </p:cNvPr>
          <p:cNvSpPr>
            <a:spLocks noGrp="1"/>
          </p:cNvSpPr>
          <p:nvPr>
            <p:ph type="dt" sz="half" idx="10"/>
          </p:nvPr>
        </p:nvSpPr>
        <p:spPr>
          <a:xfrm>
            <a:off x="838200" y="6364028"/>
            <a:ext cx="1367971" cy="365125"/>
          </a:xfrm>
        </p:spPr>
        <p:txBody>
          <a:bodyPr/>
          <a:lstStyle/>
          <a:p>
            <a:r>
              <a:rPr lang="en-US"/>
              <a:t>© VTCA</a:t>
            </a:r>
          </a:p>
        </p:txBody>
      </p:sp>
      <p:sp>
        <p:nvSpPr>
          <p:cNvPr id="5" name="Footer Placeholder 4">
            <a:extLst>
              <a:ext uri="{FF2B5EF4-FFF2-40B4-BE49-F238E27FC236}">
                <a16:creationId xmlns="" xmlns:a16="http://schemas.microsoft.com/office/drawing/2014/main" id="{DBD43B7A-936C-F047-BD4A-CCBB3D41F0DF}"/>
              </a:ext>
            </a:extLst>
          </p:cNvPr>
          <p:cNvSpPr>
            <a:spLocks noGrp="1"/>
          </p:cNvSpPr>
          <p:nvPr>
            <p:ph type="ftr" sz="quarter" idx="11"/>
          </p:nvPr>
        </p:nvSpPr>
        <p:spPr/>
        <p:txBody>
          <a:bodyPr/>
          <a:lstStyle/>
          <a:p>
            <a:r>
              <a:rPr lang="en-US"/>
              <a:t>Subject Name</a:t>
            </a:r>
          </a:p>
        </p:txBody>
      </p:sp>
      <p:sp>
        <p:nvSpPr>
          <p:cNvPr id="6" name="Slide Number Placeholder 5">
            <a:extLst>
              <a:ext uri="{FF2B5EF4-FFF2-40B4-BE49-F238E27FC236}">
                <a16:creationId xmlns="" xmlns:a16="http://schemas.microsoft.com/office/drawing/2014/main" id="{96EEEBFE-C4A6-0541-B16A-380D3EAAB96F}"/>
              </a:ext>
            </a:extLst>
          </p:cNvPr>
          <p:cNvSpPr>
            <a:spLocks noGrp="1"/>
          </p:cNvSpPr>
          <p:nvPr>
            <p:ph type="sldNum" sz="quarter" idx="12"/>
          </p:nvPr>
        </p:nvSpPr>
        <p:spPr>
          <a:xfrm>
            <a:off x="10014856" y="6356350"/>
            <a:ext cx="1338943" cy="365125"/>
          </a:xfrm>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145714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056102A-A1F7-3842-AAEA-F5C7311EA1B8}"/>
              </a:ext>
            </a:extLst>
          </p:cNvPr>
          <p:cNvSpPr>
            <a:spLocks noGrp="1"/>
          </p:cNvSpPr>
          <p:nvPr>
            <p:ph type="title"/>
          </p:nvPr>
        </p:nvSpPr>
        <p:spPr>
          <a:xfrm>
            <a:off x="838200" y="278042"/>
            <a:ext cx="10515600" cy="635000"/>
          </a:xfrm>
        </p:spPr>
        <p:txBody>
          <a:bodyPr/>
          <a:lstStyle>
            <a:lvl1pPr>
              <a:defRPr>
                <a:solidFill>
                  <a:schemeClr val="bg1"/>
                </a:solidFill>
              </a:defRPr>
            </a:lvl1pPr>
          </a:lstStyle>
          <a:p>
            <a:r>
              <a:rPr lang="en-US" dirty="0"/>
              <a:t>Click to edit Master title style</a:t>
            </a:r>
          </a:p>
        </p:txBody>
      </p:sp>
      <p:sp>
        <p:nvSpPr>
          <p:cNvPr id="3" name="Content Placeholder 2">
            <a:extLst>
              <a:ext uri="{FF2B5EF4-FFF2-40B4-BE49-F238E27FC236}">
                <a16:creationId xmlns="" xmlns:a16="http://schemas.microsoft.com/office/drawing/2014/main" id="{F08251E2-F43C-F64D-B993-CE6609ED119D}"/>
              </a:ext>
            </a:extLst>
          </p:cNvPr>
          <p:cNvSpPr>
            <a:spLocks noGrp="1"/>
          </p:cNvSpPr>
          <p:nvPr>
            <p:ph sz="half" idx="1"/>
          </p:nvPr>
        </p:nvSpPr>
        <p:spPr>
          <a:xfrm>
            <a:off x="838200" y="1092429"/>
            <a:ext cx="5181600" cy="5084534"/>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 xmlns:a16="http://schemas.microsoft.com/office/drawing/2014/main" id="{8704EDDE-EE3F-8F4B-9C7A-83E0406455BE}"/>
              </a:ext>
            </a:extLst>
          </p:cNvPr>
          <p:cNvSpPr>
            <a:spLocks noGrp="1"/>
          </p:cNvSpPr>
          <p:nvPr>
            <p:ph sz="half" idx="2"/>
          </p:nvPr>
        </p:nvSpPr>
        <p:spPr>
          <a:xfrm>
            <a:off x="6172200" y="1092429"/>
            <a:ext cx="5181600" cy="5084534"/>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 xmlns:a16="http://schemas.microsoft.com/office/drawing/2014/main" id="{E9E15ADE-643D-314B-865E-D1A74E171C8E}"/>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 xmlns:a16="http://schemas.microsoft.com/office/drawing/2014/main" id="{7C066CD4-6B44-554D-8C3E-1CC265FA54D3}"/>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 xmlns:a16="http://schemas.microsoft.com/office/drawing/2014/main" id="{5905A39C-E79D-054D-AA55-AE55FBA281B8}"/>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68740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11FA0EE-3CC4-5243-A94C-6FACDA7F8445}"/>
              </a:ext>
            </a:extLst>
          </p:cNvPr>
          <p:cNvSpPr>
            <a:spLocks noGrp="1"/>
          </p:cNvSpPr>
          <p:nvPr>
            <p:ph type="title"/>
          </p:nvPr>
        </p:nvSpPr>
        <p:spPr>
          <a:xfrm>
            <a:off x="839788" y="263527"/>
            <a:ext cx="10515600" cy="663575"/>
          </a:xfrm>
        </p:spPr>
        <p:txBody>
          <a:bodyPr/>
          <a:lstStyle/>
          <a:p>
            <a:r>
              <a:rPr lang="en-US" dirty="0"/>
              <a:t>Click to edit Master title style</a:t>
            </a:r>
          </a:p>
        </p:txBody>
      </p:sp>
      <p:sp>
        <p:nvSpPr>
          <p:cNvPr id="3" name="Text Placeholder 2">
            <a:extLst>
              <a:ext uri="{FF2B5EF4-FFF2-40B4-BE49-F238E27FC236}">
                <a16:creationId xmlns="" xmlns:a16="http://schemas.microsoft.com/office/drawing/2014/main" id="{40930389-7090-CD40-BEBF-0637D2031B24}"/>
              </a:ext>
            </a:extLst>
          </p:cNvPr>
          <p:cNvSpPr>
            <a:spLocks noGrp="1"/>
          </p:cNvSpPr>
          <p:nvPr>
            <p:ph type="body" idx="1"/>
          </p:nvPr>
        </p:nvSpPr>
        <p:spPr>
          <a:xfrm>
            <a:off x="836612" y="1197884"/>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38DBABA1-0B0C-5D41-BD03-AF3497DBF438}"/>
              </a:ext>
            </a:extLst>
          </p:cNvPr>
          <p:cNvSpPr>
            <a:spLocks noGrp="1"/>
          </p:cNvSpPr>
          <p:nvPr>
            <p:ph sz="half" idx="2"/>
          </p:nvPr>
        </p:nvSpPr>
        <p:spPr>
          <a:xfrm>
            <a:off x="839788" y="2021796"/>
            <a:ext cx="5157787" cy="41678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 xmlns:a16="http://schemas.microsoft.com/office/drawing/2014/main" id="{7923744A-9292-8949-A87C-3B6979EA7CA4}"/>
              </a:ext>
            </a:extLst>
          </p:cNvPr>
          <p:cNvSpPr>
            <a:spLocks noGrp="1"/>
          </p:cNvSpPr>
          <p:nvPr>
            <p:ph type="body" sz="quarter" idx="3"/>
          </p:nvPr>
        </p:nvSpPr>
        <p:spPr>
          <a:xfrm>
            <a:off x="6194427" y="1197884"/>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 xmlns:a16="http://schemas.microsoft.com/office/drawing/2014/main" id="{951ADD4A-DB10-FB4A-A9BA-9D3DB500D4B5}"/>
              </a:ext>
            </a:extLst>
          </p:cNvPr>
          <p:cNvSpPr>
            <a:spLocks noGrp="1"/>
          </p:cNvSpPr>
          <p:nvPr>
            <p:ph sz="quarter" idx="4"/>
          </p:nvPr>
        </p:nvSpPr>
        <p:spPr>
          <a:xfrm>
            <a:off x="6172200" y="2021796"/>
            <a:ext cx="5183188" cy="41678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 xmlns:a16="http://schemas.microsoft.com/office/drawing/2014/main" id="{57B58B35-25F2-6941-BC63-14140DB153E2}"/>
              </a:ext>
            </a:extLst>
          </p:cNvPr>
          <p:cNvSpPr>
            <a:spLocks noGrp="1"/>
          </p:cNvSpPr>
          <p:nvPr>
            <p:ph type="dt" sz="half" idx="10"/>
          </p:nvPr>
        </p:nvSpPr>
        <p:spPr/>
        <p:txBody>
          <a:bodyPr/>
          <a:lstStyle/>
          <a:p>
            <a:r>
              <a:rPr lang="en-US"/>
              <a:t>© VTCA</a:t>
            </a:r>
          </a:p>
        </p:txBody>
      </p:sp>
      <p:sp>
        <p:nvSpPr>
          <p:cNvPr id="8" name="Footer Placeholder 7">
            <a:extLst>
              <a:ext uri="{FF2B5EF4-FFF2-40B4-BE49-F238E27FC236}">
                <a16:creationId xmlns="" xmlns:a16="http://schemas.microsoft.com/office/drawing/2014/main" id="{7A4CB44E-6D22-DC48-8A79-8CC24323AB88}"/>
              </a:ext>
            </a:extLst>
          </p:cNvPr>
          <p:cNvSpPr>
            <a:spLocks noGrp="1"/>
          </p:cNvSpPr>
          <p:nvPr>
            <p:ph type="ftr" sz="quarter" idx="11"/>
          </p:nvPr>
        </p:nvSpPr>
        <p:spPr/>
        <p:txBody>
          <a:bodyPr/>
          <a:lstStyle/>
          <a:p>
            <a:r>
              <a:rPr lang="en-US"/>
              <a:t>Subject Name</a:t>
            </a:r>
          </a:p>
        </p:txBody>
      </p:sp>
      <p:sp>
        <p:nvSpPr>
          <p:cNvPr id="9" name="Slide Number Placeholder 8">
            <a:extLst>
              <a:ext uri="{FF2B5EF4-FFF2-40B4-BE49-F238E27FC236}">
                <a16:creationId xmlns="" xmlns:a16="http://schemas.microsoft.com/office/drawing/2014/main" id="{14AC1E52-5D18-5A4D-B7CC-7DB931B3D351}"/>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960898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3E28F28-5514-3C4F-8F16-87F0D27BFC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6E8C3861-35A6-C04A-AF18-0494795E52DC}"/>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 xmlns:a16="http://schemas.microsoft.com/office/drawing/2014/main" id="{964A6BF7-1B35-7B45-8465-DA95BDF4F1F8}"/>
              </a:ext>
            </a:extLst>
          </p:cNvPr>
          <p:cNvSpPr>
            <a:spLocks noGrp="1"/>
          </p:cNvSpPr>
          <p:nvPr>
            <p:ph type="ftr" sz="quarter" idx="11"/>
          </p:nvPr>
        </p:nvSpPr>
        <p:spPr/>
        <p:txBody>
          <a:bodyPr/>
          <a:lstStyle/>
          <a:p>
            <a:r>
              <a:rPr lang="en-US"/>
              <a:t>Subject Name</a:t>
            </a:r>
          </a:p>
        </p:txBody>
      </p:sp>
      <p:sp>
        <p:nvSpPr>
          <p:cNvPr id="5" name="Slide Number Placeholder 4">
            <a:extLst>
              <a:ext uri="{FF2B5EF4-FFF2-40B4-BE49-F238E27FC236}">
                <a16:creationId xmlns="" xmlns:a16="http://schemas.microsoft.com/office/drawing/2014/main" id="{182ECE7A-5E3E-FA41-A2CF-2170043C16AA}"/>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1852098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012E6E-C79E-5B49-9FDF-F6705D37C5C7}"/>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2D2BB082-60EA-F742-971F-16B6DC7F2F04}"/>
              </a:ext>
            </a:extLst>
          </p:cNvPr>
          <p:cNvSpPr>
            <a:spLocks noGrp="1"/>
          </p:cNvSpPr>
          <p:nvPr>
            <p:ph idx="1"/>
          </p:nvPr>
        </p:nvSpPr>
        <p:spPr>
          <a:xfrm>
            <a:off x="4943344" y="987425"/>
            <a:ext cx="6408867" cy="52101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 xmlns:a16="http://schemas.microsoft.com/office/drawing/2014/main" id="{0D0DA2A8-A776-FA4A-A5B2-6088AA8A5EF7}"/>
              </a:ext>
            </a:extLst>
          </p:cNvPr>
          <p:cNvSpPr>
            <a:spLocks noGrp="1"/>
          </p:cNvSpPr>
          <p:nvPr>
            <p:ph type="body" sz="half" idx="2"/>
          </p:nvPr>
        </p:nvSpPr>
        <p:spPr>
          <a:xfrm>
            <a:off x="839788" y="2057400"/>
            <a:ext cx="3932237" cy="4140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EF9C5211-987C-0E4C-8A65-096CAF941FEF}"/>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 xmlns:a16="http://schemas.microsoft.com/office/drawing/2014/main" id="{A7EC83AD-025F-B541-9368-2FEDDC6B1D1D}"/>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 xmlns:a16="http://schemas.microsoft.com/office/drawing/2014/main" id="{D0C98FAB-9E39-4442-B432-009E972C220A}"/>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8629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733CED7-2E22-7046-B671-644D9867C310}"/>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E4637231-3259-8148-A59B-BCA49EE18422}"/>
              </a:ext>
            </a:extLst>
          </p:cNvPr>
          <p:cNvSpPr>
            <a:spLocks noGrp="1"/>
          </p:cNvSpPr>
          <p:nvPr>
            <p:ph type="pic" idx="1"/>
          </p:nvPr>
        </p:nvSpPr>
        <p:spPr>
          <a:xfrm>
            <a:off x="5183188" y="987425"/>
            <a:ext cx="6172200" cy="52035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 xmlns:a16="http://schemas.microsoft.com/office/drawing/2014/main" id="{51F3E8CD-A682-AC45-B9C3-5CB1873728F1}"/>
              </a:ext>
            </a:extLst>
          </p:cNvPr>
          <p:cNvSpPr>
            <a:spLocks noGrp="1"/>
          </p:cNvSpPr>
          <p:nvPr>
            <p:ph type="body" sz="half" idx="2"/>
          </p:nvPr>
        </p:nvSpPr>
        <p:spPr>
          <a:xfrm>
            <a:off x="839788" y="2057400"/>
            <a:ext cx="3932237" cy="41335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5B6DDB3D-EBBA-E54E-957D-18F54AC5AE6F}"/>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 xmlns:a16="http://schemas.microsoft.com/office/drawing/2014/main" id="{EE068683-9DAF-2949-BB77-A0BA807B4E8A}"/>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 xmlns:a16="http://schemas.microsoft.com/office/drawing/2014/main" id="{03031D61-53FD-B847-BC95-73B6763ADD61}"/>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178833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E0BD9D8-CC86-7E4D-A036-7F666D5814A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B41D8279-4EB5-1B4C-AC96-6DA0B332F4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9FF71BE1-3E91-AC49-9604-441E4DD3A9C7}"/>
              </a:ext>
            </a:extLst>
          </p:cNvPr>
          <p:cNvSpPr>
            <a:spLocks noGrp="1"/>
          </p:cNvSpPr>
          <p:nvPr>
            <p:ph type="dt" sz="half" idx="10"/>
          </p:nvPr>
        </p:nvSpPr>
        <p:spPr/>
        <p:txBody>
          <a:bodyPr/>
          <a:lstStyle/>
          <a:p>
            <a:r>
              <a:rPr lang="en-US"/>
              <a:t>© VTCA</a:t>
            </a:r>
          </a:p>
        </p:txBody>
      </p:sp>
      <p:sp>
        <p:nvSpPr>
          <p:cNvPr id="5" name="Footer Placeholder 4">
            <a:extLst>
              <a:ext uri="{FF2B5EF4-FFF2-40B4-BE49-F238E27FC236}">
                <a16:creationId xmlns="" xmlns:a16="http://schemas.microsoft.com/office/drawing/2014/main" id="{7C5F1837-E4C0-A34F-B38C-CBF0D65B8F14}"/>
              </a:ext>
            </a:extLst>
          </p:cNvPr>
          <p:cNvSpPr>
            <a:spLocks noGrp="1"/>
          </p:cNvSpPr>
          <p:nvPr>
            <p:ph type="ftr" sz="quarter" idx="11"/>
          </p:nvPr>
        </p:nvSpPr>
        <p:spPr/>
        <p:txBody>
          <a:bodyPr/>
          <a:lstStyle/>
          <a:p>
            <a:r>
              <a:rPr lang="en-US"/>
              <a:t>Subject Name</a:t>
            </a:r>
          </a:p>
        </p:txBody>
      </p:sp>
      <p:sp>
        <p:nvSpPr>
          <p:cNvPr id="6" name="Slide Number Placeholder 5">
            <a:extLst>
              <a:ext uri="{FF2B5EF4-FFF2-40B4-BE49-F238E27FC236}">
                <a16:creationId xmlns="" xmlns:a16="http://schemas.microsoft.com/office/drawing/2014/main" id="{AE605FF2-DF89-7143-8050-5F1B7B5C51E8}"/>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2775914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6E76845-31B4-A14F-BE09-5BC746846C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2D453081-AC87-8048-8BE9-CB8C3F24F035}"/>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 xmlns:a16="http://schemas.microsoft.com/office/drawing/2014/main" id="{2C587348-DA5D-AE48-989D-AC1F04AC6E32}"/>
              </a:ext>
            </a:extLst>
          </p:cNvPr>
          <p:cNvSpPr>
            <a:spLocks noGrp="1"/>
          </p:cNvSpPr>
          <p:nvPr>
            <p:ph type="ftr" sz="quarter" idx="11"/>
          </p:nvPr>
        </p:nvSpPr>
        <p:spPr/>
        <p:txBody>
          <a:bodyPr/>
          <a:lstStyle/>
          <a:p>
            <a:r>
              <a:rPr lang="en-US"/>
              <a:t>Subject Name</a:t>
            </a:r>
            <a:endParaRPr lang="en-US" dirty="0"/>
          </a:p>
        </p:txBody>
      </p:sp>
      <p:sp>
        <p:nvSpPr>
          <p:cNvPr id="5" name="Slide Number Placeholder 4">
            <a:extLst>
              <a:ext uri="{FF2B5EF4-FFF2-40B4-BE49-F238E27FC236}">
                <a16:creationId xmlns="" xmlns:a16="http://schemas.microsoft.com/office/drawing/2014/main" id="{F16211B5-930B-3C46-87F0-174D78E04F66}"/>
              </a:ext>
            </a:extLst>
          </p:cNvPr>
          <p:cNvSpPr>
            <a:spLocks noGrp="1"/>
          </p:cNvSpPr>
          <p:nvPr>
            <p:ph type="sldNum" sz="quarter" idx="12"/>
          </p:nvPr>
        </p:nvSpPr>
        <p:spPr/>
        <p:txBody>
          <a:bodyPr/>
          <a:lstStyle/>
          <a:p>
            <a:fld id="{B9BA5F68-B450-774B-A94B-86322AF8B758}" type="slidenum">
              <a:rPr lang="en-US" smtClean="0"/>
              <a:pPr/>
              <a:t>‹#›</a:t>
            </a:fld>
            <a:endParaRPr lang="en-US"/>
          </a:p>
        </p:txBody>
      </p:sp>
    </p:spTree>
    <p:extLst>
      <p:ext uri="{BB962C8B-B14F-4D97-AF65-F5344CB8AC3E}">
        <p14:creationId xmlns:p14="http://schemas.microsoft.com/office/powerpoint/2010/main" val="2173248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6E76845-31B4-A14F-BE09-5BC746846C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2D453081-AC87-8048-8BE9-CB8C3F24F035}"/>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 xmlns:a16="http://schemas.microsoft.com/office/drawing/2014/main" id="{2C587348-DA5D-AE48-989D-AC1F04AC6E32}"/>
              </a:ext>
            </a:extLst>
          </p:cNvPr>
          <p:cNvSpPr>
            <a:spLocks noGrp="1"/>
          </p:cNvSpPr>
          <p:nvPr>
            <p:ph type="ftr" sz="quarter" idx="11"/>
          </p:nvPr>
        </p:nvSpPr>
        <p:spPr/>
        <p:txBody>
          <a:bodyPr/>
          <a:lstStyle/>
          <a:p>
            <a:r>
              <a:rPr lang="en-US"/>
              <a:t>Subject Name</a:t>
            </a:r>
            <a:endParaRPr lang="en-US" dirty="0"/>
          </a:p>
        </p:txBody>
      </p:sp>
      <p:sp>
        <p:nvSpPr>
          <p:cNvPr id="5" name="Slide Number Placeholder 4">
            <a:extLst>
              <a:ext uri="{FF2B5EF4-FFF2-40B4-BE49-F238E27FC236}">
                <a16:creationId xmlns="" xmlns:a16="http://schemas.microsoft.com/office/drawing/2014/main" id="{F16211B5-930B-3C46-87F0-174D78E04F66}"/>
              </a:ext>
            </a:extLst>
          </p:cNvPr>
          <p:cNvSpPr>
            <a:spLocks noGrp="1"/>
          </p:cNvSpPr>
          <p:nvPr>
            <p:ph type="sldNum" sz="quarter" idx="12"/>
          </p:nvPr>
        </p:nvSpPr>
        <p:spPr/>
        <p:txBody>
          <a:bodyPr/>
          <a:lstStyle/>
          <a:p>
            <a:fld id="{B9BA5F68-B450-774B-A94B-86322AF8B758}" type="slidenum">
              <a:rPr lang="en-US" smtClean="0"/>
              <a:pPr/>
              <a:t>‹#›</a:t>
            </a:fld>
            <a:endParaRPr lang="en-US"/>
          </a:p>
        </p:txBody>
      </p:sp>
    </p:spTree>
    <p:extLst>
      <p:ext uri="{BB962C8B-B14F-4D97-AF65-F5344CB8AC3E}">
        <p14:creationId xmlns:p14="http://schemas.microsoft.com/office/powerpoint/2010/main" val="1508170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 xmlns:a16="http://schemas.microsoft.com/office/drawing/2014/main" id="{A4C0672D-63A5-7F4F-996A-A49C94A186D4}"/>
              </a:ext>
            </a:extLst>
          </p:cNvPr>
          <p:cNvPicPr>
            <a:picLocks noChangeAspect="1"/>
          </p:cNvPicPr>
          <p:nvPr/>
        </p:nvPicPr>
        <p:blipFill>
          <a:blip r:embed="rId13"/>
          <a:stretch>
            <a:fillRect/>
          </a:stretch>
        </p:blipFill>
        <p:spPr>
          <a:xfrm>
            <a:off x="-17315" y="345287"/>
            <a:ext cx="12192000" cy="475488"/>
          </a:xfrm>
          <a:prstGeom prst="rect">
            <a:avLst/>
          </a:prstGeom>
        </p:spPr>
      </p:pic>
      <p:sp>
        <p:nvSpPr>
          <p:cNvPr id="2" name="Title Placeholder 1">
            <a:extLst>
              <a:ext uri="{FF2B5EF4-FFF2-40B4-BE49-F238E27FC236}">
                <a16:creationId xmlns="" xmlns:a16="http://schemas.microsoft.com/office/drawing/2014/main" id="{FDEC1233-5907-7143-8A9A-729AB9D49605}"/>
              </a:ext>
            </a:extLst>
          </p:cNvPr>
          <p:cNvSpPr>
            <a:spLocks noGrp="1"/>
          </p:cNvSpPr>
          <p:nvPr>
            <p:ph type="title"/>
          </p:nvPr>
        </p:nvSpPr>
        <p:spPr>
          <a:xfrm>
            <a:off x="838200" y="254955"/>
            <a:ext cx="10515600" cy="6778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 xmlns:a16="http://schemas.microsoft.com/office/drawing/2014/main" id="{7C2E4728-1E09-A64F-9A06-2F96BC71F324}"/>
              </a:ext>
            </a:extLst>
          </p:cNvPr>
          <p:cNvSpPr>
            <a:spLocks noGrp="1"/>
          </p:cNvSpPr>
          <p:nvPr>
            <p:ph type="body" idx="1"/>
          </p:nvPr>
        </p:nvSpPr>
        <p:spPr>
          <a:xfrm>
            <a:off x="838200" y="1055881"/>
            <a:ext cx="10515600" cy="514171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 xmlns:a16="http://schemas.microsoft.com/office/drawing/2014/main" id="{D314233A-AE14-694A-BB8D-3E28E47EE53A}"/>
              </a:ext>
            </a:extLst>
          </p:cNvPr>
          <p:cNvSpPr>
            <a:spLocks noGrp="1"/>
          </p:cNvSpPr>
          <p:nvPr>
            <p:ph type="dt" sz="half" idx="2"/>
          </p:nvPr>
        </p:nvSpPr>
        <p:spPr>
          <a:xfrm>
            <a:off x="838201" y="6356350"/>
            <a:ext cx="1411514"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 VTC Academy</a:t>
            </a:r>
          </a:p>
        </p:txBody>
      </p:sp>
      <p:sp>
        <p:nvSpPr>
          <p:cNvPr id="5" name="Footer Placeholder 4">
            <a:extLst>
              <a:ext uri="{FF2B5EF4-FFF2-40B4-BE49-F238E27FC236}">
                <a16:creationId xmlns="" xmlns:a16="http://schemas.microsoft.com/office/drawing/2014/main" id="{85E08028-B976-7C44-A1F6-F7265A55443D}"/>
              </a:ext>
            </a:extLst>
          </p:cNvPr>
          <p:cNvSpPr>
            <a:spLocks noGrp="1"/>
          </p:cNvSpPr>
          <p:nvPr>
            <p:ph type="ftr" sz="quarter" idx="3"/>
          </p:nvPr>
        </p:nvSpPr>
        <p:spPr>
          <a:xfrm>
            <a:off x="2365828" y="6356350"/>
            <a:ext cx="7489371"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Course Introduction</a:t>
            </a:r>
          </a:p>
        </p:txBody>
      </p:sp>
      <p:sp>
        <p:nvSpPr>
          <p:cNvPr id="6" name="Slide Number Placeholder 5">
            <a:extLst>
              <a:ext uri="{FF2B5EF4-FFF2-40B4-BE49-F238E27FC236}">
                <a16:creationId xmlns="" xmlns:a16="http://schemas.microsoft.com/office/drawing/2014/main" id="{1836F93A-8372-7749-B2E4-1B714A6CCF1E}"/>
              </a:ext>
            </a:extLst>
          </p:cNvPr>
          <p:cNvSpPr>
            <a:spLocks noGrp="1"/>
          </p:cNvSpPr>
          <p:nvPr>
            <p:ph type="sldNum" sz="quarter" idx="4"/>
          </p:nvPr>
        </p:nvSpPr>
        <p:spPr>
          <a:xfrm>
            <a:off x="9985828" y="6356350"/>
            <a:ext cx="1367971"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BA5F68-B450-774B-A94B-86322AF8B758}" type="slidenum">
              <a:rPr lang="en-US" smtClean="0"/>
              <a:pPr/>
              <a:t>‹#›</a:t>
            </a:fld>
            <a:endParaRPr lang="en-US"/>
          </a:p>
        </p:txBody>
      </p:sp>
      <p:pic>
        <p:nvPicPr>
          <p:cNvPr id="12" name="Picture 11">
            <a:extLst>
              <a:ext uri="{FF2B5EF4-FFF2-40B4-BE49-F238E27FC236}">
                <a16:creationId xmlns="" xmlns:a16="http://schemas.microsoft.com/office/drawing/2014/main" id="{6402E568-18E6-9A43-8CDC-1DF38DFF6BB5}"/>
              </a:ext>
            </a:extLst>
          </p:cNvPr>
          <p:cNvPicPr>
            <a:picLocks noChangeAspect="1"/>
          </p:cNvPicPr>
          <p:nvPr/>
        </p:nvPicPr>
        <p:blipFill>
          <a:blip r:embed="rId14"/>
          <a:stretch>
            <a:fillRect/>
          </a:stretch>
        </p:blipFill>
        <p:spPr>
          <a:xfrm>
            <a:off x="9087694" y="306094"/>
            <a:ext cx="3116019" cy="571270"/>
          </a:xfrm>
          <a:prstGeom prst="rect">
            <a:avLst/>
          </a:prstGeom>
        </p:spPr>
      </p:pic>
    </p:spTree>
    <p:extLst>
      <p:ext uri="{BB962C8B-B14F-4D97-AF65-F5344CB8AC3E}">
        <p14:creationId xmlns:p14="http://schemas.microsoft.com/office/powerpoint/2010/main" val="178060349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5" r:id="rId7"/>
    <p:sldLayoutId id="2147483686" r:id="rId8"/>
    <p:sldLayoutId id="2147483687" r:id="rId9"/>
    <p:sldLayoutId id="2147483688" r:id="rId10"/>
    <p:sldLayoutId id="214748368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28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o7planning.org/vi/11567/mang-array-trong-java" TargetMode="External"/><Relationship Id="rId7" Type="http://schemas.openxmlformats.org/officeDocument/2006/relationships/hyperlink" Target="https://gpcoder.com/2810-lop-arrarys-trong-java-arrays-utility-class/" TargetMode="External"/><Relationship Id="rId2" Type="http://schemas.openxmlformats.org/officeDocument/2006/relationships/hyperlink" Target="https://www.w3schools.com/java/java_arrays.asp" TargetMode="External"/><Relationship Id="rId1" Type="http://schemas.openxmlformats.org/officeDocument/2006/relationships/slideLayout" Target="../slideLayouts/slideLayout2.xml"/><Relationship Id="rId6" Type="http://schemas.openxmlformats.org/officeDocument/2006/relationships/hyperlink" Target="https://www.javatpoint.com/array-in-java" TargetMode="External"/><Relationship Id="rId5" Type="http://schemas.openxmlformats.org/officeDocument/2006/relationships/hyperlink" Target="https://www.geeksforgeeks.org/arrays-in-java/" TargetMode="External"/><Relationship Id="rId4" Type="http://schemas.openxmlformats.org/officeDocument/2006/relationships/hyperlink" Target="https://www.tutorialspoint.com/java/java_arrays.htm"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 xmlns:a16="http://schemas.microsoft.com/office/drawing/2014/main" id="{33D9EB45-1C59-C541-92E7-6FE421F29085}"/>
              </a:ext>
            </a:extLst>
          </p:cNvPr>
          <p:cNvSpPr>
            <a:spLocks noGrp="1"/>
          </p:cNvSpPr>
          <p:nvPr>
            <p:ph type="ctrTitle"/>
          </p:nvPr>
        </p:nvSpPr>
        <p:spPr/>
        <p:txBody>
          <a:bodyPr/>
          <a:lstStyle/>
          <a:p>
            <a:r>
              <a:rPr lang="en-US" dirty="0"/>
              <a:t>Introduction to Programming</a:t>
            </a:r>
          </a:p>
        </p:txBody>
      </p:sp>
      <p:sp>
        <p:nvSpPr>
          <p:cNvPr id="8" name="Subtitle 7">
            <a:extLst>
              <a:ext uri="{FF2B5EF4-FFF2-40B4-BE49-F238E27FC236}">
                <a16:creationId xmlns="" xmlns:a16="http://schemas.microsoft.com/office/drawing/2014/main" id="{DA0CEDCB-5CE2-1B41-9D8B-CA0EB9D3BBD7}"/>
              </a:ext>
            </a:extLst>
          </p:cNvPr>
          <p:cNvSpPr>
            <a:spLocks noGrp="1"/>
          </p:cNvSpPr>
          <p:nvPr>
            <p:ph type="subTitle" idx="1"/>
          </p:nvPr>
        </p:nvSpPr>
        <p:spPr/>
        <p:txBody>
          <a:bodyPr>
            <a:normAutofit/>
          </a:bodyPr>
          <a:lstStyle/>
          <a:p>
            <a:r>
              <a:rPr lang="en-US" sz="3600" dirty="0"/>
              <a:t>Session </a:t>
            </a:r>
            <a:r>
              <a:rPr lang="en-US" sz="3600" dirty="0" smtClean="0"/>
              <a:t>05</a:t>
            </a:r>
          </a:p>
          <a:p>
            <a:r>
              <a:rPr lang="en-US" sz="3600" dirty="0" smtClean="0"/>
              <a:t>Array</a:t>
            </a:r>
            <a:endParaRPr lang="en-US" sz="3600" dirty="0"/>
          </a:p>
        </p:txBody>
      </p:sp>
    </p:spTree>
    <p:extLst>
      <p:ext uri="{BB962C8B-B14F-4D97-AF65-F5344CB8AC3E}">
        <p14:creationId xmlns:p14="http://schemas.microsoft.com/office/powerpoint/2010/main" val="2854215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Objectives</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p:txBody>
          <a:bodyPr>
            <a:normAutofit/>
          </a:bodyPr>
          <a:lstStyle/>
          <a:p>
            <a:r>
              <a:rPr lang="en-US" sz="3200" dirty="0" smtClean="0"/>
              <a:t>Arrays</a:t>
            </a:r>
          </a:p>
          <a:p>
            <a:r>
              <a:rPr lang="en-US" sz="3200" dirty="0" smtClean="0"/>
              <a:t>Single/One-Dimensional </a:t>
            </a:r>
            <a:r>
              <a:rPr lang="en-US" sz="3200" dirty="0"/>
              <a:t>Array</a:t>
            </a:r>
          </a:p>
          <a:p>
            <a:r>
              <a:rPr lang="en-US" sz="3200" dirty="0" smtClean="0"/>
              <a:t>Multi-Dimensional Array</a:t>
            </a:r>
          </a:p>
          <a:p>
            <a:r>
              <a:rPr lang="en-US" sz="3200" dirty="0"/>
              <a:t>Jagged Array</a:t>
            </a:r>
          </a:p>
          <a:p>
            <a:endParaRPr lang="en-US" sz="3200" dirty="0" smtClean="0"/>
          </a:p>
          <a:p>
            <a:endParaRPr lang="en-US" sz="3200" dirty="0" smtClean="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2</a:t>
            </a:fld>
            <a:endParaRPr lang="en-US" dirty="0"/>
          </a:p>
        </p:txBody>
      </p:sp>
    </p:spTree>
    <p:extLst>
      <p:ext uri="{BB962C8B-B14F-4D97-AF65-F5344CB8AC3E}">
        <p14:creationId xmlns:p14="http://schemas.microsoft.com/office/powerpoint/2010/main" val="3088684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a:t>Arrays in Java</a:t>
            </a:r>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600" cy="3766075"/>
          </a:xfrm>
        </p:spPr>
        <p:txBody>
          <a:bodyPr>
            <a:normAutofit fontScale="92500" lnSpcReduction="20000"/>
          </a:bodyPr>
          <a:lstStyle/>
          <a:p>
            <a:pPr algn="just" fontAlgn="base"/>
            <a:r>
              <a:rPr lang="en-US" sz="3200" dirty="0" smtClean="0"/>
              <a:t>An </a:t>
            </a:r>
            <a:r>
              <a:rPr lang="en-US" sz="3200" dirty="0"/>
              <a:t>array is a group of like-typed variables that are referred to by a </a:t>
            </a:r>
            <a:r>
              <a:rPr lang="en-US" sz="3200" dirty="0" smtClean="0"/>
              <a:t>common name. Arrays </a:t>
            </a:r>
            <a:r>
              <a:rPr lang="en-US" sz="3200" dirty="0"/>
              <a:t>in Java work differently than they do in C/C++. Following are some important point about Java arrays.</a:t>
            </a:r>
          </a:p>
          <a:p>
            <a:pPr lvl="1" algn="just" fontAlgn="base"/>
            <a:r>
              <a:rPr lang="en-US" dirty="0"/>
              <a:t>In Java all arrays are dynamically allocated.(discussed below)</a:t>
            </a:r>
          </a:p>
          <a:p>
            <a:pPr lvl="1" algn="just" fontAlgn="base"/>
            <a:r>
              <a:rPr lang="en-US" dirty="0"/>
              <a:t>Since arrays are objects in Java, we can find their length using member length. This is different from C/C++ where we find length using </a:t>
            </a:r>
            <a:r>
              <a:rPr lang="en-US" dirty="0" err="1" smtClean="0"/>
              <a:t>sizeof</a:t>
            </a:r>
            <a:r>
              <a:rPr lang="en-US" dirty="0"/>
              <a:t>.</a:t>
            </a:r>
          </a:p>
          <a:p>
            <a:pPr lvl="1" algn="just" fontAlgn="base"/>
            <a:r>
              <a:rPr lang="en-US" dirty="0"/>
              <a:t>A Java array variable can also be declared like other variables with [] after the data type.</a:t>
            </a:r>
          </a:p>
          <a:p>
            <a:pPr lvl="1" algn="just" fontAlgn="base"/>
            <a:r>
              <a:rPr lang="en-US" dirty="0"/>
              <a:t>The variables in the array are ordered and each have an index beginning from 0.</a:t>
            </a:r>
          </a:p>
          <a:p>
            <a:pPr lvl="1" algn="just" fontAlgn="base"/>
            <a:r>
              <a:rPr lang="en-US" dirty="0"/>
              <a:t>Java array can be also be used as a static field, a local variable or a method parameter.</a:t>
            </a:r>
          </a:p>
          <a:p>
            <a:pPr lvl="1" algn="just" fontAlgn="base"/>
            <a:r>
              <a:rPr lang="en-US" dirty="0"/>
              <a:t>The </a:t>
            </a:r>
            <a:r>
              <a:rPr lang="en-US" b="1" dirty="0"/>
              <a:t>size</a:t>
            </a:r>
            <a:r>
              <a:rPr lang="en-US" dirty="0"/>
              <a:t> of an array must be specified by an </a:t>
            </a:r>
            <a:r>
              <a:rPr lang="en-US" dirty="0" err="1"/>
              <a:t>int</a:t>
            </a:r>
            <a:r>
              <a:rPr lang="en-US" dirty="0"/>
              <a:t> value and not long or short</a:t>
            </a:r>
            <a:r>
              <a:rPr lang="en-US" dirty="0" smtClean="0"/>
              <a:t>.</a:t>
            </a:r>
            <a:endParaRPr lang="en-US"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3</a:t>
            </a:fld>
            <a:endParaRPr lang="en-US" dirty="0"/>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6379" y="4840132"/>
            <a:ext cx="3978986" cy="1456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44304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a:t>Arrays in Java</a:t>
            </a:r>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4</a:t>
            </a:fld>
            <a:endParaRPr lang="en-US" dirty="0"/>
          </a:p>
        </p:txBody>
      </p:sp>
      <p:sp>
        <p:nvSpPr>
          <p:cNvPr id="9"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600" cy="5128439"/>
          </a:xfrm>
        </p:spPr>
        <p:txBody>
          <a:bodyPr>
            <a:normAutofit/>
          </a:bodyPr>
          <a:lstStyle/>
          <a:p>
            <a:pPr algn="just"/>
            <a:r>
              <a:rPr lang="en-US" sz="3200" dirty="0"/>
              <a:t>Advantages</a:t>
            </a:r>
          </a:p>
          <a:p>
            <a:pPr lvl="1" algn="just"/>
            <a:r>
              <a:rPr lang="en-US" dirty="0"/>
              <a:t>Code Optimization: It makes the code optimized, we can retrieve or sort the data efficiently.</a:t>
            </a:r>
          </a:p>
          <a:p>
            <a:pPr lvl="1" algn="just"/>
            <a:r>
              <a:rPr lang="en-US" dirty="0"/>
              <a:t>Random access: We can get any data located at an index position.</a:t>
            </a:r>
          </a:p>
          <a:p>
            <a:pPr algn="just"/>
            <a:r>
              <a:rPr lang="en-US" sz="3200" dirty="0"/>
              <a:t>Disadvantages</a:t>
            </a:r>
          </a:p>
          <a:p>
            <a:pPr lvl="1" algn="just"/>
            <a:r>
              <a:rPr lang="en-US" dirty="0"/>
              <a:t>Size Limit: We can store only the fixed size of elements in the array. It doesn't grow its size at runtime. To solve this problem, collection framework is used in Java which grows automatically</a:t>
            </a:r>
            <a:r>
              <a:rPr lang="en-US" dirty="0" smtClean="0"/>
              <a:t>.</a:t>
            </a:r>
            <a:endParaRPr lang="en-US" dirty="0"/>
          </a:p>
          <a:p>
            <a:r>
              <a:rPr lang="en-US" dirty="0"/>
              <a:t>Types of Array in </a:t>
            </a:r>
            <a:r>
              <a:rPr lang="en-US" dirty="0" smtClean="0"/>
              <a:t>java: there </a:t>
            </a:r>
            <a:r>
              <a:rPr lang="en-US" dirty="0"/>
              <a:t>are two types of array.</a:t>
            </a:r>
          </a:p>
          <a:p>
            <a:pPr lvl="1"/>
            <a:r>
              <a:rPr lang="en-US" dirty="0"/>
              <a:t>Single Dimensional Array</a:t>
            </a:r>
          </a:p>
          <a:p>
            <a:pPr lvl="1"/>
            <a:r>
              <a:rPr lang="en-US" dirty="0"/>
              <a:t>Multidimensional Array</a:t>
            </a:r>
          </a:p>
          <a:p>
            <a:pPr algn="just"/>
            <a:endParaRPr lang="en-US" dirty="0" smtClean="0"/>
          </a:p>
        </p:txBody>
      </p:sp>
    </p:spTree>
    <p:extLst>
      <p:ext uri="{BB962C8B-B14F-4D97-AF65-F5344CB8AC3E}">
        <p14:creationId xmlns:p14="http://schemas.microsoft.com/office/powerpoint/2010/main" val="978948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a:t>Single Dimensional </a:t>
            </a:r>
            <a:r>
              <a:rPr lang="en-US" sz="3200" dirty="0" smtClean="0"/>
              <a:t>Array</a:t>
            </a:r>
            <a:endParaRPr lang="en-US" sz="3200"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5</a:t>
            </a:fld>
            <a:endParaRPr lang="en-US" dirty="0"/>
          </a:p>
        </p:txBody>
      </p:sp>
      <p:sp>
        <p:nvSpPr>
          <p:cNvPr id="9"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599" cy="5128439"/>
          </a:xfrm>
        </p:spPr>
        <p:txBody>
          <a:bodyPr>
            <a:normAutofit/>
          </a:bodyPr>
          <a:lstStyle/>
          <a:p>
            <a:r>
              <a:rPr lang="en-US" sz="3200" dirty="0"/>
              <a:t>Syntax to Declare an Array in Java</a:t>
            </a:r>
          </a:p>
          <a:p>
            <a:pPr marL="457200" lvl="1" indent="0">
              <a:buNone/>
            </a:pPr>
            <a:r>
              <a:rPr lang="en-US" dirty="0" err="1"/>
              <a:t>dataType</a:t>
            </a:r>
            <a:r>
              <a:rPr lang="en-US" dirty="0"/>
              <a:t>[] </a:t>
            </a:r>
            <a:r>
              <a:rPr lang="en-US" dirty="0" err="1" smtClean="0"/>
              <a:t>arr</a:t>
            </a:r>
            <a:r>
              <a:rPr lang="en-US" dirty="0" smtClean="0"/>
              <a:t>;</a:t>
            </a:r>
          </a:p>
          <a:p>
            <a:pPr marL="457200" lvl="1" indent="0">
              <a:buNone/>
            </a:pPr>
            <a:r>
              <a:rPr lang="en-US" dirty="0" smtClean="0"/>
              <a:t>or</a:t>
            </a:r>
            <a:endParaRPr lang="en-US" dirty="0"/>
          </a:p>
          <a:p>
            <a:pPr marL="457200" lvl="1" indent="0">
              <a:buNone/>
            </a:pPr>
            <a:r>
              <a:rPr lang="en-US" dirty="0" err="1"/>
              <a:t>dataType</a:t>
            </a:r>
            <a:r>
              <a:rPr lang="en-US" dirty="0"/>
              <a:t> []</a:t>
            </a:r>
            <a:r>
              <a:rPr lang="en-US" dirty="0" err="1"/>
              <a:t>arr</a:t>
            </a:r>
            <a:r>
              <a:rPr lang="en-US" dirty="0"/>
              <a:t>; </a:t>
            </a:r>
            <a:endParaRPr lang="en-US" dirty="0" smtClean="0"/>
          </a:p>
          <a:p>
            <a:pPr marL="457200" lvl="1" indent="0">
              <a:buNone/>
            </a:pPr>
            <a:r>
              <a:rPr lang="en-US" dirty="0" smtClean="0"/>
              <a:t>or</a:t>
            </a:r>
            <a:endParaRPr lang="en-US" dirty="0"/>
          </a:p>
          <a:p>
            <a:pPr marL="457200" lvl="1" indent="0">
              <a:buNone/>
            </a:pPr>
            <a:r>
              <a:rPr lang="en-US" dirty="0" err="1"/>
              <a:t>dataType</a:t>
            </a:r>
            <a:r>
              <a:rPr lang="en-US" dirty="0"/>
              <a:t> </a:t>
            </a:r>
            <a:r>
              <a:rPr lang="en-US" dirty="0" err="1"/>
              <a:t>arr</a:t>
            </a:r>
            <a:r>
              <a:rPr lang="en-US" dirty="0"/>
              <a:t>[];  </a:t>
            </a:r>
          </a:p>
          <a:p>
            <a:r>
              <a:rPr lang="en-US" sz="3200" dirty="0"/>
              <a:t>Instantiation of an Array in Java</a:t>
            </a:r>
          </a:p>
          <a:p>
            <a:pPr marL="457200" lvl="1" indent="0">
              <a:buNone/>
            </a:pPr>
            <a:r>
              <a:rPr lang="en-US" dirty="0" err="1"/>
              <a:t>arrayRefVar</a:t>
            </a:r>
            <a:r>
              <a:rPr lang="en-US" dirty="0"/>
              <a:t>=new </a:t>
            </a:r>
            <a:r>
              <a:rPr lang="en-US" dirty="0" err="1"/>
              <a:t>datatype</a:t>
            </a:r>
            <a:r>
              <a:rPr lang="en-US" dirty="0"/>
              <a:t>[size];  </a:t>
            </a:r>
            <a:endParaRPr lang="en-US" dirty="0" smtClean="0"/>
          </a:p>
          <a:p>
            <a:pPr marL="457200" lvl="1" indent="0">
              <a:buNone/>
            </a:pPr>
            <a:endParaRPr lang="en-US" dirty="0"/>
          </a:p>
        </p:txBody>
      </p:sp>
      <p:sp>
        <p:nvSpPr>
          <p:cNvPr id="8" name="Content Placeholder 2">
            <a:extLst>
              <a:ext uri="{FF2B5EF4-FFF2-40B4-BE49-F238E27FC236}">
                <a16:creationId xmlns="" xmlns:a16="http://schemas.microsoft.com/office/drawing/2014/main" id="{21309EEA-748E-1B4D-9BA2-2ADAA2FBB16C}"/>
              </a:ext>
            </a:extLst>
          </p:cNvPr>
          <p:cNvSpPr txBox="1">
            <a:spLocks/>
          </p:cNvSpPr>
          <p:nvPr/>
        </p:nvSpPr>
        <p:spPr>
          <a:xfrm>
            <a:off x="7173314" y="1198231"/>
            <a:ext cx="4597771" cy="4767140"/>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sz="1800" b="1" dirty="0"/>
              <a:t>Example:</a:t>
            </a:r>
            <a:endParaRPr lang="en-US" sz="1800" dirty="0"/>
          </a:p>
          <a:p>
            <a:pPr marL="0" indent="0">
              <a:buNone/>
            </a:pPr>
            <a:r>
              <a:rPr lang="en-US" sz="1800" dirty="0" err="1" smtClean="0"/>
              <a:t>int</a:t>
            </a:r>
            <a:r>
              <a:rPr lang="en-US" sz="1800" dirty="0" smtClean="0"/>
              <a:t> </a:t>
            </a:r>
            <a:r>
              <a:rPr lang="en-US" sz="1800" dirty="0" err="1"/>
              <a:t>intArray</a:t>
            </a:r>
            <a:r>
              <a:rPr lang="en-US" sz="1800" dirty="0"/>
              <a:t>[]; </a:t>
            </a:r>
          </a:p>
          <a:p>
            <a:pPr marL="0" indent="0">
              <a:buNone/>
            </a:pPr>
            <a:r>
              <a:rPr lang="en-US" sz="1800" dirty="0" smtClean="0"/>
              <a:t>byte </a:t>
            </a:r>
            <a:r>
              <a:rPr lang="en-US" sz="1800" dirty="0" err="1"/>
              <a:t>byteArray</a:t>
            </a:r>
            <a:r>
              <a:rPr lang="en-US" sz="1800" dirty="0"/>
              <a:t>[]; </a:t>
            </a:r>
            <a:endParaRPr lang="en-US" sz="1800" dirty="0" smtClean="0"/>
          </a:p>
          <a:p>
            <a:pPr marL="0" indent="0">
              <a:buNone/>
            </a:pPr>
            <a:r>
              <a:rPr lang="en-US" sz="1800" dirty="0" smtClean="0"/>
              <a:t>short </a:t>
            </a:r>
            <a:r>
              <a:rPr lang="en-US" sz="1800" dirty="0" err="1"/>
              <a:t>shortsArray</a:t>
            </a:r>
            <a:r>
              <a:rPr lang="en-US" sz="1800" dirty="0"/>
              <a:t>[]; </a:t>
            </a:r>
            <a:endParaRPr lang="en-US" sz="1800" dirty="0" smtClean="0"/>
          </a:p>
          <a:p>
            <a:pPr marL="0" indent="0">
              <a:buNone/>
            </a:pPr>
            <a:r>
              <a:rPr lang="en-US" sz="1800" dirty="0" err="1" smtClean="0"/>
              <a:t>boolean</a:t>
            </a:r>
            <a:r>
              <a:rPr lang="en-US" sz="1800" dirty="0" smtClean="0"/>
              <a:t> </a:t>
            </a:r>
            <a:r>
              <a:rPr lang="en-US" sz="1800" dirty="0" err="1"/>
              <a:t>booleanArray</a:t>
            </a:r>
            <a:r>
              <a:rPr lang="en-US" sz="1800" dirty="0"/>
              <a:t>[]; </a:t>
            </a:r>
            <a:endParaRPr lang="en-US" sz="1800" dirty="0" smtClean="0"/>
          </a:p>
          <a:p>
            <a:pPr marL="0" indent="0">
              <a:buNone/>
            </a:pPr>
            <a:r>
              <a:rPr lang="en-US" sz="1800" dirty="0" smtClean="0"/>
              <a:t>long </a:t>
            </a:r>
            <a:r>
              <a:rPr lang="en-US" sz="1800" dirty="0" err="1"/>
              <a:t>longArray</a:t>
            </a:r>
            <a:r>
              <a:rPr lang="en-US" sz="1800" dirty="0"/>
              <a:t>[]; </a:t>
            </a:r>
            <a:endParaRPr lang="en-US" sz="1800" dirty="0" smtClean="0"/>
          </a:p>
          <a:p>
            <a:pPr marL="0" indent="0">
              <a:buNone/>
            </a:pPr>
            <a:r>
              <a:rPr lang="en-US" sz="1800" dirty="0" smtClean="0"/>
              <a:t>float </a:t>
            </a:r>
            <a:r>
              <a:rPr lang="en-US" sz="1800" dirty="0" err="1"/>
              <a:t>floatArray</a:t>
            </a:r>
            <a:r>
              <a:rPr lang="en-US" sz="1800" dirty="0"/>
              <a:t>[]; </a:t>
            </a:r>
            <a:endParaRPr lang="en-US" sz="1800" dirty="0" smtClean="0"/>
          </a:p>
          <a:p>
            <a:pPr marL="0" indent="0">
              <a:buNone/>
            </a:pPr>
            <a:r>
              <a:rPr lang="en-US" sz="1800" dirty="0" smtClean="0"/>
              <a:t>double </a:t>
            </a:r>
            <a:r>
              <a:rPr lang="en-US" sz="1800" dirty="0" err="1"/>
              <a:t>doubleArray</a:t>
            </a:r>
            <a:r>
              <a:rPr lang="en-US" sz="1800" dirty="0"/>
              <a:t>[]; </a:t>
            </a:r>
            <a:endParaRPr lang="en-US" sz="1800" dirty="0" smtClean="0"/>
          </a:p>
          <a:p>
            <a:pPr marL="0" indent="0">
              <a:buNone/>
            </a:pPr>
            <a:r>
              <a:rPr lang="en-US" sz="1800" dirty="0" smtClean="0"/>
              <a:t>char </a:t>
            </a:r>
            <a:r>
              <a:rPr lang="en-US" sz="1800" dirty="0" err="1"/>
              <a:t>charArray</a:t>
            </a:r>
            <a:r>
              <a:rPr lang="en-US" sz="1800" dirty="0"/>
              <a:t>[]; </a:t>
            </a:r>
            <a:endParaRPr lang="en-US" sz="1800" dirty="0" smtClean="0"/>
          </a:p>
          <a:p>
            <a:pPr marL="0" indent="0">
              <a:buNone/>
            </a:pPr>
            <a:r>
              <a:rPr lang="en-US" sz="1800" dirty="0" smtClean="0"/>
              <a:t>// </a:t>
            </a:r>
            <a:r>
              <a:rPr lang="en-US" sz="1800" dirty="0"/>
              <a:t>an array of references to objects of </a:t>
            </a:r>
            <a:endParaRPr lang="en-US" sz="1800" dirty="0" smtClean="0"/>
          </a:p>
          <a:p>
            <a:pPr marL="0" indent="0">
              <a:buNone/>
            </a:pPr>
            <a:r>
              <a:rPr lang="en-US" sz="1800" dirty="0" smtClean="0"/>
              <a:t>// </a:t>
            </a:r>
            <a:r>
              <a:rPr lang="en-US" sz="1800" dirty="0"/>
              <a:t>the class </a:t>
            </a:r>
            <a:r>
              <a:rPr lang="en-US" sz="1800" dirty="0" err="1"/>
              <a:t>MyClass</a:t>
            </a:r>
            <a:r>
              <a:rPr lang="en-US" sz="1800" dirty="0"/>
              <a:t> (a class created by </a:t>
            </a:r>
            <a:r>
              <a:rPr lang="en-US" sz="1800" dirty="0" smtClean="0"/>
              <a:t>user</a:t>
            </a:r>
            <a:r>
              <a:rPr lang="en-US" sz="1800" dirty="0"/>
              <a:t>) </a:t>
            </a:r>
            <a:endParaRPr lang="en-US" sz="1800" dirty="0" smtClean="0"/>
          </a:p>
          <a:p>
            <a:pPr marL="0" indent="0">
              <a:buNone/>
            </a:pPr>
            <a:r>
              <a:rPr lang="en-US" sz="1800" dirty="0" err="1" smtClean="0"/>
              <a:t>MyClass</a:t>
            </a:r>
            <a:r>
              <a:rPr lang="en-US" sz="1800" dirty="0" smtClean="0"/>
              <a:t> </a:t>
            </a:r>
            <a:r>
              <a:rPr lang="en-US" sz="1800" dirty="0" err="1"/>
              <a:t>myClassArray</a:t>
            </a:r>
            <a:r>
              <a:rPr lang="en-US" sz="1800" dirty="0"/>
              <a:t>[]; </a:t>
            </a:r>
            <a:endParaRPr lang="en-US" sz="3200" dirty="0" smtClean="0"/>
          </a:p>
        </p:txBody>
      </p:sp>
    </p:spTree>
    <p:extLst>
      <p:ext uri="{BB962C8B-B14F-4D97-AF65-F5344CB8AC3E}">
        <p14:creationId xmlns:p14="http://schemas.microsoft.com/office/powerpoint/2010/main" val="3145133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a:t>Single Dimensional </a:t>
            </a:r>
            <a:r>
              <a:rPr lang="en-US" sz="3200" dirty="0" smtClean="0"/>
              <a:t>Array</a:t>
            </a:r>
            <a:endParaRPr lang="en-US" sz="3200"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6</a:t>
            </a:fld>
            <a:endParaRPr lang="en-US" dirty="0"/>
          </a:p>
        </p:txBody>
      </p:sp>
      <p:sp>
        <p:nvSpPr>
          <p:cNvPr id="9"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599" cy="5128439"/>
          </a:xfrm>
        </p:spPr>
        <p:txBody>
          <a:bodyPr>
            <a:normAutofit/>
          </a:bodyPr>
          <a:lstStyle/>
          <a:p>
            <a:pPr marL="0" indent="0">
              <a:buNone/>
            </a:pPr>
            <a:r>
              <a:rPr lang="en-US" sz="3200" dirty="0"/>
              <a:t>class </a:t>
            </a:r>
            <a:r>
              <a:rPr lang="en-US" sz="3200" dirty="0" err="1"/>
              <a:t>Testarray</a:t>
            </a:r>
            <a:r>
              <a:rPr lang="en-US" sz="3200" dirty="0"/>
              <a:t>{  </a:t>
            </a:r>
          </a:p>
          <a:p>
            <a:pPr marL="457200" lvl="1" indent="0">
              <a:buNone/>
            </a:pPr>
            <a:r>
              <a:rPr lang="en-US" dirty="0"/>
              <a:t>public static void main(String </a:t>
            </a:r>
            <a:r>
              <a:rPr lang="en-US" dirty="0" err="1"/>
              <a:t>args</a:t>
            </a:r>
            <a:r>
              <a:rPr lang="en-US" dirty="0"/>
              <a:t>[]){  </a:t>
            </a:r>
          </a:p>
          <a:p>
            <a:pPr marL="914400" lvl="2" indent="0">
              <a:buNone/>
            </a:pPr>
            <a:r>
              <a:rPr lang="en-US" dirty="0" err="1"/>
              <a:t>int</a:t>
            </a:r>
            <a:r>
              <a:rPr lang="en-US" dirty="0"/>
              <a:t> a[]=new </a:t>
            </a:r>
            <a:r>
              <a:rPr lang="en-US" dirty="0" err="1"/>
              <a:t>int</a:t>
            </a:r>
            <a:r>
              <a:rPr lang="en-US" dirty="0"/>
              <a:t>[5];//declaration and instantiation  </a:t>
            </a:r>
          </a:p>
          <a:p>
            <a:pPr marL="914400" lvl="2" indent="0">
              <a:buNone/>
            </a:pPr>
            <a:r>
              <a:rPr lang="en-US" dirty="0"/>
              <a:t>a[0]=10;//initialization  </a:t>
            </a:r>
          </a:p>
          <a:p>
            <a:pPr marL="914400" lvl="2" indent="0">
              <a:buNone/>
            </a:pPr>
            <a:r>
              <a:rPr lang="en-US" dirty="0"/>
              <a:t>a[1]=20;  </a:t>
            </a:r>
          </a:p>
          <a:p>
            <a:pPr marL="914400" lvl="2" indent="0">
              <a:buNone/>
            </a:pPr>
            <a:r>
              <a:rPr lang="en-US" dirty="0"/>
              <a:t>a[2]=70;  </a:t>
            </a:r>
          </a:p>
          <a:p>
            <a:pPr marL="914400" lvl="2" indent="0">
              <a:buNone/>
            </a:pPr>
            <a:r>
              <a:rPr lang="en-US" dirty="0"/>
              <a:t>a[3]=40;  </a:t>
            </a:r>
          </a:p>
          <a:p>
            <a:pPr marL="914400" lvl="2" indent="0">
              <a:buNone/>
            </a:pPr>
            <a:r>
              <a:rPr lang="en-US" dirty="0"/>
              <a:t>a[4]=50;  </a:t>
            </a:r>
          </a:p>
          <a:p>
            <a:pPr marL="914400" lvl="2" indent="0">
              <a:buNone/>
            </a:pPr>
            <a:r>
              <a:rPr lang="en-US" dirty="0"/>
              <a:t>//traversing array  </a:t>
            </a:r>
          </a:p>
          <a:p>
            <a:pPr marL="914400" lvl="2" indent="0">
              <a:buNone/>
            </a:pPr>
            <a:r>
              <a:rPr lang="en-US" dirty="0"/>
              <a:t>for(</a:t>
            </a:r>
            <a:r>
              <a:rPr lang="en-US" dirty="0" err="1"/>
              <a:t>int</a:t>
            </a:r>
            <a:r>
              <a:rPr lang="en-US" dirty="0"/>
              <a:t> i=</a:t>
            </a:r>
            <a:r>
              <a:rPr lang="en-US" dirty="0" err="1"/>
              <a:t>0;i</a:t>
            </a:r>
            <a:r>
              <a:rPr lang="en-US" dirty="0"/>
              <a:t>&lt;</a:t>
            </a:r>
            <a:r>
              <a:rPr lang="en-US" dirty="0" err="1"/>
              <a:t>a.length;i</a:t>
            </a:r>
            <a:r>
              <a:rPr lang="en-US" dirty="0"/>
              <a:t>++)//length is the property of array  </a:t>
            </a:r>
          </a:p>
          <a:p>
            <a:pPr marL="914400" lvl="2" indent="0">
              <a:buNone/>
            </a:pPr>
            <a:r>
              <a:rPr lang="en-US" dirty="0" smtClean="0"/>
              <a:t>	</a:t>
            </a:r>
            <a:r>
              <a:rPr lang="en-US" dirty="0" err="1" smtClean="0"/>
              <a:t>System.out.println</a:t>
            </a:r>
            <a:r>
              <a:rPr lang="en-US" dirty="0" smtClean="0"/>
              <a:t>(a[i</a:t>
            </a:r>
            <a:r>
              <a:rPr lang="en-US" dirty="0"/>
              <a:t>]); </a:t>
            </a:r>
            <a:r>
              <a:rPr lang="en-US" dirty="0" smtClean="0"/>
              <a:t> </a:t>
            </a:r>
          </a:p>
          <a:p>
            <a:pPr marL="0" indent="0">
              <a:buNone/>
            </a:pPr>
            <a:r>
              <a:rPr lang="en-US" sz="3200" dirty="0"/>
              <a:t> </a:t>
            </a:r>
            <a:r>
              <a:rPr lang="en-US" sz="3200" dirty="0" smtClean="0"/>
              <a:t>   </a:t>
            </a:r>
            <a:r>
              <a:rPr lang="en-US" sz="2400" dirty="0" smtClean="0"/>
              <a:t>}</a:t>
            </a:r>
          </a:p>
          <a:p>
            <a:pPr marL="0" indent="0">
              <a:buNone/>
            </a:pPr>
            <a:r>
              <a:rPr lang="en-US" sz="3200" dirty="0" smtClean="0"/>
              <a:t>}</a:t>
            </a:r>
            <a:r>
              <a:rPr lang="en-US" sz="3200" dirty="0"/>
              <a:t>  </a:t>
            </a:r>
          </a:p>
        </p:txBody>
      </p:sp>
      <p:sp>
        <p:nvSpPr>
          <p:cNvPr id="8" name="Content Placeholder 2">
            <a:extLst>
              <a:ext uri="{FF2B5EF4-FFF2-40B4-BE49-F238E27FC236}">
                <a16:creationId xmlns="" xmlns:a16="http://schemas.microsoft.com/office/drawing/2014/main" id="{21309EEA-748E-1B4D-9BA2-2ADAA2FBB16C}"/>
              </a:ext>
            </a:extLst>
          </p:cNvPr>
          <p:cNvSpPr txBox="1">
            <a:spLocks/>
          </p:cNvSpPr>
          <p:nvPr/>
        </p:nvSpPr>
        <p:spPr>
          <a:xfrm>
            <a:off x="8462952" y="1684157"/>
            <a:ext cx="2059904" cy="2437900"/>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Output:</a:t>
            </a:r>
          </a:p>
          <a:p>
            <a:pPr marL="0" indent="0">
              <a:buNone/>
            </a:pPr>
            <a:r>
              <a:rPr lang="en-US" sz="1800" dirty="0" smtClean="0"/>
              <a:t>10</a:t>
            </a:r>
          </a:p>
          <a:p>
            <a:pPr marL="0" indent="0">
              <a:buNone/>
            </a:pPr>
            <a:r>
              <a:rPr lang="en-US" sz="1800" dirty="0" smtClean="0"/>
              <a:t>20</a:t>
            </a:r>
          </a:p>
          <a:p>
            <a:pPr marL="0" indent="0">
              <a:buNone/>
            </a:pPr>
            <a:r>
              <a:rPr lang="en-US" sz="1800" dirty="0" smtClean="0"/>
              <a:t>70</a:t>
            </a:r>
          </a:p>
          <a:p>
            <a:pPr marL="0" indent="0">
              <a:buNone/>
            </a:pPr>
            <a:r>
              <a:rPr lang="en-US" sz="1800" dirty="0" smtClean="0"/>
              <a:t>40</a:t>
            </a:r>
          </a:p>
          <a:p>
            <a:pPr marL="0" indent="0">
              <a:buNone/>
            </a:pPr>
            <a:r>
              <a:rPr lang="en-US" sz="1800" dirty="0" smtClean="0"/>
              <a:t>50</a:t>
            </a:r>
            <a:endParaRPr lang="en-US" sz="1800" dirty="0"/>
          </a:p>
        </p:txBody>
      </p:sp>
    </p:spTree>
    <p:extLst>
      <p:ext uri="{BB962C8B-B14F-4D97-AF65-F5344CB8AC3E}">
        <p14:creationId xmlns:p14="http://schemas.microsoft.com/office/powerpoint/2010/main" val="826430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a:t>Single Dimensional </a:t>
            </a:r>
            <a:r>
              <a:rPr lang="en-US" sz="3200" dirty="0" smtClean="0"/>
              <a:t>Array</a:t>
            </a:r>
            <a:endParaRPr lang="en-US" sz="3200"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7</a:t>
            </a:fld>
            <a:endParaRPr lang="en-US" dirty="0"/>
          </a:p>
        </p:txBody>
      </p:sp>
      <p:sp>
        <p:nvSpPr>
          <p:cNvPr id="9"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599" cy="5128439"/>
          </a:xfrm>
        </p:spPr>
        <p:txBody>
          <a:bodyPr>
            <a:normAutofit/>
          </a:bodyPr>
          <a:lstStyle/>
          <a:p>
            <a:pPr marL="0" indent="0">
              <a:buNone/>
            </a:pPr>
            <a:r>
              <a:rPr lang="en-US" sz="3200" dirty="0"/>
              <a:t>Declaration, Instantiation and Initialization of Java </a:t>
            </a:r>
            <a:r>
              <a:rPr lang="en-US" sz="3200" dirty="0" smtClean="0"/>
              <a:t>Array</a:t>
            </a:r>
          </a:p>
          <a:p>
            <a:pPr marL="0" indent="0">
              <a:buNone/>
            </a:pPr>
            <a:r>
              <a:rPr lang="en-US" sz="3200" dirty="0" smtClean="0"/>
              <a:t>class</a:t>
            </a:r>
            <a:r>
              <a:rPr lang="en-US" sz="3200" dirty="0"/>
              <a:t> </a:t>
            </a:r>
            <a:r>
              <a:rPr lang="en-US" sz="3200" dirty="0" err="1" smtClean="0"/>
              <a:t>Testarray1</a:t>
            </a:r>
            <a:r>
              <a:rPr lang="en-US" sz="3200" dirty="0" smtClean="0"/>
              <a:t>{</a:t>
            </a:r>
            <a:r>
              <a:rPr lang="en-US" sz="3200" dirty="0"/>
              <a:t>  </a:t>
            </a:r>
          </a:p>
          <a:p>
            <a:pPr marL="457200" lvl="1" indent="0">
              <a:buNone/>
            </a:pPr>
            <a:r>
              <a:rPr lang="en-US" dirty="0"/>
              <a:t>public static void main(String </a:t>
            </a:r>
            <a:r>
              <a:rPr lang="en-US" dirty="0" err="1"/>
              <a:t>args</a:t>
            </a:r>
            <a:r>
              <a:rPr lang="en-US" dirty="0"/>
              <a:t>[]){  </a:t>
            </a:r>
          </a:p>
          <a:p>
            <a:pPr marL="914400" lvl="2" indent="0">
              <a:buNone/>
            </a:pPr>
            <a:r>
              <a:rPr lang="en-US" dirty="0" err="1"/>
              <a:t>int</a:t>
            </a:r>
            <a:r>
              <a:rPr lang="en-US" dirty="0"/>
              <a:t> a[]={33,3,4,5};//declaration, instantiation and initialization  </a:t>
            </a:r>
          </a:p>
          <a:p>
            <a:pPr marL="914400" lvl="2" indent="0">
              <a:buNone/>
            </a:pPr>
            <a:r>
              <a:rPr lang="en-US" dirty="0"/>
              <a:t>//printing array  </a:t>
            </a:r>
          </a:p>
          <a:p>
            <a:pPr marL="914400" lvl="2" indent="0">
              <a:buNone/>
            </a:pPr>
            <a:r>
              <a:rPr lang="en-US" dirty="0"/>
              <a:t>for(</a:t>
            </a:r>
            <a:r>
              <a:rPr lang="en-US" dirty="0" err="1"/>
              <a:t>int</a:t>
            </a:r>
            <a:r>
              <a:rPr lang="en-US" dirty="0"/>
              <a:t> i=</a:t>
            </a:r>
            <a:r>
              <a:rPr lang="en-US" dirty="0" err="1"/>
              <a:t>0;i</a:t>
            </a:r>
            <a:r>
              <a:rPr lang="en-US" dirty="0"/>
              <a:t>&lt;</a:t>
            </a:r>
            <a:r>
              <a:rPr lang="en-US" dirty="0" err="1"/>
              <a:t>a.length;i</a:t>
            </a:r>
            <a:r>
              <a:rPr lang="en-US" dirty="0"/>
              <a:t>++)//length is the property of array  </a:t>
            </a:r>
          </a:p>
          <a:p>
            <a:pPr marL="914400" lvl="2" indent="0">
              <a:buNone/>
            </a:pPr>
            <a:r>
              <a:rPr lang="en-US" dirty="0" smtClean="0"/>
              <a:t>	</a:t>
            </a:r>
            <a:r>
              <a:rPr lang="en-US" dirty="0" err="1" smtClean="0"/>
              <a:t>System.out.println</a:t>
            </a:r>
            <a:r>
              <a:rPr lang="en-US" dirty="0" smtClean="0"/>
              <a:t>(a[i</a:t>
            </a:r>
            <a:r>
              <a:rPr lang="en-US" dirty="0"/>
              <a:t>]);  </a:t>
            </a:r>
          </a:p>
          <a:p>
            <a:pPr marL="0" indent="0">
              <a:buNone/>
            </a:pPr>
            <a:r>
              <a:rPr lang="en-US" sz="3200" dirty="0" smtClean="0"/>
              <a:t>    </a:t>
            </a:r>
            <a:r>
              <a:rPr lang="en-US" sz="2400" dirty="0" smtClean="0"/>
              <a:t>}</a:t>
            </a:r>
          </a:p>
          <a:p>
            <a:pPr marL="0" indent="0">
              <a:buNone/>
            </a:pPr>
            <a:r>
              <a:rPr lang="en-US" sz="3200" dirty="0" smtClean="0"/>
              <a:t>}</a:t>
            </a:r>
            <a:r>
              <a:rPr lang="en-US" sz="3200" dirty="0"/>
              <a:t>  </a:t>
            </a:r>
          </a:p>
        </p:txBody>
      </p:sp>
      <p:sp>
        <p:nvSpPr>
          <p:cNvPr id="8" name="Content Placeholder 2">
            <a:extLst>
              <a:ext uri="{FF2B5EF4-FFF2-40B4-BE49-F238E27FC236}">
                <a16:creationId xmlns="" xmlns:a16="http://schemas.microsoft.com/office/drawing/2014/main" id="{21309EEA-748E-1B4D-9BA2-2ADAA2FBB16C}"/>
              </a:ext>
            </a:extLst>
          </p:cNvPr>
          <p:cNvSpPr txBox="1">
            <a:spLocks/>
          </p:cNvSpPr>
          <p:nvPr/>
        </p:nvSpPr>
        <p:spPr>
          <a:xfrm>
            <a:off x="8825248" y="2105072"/>
            <a:ext cx="1929838" cy="2016985"/>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Output:</a:t>
            </a:r>
          </a:p>
          <a:p>
            <a:pPr marL="0" indent="0">
              <a:buNone/>
            </a:pPr>
            <a:r>
              <a:rPr lang="en-US" sz="1800" dirty="0" smtClean="0"/>
              <a:t>33</a:t>
            </a:r>
          </a:p>
          <a:p>
            <a:pPr marL="0" indent="0">
              <a:buNone/>
            </a:pPr>
            <a:r>
              <a:rPr lang="en-US" sz="1800" dirty="0"/>
              <a:t>3</a:t>
            </a:r>
            <a:endParaRPr lang="en-US" sz="1800" dirty="0" smtClean="0"/>
          </a:p>
          <a:p>
            <a:pPr marL="0" indent="0">
              <a:buNone/>
            </a:pPr>
            <a:r>
              <a:rPr lang="en-US" sz="1800" dirty="0" smtClean="0"/>
              <a:t>4</a:t>
            </a:r>
          </a:p>
          <a:p>
            <a:pPr marL="0" indent="0">
              <a:buNone/>
            </a:pPr>
            <a:r>
              <a:rPr lang="en-US" sz="1800" dirty="0" smtClean="0"/>
              <a:t>5</a:t>
            </a:r>
            <a:endParaRPr lang="en-US" sz="1800" dirty="0"/>
          </a:p>
        </p:txBody>
      </p:sp>
    </p:spTree>
    <p:extLst>
      <p:ext uri="{BB962C8B-B14F-4D97-AF65-F5344CB8AC3E}">
        <p14:creationId xmlns:p14="http://schemas.microsoft.com/office/powerpoint/2010/main" val="740665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a:t>Single Dimensional </a:t>
            </a:r>
            <a:r>
              <a:rPr lang="en-US" sz="3200" dirty="0" smtClean="0"/>
              <a:t>Array</a:t>
            </a:r>
            <a:endParaRPr lang="en-US" sz="3200"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8</a:t>
            </a:fld>
            <a:endParaRPr lang="en-US" dirty="0"/>
          </a:p>
        </p:txBody>
      </p:sp>
      <p:sp>
        <p:nvSpPr>
          <p:cNvPr id="9"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599" cy="5128439"/>
          </a:xfrm>
        </p:spPr>
        <p:txBody>
          <a:bodyPr>
            <a:normAutofit fontScale="85000" lnSpcReduction="20000"/>
          </a:bodyPr>
          <a:lstStyle/>
          <a:p>
            <a:pPr algn="just"/>
            <a:r>
              <a:rPr lang="en-US" sz="3200" dirty="0"/>
              <a:t>Processing </a:t>
            </a:r>
            <a:r>
              <a:rPr lang="en-US" sz="3200" dirty="0" smtClean="0"/>
              <a:t>Arrays: When </a:t>
            </a:r>
            <a:r>
              <a:rPr lang="en-US" sz="3200" dirty="0"/>
              <a:t>processing array elements, we often use either </a:t>
            </a:r>
            <a:r>
              <a:rPr lang="en-US" sz="3200" b="1" dirty="0"/>
              <a:t>for loop </a:t>
            </a:r>
            <a:r>
              <a:rPr lang="en-US" sz="3200" dirty="0"/>
              <a:t>or</a:t>
            </a:r>
            <a:r>
              <a:rPr lang="en-US" sz="3200" b="1" dirty="0"/>
              <a:t> </a:t>
            </a:r>
            <a:r>
              <a:rPr lang="en-US" sz="3200" b="1" dirty="0" smtClean="0"/>
              <a:t>for-each </a:t>
            </a:r>
            <a:r>
              <a:rPr lang="en-US" sz="3200" b="1" dirty="0"/>
              <a:t>loop </a:t>
            </a:r>
            <a:r>
              <a:rPr lang="en-US" sz="3200" dirty="0"/>
              <a:t>because all of the elements in an array are of the same type and the size of the array is </a:t>
            </a:r>
            <a:r>
              <a:rPr lang="en-US" sz="3200" dirty="0" smtClean="0"/>
              <a:t>known.</a:t>
            </a:r>
          </a:p>
          <a:p>
            <a:pPr algn="just"/>
            <a:endParaRPr lang="en-US" sz="3200" dirty="0"/>
          </a:p>
          <a:p>
            <a:pPr marL="0" indent="0" algn="just">
              <a:buNone/>
            </a:pPr>
            <a:endParaRPr lang="en-US" sz="3200" dirty="0"/>
          </a:p>
          <a:p>
            <a:pPr algn="just"/>
            <a:endParaRPr lang="en-US" dirty="0" smtClean="0"/>
          </a:p>
          <a:p>
            <a:pPr algn="just"/>
            <a:r>
              <a:rPr lang="en-US" dirty="0" smtClean="0"/>
              <a:t>Example:</a:t>
            </a:r>
          </a:p>
          <a:p>
            <a:pPr marL="457200" lvl="1" indent="0" algn="just">
              <a:buNone/>
            </a:pPr>
            <a:r>
              <a:rPr lang="en-US" b="1" dirty="0"/>
              <a:t>class</a:t>
            </a:r>
            <a:r>
              <a:rPr lang="en-US" dirty="0"/>
              <a:t> </a:t>
            </a:r>
            <a:r>
              <a:rPr lang="en-US" dirty="0" err="1" smtClean="0"/>
              <a:t>Testarray2</a:t>
            </a:r>
            <a:r>
              <a:rPr lang="en-US" dirty="0" smtClean="0"/>
              <a:t>{</a:t>
            </a:r>
            <a:r>
              <a:rPr lang="en-US" dirty="0"/>
              <a:t>  </a:t>
            </a:r>
          </a:p>
          <a:p>
            <a:pPr marL="914400" lvl="2" indent="0" algn="just">
              <a:buNone/>
            </a:pPr>
            <a:r>
              <a:rPr lang="en-US" sz="2200" b="1" dirty="0"/>
              <a:t>public</a:t>
            </a:r>
            <a:r>
              <a:rPr lang="en-US" sz="2200" dirty="0"/>
              <a:t> </a:t>
            </a:r>
            <a:r>
              <a:rPr lang="en-US" sz="2200" b="1" dirty="0"/>
              <a:t>static</a:t>
            </a:r>
            <a:r>
              <a:rPr lang="en-US" sz="2200" dirty="0"/>
              <a:t> </a:t>
            </a:r>
            <a:r>
              <a:rPr lang="en-US" sz="2200" b="1" dirty="0"/>
              <a:t>void</a:t>
            </a:r>
            <a:r>
              <a:rPr lang="en-US" sz="2200" dirty="0"/>
              <a:t> main(String </a:t>
            </a:r>
            <a:r>
              <a:rPr lang="en-US" sz="2200" dirty="0" err="1"/>
              <a:t>args</a:t>
            </a:r>
            <a:r>
              <a:rPr lang="en-US" sz="2200" dirty="0"/>
              <a:t>[]){  </a:t>
            </a:r>
          </a:p>
          <a:p>
            <a:pPr marL="1371600" lvl="3" indent="0" algn="just">
              <a:buNone/>
            </a:pPr>
            <a:r>
              <a:rPr lang="en-US" sz="2200" b="1" dirty="0" err="1"/>
              <a:t>int</a:t>
            </a:r>
            <a:r>
              <a:rPr lang="en-US" sz="2200" dirty="0"/>
              <a:t> </a:t>
            </a:r>
            <a:r>
              <a:rPr lang="en-US" sz="2200" dirty="0" err="1"/>
              <a:t>arr</a:t>
            </a:r>
            <a:r>
              <a:rPr lang="en-US" sz="2200" dirty="0"/>
              <a:t>[]={33,3,4,5};  </a:t>
            </a:r>
            <a:endParaRPr lang="en-US" sz="2200" dirty="0" smtClean="0"/>
          </a:p>
          <a:p>
            <a:pPr marL="914400" lvl="2" indent="0">
              <a:buNone/>
            </a:pPr>
            <a:r>
              <a:rPr lang="en-US" sz="2200" dirty="0" smtClean="0"/>
              <a:t>         </a:t>
            </a:r>
            <a:r>
              <a:rPr lang="en-US" sz="2200" b="1" dirty="0" smtClean="0"/>
              <a:t>for(</a:t>
            </a:r>
            <a:r>
              <a:rPr lang="en-US" sz="2200" b="1" dirty="0" err="1" smtClean="0"/>
              <a:t>int</a:t>
            </a:r>
            <a:r>
              <a:rPr lang="en-US" sz="2200" b="1" dirty="0"/>
              <a:t> i=</a:t>
            </a:r>
            <a:r>
              <a:rPr lang="en-US" sz="2200" b="1" dirty="0" err="1"/>
              <a:t>0;i</a:t>
            </a:r>
            <a:r>
              <a:rPr lang="en-US" sz="2200" b="1" dirty="0"/>
              <a:t>&lt;</a:t>
            </a:r>
            <a:r>
              <a:rPr lang="en-US" sz="2200" b="1" dirty="0" err="1"/>
              <a:t>a.length;i</a:t>
            </a:r>
            <a:r>
              <a:rPr lang="en-US" sz="2200" b="1" dirty="0" smtClean="0"/>
              <a:t>++)</a:t>
            </a:r>
            <a:r>
              <a:rPr lang="en-US" sz="2200" dirty="0" smtClean="0"/>
              <a:t>//length is the property of array  </a:t>
            </a:r>
            <a:endParaRPr lang="en-US" sz="2200" dirty="0"/>
          </a:p>
          <a:p>
            <a:pPr marL="914400" lvl="2" indent="0">
              <a:buNone/>
            </a:pPr>
            <a:r>
              <a:rPr lang="en-US" sz="2200" dirty="0"/>
              <a:t>	</a:t>
            </a:r>
            <a:r>
              <a:rPr lang="en-US" sz="2200" dirty="0" err="1"/>
              <a:t>System.out.println</a:t>
            </a:r>
            <a:r>
              <a:rPr lang="en-US" sz="2200" dirty="0"/>
              <a:t>(a[i]);  </a:t>
            </a:r>
          </a:p>
          <a:p>
            <a:pPr marL="1371600" lvl="3" indent="0" algn="just">
              <a:buNone/>
            </a:pPr>
            <a:r>
              <a:rPr lang="en-US" sz="2200" b="1" dirty="0" smtClean="0"/>
              <a:t>for</a:t>
            </a:r>
            <a:r>
              <a:rPr lang="en-US" sz="2200" dirty="0" smtClean="0"/>
              <a:t>(</a:t>
            </a:r>
            <a:r>
              <a:rPr lang="en-US" sz="2200" b="1" dirty="0" err="1" smtClean="0"/>
              <a:t>int</a:t>
            </a:r>
            <a:r>
              <a:rPr lang="en-US" sz="2200" dirty="0"/>
              <a:t> </a:t>
            </a:r>
            <a:r>
              <a:rPr lang="en-US" sz="2200" dirty="0" err="1" smtClean="0"/>
              <a:t>element:arr</a:t>
            </a:r>
            <a:r>
              <a:rPr lang="en-US" sz="2200" dirty="0"/>
              <a:t>)  //printing array using for-each loop  </a:t>
            </a:r>
          </a:p>
          <a:p>
            <a:pPr marL="914400" lvl="2" indent="0" algn="just">
              <a:buNone/>
            </a:pPr>
            <a:r>
              <a:rPr lang="en-US" sz="2200" dirty="0" smtClean="0"/>
              <a:t>	</a:t>
            </a:r>
            <a:r>
              <a:rPr lang="en-US" sz="2200" dirty="0" err="1"/>
              <a:t>System.out.println</a:t>
            </a:r>
            <a:r>
              <a:rPr lang="en-US" sz="2200" dirty="0"/>
              <a:t>(element);  </a:t>
            </a:r>
          </a:p>
          <a:p>
            <a:pPr marL="457200" lvl="1" indent="0" algn="just">
              <a:buNone/>
            </a:pPr>
            <a:r>
              <a:rPr lang="en-US" sz="2200" dirty="0" smtClean="0"/>
              <a:t>	}</a:t>
            </a:r>
          </a:p>
          <a:p>
            <a:pPr marL="457200" lvl="1" indent="0" algn="just">
              <a:buNone/>
            </a:pPr>
            <a:r>
              <a:rPr lang="en-US" dirty="0" smtClean="0"/>
              <a:t>}</a:t>
            </a:r>
            <a:r>
              <a:rPr lang="en-US" dirty="0"/>
              <a:t>  </a:t>
            </a:r>
          </a:p>
          <a:p>
            <a:pPr marL="457200" lvl="1" indent="0" algn="just">
              <a:buNone/>
            </a:pPr>
            <a:endParaRPr lang="en-US" dirty="0"/>
          </a:p>
        </p:txBody>
      </p:sp>
      <p:sp>
        <p:nvSpPr>
          <p:cNvPr id="8" name="Content Placeholder 2">
            <a:extLst>
              <a:ext uri="{FF2B5EF4-FFF2-40B4-BE49-F238E27FC236}">
                <a16:creationId xmlns="" xmlns:a16="http://schemas.microsoft.com/office/drawing/2014/main" id="{21309EEA-748E-1B4D-9BA2-2ADAA2FBB16C}"/>
              </a:ext>
            </a:extLst>
          </p:cNvPr>
          <p:cNvSpPr txBox="1">
            <a:spLocks/>
          </p:cNvSpPr>
          <p:nvPr/>
        </p:nvSpPr>
        <p:spPr>
          <a:xfrm>
            <a:off x="8258615" y="3294742"/>
            <a:ext cx="1524000" cy="3178630"/>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smtClean="0"/>
              <a:t>Output</a:t>
            </a:r>
            <a:r>
              <a:rPr lang="en-US" sz="1800" dirty="0"/>
              <a:t>:</a:t>
            </a:r>
          </a:p>
          <a:p>
            <a:pPr marL="0" indent="0">
              <a:buNone/>
            </a:pPr>
            <a:r>
              <a:rPr lang="en-US" sz="1800" dirty="0"/>
              <a:t>33</a:t>
            </a:r>
          </a:p>
          <a:p>
            <a:pPr marL="0" indent="0">
              <a:buNone/>
            </a:pPr>
            <a:r>
              <a:rPr lang="en-US" sz="1800" dirty="0"/>
              <a:t>3</a:t>
            </a:r>
          </a:p>
          <a:p>
            <a:pPr marL="0" indent="0">
              <a:buNone/>
            </a:pPr>
            <a:r>
              <a:rPr lang="en-US" sz="1800" dirty="0"/>
              <a:t>4</a:t>
            </a:r>
          </a:p>
          <a:p>
            <a:pPr marL="0" indent="0">
              <a:buNone/>
            </a:pPr>
            <a:r>
              <a:rPr lang="en-US" sz="1800" dirty="0" smtClean="0"/>
              <a:t>5</a:t>
            </a:r>
          </a:p>
          <a:p>
            <a:pPr marL="0" indent="0">
              <a:buNone/>
            </a:pPr>
            <a:r>
              <a:rPr lang="en-US" sz="1800" dirty="0" smtClean="0"/>
              <a:t>33</a:t>
            </a:r>
          </a:p>
          <a:p>
            <a:pPr marL="0" indent="0">
              <a:buNone/>
            </a:pPr>
            <a:r>
              <a:rPr lang="en-US" sz="1800" dirty="0"/>
              <a:t>3</a:t>
            </a:r>
            <a:endParaRPr lang="en-US" sz="1800" dirty="0" smtClean="0"/>
          </a:p>
          <a:p>
            <a:pPr marL="0" indent="0">
              <a:buNone/>
            </a:pPr>
            <a:r>
              <a:rPr lang="en-US" sz="1800" dirty="0" smtClean="0"/>
              <a:t>4</a:t>
            </a:r>
          </a:p>
          <a:p>
            <a:pPr marL="0" indent="0">
              <a:buNone/>
            </a:pPr>
            <a:r>
              <a:rPr lang="en-US" sz="1800" dirty="0" smtClean="0"/>
              <a:t>5</a:t>
            </a:r>
            <a:endParaRPr lang="en-US" sz="1800" dirty="0"/>
          </a:p>
        </p:txBody>
      </p:sp>
      <p:sp>
        <p:nvSpPr>
          <p:cNvPr id="10" name="Content Placeholder 2">
            <a:extLst>
              <a:ext uri="{FF2B5EF4-FFF2-40B4-BE49-F238E27FC236}">
                <a16:creationId xmlns="" xmlns:a16="http://schemas.microsoft.com/office/drawing/2014/main" id="{21309EEA-748E-1B4D-9BA2-2ADAA2FBB16C}"/>
              </a:ext>
            </a:extLst>
          </p:cNvPr>
          <p:cNvSpPr txBox="1">
            <a:spLocks/>
          </p:cNvSpPr>
          <p:nvPr/>
        </p:nvSpPr>
        <p:spPr>
          <a:xfrm>
            <a:off x="1146628" y="2057393"/>
            <a:ext cx="5529943" cy="12518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just">
              <a:buNone/>
            </a:pPr>
            <a:r>
              <a:rPr lang="en-US" b="1" dirty="0" smtClean="0"/>
              <a:t>for(</a:t>
            </a:r>
            <a:r>
              <a:rPr lang="en-US" b="1" dirty="0" err="1" smtClean="0"/>
              <a:t>int</a:t>
            </a:r>
            <a:r>
              <a:rPr lang="en-US" b="1" dirty="0"/>
              <a:t> </a:t>
            </a:r>
            <a:r>
              <a:rPr lang="en-US" b="1" dirty="0" smtClean="0"/>
              <a:t>index=</a:t>
            </a:r>
            <a:r>
              <a:rPr lang="en-US" b="1" dirty="0" err="1" smtClean="0"/>
              <a:t>0;i</a:t>
            </a:r>
            <a:r>
              <a:rPr lang="en-US" b="1" dirty="0" smtClean="0"/>
              <a:t>&lt;</a:t>
            </a:r>
            <a:r>
              <a:rPr lang="en-US" b="1" dirty="0" err="1" smtClean="0"/>
              <a:t>array_size;index</a:t>
            </a:r>
            <a:r>
              <a:rPr lang="en-US" b="1" dirty="0" smtClean="0"/>
              <a:t>++)</a:t>
            </a:r>
          </a:p>
          <a:p>
            <a:pPr marL="457200" lvl="1" indent="0" algn="just">
              <a:buNone/>
            </a:pPr>
            <a:r>
              <a:rPr lang="en-US" b="1" dirty="0" smtClean="0"/>
              <a:t>{</a:t>
            </a:r>
            <a:r>
              <a:rPr lang="en-US" b="1" dirty="0"/>
              <a:t>	</a:t>
            </a:r>
            <a:r>
              <a:rPr lang="en-US" b="1" dirty="0" smtClean="0"/>
              <a:t>//handle element at index</a:t>
            </a:r>
            <a:r>
              <a:rPr lang="en-US" b="1" dirty="0"/>
              <a:t>  </a:t>
            </a:r>
          </a:p>
          <a:p>
            <a:pPr marL="457200" lvl="1" indent="0" algn="just">
              <a:buNone/>
            </a:pPr>
            <a:r>
              <a:rPr lang="en-US" b="1" dirty="0"/>
              <a:t>}  </a:t>
            </a:r>
          </a:p>
        </p:txBody>
      </p:sp>
      <p:sp>
        <p:nvSpPr>
          <p:cNvPr id="11" name="Content Placeholder 2">
            <a:extLst>
              <a:ext uri="{FF2B5EF4-FFF2-40B4-BE49-F238E27FC236}">
                <a16:creationId xmlns="" xmlns:a16="http://schemas.microsoft.com/office/drawing/2014/main" id="{21309EEA-748E-1B4D-9BA2-2ADAA2FBB16C}"/>
              </a:ext>
            </a:extLst>
          </p:cNvPr>
          <p:cNvSpPr txBox="1">
            <a:spLocks/>
          </p:cNvSpPr>
          <p:nvPr/>
        </p:nvSpPr>
        <p:spPr>
          <a:xfrm>
            <a:off x="6676571" y="2064646"/>
            <a:ext cx="5181600" cy="12446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just">
              <a:buNone/>
            </a:pPr>
            <a:r>
              <a:rPr lang="en-US" b="1" dirty="0"/>
              <a:t>for(</a:t>
            </a:r>
            <a:r>
              <a:rPr lang="en-US" b="1" dirty="0" err="1"/>
              <a:t>data_type</a:t>
            </a:r>
            <a:r>
              <a:rPr lang="en-US" b="1" dirty="0"/>
              <a:t> </a:t>
            </a:r>
            <a:r>
              <a:rPr lang="en-US" b="1" dirty="0" err="1" smtClean="0"/>
              <a:t>element:array</a:t>
            </a:r>
            <a:r>
              <a:rPr lang="en-US" b="1" dirty="0" smtClean="0"/>
              <a:t>)</a:t>
            </a:r>
          </a:p>
          <a:p>
            <a:pPr marL="457200" lvl="1" indent="0" algn="just">
              <a:buNone/>
            </a:pPr>
            <a:r>
              <a:rPr lang="en-US" b="1" dirty="0" smtClean="0"/>
              <a:t>{	//handle element</a:t>
            </a:r>
          </a:p>
          <a:p>
            <a:pPr marL="457200" lvl="1" indent="0" algn="just">
              <a:buNone/>
            </a:pPr>
            <a:r>
              <a:rPr lang="en-US" b="1" dirty="0" smtClean="0"/>
              <a:t>}</a:t>
            </a:r>
            <a:r>
              <a:rPr lang="en-US" b="1" dirty="0"/>
              <a:t>  </a:t>
            </a:r>
          </a:p>
        </p:txBody>
      </p:sp>
    </p:spTree>
    <p:extLst>
      <p:ext uri="{BB962C8B-B14F-4D97-AF65-F5344CB8AC3E}">
        <p14:creationId xmlns:p14="http://schemas.microsoft.com/office/powerpoint/2010/main" val="3165596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a:t>Single Dimensional </a:t>
            </a:r>
            <a:r>
              <a:rPr lang="en-US" sz="3200" dirty="0" smtClean="0"/>
              <a:t>Array</a:t>
            </a:r>
            <a:endParaRPr lang="en-US" sz="3200"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9</a:t>
            </a:fld>
            <a:endParaRPr lang="en-US" dirty="0"/>
          </a:p>
        </p:txBody>
      </p:sp>
      <p:sp>
        <p:nvSpPr>
          <p:cNvPr id="9"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599" cy="5128439"/>
          </a:xfrm>
        </p:spPr>
        <p:txBody>
          <a:bodyPr>
            <a:normAutofit lnSpcReduction="10000"/>
          </a:bodyPr>
          <a:lstStyle/>
          <a:p>
            <a:r>
              <a:rPr lang="en-US" sz="3200" dirty="0" err="1" smtClean="0"/>
              <a:t>ArrayIndexOutOfBoundsException</a:t>
            </a:r>
            <a:r>
              <a:rPr lang="en-US" sz="3200" dirty="0" smtClean="0"/>
              <a:t>: The </a:t>
            </a:r>
            <a:r>
              <a:rPr lang="en-US" sz="3200" dirty="0"/>
              <a:t>Java Virtual Machine (</a:t>
            </a:r>
            <a:r>
              <a:rPr lang="en-US" sz="3200" dirty="0" err="1"/>
              <a:t>JVM</a:t>
            </a:r>
            <a:r>
              <a:rPr lang="en-US" sz="3200" dirty="0"/>
              <a:t>) throws an </a:t>
            </a:r>
            <a:r>
              <a:rPr lang="en-US" sz="3200" dirty="0" err="1"/>
              <a:t>ArrayIndexOutOfBoundsException</a:t>
            </a:r>
            <a:r>
              <a:rPr lang="en-US" sz="3200" dirty="0"/>
              <a:t> if length of the array in negative, equal to the array size or greater than the </a:t>
            </a:r>
            <a:r>
              <a:rPr lang="en-US" sz="3200" dirty="0" smtClean="0"/>
              <a:t>array </a:t>
            </a:r>
            <a:r>
              <a:rPr lang="en-US" sz="3200" dirty="0"/>
              <a:t>size while traversing the array</a:t>
            </a:r>
            <a:r>
              <a:rPr lang="en-US" sz="3200" dirty="0" smtClean="0"/>
              <a:t>.</a:t>
            </a:r>
          </a:p>
          <a:p>
            <a:r>
              <a:rPr lang="en-US" sz="3200" dirty="0" smtClean="0"/>
              <a:t>Example</a:t>
            </a:r>
          </a:p>
          <a:p>
            <a:pPr marL="457200" lvl="1" indent="0">
              <a:buNone/>
            </a:pPr>
            <a:r>
              <a:rPr lang="en-US" dirty="0"/>
              <a:t>public class </a:t>
            </a:r>
            <a:r>
              <a:rPr lang="en-US" dirty="0" err="1"/>
              <a:t>TestArrayException</a:t>
            </a:r>
            <a:r>
              <a:rPr lang="en-US" dirty="0"/>
              <a:t>{  </a:t>
            </a:r>
          </a:p>
          <a:p>
            <a:pPr marL="914400" lvl="2" indent="0">
              <a:buNone/>
            </a:pPr>
            <a:r>
              <a:rPr lang="en-US" dirty="0"/>
              <a:t>public static void main(String </a:t>
            </a:r>
            <a:r>
              <a:rPr lang="en-US" dirty="0" err="1"/>
              <a:t>args</a:t>
            </a:r>
            <a:r>
              <a:rPr lang="en-US" dirty="0"/>
              <a:t>[]){  </a:t>
            </a:r>
          </a:p>
          <a:p>
            <a:pPr marL="1371600" lvl="3" indent="0">
              <a:buNone/>
            </a:pPr>
            <a:r>
              <a:rPr lang="en-US" dirty="0" err="1"/>
              <a:t>int</a:t>
            </a:r>
            <a:r>
              <a:rPr lang="en-US" dirty="0"/>
              <a:t> </a:t>
            </a:r>
            <a:r>
              <a:rPr lang="en-US" dirty="0" err="1"/>
              <a:t>arr</a:t>
            </a:r>
            <a:r>
              <a:rPr lang="en-US" dirty="0"/>
              <a:t>[]={50,60,70,80};  </a:t>
            </a:r>
          </a:p>
          <a:p>
            <a:pPr marL="1371600" lvl="3" indent="0">
              <a:buNone/>
            </a:pPr>
            <a:r>
              <a:rPr lang="en-US" dirty="0"/>
              <a:t>for(</a:t>
            </a:r>
            <a:r>
              <a:rPr lang="en-US" dirty="0" err="1"/>
              <a:t>int</a:t>
            </a:r>
            <a:r>
              <a:rPr lang="en-US" dirty="0"/>
              <a:t> i=</a:t>
            </a:r>
            <a:r>
              <a:rPr lang="en-US" dirty="0" err="1"/>
              <a:t>0;i</a:t>
            </a:r>
            <a:r>
              <a:rPr lang="en-US" dirty="0"/>
              <a:t>&lt;=</a:t>
            </a:r>
            <a:r>
              <a:rPr lang="en-US" dirty="0" err="1"/>
              <a:t>arr.length;i</a:t>
            </a:r>
            <a:r>
              <a:rPr lang="en-US" dirty="0"/>
              <a:t>++){  </a:t>
            </a:r>
          </a:p>
          <a:p>
            <a:pPr marL="1371600" lvl="3" indent="0">
              <a:buNone/>
            </a:pPr>
            <a:r>
              <a:rPr lang="en-US" dirty="0" smtClean="0"/>
              <a:t>	</a:t>
            </a:r>
            <a:r>
              <a:rPr lang="en-US" dirty="0" err="1" smtClean="0"/>
              <a:t>System.out.println</a:t>
            </a:r>
            <a:r>
              <a:rPr lang="en-US" dirty="0" smtClean="0"/>
              <a:t>(</a:t>
            </a:r>
            <a:r>
              <a:rPr lang="en-US" dirty="0" err="1" smtClean="0"/>
              <a:t>arr</a:t>
            </a:r>
            <a:r>
              <a:rPr lang="en-US" dirty="0" smtClean="0"/>
              <a:t>[i</a:t>
            </a:r>
            <a:r>
              <a:rPr lang="en-US" dirty="0"/>
              <a:t>]);  </a:t>
            </a:r>
          </a:p>
          <a:p>
            <a:pPr marL="1371600" lvl="3" indent="0">
              <a:buNone/>
            </a:pPr>
            <a:r>
              <a:rPr lang="en-US" dirty="0"/>
              <a:t>}  </a:t>
            </a:r>
          </a:p>
          <a:p>
            <a:pPr marL="457200" lvl="1" indent="0">
              <a:buNone/>
            </a:pPr>
            <a:r>
              <a:rPr lang="en-US" dirty="0" smtClean="0"/>
              <a:t>	}</a:t>
            </a:r>
          </a:p>
          <a:p>
            <a:pPr marL="457200" lvl="1" indent="0">
              <a:buNone/>
            </a:pPr>
            <a:r>
              <a:rPr lang="en-US" dirty="0" smtClean="0"/>
              <a:t>}</a:t>
            </a:r>
            <a:r>
              <a:rPr lang="en-US" dirty="0"/>
              <a:t>  </a:t>
            </a:r>
          </a:p>
          <a:p>
            <a:endParaRPr lang="en-US" sz="3200" dirty="0"/>
          </a:p>
        </p:txBody>
      </p:sp>
      <p:sp>
        <p:nvSpPr>
          <p:cNvPr id="8" name="Content Placeholder 2">
            <a:extLst>
              <a:ext uri="{FF2B5EF4-FFF2-40B4-BE49-F238E27FC236}">
                <a16:creationId xmlns="" xmlns:a16="http://schemas.microsoft.com/office/drawing/2014/main" id="{21309EEA-748E-1B4D-9BA2-2ADAA2FBB16C}"/>
              </a:ext>
            </a:extLst>
          </p:cNvPr>
          <p:cNvSpPr txBox="1">
            <a:spLocks/>
          </p:cNvSpPr>
          <p:nvPr/>
        </p:nvSpPr>
        <p:spPr>
          <a:xfrm>
            <a:off x="6241143" y="3628569"/>
            <a:ext cx="5675086" cy="2573927"/>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Output:</a:t>
            </a:r>
          </a:p>
          <a:p>
            <a:pPr marL="0" indent="0">
              <a:buNone/>
            </a:pPr>
            <a:r>
              <a:rPr lang="en-US" sz="1800" dirty="0" smtClean="0"/>
              <a:t>50</a:t>
            </a:r>
          </a:p>
          <a:p>
            <a:pPr marL="0" indent="0">
              <a:buNone/>
            </a:pPr>
            <a:r>
              <a:rPr lang="en-US" sz="1800" dirty="0" smtClean="0"/>
              <a:t>60</a:t>
            </a:r>
          </a:p>
          <a:p>
            <a:pPr marL="0" indent="0">
              <a:buNone/>
            </a:pPr>
            <a:r>
              <a:rPr lang="en-US" sz="1800" dirty="0" smtClean="0"/>
              <a:t>70</a:t>
            </a:r>
          </a:p>
          <a:p>
            <a:pPr marL="0" indent="0">
              <a:buNone/>
            </a:pPr>
            <a:r>
              <a:rPr lang="en-US" sz="1800" dirty="0" smtClean="0"/>
              <a:t>80</a:t>
            </a:r>
          </a:p>
          <a:p>
            <a:pPr marL="0" indent="0">
              <a:buNone/>
            </a:pPr>
            <a:r>
              <a:rPr lang="en-US" sz="1800" dirty="0"/>
              <a:t>Exception in thread "main" </a:t>
            </a:r>
            <a:r>
              <a:rPr lang="en-US" sz="1800" dirty="0" err="1"/>
              <a:t>java.lang.ArrayIndexOutOfBoundsException</a:t>
            </a:r>
            <a:r>
              <a:rPr lang="en-US" sz="1800" dirty="0"/>
              <a:t>: 4 at </a:t>
            </a:r>
            <a:r>
              <a:rPr lang="en-US" sz="1800" dirty="0" err="1"/>
              <a:t>TestArrayException.main</a:t>
            </a:r>
            <a:r>
              <a:rPr lang="en-US" sz="1800" dirty="0"/>
              <a:t>(</a:t>
            </a:r>
            <a:r>
              <a:rPr lang="en-US" sz="1800" dirty="0" err="1"/>
              <a:t>TestArrayException.java:5</a:t>
            </a:r>
            <a:r>
              <a:rPr lang="en-US" sz="1800" dirty="0"/>
              <a:t>)</a:t>
            </a:r>
          </a:p>
        </p:txBody>
      </p:sp>
    </p:spTree>
    <p:extLst>
      <p:ext uri="{BB962C8B-B14F-4D97-AF65-F5344CB8AC3E}">
        <p14:creationId xmlns:p14="http://schemas.microsoft.com/office/powerpoint/2010/main" val="1074225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Multi-dimensional </a:t>
            </a:r>
            <a:r>
              <a:rPr lang="en-US" sz="3200" dirty="0"/>
              <a:t>Array in Java</a:t>
            </a:r>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600" cy="5282293"/>
          </a:xfrm>
        </p:spPr>
        <p:txBody>
          <a:bodyPr>
            <a:normAutofit lnSpcReduction="10000"/>
          </a:bodyPr>
          <a:lstStyle/>
          <a:p>
            <a:pPr>
              <a:lnSpc>
                <a:spcPct val="120000"/>
              </a:lnSpc>
              <a:spcBef>
                <a:spcPts val="0"/>
              </a:spcBef>
            </a:pPr>
            <a:r>
              <a:rPr lang="en-US" sz="3200" dirty="0"/>
              <a:t>In such case, data is stored in row and column based index (also known as matrix form</a:t>
            </a:r>
            <a:r>
              <a:rPr lang="en-US" sz="3200" dirty="0" smtClean="0"/>
              <a:t>).</a:t>
            </a:r>
          </a:p>
          <a:p>
            <a:pPr marL="457200" lvl="1" indent="0">
              <a:buNone/>
            </a:pPr>
            <a:r>
              <a:rPr lang="en-US" b="1" dirty="0" err="1"/>
              <a:t>dataType</a:t>
            </a:r>
            <a:r>
              <a:rPr lang="en-US" b="1" dirty="0"/>
              <a:t>[][] </a:t>
            </a:r>
            <a:r>
              <a:rPr lang="en-US" b="1" dirty="0" err="1"/>
              <a:t>arrayRefVar</a:t>
            </a:r>
            <a:r>
              <a:rPr lang="en-US" b="1" dirty="0" smtClean="0"/>
              <a:t>;</a:t>
            </a:r>
            <a:endParaRPr lang="en-US" b="1" dirty="0"/>
          </a:p>
          <a:p>
            <a:pPr marL="457200" lvl="1" indent="0">
              <a:buNone/>
            </a:pPr>
            <a:r>
              <a:rPr lang="en-US" b="1" dirty="0" smtClean="0"/>
              <a:t>or</a:t>
            </a:r>
            <a:endParaRPr lang="en-US" b="1" dirty="0"/>
          </a:p>
          <a:p>
            <a:pPr marL="457200" lvl="1" indent="0">
              <a:buNone/>
            </a:pPr>
            <a:r>
              <a:rPr lang="en-US" b="1" dirty="0" err="1"/>
              <a:t>dataType</a:t>
            </a:r>
            <a:r>
              <a:rPr lang="en-US" b="1" dirty="0"/>
              <a:t> [][]</a:t>
            </a:r>
            <a:r>
              <a:rPr lang="en-US" b="1" dirty="0" err="1"/>
              <a:t>arrayRefVar</a:t>
            </a:r>
            <a:r>
              <a:rPr lang="en-US" b="1" dirty="0"/>
              <a:t>; </a:t>
            </a:r>
          </a:p>
          <a:p>
            <a:pPr marL="457200" lvl="1" indent="0">
              <a:buNone/>
            </a:pPr>
            <a:r>
              <a:rPr lang="en-US" b="1" dirty="0" smtClean="0"/>
              <a:t>or</a:t>
            </a:r>
            <a:endParaRPr lang="en-US" b="1" dirty="0"/>
          </a:p>
          <a:p>
            <a:pPr marL="457200" lvl="1" indent="0">
              <a:buNone/>
            </a:pPr>
            <a:r>
              <a:rPr lang="en-US" b="1" dirty="0" err="1"/>
              <a:t>dataType</a:t>
            </a:r>
            <a:r>
              <a:rPr lang="en-US" b="1" dirty="0"/>
              <a:t> </a:t>
            </a:r>
            <a:r>
              <a:rPr lang="en-US" b="1" dirty="0" err="1"/>
              <a:t>arrayRefVar</a:t>
            </a:r>
            <a:r>
              <a:rPr lang="en-US" b="1" dirty="0"/>
              <a:t>[][]; </a:t>
            </a:r>
          </a:p>
          <a:p>
            <a:pPr marL="457200" lvl="1" indent="0">
              <a:buNone/>
            </a:pPr>
            <a:r>
              <a:rPr lang="en-US" b="1" dirty="0" smtClean="0"/>
              <a:t>or</a:t>
            </a:r>
            <a:endParaRPr lang="en-US" b="1" dirty="0"/>
          </a:p>
          <a:p>
            <a:pPr marL="457200" lvl="1" indent="0">
              <a:buNone/>
            </a:pPr>
            <a:r>
              <a:rPr lang="en-US" b="1" dirty="0" err="1"/>
              <a:t>dataType</a:t>
            </a:r>
            <a:r>
              <a:rPr lang="en-US" b="1" dirty="0"/>
              <a:t> []</a:t>
            </a:r>
            <a:r>
              <a:rPr lang="en-US" b="1" dirty="0" err="1"/>
              <a:t>arrayRefVar</a:t>
            </a:r>
            <a:r>
              <a:rPr lang="en-US" b="1" dirty="0"/>
              <a:t>[];   </a:t>
            </a:r>
            <a:endParaRPr lang="en-US" b="1" dirty="0" smtClean="0"/>
          </a:p>
          <a:p>
            <a:r>
              <a:rPr lang="en-US" dirty="0"/>
              <a:t>Example to instantiate Multidimensional Array in Java</a:t>
            </a:r>
          </a:p>
          <a:p>
            <a:pPr marL="457200" lvl="1" indent="0">
              <a:buNone/>
            </a:pPr>
            <a:r>
              <a:rPr lang="en-US" dirty="0" err="1"/>
              <a:t>int</a:t>
            </a:r>
            <a:r>
              <a:rPr lang="en-US" dirty="0"/>
              <a:t>[][] </a:t>
            </a:r>
            <a:r>
              <a:rPr lang="en-US" dirty="0" err="1"/>
              <a:t>arr</a:t>
            </a:r>
            <a:r>
              <a:rPr lang="en-US" dirty="0"/>
              <a:t>=new </a:t>
            </a:r>
            <a:r>
              <a:rPr lang="en-US" dirty="0" err="1"/>
              <a:t>int</a:t>
            </a:r>
            <a:r>
              <a:rPr lang="en-US" dirty="0"/>
              <a:t>[3][3];//3 </a:t>
            </a:r>
            <a:r>
              <a:rPr lang="en-US" dirty="0" smtClean="0"/>
              <a:t>rows</a:t>
            </a:r>
            <a:r>
              <a:rPr lang="en-US" dirty="0"/>
              <a:t> and 3 </a:t>
            </a:r>
            <a:r>
              <a:rPr lang="en-US" dirty="0" smtClean="0"/>
              <a:t>columns</a:t>
            </a:r>
            <a:r>
              <a:rPr lang="en-US" dirty="0"/>
              <a:t>  </a:t>
            </a:r>
            <a:endParaRPr lang="en-US" dirty="0" smtClean="0"/>
          </a:p>
          <a:p>
            <a:pPr marL="457200" lvl="1" indent="0">
              <a:buNone/>
            </a:pPr>
            <a:r>
              <a:rPr lang="en-US" dirty="0" err="1"/>
              <a:t>int</a:t>
            </a:r>
            <a:r>
              <a:rPr lang="en-US" dirty="0"/>
              <a:t> </a:t>
            </a:r>
            <a:r>
              <a:rPr lang="en-US" dirty="0" err="1" smtClean="0"/>
              <a:t>arr1</a:t>
            </a:r>
            <a:r>
              <a:rPr lang="en-US" dirty="0" smtClean="0"/>
              <a:t>[][]={{</a:t>
            </a:r>
            <a:r>
              <a:rPr lang="en-US" dirty="0"/>
              <a:t>1,2,3},{2,4,5},{4,4,5}}; //3 </a:t>
            </a:r>
            <a:r>
              <a:rPr lang="en-US" dirty="0" smtClean="0"/>
              <a:t>rows</a:t>
            </a:r>
            <a:r>
              <a:rPr lang="en-US" dirty="0"/>
              <a:t> and 3 </a:t>
            </a:r>
            <a:r>
              <a:rPr lang="en-US" dirty="0" smtClean="0"/>
              <a:t>columns</a:t>
            </a:r>
            <a:r>
              <a:rPr lang="en-US" dirty="0"/>
              <a:t>  </a:t>
            </a:r>
            <a:r>
              <a:rPr lang="en-US" dirty="0" smtClean="0"/>
              <a:t>with values</a:t>
            </a:r>
            <a:endParaRPr lang="en-US" dirty="0"/>
          </a:p>
          <a:p>
            <a:pPr marL="457200" lvl="1" indent="0">
              <a:buNone/>
            </a:pPr>
            <a:endParaRPr lang="en-US" dirty="0"/>
          </a:p>
          <a:p>
            <a:endParaRPr lang="en-US" b="1" dirty="0"/>
          </a:p>
          <a:p>
            <a:pPr>
              <a:lnSpc>
                <a:spcPct val="120000"/>
              </a:lnSpc>
              <a:spcBef>
                <a:spcPts val="0"/>
              </a:spcBef>
            </a:pPr>
            <a:endParaRPr lang="en-US" sz="3200"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10</a:t>
            </a:fld>
            <a:endParaRPr lang="en-US" dirty="0"/>
          </a:p>
        </p:txBody>
      </p:sp>
    </p:spTree>
    <p:extLst>
      <p:ext uri="{BB962C8B-B14F-4D97-AF65-F5344CB8AC3E}">
        <p14:creationId xmlns:p14="http://schemas.microsoft.com/office/powerpoint/2010/main" val="606996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Multi-dimensional </a:t>
            </a:r>
            <a:r>
              <a:rPr lang="en-US" sz="3200" dirty="0"/>
              <a:t>Array in Java</a:t>
            </a:r>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600" cy="5647418"/>
          </a:xfrm>
        </p:spPr>
        <p:txBody>
          <a:bodyPr>
            <a:normAutofit/>
          </a:bodyPr>
          <a:lstStyle/>
          <a:p>
            <a:pPr marL="0" indent="0">
              <a:lnSpc>
                <a:spcPct val="120000"/>
              </a:lnSpc>
              <a:spcBef>
                <a:spcPts val="0"/>
              </a:spcBef>
              <a:buNone/>
            </a:pPr>
            <a:r>
              <a:rPr lang="en-US" sz="3200" dirty="0"/>
              <a:t>class </a:t>
            </a:r>
            <a:r>
              <a:rPr lang="en-US" sz="3200" dirty="0" err="1"/>
              <a:t>Testarray3</a:t>
            </a:r>
            <a:r>
              <a:rPr lang="en-US" sz="3200" dirty="0"/>
              <a:t>{  </a:t>
            </a:r>
          </a:p>
          <a:p>
            <a:pPr marL="457200" lvl="1" indent="0">
              <a:lnSpc>
                <a:spcPct val="120000"/>
              </a:lnSpc>
              <a:spcBef>
                <a:spcPts val="0"/>
              </a:spcBef>
              <a:buNone/>
            </a:pPr>
            <a:r>
              <a:rPr lang="en-US" dirty="0"/>
              <a:t>public static void main(String </a:t>
            </a:r>
            <a:r>
              <a:rPr lang="en-US" dirty="0" err="1"/>
              <a:t>args</a:t>
            </a:r>
            <a:r>
              <a:rPr lang="en-US" dirty="0"/>
              <a:t>[]){  </a:t>
            </a:r>
          </a:p>
          <a:p>
            <a:pPr marL="914400" lvl="2" indent="0">
              <a:lnSpc>
                <a:spcPct val="120000"/>
              </a:lnSpc>
              <a:spcBef>
                <a:spcPts val="0"/>
              </a:spcBef>
              <a:buNone/>
            </a:pPr>
            <a:r>
              <a:rPr lang="en-US" i="1" dirty="0"/>
              <a:t>//declaring and initializing </a:t>
            </a:r>
            <a:r>
              <a:rPr lang="en-US" i="1" dirty="0" err="1"/>
              <a:t>2D</a:t>
            </a:r>
            <a:r>
              <a:rPr lang="en-US" i="1" dirty="0"/>
              <a:t> array  </a:t>
            </a:r>
          </a:p>
          <a:p>
            <a:pPr marL="914400" lvl="2" indent="0">
              <a:lnSpc>
                <a:spcPct val="120000"/>
              </a:lnSpc>
              <a:spcBef>
                <a:spcPts val="0"/>
              </a:spcBef>
              <a:buNone/>
            </a:pPr>
            <a:r>
              <a:rPr lang="en-US" b="1" i="1" dirty="0" err="1"/>
              <a:t>int</a:t>
            </a:r>
            <a:r>
              <a:rPr lang="en-US" b="1" i="1" dirty="0"/>
              <a:t> </a:t>
            </a:r>
            <a:r>
              <a:rPr lang="en-US" b="1" i="1" dirty="0" err="1"/>
              <a:t>arr</a:t>
            </a:r>
            <a:r>
              <a:rPr lang="en-US" b="1" i="1" dirty="0"/>
              <a:t>[][]={{1,2,3},{2,4,5},{4,4,5}};  </a:t>
            </a:r>
          </a:p>
          <a:p>
            <a:pPr marL="914400" lvl="2" indent="0">
              <a:lnSpc>
                <a:spcPct val="120000"/>
              </a:lnSpc>
              <a:spcBef>
                <a:spcPts val="0"/>
              </a:spcBef>
              <a:buNone/>
            </a:pPr>
            <a:r>
              <a:rPr lang="en-US" b="1" i="1" dirty="0"/>
              <a:t>//printing </a:t>
            </a:r>
            <a:r>
              <a:rPr lang="en-US" b="1" i="1" dirty="0" err="1"/>
              <a:t>2D</a:t>
            </a:r>
            <a:r>
              <a:rPr lang="en-US" b="1" i="1" dirty="0"/>
              <a:t> array  </a:t>
            </a:r>
          </a:p>
          <a:p>
            <a:pPr marL="914400" lvl="2" indent="0">
              <a:lnSpc>
                <a:spcPct val="120000"/>
              </a:lnSpc>
              <a:spcBef>
                <a:spcPts val="0"/>
              </a:spcBef>
              <a:buNone/>
            </a:pPr>
            <a:r>
              <a:rPr lang="en-US" b="1" i="1" dirty="0"/>
              <a:t>for(</a:t>
            </a:r>
            <a:r>
              <a:rPr lang="en-US" b="1" i="1" dirty="0" err="1"/>
              <a:t>int</a:t>
            </a:r>
            <a:r>
              <a:rPr lang="en-US" b="1" i="1" dirty="0"/>
              <a:t> i=</a:t>
            </a:r>
            <a:r>
              <a:rPr lang="en-US" b="1" i="1" dirty="0" err="1"/>
              <a:t>0;i</a:t>
            </a:r>
            <a:r>
              <a:rPr lang="en-US" b="1" i="1" dirty="0"/>
              <a:t>&lt;</a:t>
            </a:r>
            <a:r>
              <a:rPr lang="en-US" b="1" i="1" dirty="0" err="1"/>
              <a:t>3;i</a:t>
            </a:r>
            <a:r>
              <a:rPr lang="en-US" b="1" i="1" dirty="0"/>
              <a:t>++){  </a:t>
            </a:r>
          </a:p>
          <a:p>
            <a:pPr marL="1371600" lvl="3" indent="0">
              <a:lnSpc>
                <a:spcPct val="120000"/>
              </a:lnSpc>
              <a:spcBef>
                <a:spcPts val="0"/>
              </a:spcBef>
              <a:buNone/>
            </a:pPr>
            <a:r>
              <a:rPr lang="en-US" b="1" i="1" dirty="0"/>
              <a:t> for(</a:t>
            </a:r>
            <a:r>
              <a:rPr lang="en-US" b="1" i="1" dirty="0" err="1"/>
              <a:t>int</a:t>
            </a:r>
            <a:r>
              <a:rPr lang="en-US" b="1" i="1" dirty="0"/>
              <a:t> j=</a:t>
            </a:r>
            <a:r>
              <a:rPr lang="en-US" b="1" i="1" dirty="0" err="1"/>
              <a:t>0;j</a:t>
            </a:r>
            <a:r>
              <a:rPr lang="en-US" b="1" i="1" dirty="0"/>
              <a:t>&lt;</a:t>
            </a:r>
            <a:r>
              <a:rPr lang="en-US" b="1" i="1" dirty="0" err="1"/>
              <a:t>3;j</a:t>
            </a:r>
            <a:r>
              <a:rPr lang="en-US" b="1" i="1" dirty="0"/>
              <a:t>++){  </a:t>
            </a:r>
          </a:p>
          <a:p>
            <a:pPr marL="1371600" lvl="3" indent="0">
              <a:lnSpc>
                <a:spcPct val="120000"/>
              </a:lnSpc>
              <a:spcBef>
                <a:spcPts val="0"/>
              </a:spcBef>
              <a:buNone/>
            </a:pPr>
            <a:r>
              <a:rPr lang="en-US" b="1" i="1" dirty="0"/>
              <a:t>  </a:t>
            </a:r>
            <a:r>
              <a:rPr lang="en-US" b="1" i="1" dirty="0" smtClean="0"/>
              <a:t>	</a:t>
            </a:r>
            <a:r>
              <a:rPr lang="en-US" b="1" i="1" dirty="0" err="1" smtClean="0"/>
              <a:t>System.out.print</a:t>
            </a:r>
            <a:r>
              <a:rPr lang="en-US" b="1" i="1" dirty="0" smtClean="0"/>
              <a:t>(</a:t>
            </a:r>
            <a:r>
              <a:rPr lang="en-US" b="1" i="1" dirty="0" err="1" smtClean="0"/>
              <a:t>arr</a:t>
            </a:r>
            <a:r>
              <a:rPr lang="en-US" b="1" i="1" dirty="0" smtClean="0"/>
              <a:t>[i</a:t>
            </a:r>
            <a:r>
              <a:rPr lang="en-US" b="1" i="1" dirty="0"/>
              <a:t>][j]+" ");  </a:t>
            </a:r>
          </a:p>
          <a:p>
            <a:pPr marL="1371600" lvl="3" indent="0">
              <a:lnSpc>
                <a:spcPct val="120000"/>
              </a:lnSpc>
              <a:spcBef>
                <a:spcPts val="0"/>
              </a:spcBef>
              <a:buNone/>
            </a:pPr>
            <a:r>
              <a:rPr lang="en-US" b="1" i="1" dirty="0"/>
              <a:t> }  </a:t>
            </a:r>
          </a:p>
          <a:p>
            <a:pPr marL="1371600" lvl="3" indent="0">
              <a:lnSpc>
                <a:spcPct val="120000"/>
              </a:lnSpc>
              <a:spcBef>
                <a:spcPts val="0"/>
              </a:spcBef>
              <a:buNone/>
            </a:pPr>
            <a:r>
              <a:rPr lang="en-US" b="1" i="1" dirty="0"/>
              <a:t> </a:t>
            </a:r>
            <a:r>
              <a:rPr lang="en-US" b="1" i="1" dirty="0" err="1"/>
              <a:t>System.out.println</a:t>
            </a:r>
            <a:r>
              <a:rPr lang="en-US" b="1" i="1" dirty="0"/>
              <a:t>();  </a:t>
            </a:r>
          </a:p>
          <a:p>
            <a:pPr marL="914400" lvl="2" indent="0">
              <a:lnSpc>
                <a:spcPct val="120000"/>
              </a:lnSpc>
              <a:spcBef>
                <a:spcPts val="0"/>
              </a:spcBef>
              <a:buNone/>
            </a:pPr>
            <a:r>
              <a:rPr lang="en-US" b="1" i="1" dirty="0"/>
              <a:t>}  </a:t>
            </a:r>
          </a:p>
          <a:p>
            <a:pPr marL="457200" lvl="1" indent="0">
              <a:lnSpc>
                <a:spcPct val="120000"/>
              </a:lnSpc>
              <a:spcBef>
                <a:spcPts val="0"/>
              </a:spcBef>
              <a:buNone/>
            </a:pPr>
            <a:r>
              <a:rPr lang="en-US" i="1" dirty="0" smtClean="0"/>
              <a:t>}</a:t>
            </a:r>
          </a:p>
          <a:p>
            <a:pPr marL="0" indent="0">
              <a:lnSpc>
                <a:spcPct val="120000"/>
              </a:lnSpc>
              <a:spcBef>
                <a:spcPts val="0"/>
              </a:spcBef>
              <a:buNone/>
            </a:pPr>
            <a:r>
              <a:rPr lang="en-US" dirty="0" smtClean="0"/>
              <a:t>} </a:t>
            </a:r>
            <a:endParaRPr lang="en-US"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dirty="0"/>
              <a:t>© </a:t>
            </a:r>
            <a:r>
              <a:rPr lang="en-US" dirty="0" err="1"/>
              <a:t>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11</a:t>
            </a:fld>
            <a:endParaRPr lang="en-US" dirty="0"/>
          </a:p>
        </p:txBody>
      </p:sp>
      <p:sp>
        <p:nvSpPr>
          <p:cNvPr id="7" name="Content Placeholder 2">
            <a:extLst>
              <a:ext uri="{FF2B5EF4-FFF2-40B4-BE49-F238E27FC236}">
                <a16:creationId xmlns="" xmlns:a16="http://schemas.microsoft.com/office/drawing/2014/main" id="{21309EEA-748E-1B4D-9BA2-2ADAA2FBB16C}"/>
              </a:ext>
            </a:extLst>
          </p:cNvPr>
          <p:cNvSpPr txBox="1">
            <a:spLocks/>
          </p:cNvSpPr>
          <p:nvPr/>
        </p:nvSpPr>
        <p:spPr>
          <a:xfrm>
            <a:off x="6471745" y="2902858"/>
            <a:ext cx="2106198" cy="1886856"/>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smtClean="0"/>
              <a:t>Output:</a:t>
            </a:r>
            <a:endParaRPr lang="en-US" sz="3200" dirty="0" smtClean="0"/>
          </a:p>
          <a:p>
            <a:pPr marL="0" indent="0">
              <a:buNone/>
            </a:pPr>
            <a:r>
              <a:rPr lang="en-US" sz="1800" dirty="0"/>
              <a:t>1 2 3 </a:t>
            </a:r>
            <a:endParaRPr lang="en-US" sz="1800" dirty="0" smtClean="0"/>
          </a:p>
          <a:p>
            <a:pPr marL="0" indent="0">
              <a:buNone/>
            </a:pPr>
            <a:r>
              <a:rPr lang="en-US" sz="1800" dirty="0" smtClean="0"/>
              <a:t>2 </a:t>
            </a:r>
            <a:r>
              <a:rPr lang="en-US" sz="1800" dirty="0"/>
              <a:t>4 5 </a:t>
            </a:r>
            <a:endParaRPr lang="en-US" sz="1800" dirty="0" smtClean="0"/>
          </a:p>
          <a:p>
            <a:pPr marL="0" indent="0">
              <a:buNone/>
            </a:pPr>
            <a:r>
              <a:rPr lang="en-US" sz="1800" dirty="0" smtClean="0"/>
              <a:t>4 </a:t>
            </a:r>
            <a:r>
              <a:rPr lang="en-US" sz="1800" dirty="0"/>
              <a:t>4 5</a:t>
            </a:r>
            <a:endParaRPr lang="en-US" sz="3200" dirty="0" smtClean="0"/>
          </a:p>
        </p:txBody>
      </p:sp>
    </p:spTree>
    <p:extLst>
      <p:ext uri="{BB962C8B-B14F-4D97-AF65-F5344CB8AC3E}">
        <p14:creationId xmlns:p14="http://schemas.microsoft.com/office/powerpoint/2010/main" val="1656013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a:t>Jagged Array in Java</a:t>
            </a:r>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1" y="1074057"/>
            <a:ext cx="3341914" cy="5647418"/>
          </a:xfrm>
        </p:spPr>
        <p:txBody>
          <a:bodyPr>
            <a:normAutofit lnSpcReduction="10000"/>
          </a:bodyPr>
          <a:lstStyle/>
          <a:p>
            <a:pPr>
              <a:lnSpc>
                <a:spcPct val="120000"/>
              </a:lnSpc>
              <a:spcBef>
                <a:spcPts val="0"/>
              </a:spcBef>
            </a:pPr>
            <a:r>
              <a:rPr lang="en-US" sz="3200" dirty="0" smtClean="0"/>
              <a:t>If </a:t>
            </a:r>
            <a:r>
              <a:rPr lang="en-US" sz="3200" dirty="0"/>
              <a:t>we are creating odd number of columns in a </a:t>
            </a:r>
            <a:r>
              <a:rPr lang="en-US" sz="3200" dirty="0" err="1"/>
              <a:t>2D</a:t>
            </a:r>
            <a:r>
              <a:rPr lang="en-US" sz="3200" dirty="0"/>
              <a:t> array, it is known as a jagged array. In other words, it is an array of arrays with different number of columns.</a:t>
            </a:r>
            <a:endParaRPr lang="en-US"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dirty="0"/>
              <a:t>© </a:t>
            </a:r>
            <a:r>
              <a:rPr lang="en-US" dirty="0" err="1"/>
              <a:t>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12</a:t>
            </a:fld>
            <a:endParaRPr lang="en-US" dirty="0"/>
          </a:p>
        </p:txBody>
      </p:sp>
      <p:sp>
        <p:nvSpPr>
          <p:cNvPr id="7" name="Content Placeholder 2">
            <a:extLst>
              <a:ext uri="{FF2B5EF4-FFF2-40B4-BE49-F238E27FC236}">
                <a16:creationId xmlns="" xmlns:a16="http://schemas.microsoft.com/office/drawing/2014/main" id="{21309EEA-748E-1B4D-9BA2-2ADAA2FBB16C}"/>
              </a:ext>
            </a:extLst>
          </p:cNvPr>
          <p:cNvSpPr txBox="1">
            <a:spLocks/>
          </p:cNvSpPr>
          <p:nvPr/>
        </p:nvSpPr>
        <p:spPr>
          <a:xfrm>
            <a:off x="4528454" y="1291771"/>
            <a:ext cx="4049485" cy="5429704"/>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buNone/>
            </a:pPr>
            <a:r>
              <a:rPr lang="en-US" sz="2000" b="1" dirty="0"/>
              <a:t>class</a:t>
            </a:r>
            <a:r>
              <a:rPr lang="en-US" sz="2000" dirty="0"/>
              <a:t> </a:t>
            </a:r>
            <a:r>
              <a:rPr lang="en-US" sz="2000" dirty="0" err="1"/>
              <a:t>TestJaggedArray</a:t>
            </a:r>
            <a:r>
              <a:rPr lang="en-US" sz="2000" dirty="0"/>
              <a:t>{  </a:t>
            </a:r>
          </a:p>
          <a:p>
            <a:pPr marL="0" indent="0">
              <a:lnSpc>
                <a:spcPct val="120000"/>
              </a:lnSpc>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marL="0" indent="0">
              <a:lnSpc>
                <a:spcPct val="120000"/>
              </a:lnSpc>
              <a:spcBef>
                <a:spcPts val="0"/>
              </a:spcBef>
              <a:buNone/>
            </a:pPr>
            <a:r>
              <a:rPr lang="en-US" sz="2000" dirty="0"/>
              <a:t>        //declaring a </a:t>
            </a:r>
            <a:r>
              <a:rPr lang="en-US" sz="2000" dirty="0" err="1"/>
              <a:t>2D</a:t>
            </a:r>
            <a:r>
              <a:rPr lang="en-US" sz="2000" dirty="0"/>
              <a:t> array with odd columns  </a:t>
            </a:r>
          </a:p>
          <a:p>
            <a:pPr marL="0" indent="0">
              <a:lnSpc>
                <a:spcPct val="120000"/>
              </a:lnSpc>
              <a:spcBef>
                <a:spcPts val="0"/>
              </a:spcBef>
              <a:buNone/>
            </a:pPr>
            <a:r>
              <a:rPr lang="en-US" sz="2000" dirty="0"/>
              <a:t>        </a:t>
            </a:r>
            <a:r>
              <a:rPr lang="en-US" sz="2000" b="1" dirty="0" err="1"/>
              <a:t>int</a:t>
            </a:r>
            <a:r>
              <a:rPr lang="en-US" sz="2000" dirty="0"/>
              <a:t> </a:t>
            </a:r>
            <a:r>
              <a:rPr lang="en-US" sz="2000" dirty="0" err="1"/>
              <a:t>arr</a:t>
            </a:r>
            <a:r>
              <a:rPr lang="en-US" sz="2000" dirty="0"/>
              <a:t>[][] = </a:t>
            </a:r>
            <a:r>
              <a:rPr lang="en-US" sz="2000" b="1" dirty="0"/>
              <a:t>new</a:t>
            </a:r>
            <a:r>
              <a:rPr lang="en-US" sz="2000" dirty="0"/>
              <a:t> </a:t>
            </a:r>
            <a:r>
              <a:rPr lang="en-US" sz="2000" b="1" dirty="0" err="1"/>
              <a:t>int</a:t>
            </a:r>
            <a:r>
              <a:rPr lang="en-US" sz="2000" dirty="0"/>
              <a:t>[3][];  </a:t>
            </a:r>
          </a:p>
          <a:p>
            <a:pPr marL="0" indent="0">
              <a:lnSpc>
                <a:spcPct val="120000"/>
              </a:lnSpc>
              <a:spcBef>
                <a:spcPts val="0"/>
              </a:spcBef>
              <a:buNone/>
            </a:pPr>
            <a:r>
              <a:rPr lang="en-US" sz="2000" dirty="0"/>
              <a:t>        </a:t>
            </a:r>
            <a:r>
              <a:rPr lang="en-US" sz="2000" dirty="0" err="1"/>
              <a:t>arr</a:t>
            </a:r>
            <a:r>
              <a:rPr lang="en-US" sz="2000" dirty="0"/>
              <a:t>[0] = </a:t>
            </a:r>
            <a:r>
              <a:rPr lang="en-US" sz="2000" b="1" dirty="0"/>
              <a:t>new</a:t>
            </a:r>
            <a:r>
              <a:rPr lang="en-US" sz="2000" dirty="0"/>
              <a:t> </a:t>
            </a:r>
            <a:r>
              <a:rPr lang="en-US" sz="2000" b="1" dirty="0" err="1"/>
              <a:t>int</a:t>
            </a:r>
            <a:r>
              <a:rPr lang="en-US" sz="2000" dirty="0"/>
              <a:t>[3];  </a:t>
            </a:r>
          </a:p>
          <a:p>
            <a:pPr marL="0" indent="0">
              <a:lnSpc>
                <a:spcPct val="120000"/>
              </a:lnSpc>
              <a:spcBef>
                <a:spcPts val="0"/>
              </a:spcBef>
              <a:buNone/>
            </a:pPr>
            <a:r>
              <a:rPr lang="en-US" sz="2000" dirty="0"/>
              <a:t>        </a:t>
            </a:r>
            <a:r>
              <a:rPr lang="en-US" sz="2000" dirty="0" err="1"/>
              <a:t>arr</a:t>
            </a:r>
            <a:r>
              <a:rPr lang="en-US" sz="2000" dirty="0"/>
              <a:t>[1] = </a:t>
            </a:r>
            <a:r>
              <a:rPr lang="en-US" sz="2000" b="1" dirty="0"/>
              <a:t>new</a:t>
            </a:r>
            <a:r>
              <a:rPr lang="en-US" sz="2000" dirty="0"/>
              <a:t> </a:t>
            </a:r>
            <a:r>
              <a:rPr lang="en-US" sz="2000" b="1" dirty="0" err="1"/>
              <a:t>int</a:t>
            </a:r>
            <a:r>
              <a:rPr lang="en-US" sz="2000" dirty="0"/>
              <a:t>[4];  </a:t>
            </a:r>
          </a:p>
          <a:p>
            <a:pPr marL="0" indent="0">
              <a:lnSpc>
                <a:spcPct val="120000"/>
              </a:lnSpc>
              <a:spcBef>
                <a:spcPts val="0"/>
              </a:spcBef>
              <a:buNone/>
            </a:pPr>
            <a:r>
              <a:rPr lang="en-US" sz="2000" dirty="0"/>
              <a:t>        </a:t>
            </a:r>
            <a:r>
              <a:rPr lang="en-US" sz="2000" dirty="0" err="1"/>
              <a:t>arr</a:t>
            </a:r>
            <a:r>
              <a:rPr lang="en-US" sz="2000" dirty="0"/>
              <a:t>[2] = </a:t>
            </a:r>
            <a:r>
              <a:rPr lang="en-US" sz="2000" b="1" dirty="0"/>
              <a:t>new</a:t>
            </a:r>
            <a:r>
              <a:rPr lang="en-US" sz="2000" dirty="0"/>
              <a:t> </a:t>
            </a:r>
            <a:r>
              <a:rPr lang="en-US" sz="2000" b="1" dirty="0" err="1"/>
              <a:t>int</a:t>
            </a:r>
            <a:r>
              <a:rPr lang="en-US" sz="2000" dirty="0"/>
              <a:t>[2];  </a:t>
            </a:r>
          </a:p>
          <a:p>
            <a:pPr marL="0" indent="0">
              <a:lnSpc>
                <a:spcPct val="120000"/>
              </a:lnSpc>
              <a:spcBef>
                <a:spcPts val="0"/>
              </a:spcBef>
              <a:buNone/>
            </a:pPr>
            <a:r>
              <a:rPr lang="en-US" sz="2000" dirty="0"/>
              <a:t>        //initializing a jagged array  </a:t>
            </a:r>
          </a:p>
          <a:p>
            <a:pPr marL="0" indent="0">
              <a:lnSpc>
                <a:spcPct val="120000"/>
              </a:lnSpc>
              <a:spcBef>
                <a:spcPts val="0"/>
              </a:spcBef>
              <a:buNone/>
            </a:pPr>
            <a:r>
              <a:rPr lang="en-US" sz="2000" dirty="0"/>
              <a:t>        </a:t>
            </a:r>
            <a:r>
              <a:rPr lang="en-US" sz="2000" b="1" dirty="0" err="1"/>
              <a:t>int</a:t>
            </a:r>
            <a:r>
              <a:rPr lang="en-US" sz="2000" dirty="0"/>
              <a:t> count = 0;  </a:t>
            </a:r>
          </a:p>
          <a:p>
            <a:pPr marL="0" indent="0">
              <a:lnSpc>
                <a:spcPct val="120000"/>
              </a:lnSpc>
              <a:spcBef>
                <a:spcPts val="0"/>
              </a:spcBef>
              <a:buNone/>
            </a:pPr>
            <a:r>
              <a:rPr lang="en-US" sz="2000" dirty="0"/>
              <a:t>        </a:t>
            </a:r>
            <a:r>
              <a:rPr lang="en-US" sz="2000" b="1" dirty="0"/>
              <a:t>for</a:t>
            </a:r>
            <a:r>
              <a:rPr lang="en-US" sz="2000" dirty="0"/>
              <a:t> (</a:t>
            </a:r>
            <a:r>
              <a:rPr lang="en-US" sz="2000" b="1" dirty="0" err="1"/>
              <a:t>int</a:t>
            </a:r>
            <a:r>
              <a:rPr lang="en-US" sz="2000" dirty="0"/>
              <a:t> i=0; i&lt;</a:t>
            </a:r>
            <a:r>
              <a:rPr lang="en-US" sz="2000" dirty="0" err="1"/>
              <a:t>arr.length</a:t>
            </a:r>
            <a:r>
              <a:rPr lang="en-US" sz="2000" dirty="0"/>
              <a:t>; i++)  </a:t>
            </a:r>
          </a:p>
          <a:p>
            <a:pPr marL="0" indent="0">
              <a:lnSpc>
                <a:spcPct val="120000"/>
              </a:lnSpc>
              <a:spcBef>
                <a:spcPts val="0"/>
              </a:spcBef>
              <a:buNone/>
            </a:pPr>
            <a:r>
              <a:rPr lang="en-US" sz="2000" dirty="0"/>
              <a:t>            </a:t>
            </a:r>
            <a:r>
              <a:rPr lang="en-US" sz="2000" b="1" dirty="0"/>
              <a:t>for</a:t>
            </a:r>
            <a:r>
              <a:rPr lang="en-US" sz="2000" dirty="0"/>
              <a:t>(</a:t>
            </a:r>
            <a:r>
              <a:rPr lang="en-US" sz="2000" b="1" dirty="0" err="1"/>
              <a:t>int</a:t>
            </a:r>
            <a:r>
              <a:rPr lang="en-US" sz="2000" dirty="0"/>
              <a:t> j=0; j&lt;</a:t>
            </a:r>
            <a:r>
              <a:rPr lang="en-US" sz="2000" dirty="0" err="1"/>
              <a:t>arr</a:t>
            </a:r>
            <a:r>
              <a:rPr lang="en-US" sz="2000" dirty="0"/>
              <a:t>[i].length; j++)  </a:t>
            </a:r>
          </a:p>
          <a:p>
            <a:pPr marL="0" indent="0">
              <a:lnSpc>
                <a:spcPct val="120000"/>
              </a:lnSpc>
              <a:spcBef>
                <a:spcPts val="0"/>
              </a:spcBef>
              <a:buNone/>
            </a:pPr>
            <a:r>
              <a:rPr lang="en-US" sz="2000" dirty="0"/>
              <a:t>                </a:t>
            </a:r>
            <a:r>
              <a:rPr lang="en-US" sz="2000" dirty="0" err="1"/>
              <a:t>arr</a:t>
            </a:r>
            <a:r>
              <a:rPr lang="en-US" sz="2000" dirty="0"/>
              <a:t>[i][j] = </a:t>
            </a:r>
            <a:r>
              <a:rPr lang="en-US" sz="2000" dirty="0" smtClean="0"/>
              <a:t>count ; count++;</a:t>
            </a:r>
            <a:r>
              <a:rPr lang="en-US" sz="2000" dirty="0"/>
              <a:t>  </a:t>
            </a:r>
          </a:p>
          <a:p>
            <a:pPr marL="0" indent="0">
              <a:lnSpc>
                <a:spcPct val="120000"/>
              </a:lnSpc>
              <a:spcBef>
                <a:spcPts val="0"/>
              </a:spcBef>
              <a:buNone/>
            </a:pPr>
            <a:r>
              <a:rPr lang="en-US" sz="2000" dirty="0"/>
              <a:t>        //printing the data of a jagged array   </a:t>
            </a:r>
          </a:p>
          <a:p>
            <a:pPr marL="0" indent="0">
              <a:lnSpc>
                <a:spcPct val="120000"/>
              </a:lnSpc>
              <a:spcBef>
                <a:spcPts val="0"/>
              </a:spcBef>
              <a:buNone/>
            </a:pPr>
            <a:r>
              <a:rPr lang="en-US" sz="2000" dirty="0"/>
              <a:t>        </a:t>
            </a:r>
            <a:r>
              <a:rPr lang="en-US" sz="2000" b="1" dirty="0"/>
              <a:t>for</a:t>
            </a:r>
            <a:r>
              <a:rPr lang="en-US" sz="2000" dirty="0"/>
              <a:t> (</a:t>
            </a:r>
            <a:r>
              <a:rPr lang="en-US" sz="2000" b="1" dirty="0" err="1"/>
              <a:t>int</a:t>
            </a:r>
            <a:r>
              <a:rPr lang="en-US" sz="2000" dirty="0"/>
              <a:t> i=0; i&lt;</a:t>
            </a:r>
            <a:r>
              <a:rPr lang="en-US" sz="2000" dirty="0" err="1"/>
              <a:t>arr.length</a:t>
            </a:r>
            <a:r>
              <a:rPr lang="en-US" sz="2000" dirty="0"/>
              <a:t>; i++){  </a:t>
            </a:r>
          </a:p>
          <a:p>
            <a:pPr marL="0" indent="0">
              <a:lnSpc>
                <a:spcPct val="120000"/>
              </a:lnSpc>
              <a:spcBef>
                <a:spcPts val="0"/>
              </a:spcBef>
              <a:buNone/>
            </a:pPr>
            <a:r>
              <a:rPr lang="en-US" sz="2000" dirty="0"/>
              <a:t>            </a:t>
            </a:r>
            <a:r>
              <a:rPr lang="en-US" sz="2000" b="1" dirty="0"/>
              <a:t>for</a:t>
            </a:r>
            <a:r>
              <a:rPr lang="en-US" sz="2000" dirty="0"/>
              <a:t> (</a:t>
            </a:r>
            <a:r>
              <a:rPr lang="en-US" sz="2000" b="1" dirty="0" err="1"/>
              <a:t>int</a:t>
            </a:r>
            <a:r>
              <a:rPr lang="en-US" sz="2000" dirty="0"/>
              <a:t> j=0; j&lt;</a:t>
            </a:r>
            <a:r>
              <a:rPr lang="en-US" sz="2000" dirty="0" err="1"/>
              <a:t>arr</a:t>
            </a:r>
            <a:r>
              <a:rPr lang="en-US" sz="2000" dirty="0"/>
              <a:t>[i].length; j++){  </a:t>
            </a:r>
          </a:p>
          <a:p>
            <a:pPr marL="0" indent="0">
              <a:lnSpc>
                <a:spcPct val="120000"/>
              </a:lnSpc>
              <a:spcBef>
                <a:spcPts val="0"/>
              </a:spcBef>
              <a:buNone/>
            </a:pPr>
            <a:r>
              <a:rPr lang="en-US" sz="2000" dirty="0"/>
              <a:t>                </a:t>
            </a:r>
            <a:r>
              <a:rPr lang="en-US" sz="2000" dirty="0" err="1"/>
              <a:t>System.out.print</a:t>
            </a:r>
            <a:r>
              <a:rPr lang="en-US" sz="2000" dirty="0"/>
              <a:t>(</a:t>
            </a:r>
            <a:r>
              <a:rPr lang="en-US" sz="2000" dirty="0" err="1"/>
              <a:t>arr</a:t>
            </a:r>
            <a:r>
              <a:rPr lang="en-US" sz="2000" dirty="0"/>
              <a:t>[i][j]+" ");  </a:t>
            </a:r>
          </a:p>
          <a:p>
            <a:pPr marL="0" indent="0">
              <a:lnSpc>
                <a:spcPct val="120000"/>
              </a:lnSpc>
              <a:spcBef>
                <a:spcPts val="0"/>
              </a:spcBef>
              <a:buNone/>
            </a:pPr>
            <a:r>
              <a:rPr lang="en-US" sz="2000" dirty="0"/>
              <a:t>            }  </a:t>
            </a:r>
          </a:p>
          <a:p>
            <a:pPr marL="0" indent="0">
              <a:lnSpc>
                <a:spcPct val="120000"/>
              </a:lnSpc>
              <a:spcBef>
                <a:spcPts val="0"/>
              </a:spcBef>
              <a:buNone/>
            </a:pPr>
            <a:r>
              <a:rPr lang="en-US" sz="2000" dirty="0"/>
              <a:t>            </a:t>
            </a:r>
            <a:r>
              <a:rPr lang="en-US" sz="2000" dirty="0" err="1"/>
              <a:t>System.out.println</a:t>
            </a:r>
            <a:r>
              <a:rPr lang="en-US" sz="2000" dirty="0"/>
              <a:t>();//new line  </a:t>
            </a:r>
          </a:p>
          <a:p>
            <a:pPr marL="0" indent="0">
              <a:lnSpc>
                <a:spcPct val="120000"/>
              </a:lnSpc>
              <a:spcBef>
                <a:spcPts val="0"/>
              </a:spcBef>
              <a:buNone/>
            </a:pPr>
            <a:r>
              <a:rPr lang="en-US" sz="2000" dirty="0"/>
              <a:t>        }  </a:t>
            </a:r>
          </a:p>
          <a:p>
            <a:pPr marL="0" indent="0">
              <a:lnSpc>
                <a:spcPct val="120000"/>
              </a:lnSpc>
              <a:spcBef>
                <a:spcPts val="0"/>
              </a:spcBef>
              <a:buNone/>
            </a:pPr>
            <a:r>
              <a:rPr lang="en-US" sz="2000" dirty="0"/>
              <a:t>    }  </a:t>
            </a:r>
          </a:p>
          <a:p>
            <a:pPr marL="0" indent="0">
              <a:lnSpc>
                <a:spcPct val="120000"/>
              </a:lnSpc>
              <a:spcBef>
                <a:spcPts val="0"/>
              </a:spcBef>
              <a:buNone/>
            </a:pPr>
            <a:r>
              <a:rPr lang="en-US" sz="2000" dirty="0"/>
              <a:t>}</a:t>
            </a:r>
          </a:p>
        </p:txBody>
      </p:sp>
      <p:sp>
        <p:nvSpPr>
          <p:cNvPr id="8" name="Content Placeholder 2">
            <a:extLst>
              <a:ext uri="{FF2B5EF4-FFF2-40B4-BE49-F238E27FC236}">
                <a16:creationId xmlns="" xmlns:a16="http://schemas.microsoft.com/office/drawing/2014/main" id="{21309EEA-748E-1B4D-9BA2-2ADAA2FBB16C}"/>
              </a:ext>
            </a:extLst>
          </p:cNvPr>
          <p:cNvSpPr txBox="1">
            <a:spLocks/>
          </p:cNvSpPr>
          <p:nvPr/>
        </p:nvSpPr>
        <p:spPr>
          <a:xfrm>
            <a:off x="8765002" y="1843315"/>
            <a:ext cx="1946541" cy="1828799"/>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smtClean="0"/>
              <a:t>Output:</a:t>
            </a:r>
            <a:endParaRPr lang="en-US" sz="3200" dirty="0" smtClean="0"/>
          </a:p>
          <a:p>
            <a:pPr marL="0" indent="0">
              <a:buNone/>
            </a:pPr>
            <a:r>
              <a:rPr lang="en-US" sz="1800" dirty="0"/>
              <a:t>0 1 </a:t>
            </a:r>
            <a:r>
              <a:rPr lang="en-US" sz="1800" dirty="0" smtClean="0"/>
              <a:t>2</a:t>
            </a:r>
          </a:p>
          <a:p>
            <a:pPr marL="0" indent="0">
              <a:buNone/>
            </a:pPr>
            <a:r>
              <a:rPr lang="en-US" sz="1800" dirty="0" smtClean="0"/>
              <a:t>3 </a:t>
            </a:r>
            <a:r>
              <a:rPr lang="en-US" sz="1800" dirty="0"/>
              <a:t>4 5 </a:t>
            </a:r>
            <a:r>
              <a:rPr lang="en-US" sz="1800" dirty="0" smtClean="0"/>
              <a:t>6</a:t>
            </a:r>
          </a:p>
          <a:p>
            <a:pPr marL="0" indent="0">
              <a:buNone/>
            </a:pPr>
            <a:r>
              <a:rPr lang="en-US" sz="1800" dirty="0" smtClean="0"/>
              <a:t>7 </a:t>
            </a:r>
            <a:r>
              <a:rPr lang="en-US" sz="1800" dirty="0"/>
              <a:t>8 </a:t>
            </a:r>
            <a:endParaRPr lang="en-US" sz="3200" dirty="0" smtClean="0"/>
          </a:p>
        </p:txBody>
      </p:sp>
    </p:spTree>
    <p:extLst>
      <p:ext uri="{BB962C8B-B14F-4D97-AF65-F5344CB8AC3E}">
        <p14:creationId xmlns:p14="http://schemas.microsoft.com/office/powerpoint/2010/main" val="1597203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a:t>Example Single Dimensional Array</a:t>
            </a:r>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1462302" y="754749"/>
            <a:ext cx="3980543" cy="5647418"/>
          </a:xfrm>
        </p:spPr>
        <p:txBody>
          <a:bodyPr>
            <a:noAutofit/>
          </a:bodyPr>
          <a:lstStyle/>
          <a:p>
            <a:pPr marL="0" indent="0">
              <a:lnSpc>
                <a:spcPct val="120000"/>
              </a:lnSpc>
              <a:spcBef>
                <a:spcPts val="0"/>
              </a:spcBef>
              <a:buNone/>
            </a:pPr>
            <a:r>
              <a:rPr lang="en-US" sz="1600" dirty="0"/>
              <a:t>public class </a:t>
            </a:r>
            <a:r>
              <a:rPr lang="en-US" sz="1600" dirty="0" err="1" smtClean="0"/>
              <a:t>ExampleArray</a:t>
            </a:r>
            <a:r>
              <a:rPr lang="en-US" sz="1600" dirty="0" smtClean="0"/>
              <a:t> {</a:t>
            </a:r>
            <a:endParaRPr lang="en-US" sz="1600" dirty="0"/>
          </a:p>
          <a:p>
            <a:pPr marL="0" indent="0">
              <a:lnSpc>
                <a:spcPct val="120000"/>
              </a:lnSpc>
              <a:spcBef>
                <a:spcPts val="0"/>
              </a:spcBef>
              <a:buNone/>
            </a:pPr>
            <a:r>
              <a:rPr lang="en-US" sz="1600" dirty="0"/>
              <a:t>   public static void main(String[] </a:t>
            </a:r>
            <a:r>
              <a:rPr lang="en-US" sz="1600" dirty="0" err="1"/>
              <a:t>args</a:t>
            </a:r>
            <a:r>
              <a:rPr lang="en-US" sz="1600" dirty="0"/>
              <a:t>) {</a:t>
            </a:r>
          </a:p>
          <a:p>
            <a:pPr marL="0" indent="0">
              <a:lnSpc>
                <a:spcPct val="120000"/>
              </a:lnSpc>
              <a:spcBef>
                <a:spcPts val="0"/>
              </a:spcBef>
              <a:buNone/>
            </a:pPr>
            <a:r>
              <a:rPr lang="en-US" sz="1600" dirty="0"/>
              <a:t>      double[] </a:t>
            </a:r>
            <a:r>
              <a:rPr lang="en-US" sz="1600" dirty="0" err="1"/>
              <a:t>myList</a:t>
            </a:r>
            <a:r>
              <a:rPr lang="en-US" sz="1600" dirty="0"/>
              <a:t> = {1.9, 2.9, 3.4, 3.5</a:t>
            </a:r>
            <a:r>
              <a:rPr lang="en-US" sz="1600" dirty="0" smtClean="0"/>
              <a:t>};</a:t>
            </a:r>
            <a:endParaRPr lang="en-US" sz="1600" dirty="0"/>
          </a:p>
          <a:p>
            <a:pPr marL="0" indent="0">
              <a:lnSpc>
                <a:spcPct val="120000"/>
              </a:lnSpc>
              <a:spcBef>
                <a:spcPts val="0"/>
              </a:spcBef>
              <a:buNone/>
            </a:pPr>
            <a:r>
              <a:rPr lang="en-US" sz="1600" dirty="0"/>
              <a:t>      // Print all the array elements</a:t>
            </a:r>
          </a:p>
          <a:p>
            <a:pPr marL="0" indent="0">
              <a:lnSpc>
                <a:spcPct val="120000"/>
              </a:lnSpc>
              <a:spcBef>
                <a:spcPts val="0"/>
              </a:spcBef>
              <a:buNone/>
            </a:pPr>
            <a:r>
              <a:rPr lang="en-US" sz="1600" dirty="0"/>
              <a:t>      for (</a:t>
            </a:r>
            <a:r>
              <a:rPr lang="en-US" sz="1600" dirty="0" err="1"/>
              <a:t>int</a:t>
            </a:r>
            <a:r>
              <a:rPr lang="en-US" sz="1600" dirty="0"/>
              <a:t> i = 0; i &lt; </a:t>
            </a:r>
            <a:r>
              <a:rPr lang="en-US" sz="1600" dirty="0" err="1"/>
              <a:t>myList.length</a:t>
            </a:r>
            <a:r>
              <a:rPr lang="en-US" sz="1600" dirty="0"/>
              <a:t>; i++) {</a:t>
            </a:r>
          </a:p>
          <a:p>
            <a:pPr marL="0" indent="0">
              <a:lnSpc>
                <a:spcPct val="120000"/>
              </a:lnSpc>
              <a:spcBef>
                <a:spcPts val="0"/>
              </a:spcBef>
              <a:buNone/>
            </a:pPr>
            <a:r>
              <a:rPr lang="en-US" sz="1600" dirty="0"/>
              <a:t>         </a:t>
            </a:r>
            <a:r>
              <a:rPr lang="en-US" sz="1600" dirty="0" err="1"/>
              <a:t>System.out.println</a:t>
            </a:r>
            <a:r>
              <a:rPr lang="en-US" sz="1600" dirty="0"/>
              <a:t>(</a:t>
            </a:r>
            <a:r>
              <a:rPr lang="en-US" sz="1600" dirty="0" err="1"/>
              <a:t>myList</a:t>
            </a:r>
            <a:r>
              <a:rPr lang="en-US" sz="1600" dirty="0"/>
              <a:t>[i] + " ");</a:t>
            </a:r>
          </a:p>
          <a:p>
            <a:pPr marL="0" indent="0">
              <a:lnSpc>
                <a:spcPct val="120000"/>
              </a:lnSpc>
              <a:spcBef>
                <a:spcPts val="0"/>
              </a:spcBef>
              <a:buNone/>
            </a:pPr>
            <a:r>
              <a:rPr lang="en-US" sz="1600" dirty="0"/>
              <a:t>      </a:t>
            </a:r>
            <a:r>
              <a:rPr lang="en-US" sz="1600" dirty="0" smtClean="0"/>
              <a:t>}     </a:t>
            </a:r>
            <a:endParaRPr lang="en-US" sz="1600" dirty="0"/>
          </a:p>
          <a:p>
            <a:pPr marL="0" indent="0">
              <a:lnSpc>
                <a:spcPct val="120000"/>
              </a:lnSpc>
              <a:spcBef>
                <a:spcPts val="0"/>
              </a:spcBef>
              <a:buNone/>
            </a:pPr>
            <a:r>
              <a:rPr lang="en-US" sz="1600" dirty="0"/>
              <a:t>      // Summing all elements</a:t>
            </a:r>
          </a:p>
          <a:p>
            <a:pPr marL="0" indent="0">
              <a:lnSpc>
                <a:spcPct val="120000"/>
              </a:lnSpc>
              <a:spcBef>
                <a:spcPts val="0"/>
              </a:spcBef>
              <a:buNone/>
            </a:pPr>
            <a:r>
              <a:rPr lang="en-US" sz="1600" dirty="0"/>
              <a:t>      double total = 0;</a:t>
            </a:r>
          </a:p>
          <a:p>
            <a:pPr marL="0" indent="0">
              <a:lnSpc>
                <a:spcPct val="120000"/>
              </a:lnSpc>
              <a:spcBef>
                <a:spcPts val="0"/>
              </a:spcBef>
              <a:buNone/>
            </a:pPr>
            <a:r>
              <a:rPr lang="en-US" sz="1600" dirty="0"/>
              <a:t>      for (</a:t>
            </a:r>
            <a:r>
              <a:rPr lang="en-US" sz="1600" dirty="0" err="1"/>
              <a:t>int</a:t>
            </a:r>
            <a:r>
              <a:rPr lang="en-US" sz="1600" dirty="0"/>
              <a:t> i = 0; i &lt; </a:t>
            </a:r>
            <a:r>
              <a:rPr lang="en-US" sz="1600" dirty="0" err="1"/>
              <a:t>myList.length</a:t>
            </a:r>
            <a:r>
              <a:rPr lang="en-US" sz="1600" dirty="0"/>
              <a:t>; i++) {</a:t>
            </a:r>
          </a:p>
          <a:p>
            <a:pPr marL="0" indent="0">
              <a:lnSpc>
                <a:spcPct val="120000"/>
              </a:lnSpc>
              <a:spcBef>
                <a:spcPts val="0"/>
              </a:spcBef>
              <a:buNone/>
            </a:pPr>
            <a:r>
              <a:rPr lang="en-US" sz="1600" dirty="0"/>
              <a:t>         total += </a:t>
            </a:r>
            <a:r>
              <a:rPr lang="en-US" sz="1600" dirty="0" err="1"/>
              <a:t>myList</a:t>
            </a:r>
            <a:r>
              <a:rPr lang="en-US" sz="1600" dirty="0"/>
              <a:t>[i];</a:t>
            </a:r>
          </a:p>
          <a:p>
            <a:pPr marL="0" indent="0">
              <a:lnSpc>
                <a:spcPct val="120000"/>
              </a:lnSpc>
              <a:spcBef>
                <a:spcPts val="0"/>
              </a:spcBef>
              <a:buNone/>
            </a:pPr>
            <a:r>
              <a:rPr lang="en-US" sz="1600" dirty="0"/>
              <a:t>      }</a:t>
            </a:r>
          </a:p>
          <a:p>
            <a:pPr marL="0" indent="0">
              <a:lnSpc>
                <a:spcPct val="120000"/>
              </a:lnSpc>
              <a:spcBef>
                <a:spcPts val="0"/>
              </a:spcBef>
              <a:buNone/>
            </a:pPr>
            <a:r>
              <a:rPr lang="en-US" sz="1600" dirty="0"/>
              <a:t>      </a:t>
            </a:r>
            <a:r>
              <a:rPr lang="en-US" sz="1600" dirty="0" err="1"/>
              <a:t>System.out.println</a:t>
            </a:r>
            <a:r>
              <a:rPr lang="en-US" sz="1600" dirty="0"/>
              <a:t>("Total is " + total</a:t>
            </a:r>
            <a:r>
              <a:rPr lang="en-US" sz="1600" dirty="0" smtClean="0"/>
              <a:t>);</a:t>
            </a:r>
            <a:endParaRPr lang="en-US" sz="1600" dirty="0"/>
          </a:p>
          <a:p>
            <a:pPr marL="0" indent="0">
              <a:lnSpc>
                <a:spcPct val="120000"/>
              </a:lnSpc>
              <a:spcBef>
                <a:spcPts val="0"/>
              </a:spcBef>
              <a:buNone/>
            </a:pPr>
            <a:r>
              <a:rPr lang="en-US" sz="1600" dirty="0"/>
              <a:t>      // Finding the largest element</a:t>
            </a:r>
          </a:p>
          <a:p>
            <a:pPr marL="0" indent="0">
              <a:lnSpc>
                <a:spcPct val="120000"/>
              </a:lnSpc>
              <a:spcBef>
                <a:spcPts val="0"/>
              </a:spcBef>
              <a:buNone/>
            </a:pPr>
            <a:r>
              <a:rPr lang="en-US" sz="1600" dirty="0"/>
              <a:t>      double max = </a:t>
            </a:r>
            <a:r>
              <a:rPr lang="en-US" sz="1600" dirty="0" err="1"/>
              <a:t>myList</a:t>
            </a:r>
            <a:r>
              <a:rPr lang="en-US" sz="1600" dirty="0"/>
              <a:t>[0];</a:t>
            </a:r>
          </a:p>
          <a:p>
            <a:pPr marL="0" indent="0">
              <a:lnSpc>
                <a:spcPct val="120000"/>
              </a:lnSpc>
              <a:spcBef>
                <a:spcPts val="0"/>
              </a:spcBef>
              <a:buNone/>
            </a:pPr>
            <a:r>
              <a:rPr lang="en-US" sz="1600" dirty="0"/>
              <a:t>      for (</a:t>
            </a:r>
            <a:r>
              <a:rPr lang="en-US" sz="1600" dirty="0" err="1"/>
              <a:t>int</a:t>
            </a:r>
            <a:r>
              <a:rPr lang="en-US" sz="1600" dirty="0"/>
              <a:t> i = 1; i &lt; </a:t>
            </a:r>
            <a:r>
              <a:rPr lang="en-US" sz="1600" dirty="0" err="1"/>
              <a:t>myList.length</a:t>
            </a:r>
            <a:r>
              <a:rPr lang="en-US" sz="1600" dirty="0"/>
              <a:t>; i++) {</a:t>
            </a:r>
          </a:p>
          <a:p>
            <a:pPr marL="0" indent="0">
              <a:lnSpc>
                <a:spcPct val="120000"/>
              </a:lnSpc>
              <a:spcBef>
                <a:spcPts val="0"/>
              </a:spcBef>
              <a:buNone/>
            </a:pPr>
            <a:r>
              <a:rPr lang="en-US" sz="1600" dirty="0"/>
              <a:t>         if (</a:t>
            </a:r>
            <a:r>
              <a:rPr lang="en-US" sz="1600" dirty="0" err="1"/>
              <a:t>myList</a:t>
            </a:r>
            <a:r>
              <a:rPr lang="en-US" sz="1600" dirty="0"/>
              <a:t>[i] &gt; max) max = </a:t>
            </a:r>
            <a:r>
              <a:rPr lang="en-US" sz="1600" dirty="0" err="1"/>
              <a:t>myList</a:t>
            </a:r>
            <a:r>
              <a:rPr lang="en-US" sz="1600" dirty="0"/>
              <a:t>[i];</a:t>
            </a:r>
          </a:p>
          <a:p>
            <a:pPr marL="0" indent="0">
              <a:lnSpc>
                <a:spcPct val="120000"/>
              </a:lnSpc>
              <a:spcBef>
                <a:spcPts val="0"/>
              </a:spcBef>
              <a:buNone/>
            </a:pPr>
            <a:r>
              <a:rPr lang="en-US" sz="1600" dirty="0"/>
              <a:t>      }</a:t>
            </a:r>
          </a:p>
          <a:p>
            <a:pPr marL="0" indent="0">
              <a:lnSpc>
                <a:spcPct val="120000"/>
              </a:lnSpc>
              <a:spcBef>
                <a:spcPts val="0"/>
              </a:spcBef>
              <a:buNone/>
            </a:pPr>
            <a:r>
              <a:rPr lang="en-US" sz="1600" dirty="0"/>
              <a:t>      </a:t>
            </a:r>
            <a:r>
              <a:rPr lang="en-US" sz="1600" dirty="0" err="1"/>
              <a:t>System.out.println</a:t>
            </a:r>
            <a:r>
              <a:rPr lang="en-US" sz="1600" dirty="0"/>
              <a:t>("Max is " + max);  </a:t>
            </a:r>
          </a:p>
          <a:p>
            <a:pPr marL="0" indent="0">
              <a:lnSpc>
                <a:spcPct val="120000"/>
              </a:lnSpc>
              <a:spcBef>
                <a:spcPts val="0"/>
              </a:spcBef>
              <a:buNone/>
            </a:pPr>
            <a:r>
              <a:rPr lang="en-US" sz="1600" dirty="0"/>
              <a:t>   }</a:t>
            </a:r>
          </a:p>
          <a:p>
            <a:pPr marL="0" indent="0">
              <a:lnSpc>
                <a:spcPct val="120000"/>
              </a:lnSpc>
              <a:spcBef>
                <a:spcPts val="0"/>
              </a:spcBef>
              <a:buNone/>
            </a:pPr>
            <a:r>
              <a:rPr lang="en-US" sz="1600" dirty="0"/>
              <a:t>}</a:t>
            </a:r>
            <a:endParaRPr lang="en-US" sz="1400"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dirty="0"/>
              <a:t>© </a:t>
            </a:r>
            <a:r>
              <a:rPr lang="en-US" dirty="0" err="1"/>
              <a:t>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13</a:t>
            </a:fld>
            <a:endParaRPr lang="en-US" dirty="0"/>
          </a:p>
        </p:txBody>
      </p:sp>
      <p:sp>
        <p:nvSpPr>
          <p:cNvPr id="8" name="Content Placeholder 2">
            <a:extLst>
              <a:ext uri="{FF2B5EF4-FFF2-40B4-BE49-F238E27FC236}">
                <a16:creationId xmlns="" xmlns:a16="http://schemas.microsoft.com/office/drawing/2014/main" id="{21309EEA-748E-1B4D-9BA2-2ADAA2FBB16C}"/>
              </a:ext>
            </a:extLst>
          </p:cNvPr>
          <p:cNvSpPr txBox="1">
            <a:spLocks/>
          </p:cNvSpPr>
          <p:nvPr/>
        </p:nvSpPr>
        <p:spPr>
          <a:xfrm>
            <a:off x="7270028" y="1132114"/>
            <a:ext cx="2730312" cy="2757715"/>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smtClean="0"/>
              <a:t>Output:</a:t>
            </a:r>
            <a:endParaRPr lang="en-US" sz="3200" dirty="0" smtClean="0"/>
          </a:p>
          <a:p>
            <a:pPr marL="0" indent="0">
              <a:buNone/>
            </a:pPr>
            <a:r>
              <a:rPr lang="en-US" sz="1800" dirty="0"/>
              <a:t>1.9</a:t>
            </a:r>
          </a:p>
          <a:p>
            <a:pPr marL="0" indent="0">
              <a:buNone/>
            </a:pPr>
            <a:r>
              <a:rPr lang="en-US" sz="1800" dirty="0"/>
              <a:t>2.9</a:t>
            </a:r>
          </a:p>
          <a:p>
            <a:pPr marL="0" indent="0">
              <a:buNone/>
            </a:pPr>
            <a:r>
              <a:rPr lang="en-US" sz="1800" dirty="0"/>
              <a:t>3.4</a:t>
            </a:r>
          </a:p>
          <a:p>
            <a:pPr marL="0" indent="0">
              <a:buNone/>
            </a:pPr>
            <a:r>
              <a:rPr lang="en-US" sz="1800" dirty="0"/>
              <a:t>3.5</a:t>
            </a:r>
          </a:p>
          <a:p>
            <a:pPr marL="0" indent="0">
              <a:buNone/>
            </a:pPr>
            <a:r>
              <a:rPr lang="en-US" sz="1800" dirty="0"/>
              <a:t>Total is 11.7</a:t>
            </a:r>
          </a:p>
          <a:p>
            <a:pPr marL="0" indent="0">
              <a:buNone/>
            </a:pPr>
            <a:r>
              <a:rPr lang="en-US" sz="1800" dirty="0"/>
              <a:t>Max is 3.5</a:t>
            </a:r>
            <a:endParaRPr lang="en-US" sz="3200" dirty="0" smtClean="0"/>
          </a:p>
        </p:txBody>
      </p:sp>
    </p:spTree>
    <p:extLst>
      <p:ext uri="{BB962C8B-B14F-4D97-AF65-F5344CB8AC3E}">
        <p14:creationId xmlns:p14="http://schemas.microsoft.com/office/powerpoint/2010/main" val="3311381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smtClean="0"/>
              <a:t>Demo</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1" y="1074057"/>
            <a:ext cx="10515598" cy="5647418"/>
          </a:xfrm>
        </p:spPr>
        <p:txBody>
          <a:bodyPr>
            <a:normAutofit/>
          </a:bodyPr>
          <a:lstStyle/>
          <a:p>
            <a:pPr>
              <a:lnSpc>
                <a:spcPct val="120000"/>
              </a:lnSpc>
              <a:spcBef>
                <a:spcPts val="0"/>
              </a:spcBef>
            </a:pPr>
            <a:r>
              <a:rPr lang="en-US" sz="3200" dirty="0" smtClean="0"/>
              <a:t>Input an array of integer from the keyboard</a:t>
            </a:r>
          </a:p>
          <a:p>
            <a:pPr>
              <a:lnSpc>
                <a:spcPct val="120000"/>
              </a:lnSpc>
              <a:spcBef>
                <a:spcPts val="0"/>
              </a:spcBef>
            </a:pPr>
            <a:r>
              <a:rPr lang="en-US" sz="3200" dirty="0" smtClean="0"/>
              <a:t>Display that array to the screen</a:t>
            </a:r>
          </a:p>
          <a:p>
            <a:pPr>
              <a:lnSpc>
                <a:spcPct val="120000"/>
              </a:lnSpc>
              <a:spcBef>
                <a:spcPts val="0"/>
              </a:spcBef>
            </a:pPr>
            <a:r>
              <a:rPr lang="en-US" sz="3200" dirty="0" smtClean="0"/>
              <a:t>Summing all of odd elements in that array</a:t>
            </a:r>
          </a:p>
          <a:p>
            <a:pPr>
              <a:lnSpc>
                <a:spcPct val="120000"/>
              </a:lnSpc>
              <a:spcBef>
                <a:spcPts val="0"/>
              </a:spcBef>
            </a:pPr>
            <a:r>
              <a:rPr lang="en-US" sz="3200" dirty="0" smtClean="0"/>
              <a:t>Find max/min number</a:t>
            </a:r>
          </a:p>
          <a:p>
            <a:pPr>
              <a:lnSpc>
                <a:spcPct val="120000"/>
              </a:lnSpc>
              <a:spcBef>
                <a:spcPts val="0"/>
              </a:spcBef>
            </a:pPr>
            <a:r>
              <a:rPr lang="en-US" sz="3200" dirty="0" smtClean="0"/>
              <a:t>Input a number x from the keyboard and check x if it exists in that array?</a:t>
            </a:r>
          </a:p>
          <a:p>
            <a:pPr>
              <a:lnSpc>
                <a:spcPct val="120000"/>
              </a:lnSpc>
              <a:spcBef>
                <a:spcPts val="0"/>
              </a:spcBef>
            </a:pPr>
            <a:r>
              <a:rPr lang="en-US" sz="3200" dirty="0"/>
              <a:t>Count how many numbers are divisible by </a:t>
            </a:r>
            <a:r>
              <a:rPr lang="en-US" sz="3200" dirty="0" smtClean="0"/>
              <a:t>x in that array.</a:t>
            </a:r>
          </a:p>
          <a:p>
            <a:pPr>
              <a:lnSpc>
                <a:spcPct val="120000"/>
              </a:lnSpc>
              <a:spcBef>
                <a:spcPts val="0"/>
              </a:spcBef>
            </a:pPr>
            <a:endParaRPr lang="en-US"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dirty="0"/>
              <a:t>© </a:t>
            </a:r>
            <a:r>
              <a:rPr lang="en-US" dirty="0" err="1"/>
              <a:t>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14</a:t>
            </a:fld>
            <a:endParaRPr lang="en-US" dirty="0"/>
          </a:p>
        </p:txBody>
      </p:sp>
    </p:spTree>
    <p:extLst>
      <p:ext uri="{BB962C8B-B14F-4D97-AF65-F5344CB8AC3E}">
        <p14:creationId xmlns:p14="http://schemas.microsoft.com/office/powerpoint/2010/main" val="812863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smtClean="0"/>
              <a:t>Demo</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1" y="1074057"/>
            <a:ext cx="10515598" cy="5647418"/>
          </a:xfrm>
        </p:spPr>
        <p:txBody>
          <a:bodyPr>
            <a:normAutofit/>
          </a:bodyPr>
          <a:lstStyle/>
          <a:p>
            <a:pPr>
              <a:lnSpc>
                <a:spcPct val="120000"/>
              </a:lnSpc>
              <a:spcBef>
                <a:spcPts val="0"/>
              </a:spcBef>
            </a:pPr>
            <a:r>
              <a:rPr lang="en-US" sz="3200" dirty="0" smtClean="0"/>
              <a:t>Insert</a:t>
            </a:r>
          </a:p>
          <a:p>
            <a:pPr>
              <a:lnSpc>
                <a:spcPct val="120000"/>
              </a:lnSpc>
              <a:spcBef>
                <a:spcPts val="0"/>
              </a:spcBef>
            </a:pPr>
            <a:r>
              <a:rPr lang="en-US" sz="3200" dirty="0" smtClean="0"/>
              <a:t>Update</a:t>
            </a:r>
          </a:p>
          <a:p>
            <a:pPr>
              <a:lnSpc>
                <a:spcPct val="120000"/>
              </a:lnSpc>
              <a:spcBef>
                <a:spcPts val="0"/>
              </a:spcBef>
            </a:pPr>
            <a:r>
              <a:rPr lang="en-US" sz="3200" dirty="0" smtClean="0"/>
              <a:t>Delete</a:t>
            </a:r>
            <a:endParaRPr lang="en-US" dirty="0"/>
          </a:p>
          <a:p>
            <a:pPr>
              <a:lnSpc>
                <a:spcPct val="120000"/>
              </a:lnSpc>
              <a:spcBef>
                <a:spcPts val="0"/>
              </a:spcBef>
            </a:pPr>
            <a:r>
              <a:rPr lang="en-US" sz="3200" dirty="0" smtClean="0"/>
              <a:t>Search</a:t>
            </a:r>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dirty="0"/>
              <a:t>© </a:t>
            </a:r>
            <a:r>
              <a:rPr lang="en-US" dirty="0" err="1"/>
              <a:t>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15</a:t>
            </a:fld>
            <a:endParaRPr lang="en-US" dirty="0"/>
          </a:p>
        </p:txBody>
      </p:sp>
    </p:spTree>
    <p:extLst>
      <p:ext uri="{BB962C8B-B14F-4D97-AF65-F5344CB8AC3E}">
        <p14:creationId xmlns:p14="http://schemas.microsoft.com/office/powerpoint/2010/main" val="3058617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References</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p:txBody>
          <a:bodyPr>
            <a:normAutofit/>
          </a:bodyPr>
          <a:lstStyle/>
          <a:p>
            <a:r>
              <a:rPr lang="en-US" dirty="0">
                <a:hlinkClick r:id="rId2"/>
              </a:rPr>
              <a:t>https://</a:t>
            </a:r>
            <a:r>
              <a:rPr lang="en-US" dirty="0" err="1" smtClean="0">
                <a:hlinkClick r:id="rId2"/>
              </a:rPr>
              <a:t>www.w3schools.com</a:t>
            </a:r>
            <a:r>
              <a:rPr lang="en-US" dirty="0" smtClean="0">
                <a:hlinkClick r:id="rId2"/>
              </a:rPr>
              <a:t>/java/</a:t>
            </a:r>
            <a:r>
              <a:rPr lang="en-US" dirty="0" err="1" smtClean="0">
                <a:hlinkClick r:id="rId2"/>
              </a:rPr>
              <a:t>java_arrays.asp</a:t>
            </a:r>
            <a:endParaRPr lang="en-US" dirty="0" smtClean="0"/>
          </a:p>
          <a:p>
            <a:r>
              <a:rPr lang="en-US" dirty="0">
                <a:hlinkClick r:id="rId3"/>
              </a:rPr>
              <a:t>https://</a:t>
            </a:r>
            <a:r>
              <a:rPr lang="en-US" dirty="0" err="1" smtClean="0">
                <a:hlinkClick r:id="rId3"/>
              </a:rPr>
              <a:t>o7planning.org</a:t>
            </a:r>
            <a:r>
              <a:rPr lang="en-US" dirty="0" smtClean="0">
                <a:hlinkClick r:id="rId3"/>
              </a:rPr>
              <a:t>/vi/11567/</a:t>
            </a:r>
            <a:r>
              <a:rPr lang="en-US" dirty="0" err="1" smtClean="0">
                <a:hlinkClick r:id="rId3"/>
              </a:rPr>
              <a:t>mang</a:t>
            </a:r>
            <a:r>
              <a:rPr lang="en-US" dirty="0" smtClean="0">
                <a:hlinkClick r:id="rId3"/>
              </a:rPr>
              <a:t>-array-</a:t>
            </a:r>
            <a:r>
              <a:rPr lang="en-US" dirty="0" err="1" smtClean="0">
                <a:hlinkClick r:id="rId3"/>
              </a:rPr>
              <a:t>trong</a:t>
            </a:r>
            <a:r>
              <a:rPr lang="en-US" dirty="0" smtClean="0">
                <a:hlinkClick r:id="rId3"/>
              </a:rPr>
              <a:t>-java</a:t>
            </a:r>
            <a:endParaRPr lang="en-US" dirty="0" smtClean="0"/>
          </a:p>
          <a:p>
            <a:r>
              <a:rPr lang="en-US" dirty="0">
                <a:hlinkClick r:id="rId4"/>
              </a:rPr>
              <a:t>https://</a:t>
            </a:r>
            <a:r>
              <a:rPr lang="en-US" dirty="0" err="1" smtClean="0">
                <a:hlinkClick r:id="rId4"/>
              </a:rPr>
              <a:t>www.tutorialspoint.com</a:t>
            </a:r>
            <a:r>
              <a:rPr lang="en-US" dirty="0" smtClean="0">
                <a:hlinkClick r:id="rId4"/>
              </a:rPr>
              <a:t>/java/</a:t>
            </a:r>
            <a:r>
              <a:rPr lang="en-US" dirty="0" err="1" smtClean="0">
                <a:hlinkClick r:id="rId4"/>
              </a:rPr>
              <a:t>java_arrays.htm</a:t>
            </a:r>
            <a:endParaRPr lang="en-US" dirty="0" smtClean="0"/>
          </a:p>
          <a:p>
            <a:r>
              <a:rPr lang="en-US" dirty="0">
                <a:hlinkClick r:id="rId5"/>
              </a:rPr>
              <a:t>https://</a:t>
            </a:r>
            <a:r>
              <a:rPr lang="en-US" dirty="0" err="1">
                <a:hlinkClick r:id="rId5"/>
              </a:rPr>
              <a:t>www.geeksforgeeks.org</a:t>
            </a:r>
            <a:r>
              <a:rPr lang="en-US" dirty="0">
                <a:hlinkClick r:id="rId5"/>
              </a:rPr>
              <a:t>/arrays-in-java</a:t>
            </a:r>
            <a:r>
              <a:rPr lang="en-US" dirty="0" smtClean="0">
                <a:hlinkClick r:id="rId5"/>
              </a:rPr>
              <a:t>/</a:t>
            </a:r>
            <a:endParaRPr lang="en-US" dirty="0" smtClean="0"/>
          </a:p>
          <a:p>
            <a:r>
              <a:rPr lang="en-US" dirty="0">
                <a:hlinkClick r:id="rId6"/>
              </a:rPr>
              <a:t>https://</a:t>
            </a:r>
            <a:r>
              <a:rPr lang="en-US" dirty="0" err="1">
                <a:hlinkClick r:id="rId6"/>
              </a:rPr>
              <a:t>www.javatpoint.com</a:t>
            </a:r>
            <a:r>
              <a:rPr lang="en-US" dirty="0">
                <a:hlinkClick r:id="rId6"/>
              </a:rPr>
              <a:t>/array-in-java</a:t>
            </a:r>
            <a:endParaRPr lang="en-US" dirty="0" smtClean="0">
              <a:hlinkClick r:id="rId7"/>
            </a:endParaRPr>
          </a:p>
          <a:p>
            <a:r>
              <a:rPr lang="en-US" dirty="0" smtClean="0">
                <a:hlinkClick r:id="rId7"/>
              </a:rPr>
              <a:t>https</a:t>
            </a:r>
            <a:r>
              <a:rPr lang="en-US" dirty="0">
                <a:hlinkClick r:id="rId7"/>
              </a:rPr>
              <a:t>://</a:t>
            </a:r>
            <a:r>
              <a:rPr lang="en-US" dirty="0" err="1">
                <a:hlinkClick r:id="rId7"/>
              </a:rPr>
              <a:t>gpcoder.com</a:t>
            </a:r>
            <a:r>
              <a:rPr lang="en-US" dirty="0">
                <a:hlinkClick r:id="rId7"/>
              </a:rPr>
              <a:t>/2810-lop-</a:t>
            </a:r>
            <a:r>
              <a:rPr lang="en-US" dirty="0" err="1">
                <a:hlinkClick r:id="rId7"/>
              </a:rPr>
              <a:t>arrarys</a:t>
            </a:r>
            <a:r>
              <a:rPr lang="en-US" dirty="0">
                <a:hlinkClick r:id="rId7"/>
              </a:rPr>
              <a:t>-</a:t>
            </a:r>
            <a:r>
              <a:rPr lang="en-US" dirty="0" err="1">
                <a:hlinkClick r:id="rId7"/>
              </a:rPr>
              <a:t>trong</a:t>
            </a:r>
            <a:r>
              <a:rPr lang="en-US" dirty="0">
                <a:hlinkClick r:id="rId7"/>
              </a:rPr>
              <a:t>-java-arrays-utility-class/</a:t>
            </a:r>
            <a:endParaRPr lang="en-US" dirty="0" smtClean="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16</a:t>
            </a:fld>
            <a:endParaRPr lang="en-US" dirty="0"/>
          </a:p>
        </p:txBody>
      </p:sp>
    </p:spTree>
    <p:extLst>
      <p:ext uri="{BB962C8B-B14F-4D97-AF65-F5344CB8AC3E}">
        <p14:creationId xmlns:p14="http://schemas.microsoft.com/office/powerpoint/2010/main" val="2282622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 xmlns:a16="http://schemas.microsoft.com/office/drawing/2014/main" id="{0B37BB8C-BA62-BC4F-B0F8-D5F9321E2E79}"/>
              </a:ext>
            </a:extLst>
          </p:cNvPr>
          <p:cNvPicPr>
            <a:picLocks noChangeAspect="1"/>
          </p:cNvPicPr>
          <p:nvPr/>
        </p:nvPicPr>
        <p:blipFill>
          <a:blip r:embed="rId2"/>
          <a:stretch>
            <a:fillRect/>
          </a:stretch>
        </p:blipFill>
        <p:spPr>
          <a:xfrm>
            <a:off x="4440837" y="1888320"/>
            <a:ext cx="3310326" cy="3528808"/>
          </a:xfrm>
          <a:prstGeom prst="rect">
            <a:avLst/>
          </a:prstGeom>
        </p:spPr>
      </p:pic>
    </p:spTree>
    <p:extLst>
      <p:ext uri="{BB962C8B-B14F-4D97-AF65-F5344CB8AC3E}">
        <p14:creationId xmlns:p14="http://schemas.microsoft.com/office/powerpoint/2010/main" val="475626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VTCA-Slide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VTCA-SlideTheme" id="{5A24C4A4-58B6-8948-A62B-40090020C92E}" vid="{BD9F6502-1B8F-D14C-8309-CDC4C42FFF9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7992</TotalTime>
  <Words>917</Words>
  <Application>Microsoft Office PowerPoint</Application>
  <PresentationFormat>Custom</PresentationFormat>
  <Paragraphs>279</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VTCA-SlideTheme</vt:lpstr>
      <vt:lpstr>Introduction to Programming</vt:lpstr>
      <vt:lpstr>Objectives</vt:lpstr>
      <vt:lpstr>Arrays in Java</vt:lpstr>
      <vt:lpstr>Arrays in Java</vt:lpstr>
      <vt:lpstr>Single Dimensional Array</vt:lpstr>
      <vt:lpstr>Single Dimensional Array</vt:lpstr>
      <vt:lpstr>Single Dimensional Array</vt:lpstr>
      <vt:lpstr>Single Dimensional Array</vt:lpstr>
      <vt:lpstr>Single Dimensional Array</vt:lpstr>
      <vt:lpstr>Multi-dimensional Array in Java</vt:lpstr>
      <vt:lpstr>Multi-dimensional Array in Java</vt:lpstr>
      <vt:lpstr>Jagged Array in Java</vt:lpstr>
      <vt:lpstr>Example Single Dimensional Array</vt:lpstr>
      <vt:lpstr>Demo</vt:lpstr>
      <vt:lpstr>Demo</vt:lpstr>
      <vt:lpstr>References</vt:lpstr>
      <vt:lpstr>PowerPoint Presentation</vt:lpstr>
    </vt:vector>
  </TitlesOfParts>
  <Company>VTC Academy</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Mô hình đào tạo đáp ứng nhu cầu doanh nghiệp</dc:title>
  <dc:creator>hieutd@vtc.edu.vn</dc:creator>
  <cp:lastModifiedBy>Vitinh TT2</cp:lastModifiedBy>
  <cp:revision>596</cp:revision>
  <dcterms:created xsi:type="dcterms:W3CDTF">2019-05-17T12:57:33Z</dcterms:created>
  <dcterms:modified xsi:type="dcterms:W3CDTF">2019-11-09T11:32:34Z</dcterms:modified>
</cp:coreProperties>
</file>