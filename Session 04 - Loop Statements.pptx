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7" r:id="rId1"/>
  </p:sldMasterIdLst>
  <p:notesMasterIdLst>
    <p:notesMasterId r:id="rId22"/>
  </p:notesMasterIdLst>
  <p:sldIdLst>
    <p:sldId id="282" r:id="rId2"/>
    <p:sldId id="285" r:id="rId3"/>
    <p:sldId id="297" r:id="rId4"/>
    <p:sldId id="321" r:id="rId5"/>
    <p:sldId id="325" r:id="rId6"/>
    <p:sldId id="323" r:id="rId7"/>
    <p:sldId id="328" r:id="rId8"/>
    <p:sldId id="329" r:id="rId9"/>
    <p:sldId id="330" r:id="rId10"/>
    <p:sldId id="326" r:id="rId11"/>
    <p:sldId id="331" r:id="rId12"/>
    <p:sldId id="327" r:id="rId13"/>
    <p:sldId id="332" r:id="rId14"/>
    <p:sldId id="333" r:id="rId15"/>
    <p:sldId id="335" r:id="rId16"/>
    <p:sldId id="334" r:id="rId17"/>
    <p:sldId id="336" r:id="rId18"/>
    <p:sldId id="324" r:id="rId19"/>
    <p:sldId id="294" r:id="rId20"/>
    <p:sldId id="26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E5DA"/>
    <a:srgbClr val="244478"/>
    <a:srgbClr val="2B62B9"/>
    <a:srgbClr val="EF5452"/>
    <a:srgbClr val="F8C528"/>
    <a:srgbClr val="C09A24"/>
    <a:srgbClr val="068A85"/>
    <a:srgbClr val="99C272"/>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2514" autoAdjust="0"/>
  </p:normalViewPr>
  <p:slideViewPr>
    <p:cSldViewPr snapToGrid="0" snapToObjects="1">
      <p:cViewPr>
        <p:scale>
          <a:sx n="60" d="100"/>
          <a:sy n="60" d="100"/>
        </p:scale>
        <p:origin x="-1092" y="-25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DC2CD-8613-D146-8518-AC99D946DF95}" type="datetimeFigureOut">
              <a:rPr lang="en-US" smtClean="0"/>
              <a:t>08/11/2019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C4CF9-69BC-034A-86DA-E1DADC6FAF10}" type="slidenum">
              <a:rPr lang="en-US" smtClean="0"/>
              <a:t>‹#›</a:t>
            </a:fld>
            <a:endParaRPr lang="en-US"/>
          </a:p>
        </p:txBody>
      </p:sp>
    </p:spTree>
    <p:extLst>
      <p:ext uri="{BB962C8B-B14F-4D97-AF65-F5344CB8AC3E}">
        <p14:creationId xmlns:p14="http://schemas.microsoft.com/office/powerpoint/2010/main" val="1498815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p:bg>
      <p:bgPr>
        <a:gradFill flip="none" rotWithShape="1">
          <a:gsLst>
            <a:gs pos="0">
              <a:srgbClr val="002060"/>
            </a:gs>
            <a:gs pos="91000">
              <a:schemeClr val="accent1">
                <a:lumMod val="89000"/>
              </a:schemeClr>
            </a:gs>
            <a:gs pos="85000">
              <a:schemeClr val="accent1">
                <a:lumMod val="75000"/>
              </a:schemeClr>
            </a:gs>
            <a:gs pos="97000">
              <a:schemeClr val="accent1">
                <a:lumMod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9C37A9-8C23-6B4F-88B3-AB73D61B7148}"/>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176775AE-BCE3-4B41-8ADB-E632DB8DE999}"/>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939092D3-1A80-C841-BE0C-FB3B2449ED61}"/>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a16="http://schemas.microsoft.com/office/drawing/2014/main" xmlns="" id="{320948AB-0BEE-7E40-BCE4-2360F70E6140}"/>
              </a:ext>
            </a:extLst>
          </p:cNvPr>
          <p:cNvSpPr>
            <a:spLocks noGrp="1"/>
          </p:cNvSpPr>
          <p:nvPr>
            <p:ph type="ftr" sz="quarter" idx="11"/>
          </p:nvPr>
        </p:nvSpPr>
        <p:spPr/>
        <p:txBody>
          <a:bodyPr/>
          <a:lstStyle/>
          <a:p>
            <a:r>
              <a:rPr lang="en-US"/>
              <a:t>Subject Name</a:t>
            </a:r>
            <a:endParaRPr lang="en-US" dirty="0"/>
          </a:p>
        </p:txBody>
      </p:sp>
      <p:sp>
        <p:nvSpPr>
          <p:cNvPr id="6" name="Slide Number Placeholder 5">
            <a:extLst>
              <a:ext uri="{FF2B5EF4-FFF2-40B4-BE49-F238E27FC236}">
                <a16:creationId xmlns:a16="http://schemas.microsoft.com/office/drawing/2014/main" xmlns="" id="{9FD03C7E-8755-DA48-8510-BD952A82333E}"/>
              </a:ext>
            </a:extLst>
          </p:cNvPr>
          <p:cNvSpPr>
            <a:spLocks noGrp="1"/>
          </p:cNvSpPr>
          <p:nvPr>
            <p:ph type="sldNum" sz="quarter" idx="12"/>
          </p:nvPr>
        </p:nvSpPr>
        <p:spPr/>
        <p:txBody>
          <a:bodyPr/>
          <a:lstStyle/>
          <a:p>
            <a:fld id="{B9BA5F68-B450-774B-A94B-86322AF8B758}" type="slidenum">
              <a:rPr lang="en-US" smtClean="0"/>
              <a:t>‹#›</a:t>
            </a:fld>
            <a:endParaRPr lang="en-US"/>
          </a:p>
        </p:txBody>
      </p:sp>
      <p:pic>
        <p:nvPicPr>
          <p:cNvPr id="8" name="Picture 7">
            <a:extLst>
              <a:ext uri="{FF2B5EF4-FFF2-40B4-BE49-F238E27FC236}">
                <a16:creationId xmlns:a16="http://schemas.microsoft.com/office/drawing/2014/main" xmlns="" id="{338C6B40-493E-D545-8618-31916324F2BA}"/>
              </a:ext>
            </a:extLst>
          </p:cNvPr>
          <p:cNvPicPr>
            <a:picLocks noChangeAspect="1"/>
          </p:cNvPicPr>
          <p:nvPr/>
        </p:nvPicPr>
        <p:blipFill>
          <a:blip r:embed="rId2"/>
          <a:stretch>
            <a:fillRect/>
          </a:stretch>
        </p:blipFill>
        <p:spPr>
          <a:xfrm>
            <a:off x="414338" y="278924"/>
            <a:ext cx="4600575" cy="843439"/>
          </a:xfrm>
          <a:prstGeom prst="rect">
            <a:avLst/>
          </a:prstGeom>
        </p:spPr>
      </p:pic>
    </p:spTree>
    <p:extLst>
      <p:ext uri="{BB962C8B-B14F-4D97-AF65-F5344CB8AC3E}">
        <p14:creationId xmlns:p14="http://schemas.microsoft.com/office/powerpoint/2010/main" val="995701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4C2816-FC3E-3244-B2EB-CEB70C88E508}"/>
              </a:ext>
            </a:extLst>
          </p:cNvPr>
          <p:cNvSpPr>
            <a:spLocks noGrp="1"/>
          </p:cNvSpPr>
          <p:nvPr>
            <p:ph type="title"/>
          </p:nvPr>
        </p:nvSpPr>
        <p:spPr>
          <a:xfrm>
            <a:off x="838200" y="263301"/>
            <a:ext cx="10515600" cy="663575"/>
          </a:xfrm>
        </p:spPr>
        <p:txBody>
          <a:bodyPr>
            <a:normAutofit/>
          </a:bodyPr>
          <a:lstStyle>
            <a:lvl1pPr>
              <a:defRPr sz="280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B6358429-6D80-3644-9565-0A158FEB660D}"/>
              </a:ext>
            </a:extLst>
          </p:cNvPr>
          <p:cNvSpPr>
            <a:spLocks noGrp="1"/>
          </p:cNvSpPr>
          <p:nvPr>
            <p:ph idx="1"/>
          </p:nvPr>
        </p:nvSpPr>
        <p:spPr>
          <a:xfrm>
            <a:off x="838200" y="1074057"/>
            <a:ext cx="10515600" cy="512843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07A60295-D28D-5342-864C-DFD74E3BF4AC}"/>
              </a:ext>
            </a:extLst>
          </p:cNvPr>
          <p:cNvSpPr>
            <a:spLocks noGrp="1"/>
          </p:cNvSpPr>
          <p:nvPr>
            <p:ph type="dt" sz="half" idx="10"/>
          </p:nvPr>
        </p:nvSpPr>
        <p:spPr>
          <a:xfrm>
            <a:off x="838199" y="6356350"/>
            <a:ext cx="1382488" cy="365125"/>
          </a:xfrm>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20084FDE-39E1-CC43-ADEC-A2E40B807239}"/>
              </a:ext>
            </a:extLst>
          </p:cNvPr>
          <p:cNvSpPr>
            <a:spLocks noGrp="1"/>
          </p:cNvSpPr>
          <p:nvPr>
            <p:ph type="ftr" sz="quarter" idx="11"/>
          </p:nvPr>
        </p:nvSpPr>
        <p:spPr>
          <a:xfrm>
            <a:off x="2365514" y="6356350"/>
            <a:ext cx="7489686" cy="365125"/>
          </a:xfrm>
        </p:spPr>
        <p:txBody>
          <a:bodyPr/>
          <a:lstStyle/>
          <a:p>
            <a:r>
              <a:rPr lang="en-US"/>
              <a:t>Subject Name</a:t>
            </a:r>
          </a:p>
        </p:txBody>
      </p:sp>
      <p:sp>
        <p:nvSpPr>
          <p:cNvPr id="6" name="Slide Number Placeholder 5">
            <a:extLst>
              <a:ext uri="{FF2B5EF4-FFF2-40B4-BE49-F238E27FC236}">
                <a16:creationId xmlns:a16="http://schemas.microsoft.com/office/drawing/2014/main" xmlns="" id="{24CBCC03-BB7B-8F4A-BDC0-0497BB610957}"/>
              </a:ext>
            </a:extLst>
          </p:cNvPr>
          <p:cNvSpPr>
            <a:spLocks noGrp="1"/>
          </p:cNvSpPr>
          <p:nvPr>
            <p:ph type="sldNum" sz="quarter" idx="12"/>
          </p:nvPr>
        </p:nvSpPr>
        <p:spPr>
          <a:xfrm>
            <a:off x="10000340" y="6356350"/>
            <a:ext cx="1353459" cy="365125"/>
          </a:xfrm>
        </p:spPr>
        <p:txBody>
          <a:bodyPr/>
          <a:lstStyle/>
          <a:p>
            <a:fld id="{B9BA5F68-B450-774B-A94B-86322AF8B758}" type="slidenum">
              <a:rPr lang="en-US" smtClean="0"/>
              <a:t>‹#›</a:t>
            </a:fld>
            <a:endParaRPr lang="en-US" dirty="0"/>
          </a:p>
        </p:txBody>
      </p:sp>
    </p:spTree>
    <p:extLst>
      <p:ext uri="{BB962C8B-B14F-4D97-AF65-F5344CB8AC3E}">
        <p14:creationId xmlns:p14="http://schemas.microsoft.com/office/powerpoint/2010/main" val="253278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2987CA-DEB8-1246-A8A0-FC212DE453AF}"/>
              </a:ext>
            </a:extLst>
          </p:cNvPr>
          <p:cNvSpPr>
            <a:spLocks noGrp="1"/>
          </p:cNvSpPr>
          <p:nvPr>
            <p:ph type="title"/>
          </p:nvPr>
        </p:nvSpPr>
        <p:spPr>
          <a:xfrm>
            <a:off x="831850" y="1709738"/>
            <a:ext cx="10515600" cy="2852737"/>
          </a:xfrm>
        </p:spPr>
        <p:txBody>
          <a:bodyPr anchor="b"/>
          <a:lstStyle>
            <a:lvl1pPr>
              <a:defRPr sz="6000">
                <a:solidFill>
                  <a:srgbClr val="002060"/>
                </a:solidFill>
              </a:defRPr>
            </a:lvl1pPr>
          </a:lstStyle>
          <a:p>
            <a:r>
              <a:rPr lang="en-US"/>
              <a:t>Click to edit Master title style</a:t>
            </a:r>
          </a:p>
        </p:txBody>
      </p:sp>
      <p:sp>
        <p:nvSpPr>
          <p:cNvPr id="3" name="Text Placeholder 2">
            <a:extLst>
              <a:ext uri="{FF2B5EF4-FFF2-40B4-BE49-F238E27FC236}">
                <a16:creationId xmlns:a16="http://schemas.microsoft.com/office/drawing/2014/main" xmlns="" id="{EAA34C65-DEA5-8F4A-A14B-0DF1A1E68918}"/>
              </a:ext>
            </a:extLst>
          </p:cNvPr>
          <p:cNvSpPr>
            <a:spLocks noGrp="1"/>
          </p:cNvSpPr>
          <p:nvPr>
            <p:ph type="body" idx="1"/>
          </p:nvPr>
        </p:nvSpPr>
        <p:spPr>
          <a:xfrm>
            <a:off x="831850" y="4589463"/>
            <a:ext cx="10515600" cy="1500187"/>
          </a:xfrm>
        </p:spPr>
        <p:txBody>
          <a:bodyPr/>
          <a:lstStyle>
            <a:lvl1pPr marL="0" indent="0">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EFB5CC9-D24D-8D45-94E1-B8A6F082E35A}"/>
              </a:ext>
            </a:extLst>
          </p:cNvPr>
          <p:cNvSpPr>
            <a:spLocks noGrp="1"/>
          </p:cNvSpPr>
          <p:nvPr>
            <p:ph type="dt" sz="half" idx="10"/>
          </p:nvPr>
        </p:nvSpPr>
        <p:spPr>
          <a:xfrm>
            <a:off x="838200" y="6364028"/>
            <a:ext cx="1367971" cy="365125"/>
          </a:xfrm>
        </p:spPr>
        <p:txBody>
          <a:bodyPr/>
          <a:lstStyle/>
          <a:p>
            <a:r>
              <a:rPr lang="en-US"/>
              <a:t>© VTCA</a:t>
            </a:r>
          </a:p>
        </p:txBody>
      </p:sp>
      <p:sp>
        <p:nvSpPr>
          <p:cNvPr id="5" name="Footer Placeholder 4">
            <a:extLst>
              <a:ext uri="{FF2B5EF4-FFF2-40B4-BE49-F238E27FC236}">
                <a16:creationId xmlns:a16="http://schemas.microsoft.com/office/drawing/2014/main" xmlns="" id="{DBD43B7A-936C-F047-BD4A-CCBB3D41F0DF}"/>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a16="http://schemas.microsoft.com/office/drawing/2014/main" xmlns="" id="{96EEEBFE-C4A6-0541-B16A-380D3EAAB96F}"/>
              </a:ext>
            </a:extLst>
          </p:cNvPr>
          <p:cNvSpPr>
            <a:spLocks noGrp="1"/>
          </p:cNvSpPr>
          <p:nvPr>
            <p:ph type="sldNum" sz="quarter" idx="12"/>
          </p:nvPr>
        </p:nvSpPr>
        <p:spPr>
          <a:xfrm>
            <a:off x="10014856" y="6356350"/>
            <a:ext cx="1338943" cy="365125"/>
          </a:xfrm>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45714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56102A-A1F7-3842-AAEA-F5C7311EA1B8}"/>
              </a:ext>
            </a:extLst>
          </p:cNvPr>
          <p:cNvSpPr>
            <a:spLocks noGrp="1"/>
          </p:cNvSpPr>
          <p:nvPr>
            <p:ph type="title"/>
          </p:nvPr>
        </p:nvSpPr>
        <p:spPr>
          <a:xfrm>
            <a:off x="838200" y="278042"/>
            <a:ext cx="10515600" cy="635000"/>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F08251E2-F43C-F64D-B993-CE6609ED119D}"/>
              </a:ext>
            </a:extLst>
          </p:cNvPr>
          <p:cNvSpPr>
            <a:spLocks noGrp="1"/>
          </p:cNvSpPr>
          <p:nvPr>
            <p:ph sz="half" idx="1"/>
          </p:nvPr>
        </p:nvSpPr>
        <p:spPr>
          <a:xfrm>
            <a:off x="838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xmlns="" id="{8704EDDE-EE3F-8F4B-9C7A-83E0406455BE}"/>
              </a:ext>
            </a:extLst>
          </p:cNvPr>
          <p:cNvSpPr>
            <a:spLocks noGrp="1"/>
          </p:cNvSpPr>
          <p:nvPr>
            <p:ph sz="half" idx="2"/>
          </p:nvPr>
        </p:nvSpPr>
        <p:spPr>
          <a:xfrm>
            <a:off x="6172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xmlns="" id="{E9E15ADE-643D-314B-865E-D1A74E171C8E}"/>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xmlns="" id="{7C066CD4-6B44-554D-8C3E-1CC265FA54D3}"/>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xmlns="" id="{5905A39C-E79D-054D-AA55-AE55FBA281B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68740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1FA0EE-3CC4-5243-A94C-6FACDA7F8445}"/>
              </a:ext>
            </a:extLst>
          </p:cNvPr>
          <p:cNvSpPr>
            <a:spLocks noGrp="1"/>
          </p:cNvSpPr>
          <p:nvPr>
            <p:ph type="title"/>
          </p:nvPr>
        </p:nvSpPr>
        <p:spPr>
          <a:xfrm>
            <a:off x="839788" y="263527"/>
            <a:ext cx="10515600" cy="66357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xmlns="" id="{40930389-7090-CD40-BEBF-0637D2031B24}"/>
              </a:ext>
            </a:extLst>
          </p:cNvPr>
          <p:cNvSpPr>
            <a:spLocks noGrp="1"/>
          </p:cNvSpPr>
          <p:nvPr>
            <p:ph type="body" idx="1"/>
          </p:nvPr>
        </p:nvSpPr>
        <p:spPr>
          <a:xfrm>
            <a:off x="836612" y="119788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8DBABA1-0B0C-5D41-BD03-AF3497DBF438}"/>
              </a:ext>
            </a:extLst>
          </p:cNvPr>
          <p:cNvSpPr>
            <a:spLocks noGrp="1"/>
          </p:cNvSpPr>
          <p:nvPr>
            <p:ph sz="half" idx="2"/>
          </p:nvPr>
        </p:nvSpPr>
        <p:spPr>
          <a:xfrm>
            <a:off x="839788" y="2021796"/>
            <a:ext cx="5157787"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xmlns="" id="{7923744A-9292-8949-A87C-3B6979EA7CA4}"/>
              </a:ext>
            </a:extLst>
          </p:cNvPr>
          <p:cNvSpPr>
            <a:spLocks noGrp="1"/>
          </p:cNvSpPr>
          <p:nvPr>
            <p:ph type="body" sz="quarter" idx="3"/>
          </p:nvPr>
        </p:nvSpPr>
        <p:spPr>
          <a:xfrm>
            <a:off x="6194427" y="119788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xmlns="" id="{951ADD4A-DB10-FB4A-A9BA-9D3DB500D4B5}"/>
              </a:ext>
            </a:extLst>
          </p:cNvPr>
          <p:cNvSpPr>
            <a:spLocks noGrp="1"/>
          </p:cNvSpPr>
          <p:nvPr>
            <p:ph sz="quarter" idx="4"/>
          </p:nvPr>
        </p:nvSpPr>
        <p:spPr>
          <a:xfrm>
            <a:off x="6172200" y="2021796"/>
            <a:ext cx="5183188"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xmlns="" id="{57B58B35-25F2-6941-BC63-14140DB153E2}"/>
              </a:ext>
            </a:extLst>
          </p:cNvPr>
          <p:cNvSpPr>
            <a:spLocks noGrp="1"/>
          </p:cNvSpPr>
          <p:nvPr>
            <p:ph type="dt" sz="half" idx="10"/>
          </p:nvPr>
        </p:nvSpPr>
        <p:spPr/>
        <p:txBody>
          <a:bodyPr/>
          <a:lstStyle/>
          <a:p>
            <a:r>
              <a:rPr lang="en-US"/>
              <a:t>© VTCA</a:t>
            </a:r>
          </a:p>
        </p:txBody>
      </p:sp>
      <p:sp>
        <p:nvSpPr>
          <p:cNvPr id="8" name="Footer Placeholder 7">
            <a:extLst>
              <a:ext uri="{FF2B5EF4-FFF2-40B4-BE49-F238E27FC236}">
                <a16:creationId xmlns:a16="http://schemas.microsoft.com/office/drawing/2014/main" xmlns="" id="{7A4CB44E-6D22-DC48-8A79-8CC24323AB88}"/>
              </a:ext>
            </a:extLst>
          </p:cNvPr>
          <p:cNvSpPr>
            <a:spLocks noGrp="1"/>
          </p:cNvSpPr>
          <p:nvPr>
            <p:ph type="ftr" sz="quarter" idx="11"/>
          </p:nvPr>
        </p:nvSpPr>
        <p:spPr/>
        <p:txBody>
          <a:bodyPr/>
          <a:lstStyle/>
          <a:p>
            <a:r>
              <a:rPr lang="en-US"/>
              <a:t>Subject Name</a:t>
            </a:r>
          </a:p>
        </p:txBody>
      </p:sp>
      <p:sp>
        <p:nvSpPr>
          <p:cNvPr id="9" name="Slide Number Placeholder 8">
            <a:extLst>
              <a:ext uri="{FF2B5EF4-FFF2-40B4-BE49-F238E27FC236}">
                <a16:creationId xmlns:a16="http://schemas.microsoft.com/office/drawing/2014/main" xmlns="" id="{14AC1E52-5D18-5A4D-B7CC-7DB931B3D35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96089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E28F28-5514-3C4F-8F16-87F0D27BFC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6E8C3861-35A6-C04A-AF18-0494795E52DC}"/>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xmlns="" id="{964A6BF7-1B35-7B45-8465-DA95BDF4F1F8}"/>
              </a:ext>
            </a:extLst>
          </p:cNvPr>
          <p:cNvSpPr>
            <a:spLocks noGrp="1"/>
          </p:cNvSpPr>
          <p:nvPr>
            <p:ph type="ftr" sz="quarter" idx="11"/>
          </p:nvPr>
        </p:nvSpPr>
        <p:spPr/>
        <p:txBody>
          <a:bodyPr/>
          <a:lstStyle/>
          <a:p>
            <a:r>
              <a:rPr lang="en-US"/>
              <a:t>Subject Name</a:t>
            </a:r>
          </a:p>
        </p:txBody>
      </p:sp>
      <p:sp>
        <p:nvSpPr>
          <p:cNvPr id="5" name="Slide Number Placeholder 4">
            <a:extLst>
              <a:ext uri="{FF2B5EF4-FFF2-40B4-BE49-F238E27FC236}">
                <a16:creationId xmlns:a16="http://schemas.microsoft.com/office/drawing/2014/main" xmlns="" id="{182ECE7A-5E3E-FA41-A2CF-2170043C16A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185209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012E6E-C79E-5B49-9FDF-F6705D37C5C7}"/>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2D2BB082-60EA-F742-971F-16B6DC7F2F04}"/>
              </a:ext>
            </a:extLst>
          </p:cNvPr>
          <p:cNvSpPr>
            <a:spLocks noGrp="1"/>
          </p:cNvSpPr>
          <p:nvPr>
            <p:ph idx="1"/>
          </p:nvPr>
        </p:nvSpPr>
        <p:spPr>
          <a:xfrm>
            <a:off x="4943344" y="987425"/>
            <a:ext cx="6408867" cy="52101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xmlns="" id="{0D0DA2A8-A776-FA4A-A5B2-6088AA8A5EF7}"/>
              </a:ext>
            </a:extLst>
          </p:cNvPr>
          <p:cNvSpPr>
            <a:spLocks noGrp="1"/>
          </p:cNvSpPr>
          <p:nvPr>
            <p:ph type="body" sz="half" idx="2"/>
          </p:nvPr>
        </p:nvSpPr>
        <p:spPr>
          <a:xfrm>
            <a:off x="839788" y="2057400"/>
            <a:ext cx="3932237" cy="4140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F9C5211-987C-0E4C-8A65-096CAF941FE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xmlns="" id="{A7EC83AD-025F-B541-9368-2FEDDC6B1D1D}"/>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xmlns="" id="{D0C98FAB-9E39-4442-B432-009E972C220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8629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33CED7-2E22-7046-B671-644D9867C310}"/>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E4637231-3259-8148-A59B-BCA49EE18422}"/>
              </a:ext>
            </a:extLst>
          </p:cNvPr>
          <p:cNvSpPr>
            <a:spLocks noGrp="1"/>
          </p:cNvSpPr>
          <p:nvPr>
            <p:ph type="pic" idx="1"/>
          </p:nvPr>
        </p:nvSpPr>
        <p:spPr>
          <a:xfrm>
            <a:off x="5183188" y="987425"/>
            <a:ext cx="6172200" cy="52035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xmlns="" id="{51F3E8CD-A682-AC45-B9C3-5CB1873728F1}"/>
              </a:ext>
            </a:extLst>
          </p:cNvPr>
          <p:cNvSpPr>
            <a:spLocks noGrp="1"/>
          </p:cNvSpPr>
          <p:nvPr>
            <p:ph type="body" sz="half" idx="2"/>
          </p:nvPr>
        </p:nvSpPr>
        <p:spPr>
          <a:xfrm>
            <a:off x="839788" y="2057400"/>
            <a:ext cx="3932237" cy="41335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B6DDB3D-EBBA-E54E-957D-18F54AC5AE6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xmlns="" id="{EE068683-9DAF-2949-BB77-A0BA807B4E8A}"/>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xmlns="" id="{03031D61-53FD-B847-BC95-73B6763ADD6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7883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0BD9D8-CC86-7E4D-A036-7F666D5814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B41D8279-4EB5-1B4C-AC96-6DA0B332F4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FF71BE1-3E91-AC49-9604-441E4DD3A9C7}"/>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a16="http://schemas.microsoft.com/office/drawing/2014/main" xmlns="" id="{7C5F1837-E4C0-A34F-B38C-CBF0D65B8F14}"/>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a16="http://schemas.microsoft.com/office/drawing/2014/main" xmlns="" id="{AE605FF2-DF89-7143-8050-5F1B7B5C51E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2775914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xmlns=""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a16="http://schemas.microsoft.com/office/drawing/2014/main" xmlns=""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217324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xmlns=""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a16="http://schemas.microsoft.com/office/drawing/2014/main" xmlns=""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1508170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xmlns="" id="{A4C0672D-63A5-7F4F-996A-A49C94A186D4}"/>
              </a:ext>
            </a:extLst>
          </p:cNvPr>
          <p:cNvPicPr>
            <a:picLocks noChangeAspect="1"/>
          </p:cNvPicPr>
          <p:nvPr/>
        </p:nvPicPr>
        <p:blipFill>
          <a:blip r:embed="rId13"/>
          <a:stretch>
            <a:fillRect/>
          </a:stretch>
        </p:blipFill>
        <p:spPr>
          <a:xfrm>
            <a:off x="-17315" y="345287"/>
            <a:ext cx="12192000" cy="475488"/>
          </a:xfrm>
          <a:prstGeom prst="rect">
            <a:avLst/>
          </a:prstGeom>
        </p:spPr>
      </p:pic>
      <p:sp>
        <p:nvSpPr>
          <p:cNvPr id="2" name="Title Placeholder 1">
            <a:extLst>
              <a:ext uri="{FF2B5EF4-FFF2-40B4-BE49-F238E27FC236}">
                <a16:creationId xmlns:a16="http://schemas.microsoft.com/office/drawing/2014/main" xmlns="" id="{FDEC1233-5907-7143-8A9A-729AB9D49605}"/>
              </a:ext>
            </a:extLst>
          </p:cNvPr>
          <p:cNvSpPr>
            <a:spLocks noGrp="1"/>
          </p:cNvSpPr>
          <p:nvPr>
            <p:ph type="title"/>
          </p:nvPr>
        </p:nvSpPr>
        <p:spPr>
          <a:xfrm>
            <a:off x="838200" y="254955"/>
            <a:ext cx="10515600" cy="6778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xmlns="" id="{7C2E4728-1E09-A64F-9A06-2F96BC71F324}"/>
              </a:ext>
            </a:extLst>
          </p:cNvPr>
          <p:cNvSpPr>
            <a:spLocks noGrp="1"/>
          </p:cNvSpPr>
          <p:nvPr>
            <p:ph type="body" idx="1"/>
          </p:nvPr>
        </p:nvSpPr>
        <p:spPr>
          <a:xfrm>
            <a:off x="838200" y="1055881"/>
            <a:ext cx="10515600" cy="51417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D314233A-AE14-694A-BB8D-3E28E47EE53A}"/>
              </a:ext>
            </a:extLst>
          </p:cNvPr>
          <p:cNvSpPr>
            <a:spLocks noGrp="1"/>
          </p:cNvSpPr>
          <p:nvPr>
            <p:ph type="dt" sz="half" idx="2"/>
          </p:nvPr>
        </p:nvSpPr>
        <p:spPr>
          <a:xfrm>
            <a:off x="838201" y="6356350"/>
            <a:ext cx="1411514"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 VTC Academy</a:t>
            </a:r>
          </a:p>
        </p:txBody>
      </p:sp>
      <p:sp>
        <p:nvSpPr>
          <p:cNvPr id="5" name="Footer Placeholder 4">
            <a:extLst>
              <a:ext uri="{FF2B5EF4-FFF2-40B4-BE49-F238E27FC236}">
                <a16:creationId xmlns:a16="http://schemas.microsoft.com/office/drawing/2014/main" xmlns="" id="{85E08028-B976-7C44-A1F6-F7265A55443D}"/>
              </a:ext>
            </a:extLst>
          </p:cNvPr>
          <p:cNvSpPr>
            <a:spLocks noGrp="1"/>
          </p:cNvSpPr>
          <p:nvPr>
            <p:ph type="ftr" sz="quarter" idx="3"/>
          </p:nvPr>
        </p:nvSpPr>
        <p:spPr>
          <a:xfrm>
            <a:off x="2365828" y="6356350"/>
            <a:ext cx="748937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Course Introduction</a:t>
            </a:r>
          </a:p>
        </p:txBody>
      </p:sp>
      <p:sp>
        <p:nvSpPr>
          <p:cNvPr id="6" name="Slide Number Placeholder 5">
            <a:extLst>
              <a:ext uri="{FF2B5EF4-FFF2-40B4-BE49-F238E27FC236}">
                <a16:creationId xmlns:a16="http://schemas.microsoft.com/office/drawing/2014/main" xmlns="" id="{1836F93A-8372-7749-B2E4-1B714A6CCF1E}"/>
              </a:ext>
            </a:extLst>
          </p:cNvPr>
          <p:cNvSpPr>
            <a:spLocks noGrp="1"/>
          </p:cNvSpPr>
          <p:nvPr>
            <p:ph type="sldNum" sz="quarter" idx="4"/>
          </p:nvPr>
        </p:nvSpPr>
        <p:spPr>
          <a:xfrm>
            <a:off x="9985828" y="6356350"/>
            <a:ext cx="136797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BA5F68-B450-774B-A94B-86322AF8B758}" type="slidenum">
              <a:rPr lang="en-US" smtClean="0"/>
              <a:pPr/>
              <a:t>‹#›</a:t>
            </a:fld>
            <a:endParaRPr lang="en-US"/>
          </a:p>
        </p:txBody>
      </p:sp>
      <p:pic>
        <p:nvPicPr>
          <p:cNvPr id="12" name="Picture 11">
            <a:extLst>
              <a:ext uri="{FF2B5EF4-FFF2-40B4-BE49-F238E27FC236}">
                <a16:creationId xmlns:a16="http://schemas.microsoft.com/office/drawing/2014/main" xmlns="" id="{6402E568-18E6-9A43-8CDC-1DF38DFF6BB5}"/>
              </a:ext>
            </a:extLst>
          </p:cNvPr>
          <p:cNvPicPr>
            <a:picLocks noChangeAspect="1"/>
          </p:cNvPicPr>
          <p:nvPr/>
        </p:nvPicPr>
        <p:blipFill>
          <a:blip r:embed="rId14"/>
          <a:stretch>
            <a:fillRect/>
          </a:stretch>
        </p:blipFill>
        <p:spPr>
          <a:xfrm>
            <a:off x="9087694" y="306094"/>
            <a:ext cx="3116019" cy="571270"/>
          </a:xfrm>
          <a:prstGeom prst="rect">
            <a:avLst/>
          </a:prstGeom>
        </p:spPr>
      </p:pic>
    </p:spTree>
    <p:extLst>
      <p:ext uri="{BB962C8B-B14F-4D97-AF65-F5344CB8AC3E}">
        <p14:creationId xmlns:p14="http://schemas.microsoft.com/office/powerpoint/2010/main" val="178060349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5" r:id="rId7"/>
    <p:sldLayoutId id="2147483686" r:id="rId8"/>
    <p:sldLayoutId id="2147483687" r:id="rId9"/>
    <p:sldLayoutId id="2147483688" r:id="rId10"/>
    <p:sldLayoutId id="214748368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www.tutorialspoint.com/java/java_loop_control.htm" TargetMode="External"/><Relationship Id="rId3" Type="http://schemas.openxmlformats.org/officeDocument/2006/relationships/hyperlink" Target="https://www.javatpoint.com/java-for-loop" TargetMode="External"/><Relationship Id="rId7" Type="http://schemas.openxmlformats.org/officeDocument/2006/relationships/hyperlink" Target="https://www.geeksforgeeks.org/loops-in-java/" TargetMode="External"/><Relationship Id="rId2" Type="http://schemas.openxmlformats.org/officeDocument/2006/relationships/hyperlink" Target="https://www.learnjavaonline.org/en/Loops" TargetMode="External"/><Relationship Id="rId1" Type="http://schemas.openxmlformats.org/officeDocument/2006/relationships/slideLayout" Target="../slideLayouts/slideLayout2.xml"/><Relationship Id="rId6" Type="http://schemas.openxmlformats.org/officeDocument/2006/relationships/hyperlink" Target="https://www.w3schools.com/java/java_for_loop.asp" TargetMode="External"/><Relationship Id="rId5" Type="http://schemas.openxmlformats.org/officeDocument/2006/relationships/hyperlink" Target="https://www.javatpoint.com/java-do-while-loop" TargetMode="External"/><Relationship Id="rId4" Type="http://schemas.openxmlformats.org/officeDocument/2006/relationships/hyperlink" Target="https://www.javatpoint.com/java-while-loop"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33D9EB45-1C59-C541-92E7-6FE421F29085}"/>
              </a:ext>
            </a:extLst>
          </p:cNvPr>
          <p:cNvSpPr>
            <a:spLocks noGrp="1"/>
          </p:cNvSpPr>
          <p:nvPr>
            <p:ph type="ctrTitle"/>
          </p:nvPr>
        </p:nvSpPr>
        <p:spPr/>
        <p:txBody>
          <a:bodyPr/>
          <a:lstStyle/>
          <a:p>
            <a:r>
              <a:rPr lang="en-US" dirty="0"/>
              <a:t>Introduction to Programming</a:t>
            </a:r>
          </a:p>
        </p:txBody>
      </p:sp>
      <p:sp>
        <p:nvSpPr>
          <p:cNvPr id="8" name="Subtitle 7">
            <a:extLst>
              <a:ext uri="{FF2B5EF4-FFF2-40B4-BE49-F238E27FC236}">
                <a16:creationId xmlns:a16="http://schemas.microsoft.com/office/drawing/2014/main" xmlns="" id="{DA0CEDCB-5CE2-1B41-9D8B-CA0EB9D3BBD7}"/>
              </a:ext>
            </a:extLst>
          </p:cNvPr>
          <p:cNvSpPr>
            <a:spLocks noGrp="1"/>
          </p:cNvSpPr>
          <p:nvPr>
            <p:ph type="subTitle" idx="1"/>
          </p:nvPr>
        </p:nvSpPr>
        <p:spPr/>
        <p:txBody>
          <a:bodyPr>
            <a:normAutofit/>
          </a:bodyPr>
          <a:lstStyle/>
          <a:p>
            <a:r>
              <a:rPr lang="en-US" sz="3600" dirty="0"/>
              <a:t>Session </a:t>
            </a:r>
            <a:r>
              <a:rPr lang="en-US" sz="3600" dirty="0" smtClean="0"/>
              <a:t>04</a:t>
            </a:r>
          </a:p>
          <a:p>
            <a:r>
              <a:rPr lang="en-US" sz="3600"/>
              <a:t>Loop Statements</a:t>
            </a:r>
            <a:endParaRPr lang="en-US" sz="3600" dirty="0"/>
          </a:p>
        </p:txBody>
      </p:sp>
    </p:spTree>
    <p:extLst>
      <p:ext uri="{BB962C8B-B14F-4D97-AF65-F5344CB8AC3E}">
        <p14:creationId xmlns:p14="http://schemas.microsoft.com/office/powerpoint/2010/main" val="2854215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Objectives</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p:txBody>
          <a:bodyPr>
            <a:normAutofit/>
          </a:bodyPr>
          <a:lstStyle/>
          <a:p>
            <a:r>
              <a:rPr lang="en-US" sz="3200" dirty="0" smtClean="0"/>
              <a:t>For</a:t>
            </a:r>
          </a:p>
          <a:p>
            <a:r>
              <a:rPr lang="en-US" sz="3200" dirty="0" smtClean="0"/>
              <a:t>While</a:t>
            </a:r>
          </a:p>
          <a:p>
            <a:r>
              <a:rPr lang="en-US" sz="3200" dirty="0" smtClean="0"/>
              <a:t>Do-while</a:t>
            </a:r>
          </a:p>
          <a:p>
            <a:r>
              <a:rPr lang="en-US" sz="3200" dirty="0" smtClean="0"/>
              <a:t>Break, continue</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a:t>
            </a:fld>
            <a:endParaRPr lang="en-US" dirty="0"/>
          </a:p>
        </p:txBody>
      </p:sp>
    </p:spTree>
    <p:extLst>
      <p:ext uri="{BB962C8B-B14F-4D97-AF65-F5344CB8AC3E}">
        <p14:creationId xmlns:p14="http://schemas.microsoft.com/office/powerpoint/2010/main" val="308868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Loops in Java</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p:txBody>
          <a:bodyPr>
            <a:normAutofit/>
          </a:bodyPr>
          <a:lstStyle/>
          <a:p>
            <a:pPr algn="just"/>
            <a:r>
              <a:rPr lang="en-US" sz="3200" dirty="0"/>
              <a:t>In programming languages, loops are used to execute a set of instructions/functions repeatedly when some conditions become true. </a:t>
            </a:r>
            <a:endParaRPr lang="en-US" sz="3200" dirty="0" smtClean="0"/>
          </a:p>
          <a:p>
            <a:pPr algn="just"/>
            <a:r>
              <a:rPr lang="en-US" sz="3200" dirty="0" smtClean="0"/>
              <a:t>There </a:t>
            </a:r>
            <a:r>
              <a:rPr lang="en-US" sz="3200" dirty="0"/>
              <a:t>are </a:t>
            </a:r>
            <a:r>
              <a:rPr lang="en-US" sz="3200" dirty="0" smtClean="0"/>
              <a:t>three types</a:t>
            </a:r>
          </a:p>
          <a:p>
            <a:pPr marL="0" indent="0" algn="just">
              <a:buNone/>
            </a:pPr>
            <a:r>
              <a:rPr lang="en-US" sz="3200" dirty="0" smtClean="0"/>
              <a:t>of </a:t>
            </a:r>
            <a:r>
              <a:rPr lang="en-US" sz="3200" dirty="0"/>
              <a:t>loops in java</a:t>
            </a:r>
            <a:r>
              <a:rPr lang="en-US" sz="3200" dirty="0" smtClean="0"/>
              <a:t>.</a:t>
            </a:r>
            <a:endParaRPr lang="en-US" sz="3200" dirty="0"/>
          </a:p>
          <a:p>
            <a:pPr lvl="1" algn="just"/>
            <a:r>
              <a:rPr lang="en-US" dirty="0"/>
              <a:t>for loop</a:t>
            </a:r>
          </a:p>
          <a:p>
            <a:pPr lvl="1" algn="just"/>
            <a:r>
              <a:rPr lang="en-US" dirty="0"/>
              <a:t>while loop</a:t>
            </a:r>
          </a:p>
          <a:p>
            <a:pPr lvl="1" algn="just"/>
            <a:r>
              <a:rPr lang="en-US" dirty="0"/>
              <a:t>do-while loop</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3</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8501" y="2039824"/>
            <a:ext cx="5605297" cy="4383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430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For Loop</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4</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128439"/>
          </a:xfrm>
        </p:spPr>
        <p:txBody>
          <a:bodyPr>
            <a:normAutofit/>
          </a:bodyPr>
          <a:lstStyle/>
          <a:p>
            <a:pPr algn="just"/>
            <a:r>
              <a:rPr lang="en-US" sz="3200" dirty="0"/>
              <a:t>The Java </a:t>
            </a:r>
            <a:r>
              <a:rPr lang="en-US" sz="3200" i="1" dirty="0"/>
              <a:t>for loop</a:t>
            </a:r>
            <a:r>
              <a:rPr lang="en-US" sz="3200" dirty="0"/>
              <a:t> is used to iterate a part of the program several times. If the number of iteration is fixed, it is recommended to use for loop.</a:t>
            </a:r>
          </a:p>
          <a:p>
            <a:pPr algn="just"/>
            <a:r>
              <a:rPr lang="en-US" sz="3200" dirty="0"/>
              <a:t>There are three types of for loops in java.</a:t>
            </a:r>
          </a:p>
          <a:p>
            <a:pPr lvl="1" algn="just"/>
            <a:r>
              <a:rPr lang="en-US" dirty="0"/>
              <a:t>Simple For Loop</a:t>
            </a:r>
          </a:p>
          <a:p>
            <a:pPr lvl="1" algn="just"/>
            <a:r>
              <a:rPr lang="en-US" dirty="0"/>
              <a:t>For-each or Enhanced For Loop</a:t>
            </a:r>
          </a:p>
          <a:p>
            <a:pPr lvl="1" algn="just"/>
            <a:r>
              <a:rPr lang="en-US" dirty="0"/>
              <a:t>Labeled For Loop</a:t>
            </a:r>
          </a:p>
        </p:txBody>
      </p:sp>
    </p:spTree>
    <p:extLst>
      <p:ext uri="{BB962C8B-B14F-4D97-AF65-F5344CB8AC3E}">
        <p14:creationId xmlns:p14="http://schemas.microsoft.com/office/powerpoint/2010/main" val="978948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For Loop</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5</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8450317" cy="5128439"/>
          </a:xfrm>
        </p:spPr>
        <p:txBody>
          <a:bodyPr>
            <a:normAutofit fontScale="92500" lnSpcReduction="10000"/>
          </a:bodyPr>
          <a:lstStyle/>
          <a:p>
            <a:pPr algn="just"/>
            <a:r>
              <a:rPr lang="en-US" sz="3200" dirty="0" smtClean="0"/>
              <a:t>A </a:t>
            </a:r>
            <a:r>
              <a:rPr lang="en-US" sz="3200" dirty="0"/>
              <a:t>simple for loop </a:t>
            </a:r>
            <a:r>
              <a:rPr lang="en-US" sz="3200" dirty="0" smtClean="0"/>
              <a:t>consists </a:t>
            </a:r>
            <a:r>
              <a:rPr lang="en-US" sz="3200" dirty="0"/>
              <a:t>of four parts</a:t>
            </a:r>
            <a:r>
              <a:rPr lang="en-US" sz="3200" dirty="0" smtClean="0"/>
              <a:t>:</a:t>
            </a:r>
            <a:endParaRPr lang="en-US" sz="3200" dirty="0"/>
          </a:p>
          <a:p>
            <a:pPr lvl="1" algn="just"/>
            <a:r>
              <a:rPr lang="en-US" dirty="0"/>
              <a:t>Initialization: It is the initial condition which is executed once when the loop starts. Here, we can initialize the variable, or we can use an already initialized variable. It is an optional condition.</a:t>
            </a:r>
          </a:p>
          <a:p>
            <a:pPr lvl="1" algn="just"/>
            <a:r>
              <a:rPr lang="en-US" dirty="0"/>
              <a:t>Condition: It is the second condition which is executed each time to test the condition of the loop. It continues execution until the condition is false. It must return </a:t>
            </a:r>
            <a:r>
              <a:rPr lang="en-US" dirty="0" err="1"/>
              <a:t>boolean</a:t>
            </a:r>
            <a:r>
              <a:rPr lang="en-US" dirty="0"/>
              <a:t> value either true or false. It is an optional condition.</a:t>
            </a:r>
          </a:p>
          <a:p>
            <a:pPr lvl="1" algn="just"/>
            <a:r>
              <a:rPr lang="en-US" dirty="0"/>
              <a:t>Statement: The statement of the loop is executed each time until the second condition is false.</a:t>
            </a:r>
          </a:p>
          <a:p>
            <a:pPr lvl="1" algn="just"/>
            <a:r>
              <a:rPr lang="en-US" dirty="0"/>
              <a:t>Increment/Decrement: It increments or decrements the variable value. It is an optional condition</a:t>
            </a:r>
            <a:r>
              <a:rPr lang="en-US" dirty="0" smtClean="0"/>
              <a:t>.</a:t>
            </a:r>
          </a:p>
          <a:p>
            <a:pPr algn="just"/>
            <a:r>
              <a:rPr lang="en-US" dirty="0" smtClean="0"/>
              <a:t>Syntax:</a:t>
            </a:r>
            <a:endParaRPr lang="en-US" dirty="0"/>
          </a:p>
          <a:p>
            <a:pPr marL="457200" lvl="1" indent="0" algn="just">
              <a:buNone/>
            </a:pPr>
            <a:r>
              <a:rPr lang="en-US" b="1" dirty="0" smtClean="0"/>
              <a:t>for(</a:t>
            </a:r>
            <a:r>
              <a:rPr lang="en-US" b="1" dirty="0" err="1" smtClean="0"/>
              <a:t>initialization;condition;incr</a:t>
            </a:r>
            <a:r>
              <a:rPr lang="en-US" b="1" dirty="0" smtClean="0"/>
              <a:t>/</a:t>
            </a:r>
            <a:r>
              <a:rPr lang="en-US" b="1" dirty="0" err="1" smtClean="0"/>
              <a:t>decr</a:t>
            </a:r>
            <a:r>
              <a:rPr lang="en-US" b="1" dirty="0"/>
              <a:t>){  </a:t>
            </a:r>
          </a:p>
          <a:p>
            <a:pPr marL="457200" lvl="1" indent="0" algn="just">
              <a:buNone/>
            </a:pPr>
            <a:r>
              <a:rPr lang="en-US" b="1" dirty="0" smtClean="0"/>
              <a:t>	//</a:t>
            </a:r>
            <a:r>
              <a:rPr lang="en-US" b="1" dirty="0"/>
              <a:t>statement or code to be executed  </a:t>
            </a:r>
          </a:p>
          <a:p>
            <a:pPr marL="457200" lvl="1" indent="0" algn="just">
              <a:buNone/>
            </a:pPr>
            <a:r>
              <a:rPr lang="en-US" b="1" dirty="0"/>
              <a:t>}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8517" y="1342285"/>
            <a:ext cx="2745828" cy="4665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5133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For Loop</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647418"/>
          </a:xfrm>
        </p:spPr>
        <p:txBody>
          <a:bodyPr>
            <a:normAutofit/>
          </a:bodyPr>
          <a:lstStyle/>
          <a:p>
            <a:pPr marL="0" indent="0">
              <a:lnSpc>
                <a:spcPct val="120000"/>
              </a:lnSpc>
              <a:spcBef>
                <a:spcPts val="0"/>
              </a:spcBef>
              <a:buNone/>
            </a:pPr>
            <a:r>
              <a:rPr lang="en-US" sz="3200" dirty="0"/>
              <a:t>public class </a:t>
            </a:r>
            <a:r>
              <a:rPr lang="en-US" sz="3200" dirty="0" err="1"/>
              <a:t>ForExample</a:t>
            </a:r>
            <a:r>
              <a:rPr lang="en-US" sz="3200" dirty="0"/>
              <a:t> {  </a:t>
            </a:r>
          </a:p>
          <a:p>
            <a:pPr marL="457200" lvl="1" indent="0">
              <a:lnSpc>
                <a:spcPct val="120000"/>
              </a:lnSpc>
              <a:spcBef>
                <a:spcPts val="0"/>
              </a:spcBef>
              <a:buNone/>
            </a:pPr>
            <a:r>
              <a:rPr lang="en-US" dirty="0"/>
              <a:t>public static void main(String[] </a:t>
            </a:r>
            <a:r>
              <a:rPr lang="en-US" dirty="0" err="1"/>
              <a:t>args</a:t>
            </a:r>
            <a:r>
              <a:rPr lang="en-US" dirty="0"/>
              <a:t>) {  </a:t>
            </a:r>
          </a:p>
          <a:p>
            <a:pPr marL="457200" lvl="1" indent="0">
              <a:lnSpc>
                <a:spcPct val="120000"/>
              </a:lnSpc>
              <a:spcBef>
                <a:spcPts val="0"/>
              </a:spcBef>
              <a:buNone/>
            </a:pPr>
            <a:r>
              <a:rPr lang="en-US" dirty="0" smtClean="0"/>
              <a:t>	for(</a:t>
            </a:r>
            <a:r>
              <a:rPr lang="en-US" dirty="0" err="1" smtClean="0"/>
              <a:t>int</a:t>
            </a:r>
            <a:r>
              <a:rPr lang="en-US" dirty="0" smtClean="0"/>
              <a:t> </a:t>
            </a:r>
            <a:r>
              <a:rPr lang="en-US" dirty="0"/>
              <a:t>i=</a:t>
            </a:r>
            <a:r>
              <a:rPr lang="en-US" dirty="0" err="1"/>
              <a:t>1;i</a:t>
            </a:r>
            <a:r>
              <a:rPr lang="en-US" dirty="0"/>
              <a:t>&lt;=</a:t>
            </a:r>
            <a:r>
              <a:rPr lang="en-US" dirty="0" err="1"/>
              <a:t>10;i</a:t>
            </a:r>
            <a:r>
              <a:rPr lang="en-US" dirty="0"/>
              <a:t>++){  </a:t>
            </a:r>
          </a:p>
          <a:p>
            <a:pPr marL="457200" lvl="1" indent="0">
              <a:lnSpc>
                <a:spcPct val="120000"/>
              </a:lnSpc>
              <a:spcBef>
                <a:spcPts val="0"/>
              </a:spcBef>
              <a:buNone/>
            </a:pPr>
            <a:r>
              <a:rPr lang="en-US" dirty="0"/>
              <a:t>       </a:t>
            </a:r>
            <a:r>
              <a:rPr lang="en-US" dirty="0" smtClean="0"/>
              <a:t>	</a:t>
            </a:r>
            <a:r>
              <a:rPr lang="en-US" dirty="0" err="1" smtClean="0"/>
              <a:t>System.out.println</a:t>
            </a:r>
            <a:r>
              <a:rPr lang="en-US" dirty="0" smtClean="0"/>
              <a:t>(i</a:t>
            </a:r>
            <a:r>
              <a:rPr lang="en-US" dirty="0"/>
              <a:t>);  </a:t>
            </a:r>
          </a:p>
          <a:p>
            <a:pPr marL="457200" lvl="1" indent="0">
              <a:lnSpc>
                <a:spcPct val="120000"/>
              </a:lnSpc>
              <a:spcBef>
                <a:spcPts val="0"/>
              </a:spcBef>
              <a:buNone/>
            </a:pPr>
            <a:r>
              <a:rPr lang="en-US" dirty="0"/>
              <a:t>    </a:t>
            </a:r>
            <a:r>
              <a:rPr lang="en-US" dirty="0" smtClean="0"/>
              <a:t>	}  </a:t>
            </a:r>
            <a:endParaRPr lang="en-US" dirty="0"/>
          </a:p>
          <a:p>
            <a:pPr marL="457200" lvl="1" indent="0">
              <a:lnSpc>
                <a:spcPct val="120000"/>
              </a:lnSpc>
              <a:spcBef>
                <a:spcPts val="0"/>
              </a:spcBef>
              <a:buNone/>
            </a:pPr>
            <a:r>
              <a:rPr lang="en-US" dirty="0"/>
              <a:t>}  </a:t>
            </a:r>
          </a:p>
          <a:p>
            <a:pPr marL="0" indent="0">
              <a:lnSpc>
                <a:spcPct val="120000"/>
              </a:lnSpc>
              <a:spcBef>
                <a:spcPts val="0"/>
              </a:spcBef>
              <a:buNone/>
            </a:pPr>
            <a:r>
              <a:rPr lang="en-US" sz="3200" dirty="0"/>
              <a:t>} </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6</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6471746" y="2270287"/>
            <a:ext cx="2041634" cy="3578719"/>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smtClean="0"/>
              <a:t>Output:</a:t>
            </a:r>
          </a:p>
          <a:p>
            <a:pPr marL="0" indent="0">
              <a:buNone/>
            </a:pPr>
            <a:r>
              <a:rPr lang="en-US" sz="3200" dirty="0" smtClean="0"/>
              <a:t>1</a:t>
            </a:r>
          </a:p>
          <a:p>
            <a:pPr marL="0" indent="0">
              <a:buNone/>
            </a:pPr>
            <a:r>
              <a:rPr lang="en-US" sz="3200" dirty="0" smtClean="0"/>
              <a:t>2</a:t>
            </a:r>
          </a:p>
          <a:p>
            <a:pPr marL="0" indent="0">
              <a:buNone/>
            </a:pPr>
            <a:r>
              <a:rPr lang="en-US" sz="3200" dirty="0" smtClean="0"/>
              <a:t>3</a:t>
            </a:r>
          </a:p>
          <a:p>
            <a:pPr marL="0" indent="0">
              <a:buNone/>
            </a:pPr>
            <a:r>
              <a:rPr lang="en-US" sz="3200" dirty="0" smtClean="0"/>
              <a:t>4</a:t>
            </a:r>
          </a:p>
          <a:p>
            <a:pPr marL="0" indent="0">
              <a:buNone/>
            </a:pPr>
            <a:r>
              <a:rPr lang="en-US" sz="3200" dirty="0" smtClean="0"/>
              <a:t>5</a:t>
            </a:r>
          </a:p>
          <a:p>
            <a:pPr marL="0" indent="0">
              <a:buNone/>
            </a:pPr>
            <a:r>
              <a:rPr lang="en-US" sz="3200" dirty="0" smtClean="0"/>
              <a:t>6</a:t>
            </a:r>
          </a:p>
          <a:p>
            <a:pPr marL="0" indent="0">
              <a:buNone/>
            </a:pPr>
            <a:r>
              <a:rPr lang="en-US" sz="3200" dirty="0" smtClean="0"/>
              <a:t>7</a:t>
            </a:r>
          </a:p>
          <a:p>
            <a:pPr marL="0" indent="0">
              <a:buNone/>
            </a:pPr>
            <a:r>
              <a:rPr lang="en-US" sz="3200" dirty="0" smtClean="0"/>
              <a:t>8</a:t>
            </a:r>
          </a:p>
          <a:p>
            <a:pPr marL="0" indent="0">
              <a:buNone/>
            </a:pPr>
            <a:r>
              <a:rPr lang="en-US" sz="3200" dirty="0" smtClean="0"/>
              <a:t>9</a:t>
            </a:r>
          </a:p>
          <a:p>
            <a:pPr marL="0" indent="0">
              <a:buNone/>
            </a:pPr>
            <a:r>
              <a:rPr lang="en-US" sz="3200" dirty="0" smtClean="0"/>
              <a:t>10</a:t>
            </a:r>
          </a:p>
        </p:txBody>
      </p:sp>
    </p:spTree>
    <p:extLst>
      <p:ext uri="{BB962C8B-B14F-4D97-AF65-F5344CB8AC3E}">
        <p14:creationId xmlns:p14="http://schemas.microsoft.com/office/powerpoint/2010/main" val="606996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Nested For Loop</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647418"/>
          </a:xfrm>
        </p:spPr>
        <p:txBody>
          <a:bodyPr>
            <a:normAutofit fontScale="92500" lnSpcReduction="10000"/>
          </a:bodyPr>
          <a:lstStyle/>
          <a:p>
            <a:pPr algn="just">
              <a:lnSpc>
                <a:spcPct val="120000"/>
              </a:lnSpc>
              <a:spcBef>
                <a:spcPts val="0"/>
              </a:spcBef>
            </a:pPr>
            <a:r>
              <a:rPr lang="en-US" sz="3200" dirty="0" smtClean="0"/>
              <a:t>If </a:t>
            </a:r>
            <a:r>
              <a:rPr lang="en-US" sz="3200" dirty="0"/>
              <a:t>we have a for loop inside the another loop, it is known as nested for loop. The inner loop executes completely whenever outer loop executes.</a:t>
            </a:r>
          </a:p>
          <a:p>
            <a:pPr algn="just"/>
            <a:r>
              <a:rPr lang="en-US" sz="3200" dirty="0"/>
              <a:t>Example:</a:t>
            </a:r>
          </a:p>
          <a:p>
            <a:pPr marL="457200" lvl="1" indent="0" algn="just">
              <a:buNone/>
            </a:pPr>
            <a:r>
              <a:rPr lang="en-US" dirty="0"/>
              <a:t>public class </a:t>
            </a:r>
            <a:r>
              <a:rPr lang="en-US" dirty="0" err="1"/>
              <a:t>NestedForExample</a:t>
            </a:r>
            <a:r>
              <a:rPr lang="en-US" dirty="0"/>
              <a:t> {  </a:t>
            </a:r>
          </a:p>
          <a:p>
            <a:pPr marL="914400" lvl="2" indent="0" algn="just">
              <a:buNone/>
            </a:pPr>
            <a:r>
              <a:rPr lang="en-US" dirty="0"/>
              <a:t>public static void main(String[] </a:t>
            </a:r>
            <a:r>
              <a:rPr lang="en-US" dirty="0" err="1"/>
              <a:t>args</a:t>
            </a:r>
            <a:r>
              <a:rPr lang="en-US" dirty="0"/>
              <a:t>) {  </a:t>
            </a:r>
          </a:p>
          <a:p>
            <a:pPr marL="1371600" lvl="3" indent="0" algn="just">
              <a:buNone/>
            </a:pPr>
            <a:r>
              <a:rPr lang="en-US" dirty="0"/>
              <a:t>//loop of i  </a:t>
            </a:r>
          </a:p>
          <a:p>
            <a:pPr marL="1371600" lvl="3" indent="0" algn="just">
              <a:buNone/>
            </a:pPr>
            <a:r>
              <a:rPr lang="en-US" dirty="0"/>
              <a:t>for(</a:t>
            </a:r>
            <a:r>
              <a:rPr lang="en-US" dirty="0" err="1"/>
              <a:t>int</a:t>
            </a:r>
            <a:r>
              <a:rPr lang="en-US" dirty="0"/>
              <a:t> i=</a:t>
            </a:r>
            <a:r>
              <a:rPr lang="en-US" dirty="0" err="1"/>
              <a:t>1;i</a:t>
            </a:r>
            <a:r>
              <a:rPr lang="en-US" dirty="0" smtClean="0"/>
              <a:t>&lt;=</a:t>
            </a:r>
            <a:r>
              <a:rPr lang="en-US" dirty="0" err="1"/>
              <a:t>2</a:t>
            </a:r>
            <a:r>
              <a:rPr lang="en-US" dirty="0" err="1" smtClean="0"/>
              <a:t>;i</a:t>
            </a:r>
            <a:r>
              <a:rPr lang="en-US" dirty="0"/>
              <a:t>++){  </a:t>
            </a:r>
          </a:p>
          <a:p>
            <a:pPr marL="1371600" lvl="3" indent="0" algn="just">
              <a:buNone/>
            </a:pPr>
            <a:r>
              <a:rPr lang="en-US" dirty="0" smtClean="0"/>
              <a:t>	//</a:t>
            </a:r>
            <a:r>
              <a:rPr lang="en-US" dirty="0"/>
              <a:t>loop of j  </a:t>
            </a:r>
          </a:p>
          <a:p>
            <a:pPr marL="1828800" lvl="4" indent="0" algn="just">
              <a:buNone/>
            </a:pPr>
            <a:r>
              <a:rPr lang="en-US" dirty="0"/>
              <a:t>for(</a:t>
            </a:r>
            <a:r>
              <a:rPr lang="en-US" dirty="0" err="1"/>
              <a:t>int</a:t>
            </a:r>
            <a:r>
              <a:rPr lang="en-US" dirty="0"/>
              <a:t> j=</a:t>
            </a:r>
            <a:r>
              <a:rPr lang="en-US" dirty="0" err="1"/>
              <a:t>1;j</a:t>
            </a:r>
            <a:r>
              <a:rPr lang="en-US" dirty="0" smtClean="0"/>
              <a:t>&lt;=</a:t>
            </a:r>
            <a:r>
              <a:rPr lang="en-US" dirty="0" err="1"/>
              <a:t>2</a:t>
            </a:r>
            <a:r>
              <a:rPr lang="en-US" dirty="0" err="1" smtClean="0"/>
              <a:t>;j</a:t>
            </a:r>
            <a:r>
              <a:rPr lang="en-US" dirty="0"/>
              <a:t>++){  </a:t>
            </a:r>
          </a:p>
          <a:p>
            <a:pPr marL="1828800" lvl="4" indent="0" algn="just">
              <a:buNone/>
            </a:pPr>
            <a:r>
              <a:rPr lang="en-US" dirty="0"/>
              <a:t>        </a:t>
            </a:r>
            <a:r>
              <a:rPr lang="en-US" dirty="0" err="1"/>
              <a:t>System.out.println</a:t>
            </a:r>
            <a:r>
              <a:rPr lang="en-US" dirty="0"/>
              <a:t>(i+" "+j);  </a:t>
            </a:r>
          </a:p>
          <a:p>
            <a:pPr marL="1828800" lvl="4" indent="0" algn="just">
              <a:buNone/>
            </a:pPr>
            <a:r>
              <a:rPr lang="en-US" dirty="0"/>
              <a:t>}//end of i  </a:t>
            </a:r>
          </a:p>
          <a:p>
            <a:pPr marL="1371600" lvl="3" indent="0" algn="just">
              <a:buNone/>
            </a:pPr>
            <a:r>
              <a:rPr lang="en-US" dirty="0"/>
              <a:t>}//end of j  </a:t>
            </a:r>
          </a:p>
          <a:p>
            <a:pPr marL="914400" lvl="2" indent="0" algn="just">
              <a:buNone/>
            </a:pPr>
            <a:r>
              <a:rPr lang="en-US" dirty="0"/>
              <a:t>}  </a:t>
            </a:r>
          </a:p>
          <a:p>
            <a:pPr marL="457200" lvl="1" indent="0" algn="just">
              <a:buNone/>
            </a:pPr>
            <a:r>
              <a:rPr lang="en-US" dirty="0"/>
              <a:t>}  </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7</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6471745" y="3452702"/>
            <a:ext cx="1820917" cy="2301712"/>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smtClean="0"/>
              <a:t>Output:</a:t>
            </a:r>
          </a:p>
          <a:p>
            <a:pPr marL="0" indent="0">
              <a:buNone/>
            </a:pPr>
            <a:r>
              <a:rPr lang="en-US" sz="3200" dirty="0" smtClean="0"/>
              <a:t>1 1</a:t>
            </a:r>
          </a:p>
          <a:p>
            <a:pPr marL="0" indent="0">
              <a:buNone/>
            </a:pPr>
            <a:r>
              <a:rPr lang="en-US" sz="3200" dirty="0" smtClean="0"/>
              <a:t>1 2 </a:t>
            </a:r>
          </a:p>
          <a:p>
            <a:pPr marL="0" indent="0">
              <a:buNone/>
            </a:pPr>
            <a:r>
              <a:rPr lang="en-US" sz="3200" dirty="0" smtClean="0"/>
              <a:t>2 1 </a:t>
            </a:r>
          </a:p>
          <a:p>
            <a:pPr marL="0" indent="0">
              <a:buNone/>
            </a:pPr>
            <a:r>
              <a:rPr lang="en-US" sz="3200" dirty="0" smtClean="0"/>
              <a:t>2 </a:t>
            </a:r>
            <a:r>
              <a:rPr lang="en-US" sz="3200" smtClean="0"/>
              <a:t>2 </a:t>
            </a:r>
            <a:endParaRPr lang="en-US" sz="3200" dirty="0" smtClean="0"/>
          </a:p>
        </p:txBody>
      </p:sp>
    </p:spTree>
    <p:extLst>
      <p:ext uri="{BB962C8B-B14F-4D97-AF65-F5344CB8AC3E}">
        <p14:creationId xmlns:p14="http://schemas.microsoft.com/office/powerpoint/2010/main" val="355196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for-each Loop</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647418"/>
          </a:xfrm>
        </p:spPr>
        <p:txBody>
          <a:bodyPr>
            <a:normAutofit/>
          </a:bodyPr>
          <a:lstStyle/>
          <a:p>
            <a:pPr algn="just">
              <a:lnSpc>
                <a:spcPct val="120000"/>
              </a:lnSpc>
              <a:spcBef>
                <a:spcPts val="0"/>
              </a:spcBef>
            </a:pPr>
            <a:r>
              <a:rPr lang="en-US" sz="3200" dirty="0"/>
              <a:t>The for-each loop is used to traverse array or collection in java. It is easier to use than simple for loop because we don't need to increment value and use subscript notation</a:t>
            </a:r>
            <a:r>
              <a:rPr lang="en-US" sz="3200" dirty="0" smtClean="0"/>
              <a:t>.</a:t>
            </a:r>
            <a:endParaRPr lang="en-US" sz="3200" dirty="0"/>
          </a:p>
          <a:p>
            <a:pPr algn="just">
              <a:lnSpc>
                <a:spcPct val="120000"/>
              </a:lnSpc>
              <a:spcBef>
                <a:spcPts val="0"/>
              </a:spcBef>
            </a:pPr>
            <a:r>
              <a:rPr lang="en-US" sz="3200" dirty="0"/>
              <a:t>It works on elements basis not index. It returns element one by one in the defined variable</a:t>
            </a:r>
            <a:r>
              <a:rPr lang="en-US" sz="3200" dirty="0" smtClean="0"/>
              <a:t>.</a:t>
            </a:r>
            <a:endParaRPr lang="en-US" sz="3200" dirty="0"/>
          </a:p>
          <a:p>
            <a:pPr algn="just">
              <a:lnSpc>
                <a:spcPct val="120000"/>
              </a:lnSpc>
              <a:spcBef>
                <a:spcPts val="0"/>
              </a:spcBef>
            </a:pPr>
            <a:r>
              <a:rPr lang="en-US" sz="3200" dirty="0"/>
              <a:t>Syntax</a:t>
            </a:r>
            <a:r>
              <a:rPr lang="en-US" sz="3200" dirty="0" smtClean="0"/>
              <a:t>:</a:t>
            </a:r>
            <a:endParaRPr lang="en-US" sz="3200" dirty="0"/>
          </a:p>
          <a:p>
            <a:pPr marL="457200" lvl="1" indent="0" algn="just">
              <a:lnSpc>
                <a:spcPct val="120000"/>
              </a:lnSpc>
              <a:spcBef>
                <a:spcPts val="0"/>
              </a:spcBef>
              <a:buNone/>
            </a:pPr>
            <a:r>
              <a:rPr lang="en-US" b="1" dirty="0"/>
              <a:t>for(Type </a:t>
            </a:r>
            <a:r>
              <a:rPr lang="en-US" b="1" dirty="0" err="1"/>
              <a:t>var:array</a:t>
            </a:r>
            <a:r>
              <a:rPr lang="en-US" b="1" dirty="0"/>
              <a:t>){  </a:t>
            </a:r>
          </a:p>
          <a:p>
            <a:pPr marL="457200" lvl="1" indent="0" algn="just">
              <a:lnSpc>
                <a:spcPct val="120000"/>
              </a:lnSpc>
              <a:spcBef>
                <a:spcPts val="0"/>
              </a:spcBef>
              <a:buNone/>
            </a:pPr>
            <a:r>
              <a:rPr lang="en-US" b="1" dirty="0" smtClean="0"/>
              <a:t>	//</a:t>
            </a:r>
            <a:r>
              <a:rPr lang="en-US" b="1" dirty="0"/>
              <a:t>code to be executed  </a:t>
            </a:r>
          </a:p>
          <a:p>
            <a:pPr marL="457200" lvl="1" indent="0" algn="just">
              <a:lnSpc>
                <a:spcPct val="120000"/>
              </a:lnSpc>
              <a:spcBef>
                <a:spcPts val="0"/>
              </a:spcBef>
              <a:buNone/>
            </a:pPr>
            <a:r>
              <a:rPr lang="en-US" b="1" dirty="0"/>
              <a:t>} </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8</a:t>
            </a:fld>
            <a:endParaRPr lang="en-US" dirty="0"/>
          </a:p>
        </p:txBody>
      </p:sp>
    </p:spTree>
    <p:extLst>
      <p:ext uri="{BB962C8B-B14F-4D97-AF65-F5344CB8AC3E}">
        <p14:creationId xmlns:p14="http://schemas.microsoft.com/office/powerpoint/2010/main" val="2508100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for-each Loop</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647418"/>
          </a:xfrm>
        </p:spPr>
        <p:txBody>
          <a:bodyPr>
            <a:normAutofit/>
          </a:bodyPr>
          <a:lstStyle/>
          <a:p>
            <a:pPr marL="0" indent="0" algn="just">
              <a:buNone/>
            </a:pPr>
            <a:r>
              <a:rPr lang="en-US" sz="3200" b="1" dirty="0"/>
              <a:t>public</a:t>
            </a:r>
            <a:r>
              <a:rPr lang="en-US" sz="3200" dirty="0"/>
              <a:t> </a:t>
            </a:r>
            <a:r>
              <a:rPr lang="en-US" sz="3200" b="1" dirty="0"/>
              <a:t>class</a:t>
            </a:r>
            <a:r>
              <a:rPr lang="en-US" sz="3200" dirty="0"/>
              <a:t> </a:t>
            </a:r>
            <a:r>
              <a:rPr lang="en-US" sz="3200" dirty="0" err="1"/>
              <a:t>ForEachExample</a:t>
            </a:r>
            <a:r>
              <a:rPr lang="en-US" sz="3200" dirty="0"/>
              <a:t> {  </a:t>
            </a:r>
          </a:p>
          <a:p>
            <a:pPr marL="457200" lvl="1" indent="0" algn="just">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marL="457200" lvl="1" indent="0" algn="just">
              <a:buNone/>
            </a:pPr>
            <a:r>
              <a:rPr lang="en-US" dirty="0"/>
              <a:t>    //Declaring an array  </a:t>
            </a:r>
          </a:p>
          <a:p>
            <a:pPr marL="457200" lvl="1" indent="0" algn="just">
              <a:buNone/>
            </a:pPr>
            <a:r>
              <a:rPr lang="en-US" dirty="0"/>
              <a:t>    </a:t>
            </a:r>
            <a:r>
              <a:rPr lang="en-US" b="1" dirty="0" err="1"/>
              <a:t>int</a:t>
            </a:r>
            <a:r>
              <a:rPr lang="en-US" dirty="0"/>
              <a:t> </a:t>
            </a:r>
            <a:r>
              <a:rPr lang="en-US" dirty="0" err="1"/>
              <a:t>arr</a:t>
            </a:r>
            <a:r>
              <a:rPr lang="en-US" dirty="0"/>
              <a:t>[]={12,23,44,56,78};  </a:t>
            </a:r>
          </a:p>
          <a:p>
            <a:pPr marL="457200" lvl="1" indent="0" algn="just">
              <a:buNone/>
            </a:pPr>
            <a:r>
              <a:rPr lang="en-US" dirty="0"/>
              <a:t>    //Printing array using for-each loop  </a:t>
            </a:r>
          </a:p>
          <a:p>
            <a:pPr marL="457200" lvl="1" indent="0" algn="just">
              <a:buNone/>
            </a:pPr>
            <a:r>
              <a:rPr lang="en-US" dirty="0"/>
              <a:t>    </a:t>
            </a:r>
            <a:r>
              <a:rPr lang="en-US" b="1" dirty="0"/>
              <a:t>for</a:t>
            </a:r>
            <a:r>
              <a:rPr lang="en-US" dirty="0"/>
              <a:t>(</a:t>
            </a:r>
            <a:r>
              <a:rPr lang="en-US" b="1" dirty="0" err="1"/>
              <a:t>int</a:t>
            </a:r>
            <a:r>
              <a:rPr lang="en-US" dirty="0"/>
              <a:t> </a:t>
            </a:r>
            <a:r>
              <a:rPr lang="en-US" dirty="0" err="1"/>
              <a:t>i:arr</a:t>
            </a:r>
            <a:r>
              <a:rPr lang="en-US" dirty="0"/>
              <a:t>){  </a:t>
            </a:r>
          </a:p>
          <a:p>
            <a:pPr marL="457200" lvl="1" indent="0" algn="just">
              <a:buNone/>
            </a:pPr>
            <a:r>
              <a:rPr lang="en-US" dirty="0"/>
              <a:t>        </a:t>
            </a:r>
            <a:r>
              <a:rPr lang="en-US" dirty="0" err="1"/>
              <a:t>System.out.println</a:t>
            </a:r>
            <a:r>
              <a:rPr lang="en-US" dirty="0"/>
              <a:t>(i);  </a:t>
            </a:r>
          </a:p>
          <a:p>
            <a:pPr marL="457200" lvl="1" indent="0" algn="just">
              <a:buNone/>
            </a:pPr>
            <a:r>
              <a:rPr lang="en-US" dirty="0"/>
              <a:t>    }  </a:t>
            </a:r>
          </a:p>
          <a:p>
            <a:pPr marL="457200" lvl="1" indent="0" algn="just">
              <a:buNone/>
            </a:pPr>
            <a:r>
              <a:rPr lang="en-US" dirty="0"/>
              <a:t>}  </a:t>
            </a:r>
          </a:p>
          <a:p>
            <a:pPr marL="0" indent="0" algn="just">
              <a:buNone/>
            </a:pPr>
            <a:r>
              <a:rPr lang="en-US" sz="3200" dirty="0"/>
              <a:t>}  </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9</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6709979" y="2128345"/>
            <a:ext cx="1488090" cy="2837792"/>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smtClean="0"/>
              <a:t>Output</a:t>
            </a:r>
            <a:r>
              <a:rPr lang="en-US" sz="3200" dirty="0" smtClean="0"/>
              <a:t>:</a:t>
            </a:r>
          </a:p>
          <a:p>
            <a:pPr marL="0" indent="0">
              <a:buNone/>
            </a:pPr>
            <a:r>
              <a:rPr lang="en-US" sz="1800" dirty="0" smtClean="0"/>
              <a:t>12</a:t>
            </a:r>
          </a:p>
          <a:p>
            <a:pPr marL="0" indent="0">
              <a:buNone/>
            </a:pPr>
            <a:r>
              <a:rPr lang="en-US" sz="1800" dirty="0" smtClean="0"/>
              <a:t>23</a:t>
            </a:r>
          </a:p>
          <a:p>
            <a:pPr marL="0" indent="0">
              <a:buNone/>
            </a:pPr>
            <a:r>
              <a:rPr lang="en-US" sz="1800" dirty="0" smtClean="0"/>
              <a:t>44</a:t>
            </a:r>
          </a:p>
          <a:p>
            <a:pPr marL="0" indent="0">
              <a:buNone/>
            </a:pPr>
            <a:r>
              <a:rPr lang="en-US" sz="1800" dirty="0" smtClean="0"/>
              <a:t>56 </a:t>
            </a:r>
          </a:p>
          <a:p>
            <a:pPr marL="0" indent="0">
              <a:buNone/>
            </a:pPr>
            <a:r>
              <a:rPr lang="en-US" sz="1800" dirty="0" smtClean="0"/>
              <a:t>78</a:t>
            </a:r>
            <a:endParaRPr lang="en-US" sz="3200" dirty="0" smtClean="0"/>
          </a:p>
        </p:txBody>
      </p:sp>
    </p:spTree>
    <p:extLst>
      <p:ext uri="{BB962C8B-B14F-4D97-AF65-F5344CB8AC3E}">
        <p14:creationId xmlns:p14="http://schemas.microsoft.com/office/powerpoint/2010/main" val="1223626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While Loop</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10</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128439"/>
          </a:xfrm>
        </p:spPr>
        <p:txBody>
          <a:bodyPr>
            <a:normAutofit/>
          </a:bodyPr>
          <a:lstStyle/>
          <a:p>
            <a:pPr algn="just"/>
            <a:r>
              <a:rPr lang="en-US" sz="3200" dirty="0"/>
              <a:t>The Java while loop is used to iterate a part of the program several times. If the number of iteration is not fixed, it is recommended to use while loop</a:t>
            </a:r>
            <a:r>
              <a:rPr lang="en-US" sz="3200" dirty="0" smtClean="0"/>
              <a:t>.</a:t>
            </a:r>
            <a:endParaRPr lang="en-US" sz="3200" dirty="0"/>
          </a:p>
          <a:p>
            <a:pPr algn="just"/>
            <a:r>
              <a:rPr lang="en-US" sz="3200" dirty="0"/>
              <a:t>Syntax</a:t>
            </a:r>
            <a:r>
              <a:rPr lang="en-US" sz="3200" dirty="0" smtClean="0"/>
              <a:t>:</a:t>
            </a:r>
            <a:endParaRPr lang="en-US" sz="3200" dirty="0"/>
          </a:p>
          <a:p>
            <a:pPr marL="457200" lvl="1" indent="0" algn="just">
              <a:buNone/>
            </a:pPr>
            <a:r>
              <a:rPr lang="en-US" b="1" dirty="0"/>
              <a:t>while(condition){  </a:t>
            </a:r>
          </a:p>
          <a:p>
            <a:pPr marL="457200" lvl="1" indent="0" algn="just">
              <a:buNone/>
            </a:pPr>
            <a:r>
              <a:rPr lang="en-US" b="1" dirty="0" smtClean="0"/>
              <a:t>	//</a:t>
            </a:r>
            <a:r>
              <a:rPr lang="en-US" b="1" dirty="0"/>
              <a:t>code to be executed  </a:t>
            </a:r>
          </a:p>
          <a:p>
            <a:pPr marL="457200" lvl="1" indent="0" algn="just">
              <a:buNone/>
            </a:pPr>
            <a:r>
              <a:rPr lang="en-US" b="1" dirty="0"/>
              <a:t>}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2337" y="2050727"/>
            <a:ext cx="3731993" cy="4230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8165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While Loop</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11</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128439"/>
          </a:xfrm>
        </p:spPr>
        <p:txBody>
          <a:bodyPr>
            <a:normAutofit/>
          </a:bodyPr>
          <a:lstStyle/>
          <a:p>
            <a:pPr marL="0" indent="0">
              <a:buNone/>
            </a:pPr>
            <a:r>
              <a:rPr lang="en-US" sz="3200" dirty="0"/>
              <a:t>public class </a:t>
            </a:r>
            <a:r>
              <a:rPr lang="en-US" sz="3200" dirty="0" err="1"/>
              <a:t>WhileExample</a:t>
            </a:r>
            <a:r>
              <a:rPr lang="en-US" sz="3200" dirty="0"/>
              <a:t> {  </a:t>
            </a:r>
          </a:p>
          <a:p>
            <a:pPr marL="457200" lvl="1" indent="0">
              <a:buNone/>
            </a:pPr>
            <a:r>
              <a:rPr lang="en-US" dirty="0"/>
              <a:t>public static void main(String[] </a:t>
            </a:r>
            <a:r>
              <a:rPr lang="en-US" dirty="0" err="1"/>
              <a:t>args</a:t>
            </a:r>
            <a:r>
              <a:rPr lang="en-US" dirty="0"/>
              <a:t>) {  </a:t>
            </a:r>
          </a:p>
          <a:p>
            <a:pPr marL="457200" lvl="1" indent="0">
              <a:buNone/>
            </a:pPr>
            <a:r>
              <a:rPr lang="en-US" dirty="0"/>
              <a:t>    </a:t>
            </a:r>
            <a:r>
              <a:rPr lang="en-US" dirty="0" err="1"/>
              <a:t>int</a:t>
            </a:r>
            <a:r>
              <a:rPr lang="en-US" dirty="0"/>
              <a:t> i=1;  </a:t>
            </a:r>
          </a:p>
          <a:p>
            <a:pPr marL="457200" lvl="1" indent="0">
              <a:buNone/>
            </a:pPr>
            <a:r>
              <a:rPr lang="en-US" dirty="0"/>
              <a:t>    while(i&lt;=10){  </a:t>
            </a:r>
          </a:p>
          <a:p>
            <a:pPr marL="457200" lvl="1" indent="0">
              <a:buNone/>
            </a:pPr>
            <a:r>
              <a:rPr lang="en-US" dirty="0"/>
              <a:t>        </a:t>
            </a:r>
            <a:r>
              <a:rPr lang="en-US" dirty="0" smtClean="0"/>
              <a:t>	</a:t>
            </a:r>
            <a:r>
              <a:rPr lang="en-US" dirty="0" err="1" smtClean="0"/>
              <a:t>System.out.println</a:t>
            </a:r>
            <a:r>
              <a:rPr lang="en-US" dirty="0" smtClean="0"/>
              <a:t>(i</a:t>
            </a:r>
            <a:r>
              <a:rPr lang="en-US" dirty="0"/>
              <a:t>);  </a:t>
            </a:r>
          </a:p>
          <a:p>
            <a:pPr marL="457200" lvl="1" indent="0">
              <a:buNone/>
            </a:pPr>
            <a:r>
              <a:rPr lang="en-US" dirty="0"/>
              <a:t>    </a:t>
            </a:r>
            <a:r>
              <a:rPr lang="en-US" dirty="0" smtClean="0"/>
              <a:t>	i</a:t>
            </a:r>
            <a:r>
              <a:rPr lang="en-US" dirty="0"/>
              <a:t>++;  </a:t>
            </a:r>
          </a:p>
          <a:p>
            <a:pPr marL="457200" lvl="1" indent="0">
              <a:buNone/>
            </a:pPr>
            <a:r>
              <a:rPr lang="en-US" dirty="0"/>
              <a:t>    }  </a:t>
            </a:r>
          </a:p>
          <a:p>
            <a:pPr marL="457200" lvl="1" indent="0">
              <a:buNone/>
            </a:pPr>
            <a:r>
              <a:rPr lang="en-US" dirty="0"/>
              <a:t>}  </a:t>
            </a:r>
          </a:p>
          <a:p>
            <a:pPr marL="0" indent="0">
              <a:buNone/>
            </a:pPr>
            <a:r>
              <a:rPr lang="en-US" sz="3200" dirty="0"/>
              <a:t>}  </a:t>
            </a:r>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6471746" y="1686959"/>
            <a:ext cx="1572610" cy="3578719"/>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smtClean="0"/>
              <a:t>Output:</a:t>
            </a:r>
          </a:p>
          <a:p>
            <a:pPr marL="0" indent="0">
              <a:buNone/>
            </a:pPr>
            <a:r>
              <a:rPr lang="en-US" sz="3200" dirty="0" smtClean="0"/>
              <a:t>1</a:t>
            </a:r>
          </a:p>
          <a:p>
            <a:pPr marL="0" indent="0">
              <a:buNone/>
            </a:pPr>
            <a:r>
              <a:rPr lang="en-US" sz="3200" dirty="0" smtClean="0"/>
              <a:t>2</a:t>
            </a:r>
          </a:p>
          <a:p>
            <a:pPr marL="0" indent="0">
              <a:buNone/>
            </a:pPr>
            <a:r>
              <a:rPr lang="en-US" sz="3200" dirty="0" smtClean="0"/>
              <a:t>3</a:t>
            </a:r>
          </a:p>
          <a:p>
            <a:pPr marL="0" indent="0">
              <a:buNone/>
            </a:pPr>
            <a:r>
              <a:rPr lang="en-US" sz="3200" dirty="0" smtClean="0"/>
              <a:t>4</a:t>
            </a:r>
          </a:p>
          <a:p>
            <a:pPr marL="0" indent="0">
              <a:buNone/>
            </a:pPr>
            <a:r>
              <a:rPr lang="en-US" sz="3200" dirty="0" smtClean="0"/>
              <a:t>5</a:t>
            </a:r>
          </a:p>
          <a:p>
            <a:pPr marL="0" indent="0">
              <a:buNone/>
            </a:pPr>
            <a:r>
              <a:rPr lang="en-US" sz="3200" dirty="0" smtClean="0"/>
              <a:t>6</a:t>
            </a:r>
          </a:p>
          <a:p>
            <a:pPr marL="0" indent="0">
              <a:buNone/>
            </a:pPr>
            <a:r>
              <a:rPr lang="en-US" sz="3200" dirty="0" smtClean="0"/>
              <a:t>7</a:t>
            </a:r>
          </a:p>
          <a:p>
            <a:pPr marL="0" indent="0">
              <a:buNone/>
            </a:pPr>
            <a:r>
              <a:rPr lang="en-US" sz="3200" dirty="0" smtClean="0"/>
              <a:t>8</a:t>
            </a:r>
          </a:p>
          <a:p>
            <a:pPr marL="0" indent="0">
              <a:buNone/>
            </a:pPr>
            <a:r>
              <a:rPr lang="en-US" sz="3200" dirty="0" smtClean="0"/>
              <a:t>9</a:t>
            </a:r>
          </a:p>
          <a:p>
            <a:pPr marL="0" indent="0">
              <a:buNone/>
            </a:pPr>
            <a:r>
              <a:rPr lang="en-US" sz="3200" dirty="0" smtClean="0"/>
              <a:t>10</a:t>
            </a:r>
          </a:p>
        </p:txBody>
      </p:sp>
    </p:spTree>
    <p:extLst>
      <p:ext uri="{BB962C8B-B14F-4D97-AF65-F5344CB8AC3E}">
        <p14:creationId xmlns:p14="http://schemas.microsoft.com/office/powerpoint/2010/main" val="1782152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do-while Loop</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12</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128439"/>
          </a:xfrm>
        </p:spPr>
        <p:txBody>
          <a:bodyPr>
            <a:normAutofit/>
          </a:bodyPr>
          <a:lstStyle/>
          <a:p>
            <a:pPr algn="just"/>
            <a:r>
              <a:rPr lang="en-US" sz="3200" dirty="0"/>
              <a:t>The Java </a:t>
            </a:r>
            <a:r>
              <a:rPr lang="en-US" sz="3200" i="1" dirty="0"/>
              <a:t>do-while loop</a:t>
            </a:r>
            <a:r>
              <a:rPr lang="en-US" sz="3200" dirty="0"/>
              <a:t> is used to iterate a part of the program several times. If the number of iteration is not fixed and you must have to execute the loop at least once, it is recommended to use do-while loop.</a:t>
            </a:r>
          </a:p>
          <a:p>
            <a:pPr algn="just"/>
            <a:r>
              <a:rPr lang="en-US" sz="3200" dirty="0"/>
              <a:t>The Java </a:t>
            </a:r>
            <a:r>
              <a:rPr lang="en-US" sz="3200" i="1" dirty="0"/>
              <a:t>do-while loop</a:t>
            </a:r>
            <a:r>
              <a:rPr lang="en-US" sz="3200" dirty="0"/>
              <a:t> is executed at least once because condition is checked after loop body.</a:t>
            </a:r>
          </a:p>
          <a:p>
            <a:pPr algn="just"/>
            <a:r>
              <a:rPr lang="en-US" sz="3200" dirty="0"/>
              <a:t>Syntax:</a:t>
            </a:r>
          </a:p>
          <a:p>
            <a:pPr marL="457200" lvl="1" indent="0" algn="just">
              <a:buNone/>
            </a:pPr>
            <a:r>
              <a:rPr lang="en-US" b="1" dirty="0"/>
              <a:t>do{  </a:t>
            </a:r>
          </a:p>
          <a:p>
            <a:pPr marL="457200" lvl="1" indent="0" algn="just">
              <a:buNone/>
            </a:pPr>
            <a:r>
              <a:rPr lang="en-US" b="1" dirty="0" smtClean="0"/>
              <a:t>	//</a:t>
            </a:r>
            <a:r>
              <a:rPr lang="en-US" b="1" dirty="0"/>
              <a:t>code to be executed  </a:t>
            </a:r>
          </a:p>
          <a:p>
            <a:pPr marL="457200" lvl="1" indent="0" algn="just">
              <a:buNone/>
            </a:pPr>
            <a:r>
              <a:rPr lang="en-US" b="1" dirty="0"/>
              <a:t>}while(condition);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3565" y="3476297"/>
            <a:ext cx="2346269" cy="3212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0333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do-while Loop</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13</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128439"/>
          </a:xfrm>
        </p:spPr>
        <p:txBody>
          <a:bodyPr>
            <a:normAutofit/>
          </a:bodyPr>
          <a:lstStyle/>
          <a:p>
            <a:pPr marL="0" indent="0">
              <a:buNone/>
            </a:pPr>
            <a:r>
              <a:rPr lang="en-US" sz="3200" dirty="0"/>
              <a:t>public class </a:t>
            </a:r>
            <a:r>
              <a:rPr lang="en-US" sz="3200" dirty="0" err="1"/>
              <a:t>DoWhileExample</a:t>
            </a:r>
            <a:r>
              <a:rPr lang="en-US" sz="3200" dirty="0"/>
              <a:t> {  </a:t>
            </a:r>
          </a:p>
          <a:p>
            <a:pPr marL="457200" lvl="1" indent="0">
              <a:buNone/>
            </a:pPr>
            <a:r>
              <a:rPr lang="en-US" dirty="0"/>
              <a:t>public static void main(String[] </a:t>
            </a:r>
            <a:r>
              <a:rPr lang="en-US" dirty="0" err="1"/>
              <a:t>args</a:t>
            </a:r>
            <a:r>
              <a:rPr lang="en-US" dirty="0"/>
              <a:t>) {  </a:t>
            </a:r>
          </a:p>
          <a:p>
            <a:pPr marL="457200" lvl="1" indent="0">
              <a:buNone/>
            </a:pPr>
            <a:r>
              <a:rPr lang="en-US" dirty="0"/>
              <a:t>    </a:t>
            </a:r>
            <a:r>
              <a:rPr lang="en-US" dirty="0" err="1"/>
              <a:t>int</a:t>
            </a:r>
            <a:r>
              <a:rPr lang="en-US" dirty="0"/>
              <a:t> i=1;  </a:t>
            </a:r>
          </a:p>
          <a:p>
            <a:pPr marL="457200" lvl="1" indent="0">
              <a:buNone/>
            </a:pPr>
            <a:r>
              <a:rPr lang="en-US" dirty="0"/>
              <a:t>    do{  </a:t>
            </a:r>
          </a:p>
          <a:p>
            <a:pPr marL="457200" lvl="1" indent="0">
              <a:buNone/>
            </a:pPr>
            <a:r>
              <a:rPr lang="en-US" dirty="0"/>
              <a:t>        </a:t>
            </a:r>
            <a:r>
              <a:rPr lang="en-US" dirty="0" err="1"/>
              <a:t>System.out.println</a:t>
            </a:r>
            <a:r>
              <a:rPr lang="en-US" dirty="0"/>
              <a:t>(i);  </a:t>
            </a:r>
          </a:p>
          <a:p>
            <a:pPr marL="457200" lvl="1" indent="0">
              <a:buNone/>
            </a:pPr>
            <a:r>
              <a:rPr lang="en-US" dirty="0"/>
              <a:t>   </a:t>
            </a:r>
            <a:r>
              <a:rPr lang="en-US" dirty="0" smtClean="0"/>
              <a:t>	</a:t>
            </a:r>
            <a:r>
              <a:rPr lang="en-US" dirty="0"/>
              <a:t> i++;  </a:t>
            </a:r>
          </a:p>
          <a:p>
            <a:pPr marL="457200" lvl="1" indent="0">
              <a:buNone/>
            </a:pPr>
            <a:r>
              <a:rPr lang="en-US" dirty="0"/>
              <a:t>    }while(i&lt;=10);  </a:t>
            </a:r>
          </a:p>
          <a:p>
            <a:pPr marL="457200" lvl="1" indent="0">
              <a:buNone/>
            </a:pPr>
            <a:r>
              <a:rPr lang="en-US" dirty="0"/>
              <a:t>}  </a:t>
            </a:r>
          </a:p>
          <a:p>
            <a:pPr marL="0" indent="0">
              <a:buNone/>
            </a:pPr>
            <a:r>
              <a:rPr lang="en-US" sz="3200" dirty="0"/>
              <a:t>}  </a:t>
            </a:r>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6471746" y="1702725"/>
            <a:ext cx="1868214" cy="3578719"/>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smtClean="0"/>
              <a:t>Output:</a:t>
            </a:r>
          </a:p>
          <a:p>
            <a:pPr marL="0" indent="0">
              <a:buNone/>
            </a:pPr>
            <a:r>
              <a:rPr lang="en-US" sz="3200" dirty="0" smtClean="0"/>
              <a:t>1</a:t>
            </a:r>
          </a:p>
          <a:p>
            <a:pPr marL="0" indent="0">
              <a:buNone/>
            </a:pPr>
            <a:r>
              <a:rPr lang="en-US" sz="3200" dirty="0" smtClean="0"/>
              <a:t>2</a:t>
            </a:r>
          </a:p>
          <a:p>
            <a:pPr marL="0" indent="0">
              <a:buNone/>
            </a:pPr>
            <a:r>
              <a:rPr lang="en-US" sz="3200" dirty="0" smtClean="0"/>
              <a:t>3</a:t>
            </a:r>
          </a:p>
          <a:p>
            <a:pPr marL="0" indent="0">
              <a:buNone/>
            </a:pPr>
            <a:r>
              <a:rPr lang="en-US" sz="3200" dirty="0" smtClean="0"/>
              <a:t>4</a:t>
            </a:r>
          </a:p>
          <a:p>
            <a:pPr marL="0" indent="0">
              <a:buNone/>
            </a:pPr>
            <a:r>
              <a:rPr lang="en-US" sz="3200" dirty="0" smtClean="0"/>
              <a:t>5</a:t>
            </a:r>
          </a:p>
          <a:p>
            <a:pPr marL="0" indent="0">
              <a:buNone/>
            </a:pPr>
            <a:r>
              <a:rPr lang="en-US" sz="3200" dirty="0" smtClean="0"/>
              <a:t>6</a:t>
            </a:r>
          </a:p>
          <a:p>
            <a:pPr marL="0" indent="0">
              <a:buNone/>
            </a:pPr>
            <a:r>
              <a:rPr lang="en-US" sz="3200" dirty="0" smtClean="0"/>
              <a:t>7</a:t>
            </a:r>
          </a:p>
          <a:p>
            <a:pPr marL="0" indent="0">
              <a:buNone/>
            </a:pPr>
            <a:r>
              <a:rPr lang="en-US" sz="3200" dirty="0" smtClean="0"/>
              <a:t>8</a:t>
            </a:r>
          </a:p>
          <a:p>
            <a:pPr marL="0" indent="0">
              <a:buNone/>
            </a:pPr>
            <a:r>
              <a:rPr lang="en-US" sz="3200" dirty="0" smtClean="0"/>
              <a:t>9</a:t>
            </a:r>
          </a:p>
          <a:p>
            <a:pPr marL="0" indent="0">
              <a:buNone/>
            </a:pPr>
            <a:r>
              <a:rPr lang="en-US" sz="3200" dirty="0" smtClean="0"/>
              <a:t>10</a:t>
            </a:r>
          </a:p>
        </p:txBody>
      </p:sp>
    </p:spTree>
    <p:extLst>
      <p:ext uri="{BB962C8B-B14F-4D97-AF65-F5344CB8AC3E}">
        <p14:creationId xmlns:p14="http://schemas.microsoft.com/office/powerpoint/2010/main" val="2500394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smtClean="0"/>
              <a:t>Break</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14</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128439"/>
          </a:xfrm>
        </p:spPr>
        <p:txBody>
          <a:bodyPr>
            <a:normAutofit fontScale="92500" lnSpcReduction="10000"/>
          </a:bodyPr>
          <a:lstStyle/>
          <a:p>
            <a:pPr algn="just"/>
            <a:r>
              <a:rPr lang="en-US" sz="3200" dirty="0" smtClean="0"/>
              <a:t>You </a:t>
            </a:r>
            <a:r>
              <a:rPr lang="en-US" sz="3200" dirty="0"/>
              <a:t>have already seen the break statement used in an earlier chapter of this tutorial. It was used to "jump out" of a switch statement</a:t>
            </a:r>
            <a:r>
              <a:rPr lang="en-US" sz="3200" dirty="0" smtClean="0"/>
              <a:t>.</a:t>
            </a:r>
            <a:endParaRPr lang="en-US" sz="3200" dirty="0"/>
          </a:p>
          <a:p>
            <a:pPr algn="just"/>
            <a:r>
              <a:rPr lang="en-US" sz="3200" dirty="0"/>
              <a:t>The </a:t>
            </a:r>
            <a:r>
              <a:rPr lang="en-US" sz="3200" dirty="0" smtClean="0"/>
              <a:t>break </a:t>
            </a:r>
            <a:r>
              <a:rPr lang="en-US" sz="3200" dirty="0"/>
              <a:t>statement can also be used to jump out of a loop</a:t>
            </a:r>
            <a:r>
              <a:rPr lang="en-US" sz="3200" dirty="0" smtClean="0"/>
              <a:t>.</a:t>
            </a:r>
          </a:p>
          <a:p>
            <a:pPr marL="0" indent="0">
              <a:buNone/>
            </a:pPr>
            <a:r>
              <a:rPr lang="en-US" sz="3200" dirty="0"/>
              <a:t>public class </a:t>
            </a:r>
            <a:r>
              <a:rPr lang="en-US" sz="3200" dirty="0" err="1" smtClean="0"/>
              <a:t>BreakExample1</a:t>
            </a:r>
            <a:r>
              <a:rPr lang="en-US" sz="3200" dirty="0"/>
              <a:t> {  </a:t>
            </a:r>
          </a:p>
          <a:p>
            <a:pPr marL="457200" lvl="1" indent="0">
              <a:buNone/>
            </a:pPr>
            <a:r>
              <a:rPr lang="en-US" dirty="0"/>
              <a:t>public static void main(String[] </a:t>
            </a:r>
            <a:r>
              <a:rPr lang="en-US" dirty="0" err="1"/>
              <a:t>args</a:t>
            </a:r>
            <a:r>
              <a:rPr lang="en-US" dirty="0"/>
              <a:t>) {  </a:t>
            </a:r>
          </a:p>
          <a:p>
            <a:pPr marL="457200" lvl="1" indent="0" algn="just">
              <a:buNone/>
            </a:pPr>
            <a:r>
              <a:rPr lang="nn-NO" dirty="0" smtClean="0"/>
              <a:t>	for </a:t>
            </a:r>
            <a:r>
              <a:rPr lang="nn-NO" dirty="0"/>
              <a:t>(int i = </a:t>
            </a:r>
            <a:r>
              <a:rPr lang="nn-NO" dirty="0" smtClean="0"/>
              <a:t>1; </a:t>
            </a:r>
            <a:r>
              <a:rPr lang="nn-NO" dirty="0"/>
              <a:t>i &lt; 10; i++) </a:t>
            </a:r>
            <a:endParaRPr lang="nn-NO" dirty="0" smtClean="0"/>
          </a:p>
          <a:p>
            <a:pPr marL="457200" lvl="1" indent="0" algn="just">
              <a:buNone/>
            </a:pPr>
            <a:r>
              <a:rPr lang="nn-NO" dirty="0"/>
              <a:t>	</a:t>
            </a:r>
            <a:r>
              <a:rPr lang="nn-NO" dirty="0" smtClean="0"/>
              <a:t>{ </a:t>
            </a:r>
          </a:p>
          <a:p>
            <a:pPr marL="457200" lvl="1" indent="0" algn="just">
              <a:buNone/>
            </a:pPr>
            <a:r>
              <a:rPr lang="nn-NO" dirty="0"/>
              <a:t>	</a:t>
            </a:r>
            <a:r>
              <a:rPr lang="nn-NO" dirty="0" smtClean="0"/>
              <a:t>	if </a:t>
            </a:r>
            <a:r>
              <a:rPr lang="nn-NO" dirty="0"/>
              <a:t>(i == 4) { break; } </a:t>
            </a:r>
            <a:endParaRPr lang="nn-NO" dirty="0" smtClean="0"/>
          </a:p>
          <a:p>
            <a:pPr marL="457200" lvl="1" indent="0" algn="just">
              <a:buNone/>
            </a:pPr>
            <a:r>
              <a:rPr lang="nn-NO" dirty="0"/>
              <a:t>	</a:t>
            </a:r>
            <a:r>
              <a:rPr lang="nn-NO" dirty="0" smtClean="0"/>
              <a:t>	System.out.println(i);</a:t>
            </a:r>
          </a:p>
          <a:p>
            <a:pPr marL="457200" lvl="1" indent="0" algn="just">
              <a:buNone/>
            </a:pPr>
            <a:r>
              <a:rPr lang="nn-NO" dirty="0"/>
              <a:t>	</a:t>
            </a:r>
            <a:r>
              <a:rPr lang="nn-NO" dirty="0" smtClean="0"/>
              <a:t>}</a:t>
            </a:r>
            <a:endParaRPr lang="en-US" b="1" dirty="0"/>
          </a:p>
          <a:p>
            <a:pPr marL="457200" lvl="1" indent="0">
              <a:buNone/>
            </a:pPr>
            <a:r>
              <a:rPr lang="en-US" dirty="0" smtClean="0"/>
              <a:t>}</a:t>
            </a:r>
            <a:r>
              <a:rPr lang="en-US" dirty="0"/>
              <a:t>  </a:t>
            </a:r>
          </a:p>
          <a:p>
            <a:pPr marL="0" indent="0">
              <a:buNone/>
            </a:pPr>
            <a:r>
              <a:rPr lang="en-US" sz="3200" dirty="0"/>
              <a:t>}  </a:t>
            </a:r>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5888421" y="3657649"/>
            <a:ext cx="1458310" cy="1308489"/>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smtClean="0"/>
              <a:t>Output:</a:t>
            </a:r>
          </a:p>
          <a:p>
            <a:pPr marL="0" indent="0">
              <a:buNone/>
            </a:pPr>
            <a:r>
              <a:rPr lang="en-US" sz="3200" dirty="0" smtClean="0"/>
              <a:t>1</a:t>
            </a:r>
          </a:p>
          <a:p>
            <a:pPr marL="0" indent="0">
              <a:buNone/>
            </a:pPr>
            <a:r>
              <a:rPr lang="en-US" sz="3200" dirty="0" smtClean="0"/>
              <a:t>2</a:t>
            </a:r>
          </a:p>
          <a:p>
            <a:pPr marL="0" indent="0">
              <a:buNone/>
            </a:pPr>
            <a:r>
              <a:rPr lang="en-US" sz="3200" dirty="0" smtClean="0"/>
              <a:t>3</a:t>
            </a:r>
          </a:p>
        </p:txBody>
      </p:sp>
    </p:spTree>
    <p:extLst>
      <p:ext uri="{BB962C8B-B14F-4D97-AF65-F5344CB8AC3E}">
        <p14:creationId xmlns:p14="http://schemas.microsoft.com/office/powerpoint/2010/main" val="97553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smtClean="0"/>
              <a:t>Break</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15</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128439"/>
          </a:xfrm>
        </p:spPr>
        <p:txBody>
          <a:bodyPr>
            <a:normAutofit fontScale="92500" lnSpcReduction="10000"/>
          </a:bodyPr>
          <a:lstStyle/>
          <a:p>
            <a:pPr marL="0" indent="0">
              <a:buNone/>
            </a:pPr>
            <a:r>
              <a:rPr lang="en-US" sz="3200" dirty="0" smtClean="0"/>
              <a:t>public</a:t>
            </a:r>
            <a:r>
              <a:rPr lang="en-US" sz="3200" dirty="0"/>
              <a:t> class </a:t>
            </a:r>
            <a:r>
              <a:rPr lang="en-US" sz="3200" dirty="0" err="1" smtClean="0"/>
              <a:t>BreakExample2</a:t>
            </a:r>
            <a:r>
              <a:rPr lang="en-US" sz="3200" dirty="0"/>
              <a:t> {  </a:t>
            </a:r>
          </a:p>
          <a:p>
            <a:pPr marL="457200" lvl="1" indent="0">
              <a:buNone/>
            </a:pPr>
            <a:r>
              <a:rPr lang="en-US" dirty="0"/>
              <a:t>public static void main(String[] </a:t>
            </a:r>
            <a:r>
              <a:rPr lang="en-US" dirty="0" err="1"/>
              <a:t>args</a:t>
            </a:r>
            <a:r>
              <a:rPr lang="en-US" dirty="0"/>
              <a:t>) {  </a:t>
            </a:r>
          </a:p>
          <a:p>
            <a:pPr marL="457200" lvl="1" indent="0" algn="just">
              <a:buNone/>
            </a:pPr>
            <a:r>
              <a:rPr lang="nn-NO" dirty="0" smtClean="0"/>
              <a:t>	</a:t>
            </a:r>
            <a:r>
              <a:rPr lang="en-US" dirty="0" err="1"/>
              <a:t>int</a:t>
            </a:r>
            <a:r>
              <a:rPr lang="en-US" dirty="0"/>
              <a:t> i = 1</a:t>
            </a:r>
            <a:r>
              <a:rPr lang="en-US" dirty="0" smtClean="0"/>
              <a:t>; </a:t>
            </a:r>
          </a:p>
          <a:p>
            <a:pPr marL="457200" lvl="1" indent="0" algn="just">
              <a:buNone/>
            </a:pPr>
            <a:r>
              <a:rPr lang="en-US" dirty="0"/>
              <a:t>	</a:t>
            </a:r>
            <a:r>
              <a:rPr lang="en-US" dirty="0" smtClean="0"/>
              <a:t>while </a:t>
            </a:r>
            <a:r>
              <a:rPr lang="en-US" dirty="0"/>
              <a:t>(i &lt; 10) </a:t>
            </a:r>
            <a:endParaRPr lang="en-US" dirty="0" smtClean="0"/>
          </a:p>
          <a:p>
            <a:pPr marL="457200" lvl="1" indent="0" algn="just">
              <a:buNone/>
            </a:pPr>
            <a:r>
              <a:rPr lang="en-US" dirty="0"/>
              <a:t>	</a:t>
            </a:r>
            <a:r>
              <a:rPr lang="en-US" dirty="0" smtClean="0"/>
              <a:t>{ </a:t>
            </a:r>
          </a:p>
          <a:p>
            <a:pPr marL="457200" lvl="1" indent="0" algn="just">
              <a:buNone/>
            </a:pPr>
            <a:r>
              <a:rPr lang="en-US" dirty="0"/>
              <a:t>	</a:t>
            </a:r>
            <a:r>
              <a:rPr lang="en-US" dirty="0" smtClean="0"/>
              <a:t>	</a:t>
            </a:r>
            <a:r>
              <a:rPr lang="en-US" dirty="0" err="1" smtClean="0"/>
              <a:t>System.out.println</a:t>
            </a:r>
            <a:r>
              <a:rPr lang="en-US" dirty="0" smtClean="0"/>
              <a:t>(i</a:t>
            </a:r>
            <a:r>
              <a:rPr lang="en-US" dirty="0"/>
              <a:t>); </a:t>
            </a:r>
            <a:endParaRPr lang="en-US" dirty="0" smtClean="0"/>
          </a:p>
          <a:p>
            <a:pPr marL="457200" lvl="1" indent="0" algn="just">
              <a:buNone/>
            </a:pPr>
            <a:r>
              <a:rPr lang="en-US" dirty="0"/>
              <a:t>	</a:t>
            </a:r>
            <a:r>
              <a:rPr lang="en-US" dirty="0" smtClean="0"/>
              <a:t>	i</a:t>
            </a:r>
            <a:r>
              <a:rPr lang="en-US" dirty="0"/>
              <a:t>++; </a:t>
            </a:r>
            <a:endParaRPr lang="en-US" dirty="0" smtClean="0"/>
          </a:p>
          <a:p>
            <a:pPr marL="457200" lvl="1" indent="0" algn="just">
              <a:buNone/>
            </a:pPr>
            <a:r>
              <a:rPr lang="en-US" dirty="0"/>
              <a:t>	</a:t>
            </a:r>
            <a:r>
              <a:rPr lang="en-US" dirty="0" smtClean="0"/>
              <a:t>	if </a:t>
            </a:r>
            <a:r>
              <a:rPr lang="en-US" dirty="0"/>
              <a:t>(i == 4) </a:t>
            </a:r>
            <a:endParaRPr lang="en-US" dirty="0" smtClean="0"/>
          </a:p>
          <a:p>
            <a:pPr marL="457200" lvl="1" indent="0" algn="just">
              <a:buNone/>
            </a:pPr>
            <a:r>
              <a:rPr lang="en-US" dirty="0"/>
              <a:t>	</a:t>
            </a:r>
            <a:r>
              <a:rPr lang="en-US" dirty="0" smtClean="0"/>
              <a:t>	{ </a:t>
            </a:r>
          </a:p>
          <a:p>
            <a:pPr marL="457200" lvl="1" indent="0" algn="just">
              <a:buNone/>
            </a:pPr>
            <a:r>
              <a:rPr lang="en-US" dirty="0"/>
              <a:t>	</a:t>
            </a:r>
            <a:r>
              <a:rPr lang="en-US" dirty="0" smtClean="0"/>
              <a:t>		break</a:t>
            </a:r>
            <a:r>
              <a:rPr lang="en-US" dirty="0"/>
              <a:t>; </a:t>
            </a:r>
            <a:endParaRPr lang="en-US" dirty="0" smtClean="0"/>
          </a:p>
          <a:p>
            <a:pPr marL="457200" lvl="1" indent="0" algn="just">
              <a:buNone/>
            </a:pPr>
            <a:r>
              <a:rPr lang="en-US" dirty="0"/>
              <a:t>	</a:t>
            </a:r>
            <a:r>
              <a:rPr lang="en-US" dirty="0" smtClean="0"/>
              <a:t>	} </a:t>
            </a:r>
          </a:p>
          <a:p>
            <a:pPr marL="457200" lvl="1" indent="0" algn="just">
              <a:buNone/>
            </a:pPr>
            <a:r>
              <a:rPr lang="en-US" dirty="0"/>
              <a:t>	</a:t>
            </a:r>
            <a:r>
              <a:rPr lang="en-US" dirty="0" smtClean="0"/>
              <a:t>}</a:t>
            </a:r>
          </a:p>
          <a:p>
            <a:pPr marL="457200" lvl="1" indent="0" algn="just">
              <a:buNone/>
            </a:pPr>
            <a:r>
              <a:rPr lang="en-US" dirty="0" smtClean="0"/>
              <a:t>}</a:t>
            </a:r>
            <a:r>
              <a:rPr lang="en-US" dirty="0"/>
              <a:t>  </a:t>
            </a:r>
          </a:p>
          <a:p>
            <a:pPr marL="0" indent="0">
              <a:buNone/>
            </a:pPr>
            <a:r>
              <a:rPr lang="en-US" sz="3200" dirty="0"/>
              <a:t>}  </a:t>
            </a:r>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6109138" y="2948153"/>
            <a:ext cx="1679027" cy="1765738"/>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smtClean="0"/>
              <a:t>Output:</a:t>
            </a:r>
          </a:p>
          <a:p>
            <a:pPr marL="0" indent="0">
              <a:buNone/>
            </a:pPr>
            <a:r>
              <a:rPr lang="en-US" sz="2400" dirty="0" smtClean="0"/>
              <a:t>1</a:t>
            </a:r>
          </a:p>
          <a:p>
            <a:pPr marL="0" indent="0">
              <a:buNone/>
            </a:pPr>
            <a:r>
              <a:rPr lang="en-US" sz="2400" dirty="0" smtClean="0"/>
              <a:t>2</a:t>
            </a:r>
          </a:p>
          <a:p>
            <a:pPr marL="0" indent="0">
              <a:buNone/>
            </a:pPr>
            <a:r>
              <a:rPr lang="en-US" sz="2400" dirty="0" smtClean="0"/>
              <a:t>3</a:t>
            </a:r>
          </a:p>
        </p:txBody>
      </p:sp>
    </p:spTree>
    <p:extLst>
      <p:ext uri="{BB962C8B-B14F-4D97-AF65-F5344CB8AC3E}">
        <p14:creationId xmlns:p14="http://schemas.microsoft.com/office/powerpoint/2010/main" val="1254226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C</a:t>
            </a:r>
            <a:r>
              <a:rPr lang="en-US" sz="3200" dirty="0" smtClean="0"/>
              <a:t>ontinue</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16</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128439"/>
          </a:xfrm>
        </p:spPr>
        <p:txBody>
          <a:bodyPr>
            <a:normAutofit lnSpcReduction="10000"/>
          </a:bodyPr>
          <a:lstStyle/>
          <a:p>
            <a:pPr algn="just"/>
            <a:r>
              <a:rPr lang="en-US" sz="3200" dirty="0"/>
              <a:t>The continue statement breaks one iteration (in the loop), if a specified condition occurs, and continues with the next iteration in the loop</a:t>
            </a:r>
            <a:r>
              <a:rPr lang="en-US" sz="3200" dirty="0" smtClean="0"/>
              <a:t>.</a:t>
            </a:r>
          </a:p>
          <a:p>
            <a:pPr marL="0" indent="0">
              <a:buNone/>
            </a:pPr>
            <a:r>
              <a:rPr lang="en-US" sz="3200" dirty="0"/>
              <a:t>public class </a:t>
            </a:r>
            <a:r>
              <a:rPr lang="en-US" sz="3200" dirty="0" err="1" smtClean="0"/>
              <a:t>ContinueExample1</a:t>
            </a:r>
            <a:r>
              <a:rPr lang="en-US" sz="3200" dirty="0"/>
              <a:t> {  </a:t>
            </a:r>
          </a:p>
          <a:p>
            <a:pPr marL="457200" lvl="1" indent="0">
              <a:buNone/>
            </a:pPr>
            <a:r>
              <a:rPr lang="en-US" dirty="0"/>
              <a:t>public static void main(String[] </a:t>
            </a:r>
            <a:r>
              <a:rPr lang="en-US" dirty="0" err="1"/>
              <a:t>args</a:t>
            </a:r>
            <a:r>
              <a:rPr lang="en-US" dirty="0"/>
              <a:t>) {  </a:t>
            </a:r>
          </a:p>
          <a:p>
            <a:pPr marL="457200" lvl="1" indent="0" algn="just">
              <a:buNone/>
            </a:pPr>
            <a:r>
              <a:rPr lang="nn-NO" dirty="0"/>
              <a:t>	for (int i = 1; i &lt; 10; i++) </a:t>
            </a:r>
          </a:p>
          <a:p>
            <a:pPr marL="457200" lvl="1" indent="0" algn="just">
              <a:buNone/>
            </a:pPr>
            <a:r>
              <a:rPr lang="nn-NO" dirty="0"/>
              <a:t>	{ </a:t>
            </a:r>
          </a:p>
          <a:p>
            <a:pPr marL="457200" lvl="1" indent="0" algn="just">
              <a:buNone/>
            </a:pPr>
            <a:r>
              <a:rPr lang="nn-NO" dirty="0"/>
              <a:t>		if (i == 4) </a:t>
            </a:r>
            <a:r>
              <a:rPr lang="nn-NO" dirty="0" smtClean="0"/>
              <a:t>{</a:t>
            </a:r>
            <a:r>
              <a:rPr lang="en-US" dirty="0"/>
              <a:t>continue</a:t>
            </a:r>
            <a:r>
              <a:rPr lang="nn-NO" dirty="0" smtClean="0"/>
              <a:t>; </a:t>
            </a:r>
            <a:r>
              <a:rPr lang="nn-NO" dirty="0"/>
              <a:t>} </a:t>
            </a:r>
          </a:p>
          <a:p>
            <a:pPr marL="457200" lvl="1" indent="0" algn="just">
              <a:buNone/>
            </a:pPr>
            <a:r>
              <a:rPr lang="nn-NO" dirty="0"/>
              <a:t>		System.out.println(i);</a:t>
            </a:r>
          </a:p>
          <a:p>
            <a:pPr marL="457200" lvl="1" indent="0" algn="just">
              <a:buNone/>
            </a:pPr>
            <a:r>
              <a:rPr lang="nn-NO" dirty="0"/>
              <a:t>	}</a:t>
            </a:r>
            <a:endParaRPr lang="en-US" b="1" dirty="0"/>
          </a:p>
          <a:p>
            <a:pPr marL="457200" lvl="1" indent="0">
              <a:buNone/>
            </a:pPr>
            <a:r>
              <a:rPr lang="en-US" dirty="0"/>
              <a:t>}  </a:t>
            </a:r>
          </a:p>
          <a:p>
            <a:pPr marL="0" indent="0">
              <a:buNone/>
            </a:pPr>
            <a:r>
              <a:rPr lang="en-US" sz="3200" dirty="0"/>
              <a:t>}  </a:t>
            </a:r>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6298325" y="2869373"/>
            <a:ext cx="1899744" cy="3216117"/>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smtClean="0"/>
              <a:t>Output:</a:t>
            </a:r>
          </a:p>
          <a:p>
            <a:pPr marL="0" indent="0">
              <a:buNone/>
            </a:pPr>
            <a:r>
              <a:rPr lang="en-US" sz="3200" dirty="0" smtClean="0"/>
              <a:t>1</a:t>
            </a:r>
          </a:p>
          <a:p>
            <a:pPr marL="0" indent="0">
              <a:buNone/>
            </a:pPr>
            <a:r>
              <a:rPr lang="en-US" sz="3200" dirty="0" smtClean="0"/>
              <a:t>2</a:t>
            </a:r>
          </a:p>
          <a:p>
            <a:pPr marL="0" indent="0">
              <a:buNone/>
            </a:pPr>
            <a:r>
              <a:rPr lang="en-US" sz="3200" dirty="0" smtClean="0"/>
              <a:t>3</a:t>
            </a:r>
          </a:p>
          <a:p>
            <a:pPr marL="0" indent="0">
              <a:buNone/>
            </a:pPr>
            <a:r>
              <a:rPr lang="en-US" sz="3200" dirty="0" smtClean="0"/>
              <a:t>5</a:t>
            </a:r>
          </a:p>
          <a:p>
            <a:pPr marL="0" indent="0">
              <a:buNone/>
            </a:pPr>
            <a:r>
              <a:rPr lang="en-US" sz="3200" dirty="0" smtClean="0"/>
              <a:t>6</a:t>
            </a:r>
          </a:p>
          <a:p>
            <a:pPr marL="0" indent="0">
              <a:buNone/>
            </a:pPr>
            <a:r>
              <a:rPr lang="en-US" sz="3200" dirty="0" smtClean="0"/>
              <a:t>7</a:t>
            </a:r>
          </a:p>
          <a:p>
            <a:pPr marL="0" indent="0">
              <a:buNone/>
            </a:pPr>
            <a:r>
              <a:rPr lang="en-US" sz="3200" dirty="0" smtClean="0"/>
              <a:t>8</a:t>
            </a:r>
          </a:p>
          <a:p>
            <a:pPr marL="0" indent="0">
              <a:buNone/>
            </a:pPr>
            <a:r>
              <a:rPr lang="en-US" sz="3200" dirty="0" smtClean="0"/>
              <a:t>9</a:t>
            </a:r>
          </a:p>
          <a:p>
            <a:pPr marL="0" indent="0">
              <a:buNone/>
            </a:pPr>
            <a:r>
              <a:rPr lang="en-US" sz="3200" dirty="0" smtClean="0"/>
              <a:t>10</a:t>
            </a:r>
          </a:p>
        </p:txBody>
      </p:sp>
    </p:spTree>
    <p:extLst>
      <p:ext uri="{BB962C8B-B14F-4D97-AF65-F5344CB8AC3E}">
        <p14:creationId xmlns:p14="http://schemas.microsoft.com/office/powerpoint/2010/main" val="2658758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C</a:t>
            </a:r>
            <a:r>
              <a:rPr lang="en-US" sz="3200" dirty="0" smtClean="0"/>
              <a:t>ontinue</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17</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128439"/>
          </a:xfrm>
        </p:spPr>
        <p:txBody>
          <a:bodyPr>
            <a:normAutofit fontScale="92500" lnSpcReduction="20000"/>
          </a:bodyPr>
          <a:lstStyle/>
          <a:p>
            <a:pPr marL="0" indent="0">
              <a:buNone/>
            </a:pPr>
            <a:r>
              <a:rPr lang="en-US" sz="3200" dirty="0" smtClean="0"/>
              <a:t>public</a:t>
            </a:r>
            <a:r>
              <a:rPr lang="en-US" sz="3200" dirty="0"/>
              <a:t> class </a:t>
            </a:r>
            <a:r>
              <a:rPr lang="en-US" sz="3200" dirty="0" err="1" smtClean="0"/>
              <a:t>ContinueExample2</a:t>
            </a:r>
            <a:r>
              <a:rPr lang="en-US" sz="3200" dirty="0" smtClean="0"/>
              <a:t>{</a:t>
            </a:r>
            <a:r>
              <a:rPr lang="en-US" sz="3200" dirty="0"/>
              <a:t>  </a:t>
            </a:r>
          </a:p>
          <a:p>
            <a:pPr marL="457200" lvl="1" indent="0">
              <a:buNone/>
            </a:pPr>
            <a:r>
              <a:rPr lang="en-US" dirty="0"/>
              <a:t>public static void main(String[] </a:t>
            </a:r>
            <a:r>
              <a:rPr lang="en-US" dirty="0" err="1"/>
              <a:t>args</a:t>
            </a:r>
            <a:r>
              <a:rPr lang="en-US" dirty="0"/>
              <a:t>) {  </a:t>
            </a:r>
          </a:p>
          <a:p>
            <a:pPr marL="457200" lvl="1" indent="0" algn="just">
              <a:buNone/>
            </a:pPr>
            <a:r>
              <a:rPr lang="nn-NO" dirty="0"/>
              <a:t>	</a:t>
            </a:r>
            <a:r>
              <a:rPr lang="en-US" dirty="0" err="1" smtClean="0"/>
              <a:t>int</a:t>
            </a:r>
            <a:r>
              <a:rPr lang="en-US" dirty="0" smtClean="0"/>
              <a:t> </a:t>
            </a:r>
            <a:r>
              <a:rPr lang="en-US" dirty="0"/>
              <a:t>i = 1</a:t>
            </a:r>
            <a:r>
              <a:rPr lang="en-US" dirty="0" smtClean="0"/>
              <a:t>; </a:t>
            </a:r>
          </a:p>
          <a:p>
            <a:pPr marL="457200" lvl="1" indent="0" algn="just">
              <a:buNone/>
            </a:pPr>
            <a:r>
              <a:rPr lang="en-US" dirty="0"/>
              <a:t>	</a:t>
            </a:r>
            <a:r>
              <a:rPr lang="en-US" dirty="0" smtClean="0"/>
              <a:t>while </a:t>
            </a:r>
            <a:r>
              <a:rPr lang="en-US" dirty="0"/>
              <a:t>(i &lt; 10) </a:t>
            </a:r>
            <a:endParaRPr lang="en-US" dirty="0" smtClean="0"/>
          </a:p>
          <a:p>
            <a:pPr marL="457200" lvl="1" indent="0" algn="just">
              <a:buNone/>
            </a:pPr>
            <a:r>
              <a:rPr lang="en-US" dirty="0"/>
              <a:t>	</a:t>
            </a:r>
            <a:r>
              <a:rPr lang="en-US" dirty="0" smtClean="0"/>
              <a:t>{ </a:t>
            </a:r>
          </a:p>
          <a:p>
            <a:pPr marL="457200" lvl="1" indent="0" algn="just">
              <a:buNone/>
            </a:pPr>
            <a:r>
              <a:rPr lang="en-US" dirty="0" smtClean="0"/>
              <a:t>		if </a:t>
            </a:r>
            <a:r>
              <a:rPr lang="en-US" dirty="0"/>
              <a:t>(i == 4) </a:t>
            </a:r>
            <a:endParaRPr lang="en-US" dirty="0" smtClean="0"/>
          </a:p>
          <a:p>
            <a:pPr marL="457200" lvl="1" indent="0" algn="just">
              <a:buNone/>
            </a:pPr>
            <a:r>
              <a:rPr lang="en-US" dirty="0"/>
              <a:t>	</a:t>
            </a:r>
            <a:r>
              <a:rPr lang="en-US" dirty="0" smtClean="0"/>
              <a:t>	{ </a:t>
            </a:r>
          </a:p>
          <a:p>
            <a:pPr marL="457200" lvl="1" indent="0" algn="just">
              <a:buNone/>
            </a:pPr>
            <a:r>
              <a:rPr lang="en-US" dirty="0"/>
              <a:t>	</a:t>
            </a:r>
            <a:r>
              <a:rPr lang="en-US" dirty="0" smtClean="0"/>
              <a:t>		i</a:t>
            </a:r>
            <a:r>
              <a:rPr lang="en-US" dirty="0"/>
              <a:t>++; </a:t>
            </a:r>
            <a:endParaRPr lang="en-US" dirty="0" smtClean="0"/>
          </a:p>
          <a:p>
            <a:pPr marL="457200" lvl="1" indent="0" algn="just">
              <a:buNone/>
            </a:pPr>
            <a:r>
              <a:rPr lang="en-US" dirty="0"/>
              <a:t>	</a:t>
            </a:r>
            <a:r>
              <a:rPr lang="en-US" dirty="0" smtClean="0"/>
              <a:t>		continue</a:t>
            </a:r>
            <a:r>
              <a:rPr lang="en-US" dirty="0"/>
              <a:t>; </a:t>
            </a:r>
            <a:endParaRPr lang="en-US" dirty="0" smtClean="0"/>
          </a:p>
          <a:p>
            <a:pPr marL="457200" lvl="1" indent="0" algn="just">
              <a:buNone/>
            </a:pPr>
            <a:r>
              <a:rPr lang="en-US" dirty="0"/>
              <a:t>	</a:t>
            </a:r>
            <a:r>
              <a:rPr lang="en-US" dirty="0" smtClean="0"/>
              <a:t>	} </a:t>
            </a:r>
          </a:p>
          <a:p>
            <a:pPr marL="457200" lvl="1" indent="0" algn="just">
              <a:buNone/>
            </a:pPr>
            <a:r>
              <a:rPr lang="en-US" dirty="0"/>
              <a:t>	</a:t>
            </a:r>
            <a:r>
              <a:rPr lang="en-US" dirty="0" smtClean="0"/>
              <a:t>	</a:t>
            </a:r>
            <a:r>
              <a:rPr lang="en-US" dirty="0" err="1" smtClean="0"/>
              <a:t>System.out.println</a:t>
            </a:r>
            <a:r>
              <a:rPr lang="en-US" dirty="0" smtClean="0"/>
              <a:t>(i);</a:t>
            </a:r>
          </a:p>
          <a:p>
            <a:pPr marL="457200" lvl="1" indent="0" algn="just">
              <a:buNone/>
            </a:pPr>
            <a:r>
              <a:rPr lang="en-US" dirty="0"/>
              <a:t>	</a:t>
            </a:r>
            <a:r>
              <a:rPr lang="en-US" dirty="0" smtClean="0"/>
              <a:t>	i++;</a:t>
            </a:r>
          </a:p>
          <a:p>
            <a:pPr marL="457200" lvl="1" indent="0" algn="just">
              <a:buNone/>
            </a:pPr>
            <a:r>
              <a:rPr lang="en-US" dirty="0"/>
              <a:t>	</a:t>
            </a:r>
            <a:r>
              <a:rPr lang="en-US" dirty="0" smtClean="0"/>
              <a:t>}</a:t>
            </a:r>
          </a:p>
          <a:p>
            <a:pPr marL="457200" lvl="1" indent="0" algn="just">
              <a:buNone/>
            </a:pPr>
            <a:r>
              <a:rPr lang="en-US" dirty="0" smtClean="0"/>
              <a:t>}</a:t>
            </a:r>
            <a:r>
              <a:rPr lang="en-US" dirty="0"/>
              <a:t>  </a:t>
            </a:r>
          </a:p>
          <a:p>
            <a:pPr marL="0" indent="0">
              <a:buNone/>
            </a:pPr>
            <a:r>
              <a:rPr lang="en-US" sz="3200" dirty="0"/>
              <a:t>}  </a:t>
            </a:r>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6298325" y="2869373"/>
            <a:ext cx="1899744" cy="3216117"/>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smtClean="0"/>
              <a:t>Output:</a:t>
            </a:r>
          </a:p>
          <a:p>
            <a:pPr marL="0" indent="0">
              <a:buNone/>
            </a:pPr>
            <a:r>
              <a:rPr lang="en-US" sz="3200" dirty="0" smtClean="0"/>
              <a:t>1</a:t>
            </a:r>
          </a:p>
          <a:p>
            <a:pPr marL="0" indent="0">
              <a:buNone/>
            </a:pPr>
            <a:r>
              <a:rPr lang="en-US" sz="3200" dirty="0" smtClean="0"/>
              <a:t>2</a:t>
            </a:r>
          </a:p>
          <a:p>
            <a:pPr marL="0" indent="0">
              <a:buNone/>
            </a:pPr>
            <a:r>
              <a:rPr lang="en-US" sz="3200" dirty="0" smtClean="0"/>
              <a:t>3</a:t>
            </a:r>
          </a:p>
          <a:p>
            <a:pPr marL="0" indent="0">
              <a:buNone/>
            </a:pPr>
            <a:r>
              <a:rPr lang="en-US" sz="3200" dirty="0" smtClean="0"/>
              <a:t>5</a:t>
            </a:r>
          </a:p>
          <a:p>
            <a:pPr marL="0" indent="0">
              <a:buNone/>
            </a:pPr>
            <a:r>
              <a:rPr lang="en-US" sz="3200" dirty="0" smtClean="0"/>
              <a:t>6</a:t>
            </a:r>
          </a:p>
          <a:p>
            <a:pPr marL="0" indent="0">
              <a:buNone/>
            </a:pPr>
            <a:r>
              <a:rPr lang="en-US" sz="3200" dirty="0" smtClean="0"/>
              <a:t>7</a:t>
            </a:r>
          </a:p>
          <a:p>
            <a:pPr marL="0" indent="0">
              <a:buNone/>
            </a:pPr>
            <a:r>
              <a:rPr lang="en-US" sz="3200" dirty="0" smtClean="0"/>
              <a:t>8</a:t>
            </a:r>
          </a:p>
          <a:p>
            <a:pPr marL="0" indent="0">
              <a:buNone/>
            </a:pPr>
            <a:r>
              <a:rPr lang="en-US" sz="3200" dirty="0" smtClean="0"/>
              <a:t>9</a:t>
            </a:r>
          </a:p>
          <a:p>
            <a:pPr marL="0" indent="0">
              <a:buNone/>
            </a:pPr>
            <a:r>
              <a:rPr lang="en-US" sz="3200" dirty="0" smtClean="0"/>
              <a:t>10</a:t>
            </a:r>
          </a:p>
        </p:txBody>
      </p:sp>
    </p:spTree>
    <p:extLst>
      <p:ext uri="{BB962C8B-B14F-4D97-AF65-F5344CB8AC3E}">
        <p14:creationId xmlns:p14="http://schemas.microsoft.com/office/powerpoint/2010/main" val="3275391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For Loop </a:t>
            </a:r>
            <a:r>
              <a:rPr lang="en-US" sz="3200" dirty="0" err="1"/>
              <a:t>vs</a:t>
            </a:r>
            <a:r>
              <a:rPr lang="en-US" sz="3200" dirty="0"/>
              <a:t> While Loop </a:t>
            </a:r>
            <a:r>
              <a:rPr lang="en-US" sz="3200" dirty="0" err="1"/>
              <a:t>vs</a:t>
            </a:r>
            <a:r>
              <a:rPr lang="en-US" sz="3200" dirty="0"/>
              <a:t> Do While Loop</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p:txBody>
          <a:bodyPr>
            <a:normAutofit/>
          </a:bodyPr>
          <a:lstStyle/>
          <a:p>
            <a:pPr algn="just"/>
            <a:endParaRPr lang="en-US"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18</a:t>
            </a:fld>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8" y="987347"/>
            <a:ext cx="10749457" cy="5372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1192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References</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p:txBody>
          <a:bodyPr>
            <a:normAutofit/>
          </a:bodyPr>
          <a:lstStyle/>
          <a:p>
            <a:r>
              <a:rPr lang="en-US" dirty="0">
                <a:hlinkClick r:id=""/>
              </a:rPr>
              <a:t>https://</a:t>
            </a:r>
            <a:r>
              <a:rPr lang="en-US" dirty="0" err="1" smtClean="0">
                <a:hlinkClick r:id="rId2"/>
              </a:rPr>
              <a:t>www.learnjavaonline.org</a:t>
            </a:r>
            <a:r>
              <a:rPr lang="en-US" dirty="0" smtClean="0">
                <a:hlinkClick r:id="rId2"/>
              </a:rPr>
              <a:t>/en/Loops</a:t>
            </a:r>
            <a:endParaRPr lang="en-US" dirty="0" smtClean="0"/>
          </a:p>
          <a:p>
            <a:r>
              <a:rPr lang="en-US" dirty="0">
                <a:hlinkClick r:id="rId3"/>
              </a:rPr>
              <a:t>https://</a:t>
            </a:r>
            <a:r>
              <a:rPr lang="en-US" dirty="0" err="1" smtClean="0">
                <a:hlinkClick r:id="rId3"/>
              </a:rPr>
              <a:t>www.javatpoint.com</a:t>
            </a:r>
            <a:r>
              <a:rPr lang="en-US" dirty="0" smtClean="0">
                <a:hlinkClick r:id="rId3"/>
              </a:rPr>
              <a:t>/java-for-loop</a:t>
            </a:r>
            <a:endParaRPr lang="en-US" dirty="0" smtClean="0"/>
          </a:p>
          <a:p>
            <a:r>
              <a:rPr lang="en-US" dirty="0">
                <a:hlinkClick r:id="rId4"/>
              </a:rPr>
              <a:t>https://</a:t>
            </a:r>
            <a:r>
              <a:rPr lang="en-US" dirty="0" err="1" smtClean="0">
                <a:hlinkClick r:id="rId4"/>
              </a:rPr>
              <a:t>www.javatpoint.com</a:t>
            </a:r>
            <a:r>
              <a:rPr lang="en-US" dirty="0" smtClean="0">
                <a:hlinkClick r:id="rId4"/>
              </a:rPr>
              <a:t>/java-while-loop</a:t>
            </a:r>
            <a:endParaRPr lang="en-US" dirty="0" smtClean="0"/>
          </a:p>
          <a:p>
            <a:r>
              <a:rPr lang="en-US" dirty="0">
                <a:hlinkClick r:id="rId5"/>
              </a:rPr>
              <a:t>https://</a:t>
            </a:r>
            <a:r>
              <a:rPr lang="en-US" dirty="0" err="1">
                <a:hlinkClick r:id="rId5"/>
              </a:rPr>
              <a:t>www.javatpoint.com</a:t>
            </a:r>
            <a:r>
              <a:rPr lang="en-US" dirty="0">
                <a:hlinkClick r:id="rId5"/>
              </a:rPr>
              <a:t>/java-do-while-loop</a:t>
            </a:r>
            <a:endParaRPr lang="en-US" dirty="0" smtClean="0"/>
          </a:p>
          <a:p>
            <a:r>
              <a:rPr lang="en-US" dirty="0">
                <a:hlinkClick r:id="rId6"/>
              </a:rPr>
              <a:t>https://</a:t>
            </a:r>
            <a:r>
              <a:rPr lang="en-US" dirty="0" err="1" smtClean="0">
                <a:hlinkClick r:id="rId6"/>
              </a:rPr>
              <a:t>www.w3schools.com</a:t>
            </a:r>
            <a:r>
              <a:rPr lang="en-US" dirty="0" smtClean="0">
                <a:hlinkClick r:id="rId6"/>
              </a:rPr>
              <a:t>/java/</a:t>
            </a:r>
            <a:r>
              <a:rPr lang="en-US" dirty="0" err="1" smtClean="0">
                <a:hlinkClick r:id="rId6"/>
              </a:rPr>
              <a:t>java_for_loop.asp</a:t>
            </a:r>
            <a:endParaRPr lang="en-US" dirty="0" smtClean="0"/>
          </a:p>
          <a:p>
            <a:r>
              <a:rPr lang="en-US" dirty="0">
                <a:hlinkClick r:id="rId7"/>
              </a:rPr>
              <a:t>https://</a:t>
            </a:r>
            <a:r>
              <a:rPr lang="en-US" dirty="0" err="1">
                <a:hlinkClick r:id="rId7"/>
              </a:rPr>
              <a:t>www.geeksforgeeks.org</a:t>
            </a:r>
            <a:r>
              <a:rPr lang="en-US" dirty="0">
                <a:hlinkClick r:id="rId7"/>
              </a:rPr>
              <a:t>/loops-in-java</a:t>
            </a:r>
            <a:r>
              <a:rPr lang="en-US" dirty="0" smtClean="0">
                <a:hlinkClick r:id="rId7"/>
              </a:rPr>
              <a:t>/</a:t>
            </a:r>
            <a:endParaRPr lang="en-US" dirty="0" smtClean="0"/>
          </a:p>
          <a:p>
            <a:r>
              <a:rPr lang="en-US" dirty="0">
                <a:hlinkClick r:id="rId8"/>
              </a:rPr>
              <a:t>https://</a:t>
            </a:r>
            <a:r>
              <a:rPr lang="en-US" dirty="0" err="1">
                <a:hlinkClick r:id="rId8"/>
              </a:rPr>
              <a:t>www.tutorialspoint.com</a:t>
            </a:r>
            <a:r>
              <a:rPr lang="en-US" dirty="0">
                <a:hlinkClick r:id="rId8"/>
              </a:rPr>
              <a:t>/java/</a:t>
            </a:r>
            <a:r>
              <a:rPr lang="en-US" dirty="0" err="1">
                <a:hlinkClick r:id="rId8"/>
              </a:rPr>
              <a:t>java_loop_control.htm</a:t>
            </a:r>
            <a:endParaRPr lang="en-US"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19</a:t>
            </a:fld>
            <a:endParaRPr lang="en-US" dirty="0"/>
          </a:p>
        </p:txBody>
      </p:sp>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37BB8C-BA62-BC4F-B0F8-D5F9321E2E79}"/>
              </a:ext>
            </a:extLst>
          </p:cNvPr>
          <p:cNvPicPr>
            <a:picLocks noChangeAspect="1"/>
          </p:cNvPicPr>
          <p:nvPr/>
        </p:nvPicPr>
        <p:blipFill>
          <a:blip r:embed="rId2"/>
          <a:stretch>
            <a:fillRect/>
          </a:stretch>
        </p:blipFill>
        <p:spPr>
          <a:xfrm>
            <a:off x="4440837" y="1888320"/>
            <a:ext cx="3310326" cy="3528808"/>
          </a:xfrm>
          <a:prstGeom prst="rect">
            <a:avLst/>
          </a:prstGeom>
        </p:spPr>
      </p:pic>
    </p:spTree>
    <p:extLst>
      <p:ext uri="{BB962C8B-B14F-4D97-AF65-F5344CB8AC3E}">
        <p14:creationId xmlns:p14="http://schemas.microsoft.com/office/powerpoint/2010/main" val="47562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VTCA-Slide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VTCA-SlideTheme" id="{5A24C4A4-58B6-8948-A62B-40090020C92E}" vid="{BD9F6502-1B8F-D14C-8309-CDC4C42FFF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7285</TotalTime>
  <Words>668</Words>
  <Application>Microsoft Office PowerPoint</Application>
  <PresentationFormat>Custom</PresentationFormat>
  <Paragraphs>293</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VTCA-SlideTheme</vt:lpstr>
      <vt:lpstr>Introduction to Programming</vt:lpstr>
      <vt:lpstr>Objectives</vt:lpstr>
      <vt:lpstr>Loops in Java</vt:lpstr>
      <vt:lpstr>Java For Loop</vt:lpstr>
      <vt:lpstr>Java For Loop</vt:lpstr>
      <vt:lpstr>Java For Loop</vt:lpstr>
      <vt:lpstr>Java Nested For Loop</vt:lpstr>
      <vt:lpstr>Java for-each Loop</vt:lpstr>
      <vt:lpstr>Java for-each Loop</vt:lpstr>
      <vt:lpstr>Java While Loop</vt:lpstr>
      <vt:lpstr>Java While Loop</vt:lpstr>
      <vt:lpstr>Java do-while Loop</vt:lpstr>
      <vt:lpstr>Java do-while Loop</vt:lpstr>
      <vt:lpstr>Java Break</vt:lpstr>
      <vt:lpstr>Java Break</vt:lpstr>
      <vt:lpstr>Java Continue</vt:lpstr>
      <vt:lpstr>Java Continue</vt:lpstr>
      <vt:lpstr>Java For Loop vs While Loop vs Do While Loop</vt:lpstr>
      <vt:lpstr>References</vt:lpstr>
      <vt:lpstr>PowerPoint Presentation</vt:lpstr>
    </vt:vector>
  </TitlesOfParts>
  <Company>VTC Academy</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 hình đào tạo đáp ứng nhu cầu doanh nghiệp</dc:title>
  <dc:creator>hieutd@vtc.edu.vn</dc:creator>
  <cp:lastModifiedBy>Vitinh TT2</cp:lastModifiedBy>
  <cp:revision>537</cp:revision>
  <dcterms:created xsi:type="dcterms:W3CDTF">2019-05-17T12:57:33Z</dcterms:created>
  <dcterms:modified xsi:type="dcterms:W3CDTF">2019-11-07T22:20:54Z</dcterms:modified>
</cp:coreProperties>
</file>