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34"/>
  </p:notesMasterIdLst>
  <p:sldIdLst>
    <p:sldId id="282" r:id="rId2"/>
    <p:sldId id="285" r:id="rId3"/>
    <p:sldId id="297" r:id="rId4"/>
    <p:sldId id="372" r:id="rId5"/>
    <p:sldId id="373" r:id="rId6"/>
    <p:sldId id="358" r:id="rId7"/>
    <p:sldId id="374" r:id="rId8"/>
    <p:sldId id="375" r:id="rId9"/>
    <p:sldId id="359" r:id="rId10"/>
    <p:sldId id="360" r:id="rId11"/>
    <p:sldId id="376" r:id="rId12"/>
    <p:sldId id="321" r:id="rId13"/>
    <p:sldId id="377" r:id="rId14"/>
    <p:sldId id="379" r:id="rId15"/>
    <p:sldId id="378" r:id="rId16"/>
    <p:sldId id="380" r:id="rId17"/>
    <p:sldId id="381" r:id="rId18"/>
    <p:sldId id="382" r:id="rId19"/>
    <p:sldId id="383" r:id="rId20"/>
    <p:sldId id="384" r:id="rId21"/>
    <p:sldId id="385" r:id="rId22"/>
    <p:sldId id="386" r:id="rId23"/>
    <p:sldId id="391" r:id="rId24"/>
    <p:sldId id="392" r:id="rId25"/>
    <p:sldId id="387" r:id="rId26"/>
    <p:sldId id="388" r:id="rId27"/>
    <p:sldId id="389" r:id="rId28"/>
    <p:sldId id="390" r:id="rId29"/>
    <p:sldId id="393" r:id="rId30"/>
    <p:sldId id="394" r:id="rId31"/>
    <p:sldId id="294" r:id="rId32"/>
    <p:sldId id="26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2514" autoAdjust="0"/>
  </p:normalViewPr>
  <p:slideViewPr>
    <p:cSldViewPr snapToGrid="0" snapToObjects="1">
      <p:cViewPr>
        <p:scale>
          <a:sx n="75" d="100"/>
          <a:sy n="75" d="100"/>
        </p:scale>
        <p:origin x="-528" y="-7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01/12/2019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xmlns=""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xmlns=""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xmlns=""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xmlns=""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xmlns=""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xmlns=""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xmlns=""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xmlns=""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xmlns=""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xmlns=""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xmlns=""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xmlns=""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xmlns=""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www.journaldev.com/1260/collections-in-java-tutorial" TargetMode="External"/><Relationship Id="rId3" Type="http://schemas.openxmlformats.org/officeDocument/2006/relationships/hyperlink" Target="https://viettuts.vn/java-collection" TargetMode="External"/><Relationship Id="rId7" Type="http://schemas.openxmlformats.org/officeDocument/2006/relationships/hyperlink" Target="https://www.tutorialspoint.com/java/java_collections.htm" TargetMode="External"/><Relationship Id="rId2" Type="http://schemas.openxmlformats.org/officeDocument/2006/relationships/hyperlink" Target="https://www.javatpoint.com/collections-in-java" TargetMode="External"/><Relationship Id="rId1" Type="http://schemas.openxmlformats.org/officeDocument/2006/relationships/slideLayout" Target="../slideLayouts/slideLayout2.xml"/><Relationship Id="rId6" Type="http://schemas.openxmlformats.org/officeDocument/2006/relationships/hyperlink" Target="https://viblo.asia/p/tong-quan-ve-collections-trong-java-maGK7E0Dlj2" TargetMode="External"/><Relationship Id="rId5" Type="http://schemas.openxmlformats.org/officeDocument/2006/relationships/hyperlink" Target="https://howtodoinjava.com/java-collections/" TargetMode="External"/><Relationship Id="rId10" Type="http://schemas.openxmlformats.org/officeDocument/2006/relationships/hyperlink" Target="https://www.callicoder.com/java-queue/" TargetMode="External"/><Relationship Id="rId4" Type="http://schemas.openxmlformats.org/officeDocument/2006/relationships/hyperlink" Target="https://www.geeksforgeeks.org/collections-in-java-2/" TargetMode="External"/><Relationship Id="rId9" Type="http://schemas.openxmlformats.org/officeDocument/2006/relationships/hyperlink" Target="https://www.callicoder.com/java-arraylist/"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a16="http://schemas.microsoft.com/office/drawing/2014/main" xmlns="" id="{DA0CEDCB-5CE2-1B41-9D8B-CA0EB9D3BBD7}"/>
              </a:ext>
            </a:extLst>
          </p:cNvPr>
          <p:cNvSpPr>
            <a:spLocks noGrp="1"/>
          </p:cNvSpPr>
          <p:nvPr>
            <p:ph type="subTitle" idx="1"/>
          </p:nvPr>
        </p:nvSpPr>
        <p:spPr/>
        <p:txBody>
          <a:bodyPr>
            <a:normAutofit/>
          </a:bodyPr>
          <a:lstStyle/>
          <a:p>
            <a:r>
              <a:rPr lang="en-US" sz="3600" dirty="0"/>
              <a:t>Session </a:t>
            </a:r>
            <a:r>
              <a:rPr lang="en-US" sz="3600" dirty="0" smtClean="0"/>
              <a:t>10</a:t>
            </a:r>
          </a:p>
          <a:p>
            <a:r>
              <a:rPr lang="en-US" sz="3600" dirty="0" smtClean="0"/>
              <a:t>Collections in Java</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r>
              <a:rPr lang="en-US" sz="3200" dirty="0" smtClean="0"/>
              <a:t>Java Collections.</a:t>
            </a:r>
          </a:p>
          <a:p>
            <a:r>
              <a:rPr lang="en-US" sz="3200" dirty="0"/>
              <a:t>Methods of Collection </a:t>
            </a:r>
            <a:r>
              <a:rPr lang="en-US" sz="3200" dirty="0" smtClean="0"/>
              <a:t>interface</a:t>
            </a:r>
          </a:p>
          <a:p>
            <a:r>
              <a:rPr lang="en-US" sz="3200" dirty="0" err="1" smtClean="0"/>
              <a:t>ArrayList</a:t>
            </a:r>
            <a:endParaRPr lang="en-US" sz="3200" dirty="0" smtClean="0"/>
          </a:p>
          <a:p>
            <a:r>
              <a:rPr lang="en-US" sz="3200" dirty="0" smtClean="0"/>
              <a:t>Demo </a:t>
            </a:r>
            <a:r>
              <a:rPr lang="en-US" sz="3200" dirty="0" err="1" smtClean="0"/>
              <a:t>ArrayList</a:t>
            </a:r>
            <a:endParaRPr lang="en-US" sz="3200" dirty="0" smtClean="0"/>
          </a:p>
          <a:p>
            <a:r>
              <a:rPr lang="en-US" sz="3200" dirty="0" smtClean="0"/>
              <a:t>Stack</a:t>
            </a:r>
          </a:p>
          <a:p>
            <a:r>
              <a:rPr lang="en-US" sz="3200" dirty="0"/>
              <a:t>Demo </a:t>
            </a:r>
            <a:r>
              <a:rPr lang="en-US" sz="3200" dirty="0" smtClean="0"/>
              <a:t>Stack</a:t>
            </a:r>
          </a:p>
          <a:p>
            <a:r>
              <a:rPr lang="en-US" sz="3200" dirty="0" smtClean="0"/>
              <a:t>Queue.</a:t>
            </a:r>
          </a:p>
          <a:p>
            <a:r>
              <a:rPr lang="en-US" sz="3200" dirty="0"/>
              <a:t>Demo </a:t>
            </a:r>
            <a:r>
              <a:rPr lang="en-US" sz="3200" dirty="0" smtClean="0"/>
              <a:t>Queue</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a:t>Java </a:t>
            </a:r>
            <a:r>
              <a:rPr lang="en-US" sz="3200" smtClean="0"/>
              <a:t>Collections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lnSpcReduction="10000"/>
          </a:bodyPr>
          <a:lstStyle/>
          <a:p>
            <a:pPr algn="just" fontAlgn="base"/>
            <a:r>
              <a:rPr lang="en-US" sz="3200" dirty="0"/>
              <a:t>The Collection in Java is a framework that provides an architecture to store and manipulate the group of objects</a:t>
            </a:r>
            <a:r>
              <a:rPr lang="en-US" sz="3200" dirty="0" smtClean="0"/>
              <a:t>.</a:t>
            </a:r>
            <a:endParaRPr lang="en-US" sz="3200" dirty="0"/>
          </a:p>
          <a:p>
            <a:pPr algn="just" fontAlgn="base"/>
            <a:r>
              <a:rPr lang="en-US" sz="3200" dirty="0"/>
              <a:t>Java Collections can achieve all the operations that you perform on a data such as searching, sorting, insertion, manipulation, and deletion</a:t>
            </a:r>
            <a:r>
              <a:rPr lang="en-US" sz="3200" dirty="0" smtClean="0"/>
              <a:t>.</a:t>
            </a:r>
            <a:endParaRPr lang="en-US" sz="3200" dirty="0"/>
          </a:p>
          <a:p>
            <a:pPr algn="just" fontAlgn="base"/>
            <a:r>
              <a:rPr lang="en-US" sz="3200" dirty="0"/>
              <a:t>Java Collection means a single unit of objects. Java Collection framework provides many interfaces (Set, List, Queue, </a:t>
            </a:r>
            <a:r>
              <a:rPr lang="en-US" sz="3200" dirty="0" err="1"/>
              <a:t>Deque</a:t>
            </a:r>
            <a:r>
              <a:rPr lang="en-US" sz="3200" dirty="0"/>
              <a:t>) and classes (</a:t>
            </a:r>
            <a:r>
              <a:rPr lang="en-US" sz="3200" dirty="0" err="1"/>
              <a:t>ArrayList</a:t>
            </a:r>
            <a:r>
              <a:rPr lang="en-US" sz="3200" dirty="0"/>
              <a:t>, Vector, </a:t>
            </a:r>
            <a:r>
              <a:rPr lang="en-US" sz="3200" dirty="0" err="1"/>
              <a:t>LinkedList</a:t>
            </a:r>
            <a:r>
              <a:rPr lang="en-US" sz="3200" dirty="0"/>
              <a:t>, </a:t>
            </a:r>
            <a:r>
              <a:rPr lang="en-US" sz="3200" dirty="0" err="1"/>
              <a:t>PriorityQueue</a:t>
            </a:r>
            <a:r>
              <a:rPr lang="en-US" sz="3200" dirty="0"/>
              <a:t>, </a:t>
            </a:r>
            <a:r>
              <a:rPr lang="en-US" sz="3200" dirty="0" err="1"/>
              <a:t>HashSet</a:t>
            </a:r>
            <a:r>
              <a:rPr lang="en-US" sz="3200" dirty="0"/>
              <a:t>, </a:t>
            </a:r>
            <a:r>
              <a:rPr lang="en-US" sz="3200" dirty="0" err="1"/>
              <a:t>LinkedHashSet</a:t>
            </a:r>
            <a:r>
              <a:rPr lang="en-US" sz="3200" dirty="0"/>
              <a:t>, </a:t>
            </a:r>
            <a:r>
              <a:rPr lang="en-US" sz="3200" dirty="0" err="1"/>
              <a:t>TreeSet</a:t>
            </a:r>
            <a:r>
              <a:rPr lang="en-US" sz="3200" dirty="0" smtClean="0"/>
              <a:t>).</a:t>
            </a:r>
          </a:p>
          <a:p>
            <a:pPr algn="just" fontAlgn="base"/>
            <a:r>
              <a:rPr lang="en-US" sz="3200" dirty="0"/>
              <a:t>The Collection interface (</a:t>
            </a:r>
            <a:r>
              <a:rPr lang="en-US" sz="3200" b="1" dirty="0" err="1"/>
              <a:t>java.util.Collection</a:t>
            </a:r>
            <a:r>
              <a:rPr lang="en-US" sz="3200" dirty="0"/>
              <a:t>) and Map interface (</a:t>
            </a:r>
            <a:r>
              <a:rPr lang="en-US" sz="3200" b="1" dirty="0" err="1"/>
              <a:t>java.util.Map</a:t>
            </a:r>
            <a:r>
              <a:rPr lang="en-US" sz="3200" dirty="0"/>
              <a:t>) are the two main “root” interfaces of Java collection classes.</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a:t>Java </a:t>
            </a:r>
            <a:r>
              <a:rPr lang="en-US" sz="3200" smtClean="0"/>
              <a:t>Collections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Benefits of Java Collections </a:t>
            </a:r>
            <a:r>
              <a:rPr lang="en-US" sz="3200" dirty="0" smtClean="0"/>
              <a:t>Framework:</a:t>
            </a:r>
            <a:endParaRPr lang="en-US" sz="3200" dirty="0"/>
          </a:p>
          <a:p>
            <a:pPr lvl="1" algn="just" fontAlgn="base"/>
            <a:r>
              <a:rPr lang="en-US" sz="2800" dirty="0" smtClean="0"/>
              <a:t>Reduced </a:t>
            </a:r>
            <a:r>
              <a:rPr lang="en-US" sz="2800" dirty="0"/>
              <a:t>Development Effort – It comes with almost all common types of collections and useful methods to iterate and manipulate the data. So we can concentrate more on business logic rather than designing our collection APIs.</a:t>
            </a:r>
          </a:p>
          <a:p>
            <a:pPr lvl="1" algn="just" fontAlgn="base"/>
            <a:r>
              <a:rPr lang="en-US" sz="2800" dirty="0"/>
              <a:t>Increased Quality – Using core collection classes that are well tested increases our program quality rather than using any home developed data structure.</a:t>
            </a:r>
          </a:p>
          <a:p>
            <a:pPr lvl="1" algn="just" fontAlgn="base"/>
            <a:r>
              <a:rPr lang="en-US" sz="2800" dirty="0"/>
              <a:t>Reusability and Interoperability</a:t>
            </a:r>
          </a:p>
          <a:p>
            <a:pPr lvl="1" algn="just" fontAlgn="base"/>
            <a:r>
              <a:rPr lang="en-US" sz="2800" dirty="0"/>
              <a:t>Reduce effort – to learn any new API if we use core collection API classes.</a:t>
            </a:r>
            <a:endParaRPr lang="en-US" sz="28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spTree>
    <p:extLst>
      <p:ext uri="{BB962C8B-B14F-4D97-AF65-F5344CB8AC3E}">
        <p14:creationId xmlns:p14="http://schemas.microsoft.com/office/powerpoint/2010/main" val="2980120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Hierarchy of Collection Framework</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endParaRPr lang="en-US" sz="28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797" y="1074057"/>
            <a:ext cx="6383564" cy="551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7755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Methods of Collection interface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523745090"/>
              </p:ext>
            </p:extLst>
          </p:nvPr>
        </p:nvGraphicFramePr>
        <p:xfrm>
          <a:off x="537029" y="1074743"/>
          <a:ext cx="11451771" cy="5067928"/>
        </p:xfrm>
        <a:graphic>
          <a:graphicData uri="http://schemas.openxmlformats.org/drawingml/2006/table">
            <a:tbl>
              <a:tblPr>
                <a:tableStyleId>{5C22544A-7EE6-4342-B048-85BDC9FD1C3A}</a:tableStyleId>
              </a:tblPr>
              <a:tblGrid>
                <a:gridCol w="777444"/>
                <a:gridCol w="4049335"/>
                <a:gridCol w="6624992"/>
              </a:tblGrid>
              <a:tr h="242815">
                <a:tc>
                  <a:txBody>
                    <a:bodyPr/>
                    <a:lstStyle/>
                    <a:p>
                      <a:pPr algn="l" fontAlgn="t"/>
                      <a:r>
                        <a:rPr lang="en-US" sz="2000" b="1" u="none" strike="noStrike" dirty="0">
                          <a:effectLst/>
                        </a:rPr>
                        <a:t>No.</a:t>
                      </a:r>
                      <a:endParaRPr lang="en-US" sz="2000" b="1" i="0" u="none" strike="noStrike" dirty="0">
                        <a:solidFill>
                          <a:srgbClr val="000000"/>
                        </a:solidFill>
                        <a:effectLst/>
                        <a:latin typeface="Times New Roman"/>
                      </a:endParaRPr>
                    </a:p>
                  </a:txBody>
                  <a:tcPr marL="69447" marR="7716" marT="7716" marB="0"/>
                </a:tc>
                <a:tc>
                  <a:txBody>
                    <a:bodyPr/>
                    <a:lstStyle/>
                    <a:p>
                      <a:pPr algn="l" fontAlgn="t"/>
                      <a:r>
                        <a:rPr lang="en-US" sz="2000" b="1" u="none" strike="noStrike">
                          <a:effectLst/>
                        </a:rPr>
                        <a:t>Method</a:t>
                      </a:r>
                      <a:endParaRPr lang="en-US" sz="2000" b="1" i="0" u="none" strike="noStrike">
                        <a:solidFill>
                          <a:srgbClr val="000000"/>
                        </a:solidFill>
                        <a:effectLst/>
                        <a:latin typeface="Times New Roman"/>
                      </a:endParaRPr>
                    </a:p>
                  </a:txBody>
                  <a:tcPr marL="69447" marR="7716" marT="7716" marB="0"/>
                </a:tc>
                <a:tc>
                  <a:txBody>
                    <a:bodyPr/>
                    <a:lstStyle/>
                    <a:p>
                      <a:pPr algn="l" fontAlgn="t"/>
                      <a:r>
                        <a:rPr lang="en-US" sz="2000" b="1" u="none" strike="noStrike" dirty="0">
                          <a:effectLst/>
                        </a:rPr>
                        <a:t>Description</a:t>
                      </a:r>
                      <a:endParaRPr lang="en-US" sz="2000" b="1" i="0" u="none" strike="noStrike" dirty="0">
                        <a:solidFill>
                          <a:srgbClr val="000000"/>
                        </a:solidFill>
                        <a:effectLst/>
                        <a:latin typeface="Times New Roman"/>
                      </a:endParaRPr>
                    </a:p>
                  </a:txBody>
                  <a:tcPr marL="69447" marR="7716" marT="7716" marB="0"/>
                </a:tc>
              </a:tr>
              <a:tr h="221700">
                <a:tc>
                  <a:txBody>
                    <a:bodyPr/>
                    <a:lstStyle/>
                    <a:p>
                      <a:pPr algn="l" fontAlgn="t"/>
                      <a:r>
                        <a:rPr lang="en-US" sz="2000" u="none" strike="noStrike">
                          <a:effectLst/>
                        </a:rPr>
                        <a:t>1</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public boolean add(E e)</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It is used to insert an element in this collection.</a:t>
                      </a:r>
                      <a:endParaRPr lang="en-US" sz="2000" b="0" i="0" u="none" strike="noStrike">
                        <a:solidFill>
                          <a:srgbClr val="000000"/>
                        </a:solidFill>
                        <a:effectLst/>
                        <a:latin typeface="Verdana"/>
                      </a:endParaRPr>
                    </a:p>
                  </a:txBody>
                  <a:tcPr marL="138893" marR="7716" marT="7716" marB="0"/>
                </a:tc>
              </a:tr>
              <a:tr h="369500">
                <a:tc>
                  <a:txBody>
                    <a:bodyPr/>
                    <a:lstStyle/>
                    <a:p>
                      <a:pPr algn="l" fontAlgn="t"/>
                      <a:r>
                        <a:rPr lang="en-US" sz="2000" u="none" strike="noStrike">
                          <a:effectLst/>
                        </a:rPr>
                        <a:t>2</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public boolean addAll(Collection&lt;? extends E&gt; c)</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It is used to insert the specified collection elements in the invoking collection.</a:t>
                      </a:r>
                      <a:endParaRPr lang="en-US" sz="2000" b="0" i="0" u="none" strike="noStrike">
                        <a:solidFill>
                          <a:srgbClr val="000000"/>
                        </a:solidFill>
                        <a:effectLst/>
                        <a:latin typeface="Verdana"/>
                      </a:endParaRPr>
                    </a:p>
                  </a:txBody>
                  <a:tcPr marL="138893" marR="7716" marT="7716" marB="0"/>
                </a:tc>
              </a:tr>
              <a:tr h="221700">
                <a:tc>
                  <a:txBody>
                    <a:bodyPr/>
                    <a:lstStyle/>
                    <a:p>
                      <a:pPr algn="l" fontAlgn="t"/>
                      <a:r>
                        <a:rPr lang="en-US" sz="2000" u="none" strike="noStrike">
                          <a:effectLst/>
                        </a:rPr>
                        <a:t>3</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dirty="0">
                          <a:effectLst/>
                        </a:rPr>
                        <a:t>public </a:t>
                      </a:r>
                      <a:r>
                        <a:rPr lang="en-US" sz="2000" u="none" strike="noStrike" dirty="0" err="1">
                          <a:effectLst/>
                        </a:rPr>
                        <a:t>boolean</a:t>
                      </a:r>
                      <a:r>
                        <a:rPr lang="en-US" sz="2000" u="none" strike="noStrike" dirty="0">
                          <a:effectLst/>
                        </a:rPr>
                        <a:t> remove(Object element)</a:t>
                      </a:r>
                      <a:endParaRPr lang="en-US" sz="2000" b="0" i="0" u="none" strike="noStrike" dirty="0">
                        <a:solidFill>
                          <a:srgbClr val="000000"/>
                        </a:solidFill>
                        <a:effectLst/>
                        <a:latin typeface="Verdana"/>
                      </a:endParaRPr>
                    </a:p>
                  </a:txBody>
                  <a:tcPr marL="138893" marR="7716" marT="7716" marB="0"/>
                </a:tc>
                <a:tc>
                  <a:txBody>
                    <a:bodyPr/>
                    <a:lstStyle/>
                    <a:p>
                      <a:pPr algn="l" fontAlgn="t"/>
                      <a:r>
                        <a:rPr lang="en-US" sz="2000" u="none" strike="noStrike" dirty="0">
                          <a:effectLst/>
                        </a:rPr>
                        <a:t>It is used to delete an element from the collection.</a:t>
                      </a:r>
                      <a:endParaRPr lang="en-US" sz="2000" b="0" i="0" u="none" strike="noStrike" dirty="0">
                        <a:solidFill>
                          <a:srgbClr val="000000"/>
                        </a:solidFill>
                        <a:effectLst/>
                        <a:latin typeface="Verdana"/>
                      </a:endParaRPr>
                    </a:p>
                  </a:txBody>
                  <a:tcPr marL="138893" marR="7716" marT="7716" marB="0"/>
                </a:tc>
              </a:tr>
              <a:tr h="369500">
                <a:tc>
                  <a:txBody>
                    <a:bodyPr/>
                    <a:lstStyle/>
                    <a:p>
                      <a:pPr algn="l" fontAlgn="t"/>
                      <a:r>
                        <a:rPr lang="en-US" sz="2000" u="none" strike="noStrike">
                          <a:effectLst/>
                        </a:rPr>
                        <a:t>4</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dirty="0">
                          <a:effectLst/>
                        </a:rPr>
                        <a:t>public </a:t>
                      </a:r>
                      <a:r>
                        <a:rPr lang="en-US" sz="2000" u="none" strike="noStrike" dirty="0" err="1">
                          <a:effectLst/>
                        </a:rPr>
                        <a:t>boolean</a:t>
                      </a:r>
                      <a:r>
                        <a:rPr lang="en-US" sz="2000" u="none" strike="noStrike" dirty="0">
                          <a:effectLst/>
                        </a:rPr>
                        <a:t> </a:t>
                      </a:r>
                      <a:r>
                        <a:rPr lang="en-US" sz="2000" u="none" strike="noStrike" dirty="0" err="1">
                          <a:effectLst/>
                        </a:rPr>
                        <a:t>removeAll</a:t>
                      </a:r>
                      <a:r>
                        <a:rPr lang="en-US" sz="2000" u="none" strike="noStrike" dirty="0">
                          <a:effectLst/>
                        </a:rPr>
                        <a:t>(Collection&lt;?&gt; c)</a:t>
                      </a:r>
                      <a:endParaRPr lang="en-US" sz="2000" b="0" i="0" u="none" strike="noStrike" dirty="0">
                        <a:solidFill>
                          <a:srgbClr val="000000"/>
                        </a:solidFill>
                        <a:effectLst/>
                        <a:latin typeface="Verdana"/>
                      </a:endParaRPr>
                    </a:p>
                  </a:txBody>
                  <a:tcPr marL="138893" marR="7716" marT="7716" marB="0"/>
                </a:tc>
                <a:tc>
                  <a:txBody>
                    <a:bodyPr/>
                    <a:lstStyle/>
                    <a:p>
                      <a:pPr algn="l" fontAlgn="t"/>
                      <a:r>
                        <a:rPr lang="en-US" sz="2000" u="none" strike="noStrike" dirty="0">
                          <a:effectLst/>
                        </a:rPr>
                        <a:t>It is used to delete all the elements of the specified collection from the invoking collection.</a:t>
                      </a:r>
                      <a:endParaRPr lang="en-US" sz="2000" b="0" i="0" u="none" strike="noStrike" dirty="0">
                        <a:solidFill>
                          <a:srgbClr val="000000"/>
                        </a:solidFill>
                        <a:effectLst/>
                        <a:latin typeface="Verdana"/>
                      </a:endParaRPr>
                    </a:p>
                  </a:txBody>
                  <a:tcPr marL="138893" marR="7716" marT="7716" marB="0"/>
                </a:tc>
              </a:tr>
              <a:tr h="369500">
                <a:tc>
                  <a:txBody>
                    <a:bodyPr/>
                    <a:lstStyle/>
                    <a:p>
                      <a:pPr algn="l" fontAlgn="t"/>
                      <a:r>
                        <a:rPr lang="en-US" sz="2000" u="none" strike="noStrike">
                          <a:effectLst/>
                        </a:rPr>
                        <a:t>5</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default boolean removeIf(Predicate&lt;? super E&gt; filter)</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dirty="0">
                          <a:effectLst/>
                        </a:rPr>
                        <a:t>It is used to delete all the elements of the collection that satisfy the specified predicate.</a:t>
                      </a:r>
                      <a:endParaRPr lang="en-US" sz="2000" b="0" i="0" u="none" strike="noStrike" dirty="0">
                        <a:solidFill>
                          <a:srgbClr val="000000"/>
                        </a:solidFill>
                        <a:effectLst/>
                        <a:latin typeface="Verdana"/>
                      </a:endParaRPr>
                    </a:p>
                  </a:txBody>
                  <a:tcPr marL="138893" marR="7716" marT="7716" marB="0"/>
                </a:tc>
              </a:tr>
              <a:tr h="369500">
                <a:tc>
                  <a:txBody>
                    <a:bodyPr/>
                    <a:lstStyle/>
                    <a:p>
                      <a:pPr algn="l" fontAlgn="t"/>
                      <a:r>
                        <a:rPr lang="en-US" sz="2000" u="none" strike="noStrike" dirty="0">
                          <a:effectLst/>
                        </a:rPr>
                        <a:t>6</a:t>
                      </a:r>
                      <a:endParaRPr lang="en-US" sz="2000" b="0" i="0" u="none" strike="noStrike" dirty="0">
                        <a:solidFill>
                          <a:srgbClr val="000000"/>
                        </a:solidFill>
                        <a:effectLst/>
                        <a:latin typeface="Verdana"/>
                      </a:endParaRPr>
                    </a:p>
                  </a:txBody>
                  <a:tcPr marL="138893" marR="7716" marT="7716" marB="0"/>
                </a:tc>
                <a:tc>
                  <a:txBody>
                    <a:bodyPr/>
                    <a:lstStyle/>
                    <a:p>
                      <a:pPr algn="l" fontAlgn="t"/>
                      <a:r>
                        <a:rPr lang="en-US" sz="2000" u="none" strike="noStrike" dirty="0">
                          <a:effectLst/>
                        </a:rPr>
                        <a:t>public </a:t>
                      </a:r>
                      <a:r>
                        <a:rPr lang="en-US" sz="2000" u="none" strike="noStrike" dirty="0" err="1">
                          <a:effectLst/>
                        </a:rPr>
                        <a:t>boolean</a:t>
                      </a:r>
                      <a:r>
                        <a:rPr lang="en-US" sz="2000" u="none" strike="noStrike" dirty="0">
                          <a:effectLst/>
                        </a:rPr>
                        <a:t> </a:t>
                      </a:r>
                      <a:r>
                        <a:rPr lang="en-US" sz="2000" u="none" strike="noStrike" dirty="0" err="1">
                          <a:effectLst/>
                        </a:rPr>
                        <a:t>retainAll</a:t>
                      </a:r>
                      <a:r>
                        <a:rPr lang="en-US" sz="2000" u="none" strike="noStrike" dirty="0">
                          <a:effectLst/>
                        </a:rPr>
                        <a:t>(Collection&lt;?&gt; c)</a:t>
                      </a:r>
                      <a:endParaRPr lang="en-US" sz="2000" b="0" i="0" u="none" strike="noStrike" dirty="0">
                        <a:solidFill>
                          <a:srgbClr val="000000"/>
                        </a:solidFill>
                        <a:effectLst/>
                        <a:latin typeface="Verdana"/>
                      </a:endParaRPr>
                    </a:p>
                  </a:txBody>
                  <a:tcPr marL="138893" marR="7716" marT="7716" marB="0"/>
                </a:tc>
                <a:tc>
                  <a:txBody>
                    <a:bodyPr/>
                    <a:lstStyle/>
                    <a:p>
                      <a:pPr algn="l" fontAlgn="t"/>
                      <a:r>
                        <a:rPr lang="en-US" sz="2000" u="none" strike="noStrike">
                          <a:effectLst/>
                        </a:rPr>
                        <a:t>It is used to delete all the elements of invoking collection except the specified collection.</a:t>
                      </a:r>
                      <a:endParaRPr lang="en-US" sz="2000" b="0" i="0" u="none" strike="noStrike">
                        <a:solidFill>
                          <a:srgbClr val="000000"/>
                        </a:solidFill>
                        <a:effectLst/>
                        <a:latin typeface="Verdana"/>
                      </a:endParaRPr>
                    </a:p>
                  </a:txBody>
                  <a:tcPr marL="138893" marR="7716" marT="7716" marB="0"/>
                </a:tc>
              </a:tr>
              <a:tr h="369500">
                <a:tc>
                  <a:txBody>
                    <a:bodyPr/>
                    <a:lstStyle/>
                    <a:p>
                      <a:pPr algn="l" fontAlgn="t"/>
                      <a:r>
                        <a:rPr lang="en-US" sz="2000" u="none" strike="noStrike">
                          <a:effectLst/>
                        </a:rPr>
                        <a:t>7</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public int size()</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It returns the total number of elements in the collection.</a:t>
                      </a:r>
                      <a:endParaRPr lang="en-US" sz="2000" b="0" i="0" u="none" strike="noStrike">
                        <a:solidFill>
                          <a:srgbClr val="000000"/>
                        </a:solidFill>
                        <a:effectLst/>
                        <a:latin typeface="Verdana"/>
                      </a:endParaRPr>
                    </a:p>
                  </a:txBody>
                  <a:tcPr marL="138893" marR="7716" marT="7716" marB="0"/>
                </a:tc>
              </a:tr>
              <a:tr h="369500">
                <a:tc>
                  <a:txBody>
                    <a:bodyPr/>
                    <a:lstStyle/>
                    <a:p>
                      <a:pPr algn="l" fontAlgn="t"/>
                      <a:r>
                        <a:rPr lang="en-US" sz="2000" u="none" strike="noStrike">
                          <a:effectLst/>
                        </a:rPr>
                        <a:t>8</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public void clear()</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It removes the total number of elements from the collection.</a:t>
                      </a:r>
                      <a:endParaRPr lang="en-US" sz="2000" b="0" i="0" u="none" strike="noStrike">
                        <a:solidFill>
                          <a:srgbClr val="000000"/>
                        </a:solidFill>
                        <a:effectLst/>
                        <a:latin typeface="Verdana"/>
                      </a:endParaRPr>
                    </a:p>
                  </a:txBody>
                  <a:tcPr marL="138893" marR="7716" marT="7716" marB="0"/>
                </a:tc>
              </a:tr>
              <a:tr h="221700">
                <a:tc>
                  <a:txBody>
                    <a:bodyPr/>
                    <a:lstStyle/>
                    <a:p>
                      <a:pPr algn="l" fontAlgn="t"/>
                      <a:r>
                        <a:rPr lang="en-US" sz="2000" u="none" strike="noStrike">
                          <a:effectLst/>
                        </a:rPr>
                        <a:t>9</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a:effectLst/>
                        </a:rPr>
                        <a:t>public boolean contains(Object element)</a:t>
                      </a:r>
                      <a:endParaRPr lang="en-US" sz="2000" b="0" i="0" u="none" strike="noStrike">
                        <a:solidFill>
                          <a:srgbClr val="000000"/>
                        </a:solidFill>
                        <a:effectLst/>
                        <a:latin typeface="Verdana"/>
                      </a:endParaRPr>
                    </a:p>
                  </a:txBody>
                  <a:tcPr marL="138893" marR="7716" marT="7716" marB="0"/>
                </a:tc>
                <a:tc>
                  <a:txBody>
                    <a:bodyPr/>
                    <a:lstStyle/>
                    <a:p>
                      <a:pPr algn="l" fontAlgn="t"/>
                      <a:r>
                        <a:rPr lang="en-US" sz="2000" u="none" strike="noStrike" dirty="0">
                          <a:effectLst/>
                        </a:rPr>
                        <a:t>It is used to search an element.</a:t>
                      </a:r>
                      <a:endParaRPr lang="en-US" sz="2000" b="0" i="0" u="none" strike="noStrike" dirty="0">
                        <a:solidFill>
                          <a:srgbClr val="000000"/>
                        </a:solidFill>
                        <a:effectLst/>
                        <a:latin typeface="Verdana"/>
                      </a:endParaRPr>
                    </a:p>
                  </a:txBody>
                  <a:tcPr marL="138893" marR="7716" marT="7716" marB="0"/>
                </a:tc>
              </a:tr>
            </a:tbl>
          </a:graphicData>
        </a:graphic>
      </p:graphicFrame>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Tree>
    <p:extLst>
      <p:ext uri="{BB962C8B-B14F-4D97-AF65-F5344CB8AC3E}">
        <p14:creationId xmlns:p14="http://schemas.microsoft.com/office/powerpoint/2010/main" val="36550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Methods of Collection interface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552856204"/>
              </p:ext>
            </p:extLst>
          </p:nvPr>
        </p:nvGraphicFramePr>
        <p:xfrm>
          <a:off x="537030" y="1074743"/>
          <a:ext cx="11190514" cy="4450848"/>
        </p:xfrm>
        <a:graphic>
          <a:graphicData uri="http://schemas.openxmlformats.org/drawingml/2006/table">
            <a:tbl>
              <a:tblPr>
                <a:tableStyleId>{5C22544A-7EE6-4342-B048-85BDC9FD1C3A}</a:tableStyleId>
              </a:tblPr>
              <a:tblGrid>
                <a:gridCol w="759708"/>
                <a:gridCol w="3797776"/>
                <a:gridCol w="6633030"/>
              </a:tblGrid>
              <a:tr h="242815">
                <a:tc>
                  <a:txBody>
                    <a:bodyPr/>
                    <a:lstStyle/>
                    <a:p>
                      <a:pPr algn="l" fontAlgn="t"/>
                      <a:r>
                        <a:rPr lang="en-US" sz="2400" b="1" u="none" strike="noStrike" dirty="0">
                          <a:effectLst/>
                        </a:rPr>
                        <a:t>No.</a:t>
                      </a:r>
                      <a:endParaRPr lang="en-US" sz="2400" b="1" i="0" u="none" strike="noStrike" dirty="0">
                        <a:solidFill>
                          <a:srgbClr val="000000"/>
                        </a:solidFill>
                        <a:effectLst/>
                        <a:latin typeface="Times New Roman"/>
                      </a:endParaRPr>
                    </a:p>
                  </a:txBody>
                  <a:tcPr marL="69447" marR="7716" marT="7716" marB="0"/>
                </a:tc>
                <a:tc>
                  <a:txBody>
                    <a:bodyPr/>
                    <a:lstStyle/>
                    <a:p>
                      <a:pPr algn="l" fontAlgn="t"/>
                      <a:r>
                        <a:rPr lang="en-US" sz="2400" b="1" u="none" strike="noStrike" dirty="0">
                          <a:effectLst/>
                        </a:rPr>
                        <a:t>Method</a:t>
                      </a:r>
                      <a:endParaRPr lang="en-US" sz="2400" b="1" i="0" u="none" strike="noStrike" dirty="0">
                        <a:solidFill>
                          <a:srgbClr val="000000"/>
                        </a:solidFill>
                        <a:effectLst/>
                        <a:latin typeface="Times New Roman"/>
                      </a:endParaRPr>
                    </a:p>
                  </a:txBody>
                  <a:tcPr marL="69447" marR="7716" marT="7716" marB="0"/>
                </a:tc>
                <a:tc>
                  <a:txBody>
                    <a:bodyPr/>
                    <a:lstStyle/>
                    <a:p>
                      <a:pPr algn="l" fontAlgn="t"/>
                      <a:r>
                        <a:rPr lang="en-US" sz="2400" b="1" u="none" strike="noStrike" dirty="0">
                          <a:effectLst/>
                        </a:rPr>
                        <a:t>Description</a:t>
                      </a:r>
                      <a:endParaRPr lang="en-US" sz="2400" b="1" i="0" u="none" strike="noStrike" dirty="0">
                        <a:solidFill>
                          <a:srgbClr val="000000"/>
                        </a:solidFill>
                        <a:effectLst/>
                        <a:latin typeface="Times New Roman"/>
                      </a:endParaRPr>
                    </a:p>
                  </a:txBody>
                  <a:tcPr marL="69447" marR="7716" marT="7716" marB="0"/>
                </a:tc>
              </a:tr>
              <a:tr h="369500">
                <a:tc>
                  <a:txBody>
                    <a:bodyPr/>
                    <a:lstStyle/>
                    <a:p>
                      <a:pPr algn="l" fontAlgn="t"/>
                      <a:r>
                        <a:rPr lang="en-US" sz="2400" u="none" strike="noStrike" dirty="0">
                          <a:effectLst/>
                        </a:rPr>
                        <a:t>10</a:t>
                      </a:r>
                      <a:endParaRPr lang="en-US" sz="2400" b="0" i="0" u="none" strike="noStrike" dirty="0">
                        <a:solidFill>
                          <a:srgbClr val="000000"/>
                        </a:solidFill>
                        <a:effectLst/>
                        <a:latin typeface="Verdana"/>
                      </a:endParaRPr>
                    </a:p>
                  </a:txBody>
                  <a:tcPr marL="138893" marR="7716" marT="7716" marB="0"/>
                </a:tc>
                <a:tc>
                  <a:txBody>
                    <a:bodyPr/>
                    <a:lstStyle/>
                    <a:p>
                      <a:pPr algn="l" fontAlgn="t"/>
                      <a:r>
                        <a:rPr lang="en-US" sz="2400" u="none" strike="noStrike">
                          <a:effectLst/>
                        </a:rPr>
                        <a:t>public boolean containsAll(Collection&lt;?&gt; c)</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It is used to search the specified collection in the collection.</a:t>
                      </a:r>
                      <a:endParaRPr lang="en-US" sz="2400" b="0" i="0" u="none" strike="noStrike">
                        <a:solidFill>
                          <a:srgbClr val="000000"/>
                        </a:solidFill>
                        <a:effectLst/>
                        <a:latin typeface="Verdana"/>
                      </a:endParaRPr>
                    </a:p>
                  </a:txBody>
                  <a:tcPr marL="138893" marR="7716" marT="7716" marB="0"/>
                </a:tc>
              </a:tr>
              <a:tr h="221700">
                <a:tc>
                  <a:txBody>
                    <a:bodyPr/>
                    <a:lstStyle/>
                    <a:p>
                      <a:pPr algn="l" fontAlgn="t"/>
                      <a:r>
                        <a:rPr lang="en-US" sz="2400" u="none" strike="noStrike">
                          <a:effectLst/>
                        </a:rPr>
                        <a:t>11</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public Iterator iterator()</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It returns an iterator.</a:t>
                      </a:r>
                      <a:endParaRPr lang="en-US" sz="2400" b="0" i="0" u="none" strike="noStrike">
                        <a:solidFill>
                          <a:srgbClr val="000000"/>
                        </a:solidFill>
                        <a:effectLst/>
                        <a:latin typeface="Verdana"/>
                      </a:endParaRPr>
                    </a:p>
                  </a:txBody>
                  <a:tcPr marL="138893" marR="7716" marT="7716" marB="0"/>
                </a:tc>
              </a:tr>
              <a:tr h="221700">
                <a:tc>
                  <a:txBody>
                    <a:bodyPr/>
                    <a:lstStyle/>
                    <a:p>
                      <a:pPr algn="l" fontAlgn="t"/>
                      <a:r>
                        <a:rPr lang="en-US" sz="2400" u="none" strike="noStrike">
                          <a:effectLst/>
                        </a:rPr>
                        <a:t>12</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public Object[] toArray()</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It converts collection into array.</a:t>
                      </a:r>
                      <a:endParaRPr lang="en-US" sz="2400" b="0" i="0" u="none" strike="noStrike">
                        <a:solidFill>
                          <a:srgbClr val="000000"/>
                        </a:solidFill>
                        <a:effectLst/>
                        <a:latin typeface="Verdana"/>
                      </a:endParaRPr>
                    </a:p>
                  </a:txBody>
                  <a:tcPr marL="138893" marR="7716" marT="7716" marB="0"/>
                </a:tc>
              </a:tr>
              <a:tr h="548972">
                <a:tc>
                  <a:txBody>
                    <a:bodyPr/>
                    <a:lstStyle/>
                    <a:p>
                      <a:pPr algn="l" fontAlgn="t"/>
                      <a:r>
                        <a:rPr lang="en-US" sz="2400" u="none" strike="noStrike">
                          <a:effectLst/>
                        </a:rPr>
                        <a:t>13</a:t>
                      </a:r>
                      <a:endParaRPr lang="en-US" sz="2400" b="0" i="0" u="none" strike="noStrike">
                        <a:solidFill>
                          <a:srgbClr val="000000"/>
                        </a:solidFill>
                        <a:effectLst/>
                        <a:latin typeface="Verdana"/>
                      </a:endParaRPr>
                    </a:p>
                  </a:txBody>
                  <a:tcPr marL="138893" marR="7716" marT="7716" marB="0"/>
                </a:tc>
                <a:tc>
                  <a:txBody>
                    <a:bodyPr/>
                    <a:lstStyle/>
                    <a:p>
                      <a:pPr algn="l" fontAlgn="t"/>
                      <a:r>
                        <a:rPr lang="fr-FR" sz="2400" u="none" strike="noStrike">
                          <a:effectLst/>
                        </a:rPr>
                        <a:t>public &lt;T&gt; T[] toArray(T[] a)</a:t>
                      </a:r>
                      <a:endParaRPr lang="fr-FR" sz="2400" b="0" i="0" u="none" strike="noStrike">
                        <a:solidFill>
                          <a:srgbClr val="000000"/>
                        </a:solidFill>
                        <a:effectLst/>
                        <a:latin typeface="Verdana"/>
                      </a:endParaRPr>
                    </a:p>
                  </a:txBody>
                  <a:tcPr marL="138893" marR="7716" marT="7716" marB="0"/>
                </a:tc>
                <a:tc>
                  <a:txBody>
                    <a:bodyPr/>
                    <a:lstStyle/>
                    <a:p>
                      <a:pPr algn="l" fontAlgn="t"/>
                      <a:r>
                        <a:rPr lang="en-US" sz="2400" u="none" strike="noStrike" dirty="0">
                          <a:effectLst/>
                        </a:rPr>
                        <a:t>It converts collection into array. Here, the runtime type of the returned array is that of the specified array.</a:t>
                      </a:r>
                      <a:endParaRPr lang="en-US" sz="2400" b="0" i="0" u="none" strike="noStrike" dirty="0">
                        <a:solidFill>
                          <a:srgbClr val="000000"/>
                        </a:solidFill>
                        <a:effectLst/>
                        <a:latin typeface="Verdana"/>
                      </a:endParaRPr>
                    </a:p>
                  </a:txBody>
                  <a:tcPr marL="138893" marR="7716" marT="7716" marB="0"/>
                </a:tc>
              </a:tr>
              <a:tr h="221700">
                <a:tc>
                  <a:txBody>
                    <a:bodyPr/>
                    <a:lstStyle/>
                    <a:p>
                      <a:pPr algn="l" fontAlgn="t"/>
                      <a:r>
                        <a:rPr lang="en-US" sz="2400" u="none" strike="noStrike">
                          <a:effectLst/>
                        </a:rPr>
                        <a:t>14</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public boolean isEmpty()</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It checks if collection is empty.</a:t>
                      </a:r>
                      <a:endParaRPr lang="en-US" sz="2400" b="0" i="0" u="none" strike="noStrike">
                        <a:solidFill>
                          <a:srgbClr val="000000"/>
                        </a:solidFill>
                        <a:effectLst/>
                        <a:latin typeface="Verdana"/>
                      </a:endParaRPr>
                    </a:p>
                  </a:txBody>
                  <a:tcPr marL="138893" marR="7716" marT="7716" marB="0"/>
                </a:tc>
              </a:tr>
              <a:tr h="221700">
                <a:tc>
                  <a:txBody>
                    <a:bodyPr/>
                    <a:lstStyle/>
                    <a:p>
                      <a:pPr algn="l" fontAlgn="t"/>
                      <a:r>
                        <a:rPr lang="en-US" sz="2400" u="none" strike="noStrike">
                          <a:effectLst/>
                        </a:rPr>
                        <a:t>15</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public boolean equals(Object element)</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a:effectLst/>
                        </a:rPr>
                        <a:t>It matches two collections.</a:t>
                      </a:r>
                      <a:endParaRPr lang="en-US" sz="2400" b="0" i="0" u="none" strike="noStrike">
                        <a:solidFill>
                          <a:srgbClr val="000000"/>
                        </a:solidFill>
                        <a:effectLst/>
                        <a:latin typeface="Verdana"/>
                      </a:endParaRPr>
                    </a:p>
                  </a:txBody>
                  <a:tcPr marL="138893" marR="7716" marT="7716" marB="0"/>
                </a:tc>
              </a:tr>
              <a:tr h="221700">
                <a:tc>
                  <a:txBody>
                    <a:bodyPr/>
                    <a:lstStyle/>
                    <a:p>
                      <a:pPr algn="l" fontAlgn="t"/>
                      <a:r>
                        <a:rPr lang="en-US" sz="2400" u="none" strike="noStrike">
                          <a:effectLst/>
                        </a:rPr>
                        <a:t>16</a:t>
                      </a:r>
                      <a:endParaRPr lang="en-US" sz="2400" b="0" i="0" u="none" strike="noStrike">
                        <a:solidFill>
                          <a:srgbClr val="000000"/>
                        </a:solidFill>
                        <a:effectLst/>
                        <a:latin typeface="Verdana"/>
                      </a:endParaRPr>
                    </a:p>
                  </a:txBody>
                  <a:tcPr marL="138893" marR="7716" marT="7716" marB="0"/>
                </a:tc>
                <a:tc>
                  <a:txBody>
                    <a:bodyPr/>
                    <a:lstStyle/>
                    <a:p>
                      <a:pPr algn="l" fontAlgn="t"/>
                      <a:r>
                        <a:rPr lang="en-US" sz="2400" u="none" strike="noStrike" dirty="0">
                          <a:effectLst/>
                        </a:rPr>
                        <a:t>public </a:t>
                      </a:r>
                      <a:r>
                        <a:rPr lang="en-US" sz="2400" u="none" strike="noStrike" dirty="0" err="1">
                          <a:effectLst/>
                        </a:rPr>
                        <a:t>int</a:t>
                      </a:r>
                      <a:r>
                        <a:rPr lang="en-US" sz="2400" u="none" strike="noStrike" dirty="0">
                          <a:effectLst/>
                        </a:rPr>
                        <a:t> </a:t>
                      </a:r>
                      <a:r>
                        <a:rPr lang="en-US" sz="2400" u="none" strike="noStrike" dirty="0" err="1">
                          <a:effectLst/>
                        </a:rPr>
                        <a:t>hashCode</a:t>
                      </a:r>
                      <a:r>
                        <a:rPr lang="en-US" sz="2400" u="none" strike="noStrike" dirty="0">
                          <a:effectLst/>
                        </a:rPr>
                        <a:t>()</a:t>
                      </a:r>
                      <a:endParaRPr lang="en-US" sz="2400" b="0" i="0" u="none" strike="noStrike" dirty="0">
                        <a:solidFill>
                          <a:srgbClr val="000000"/>
                        </a:solidFill>
                        <a:effectLst/>
                        <a:latin typeface="Verdana"/>
                      </a:endParaRPr>
                    </a:p>
                  </a:txBody>
                  <a:tcPr marL="138893" marR="7716" marT="7716" marB="0"/>
                </a:tc>
                <a:tc>
                  <a:txBody>
                    <a:bodyPr/>
                    <a:lstStyle/>
                    <a:p>
                      <a:pPr algn="l" fontAlgn="t"/>
                      <a:r>
                        <a:rPr lang="en-US" sz="2400" u="none" strike="noStrike" dirty="0">
                          <a:effectLst/>
                        </a:rPr>
                        <a:t>It returns the hash code number of the collection.</a:t>
                      </a:r>
                      <a:endParaRPr lang="en-US" sz="2400" b="0" i="0" u="none" strike="noStrike" dirty="0">
                        <a:solidFill>
                          <a:srgbClr val="000000"/>
                        </a:solidFill>
                        <a:effectLst/>
                        <a:latin typeface="Verdana"/>
                      </a:endParaRPr>
                    </a:p>
                  </a:txBody>
                  <a:tcPr marL="138893" marR="7716" marT="7716" marB="0"/>
                </a:tc>
              </a:tr>
            </a:tbl>
          </a:graphicData>
        </a:graphic>
      </p:graphicFrame>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Tree>
    <p:extLst>
      <p:ext uri="{BB962C8B-B14F-4D97-AF65-F5344CB8AC3E}">
        <p14:creationId xmlns:p14="http://schemas.microsoft.com/office/powerpoint/2010/main" val="2260463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Methods of Iterator </a:t>
            </a:r>
            <a:r>
              <a:rPr lang="en-US" sz="3200" dirty="0" smtClean="0"/>
              <a:t>interface</a:t>
            </a:r>
            <a:endParaRPr lang="en-US" sz="3200"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64205785"/>
              </p:ext>
            </p:extLst>
          </p:nvPr>
        </p:nvGraphicFramePr>
        <p:xfrm>
          <a:off x="537030" y="1582733"/>
          <a:ext cx="11190514" cy="3147156"/>
        </p:xfrm>
        <a:graphic>
          <a:graphicData uri="http://schemas.openxmlformats.org/drawingml/2006/table">
            <a:tbl>
              <a:tblPr>
                <a:tableStyleId>{5C22544A-7EE6-4342-B048-85BDC9FD1C3A}</a:tableStyleId>
              </a:tblPr>
              <a:tblGrid>
                <a:gridCol w="759708"/>
                <a:gridCol w="4218691"/>
                <a:gridCol w="6212115"/>
              </a:tblGrid>
              <a:tr h="242815">
                <a:tc>
                  <a:txBody>
                    <a:bodyPr/>
                    <a:lstStyle/>
                    <a:p>
                      <a:pPr algn="l" fontAlgn="t"/>
                      <a:r>
                        <a:rPr lang="en-US" sz="3200" b="1" u="none" strike="noStrike" dirty="0">
                          <a:effectLst/>
                        </a:rPr>
                        <a:t>No.</a:t>
                      </a:r>
                      <a:endParaRPr lang="en-US" sz="3200" b="1" i="0" u="none" strike="noStrike" dirty="0">
                        <a:solidFill>
                          <a:srgbClr val="000000"/>
                        </a:solidFill>
                        <a:effectLst/>
                        <a:latin typeface="Times New Roman"/>
                      </a:endParaRPr>
                    </a:p>
                  </a:txBody>
                  <a:tcPr marL="69447" marR="7716" marT="7716" marB="0"/>
                </a:tc>
                <a:tc>
                  <a:txBody>
                    <a:bodyPr/>
                    <a:lstStyle/>
                    <a:p>
                      <a:pPr algn="l" fontAlgn="t"/>
                      <a:r>
                        <a:rPr lang="en-US" sz="3200" b="1" u="none" strike="noStrike">
                          <a:effectLst/>
                        </a:rPr>
                        <a:t>Method</a:t>
                      </a:r>
                      <a:endParaRPr lang="en-US" sz="3200" b="1" i="0" u="none" strike="noStrike">
                        <a:solidFill>
                          <a:srgbClr val="000000"/>
                        </a:solidFill>
                        <a:effectLst/>
                        <a:latin typeface="Times New Roman"/>
                      </a:endParaRPr>
                    </a:p>
                  </a:txBody>
                  <a:tcPr marL="69447" marR="7716" marT="7716" marB="0"/>
                </a:tc>
                <a:tc>
                  <a:txBody>
                    <a:bodyPr/>
                    <a:lstStyle/>
                    <a:p>
                      <a:pPr algn="l" fontAlgn="t"/>
                      <a:r>
                        <a:rPr lang="en-US" sz="3200" b="1" u="none" strike="noStrike" dirty="0">
                          <a:effectLst/>
                        </a:rPr>
                        <a:t>Description</a:t>
                      </a:r>
                      <a:endParaRPr lang="en-US" sz="3200" b="1" i="0" u="none" strike="noStrike" dirty="0">
                        <a:solidFill>
                          <a:srgbClr val="000000"/>
                        </a:solidFill>
                        <a:effectLst/>
                        <a:latin typeface="Times New Roman"/>
                      </a:endParaRPr>
                    </a:p>
                  </a:txBody>
                  <a:tcPr marL="69447" marR="7716" marT="7716" marB="0"/>
                </a:tc>
              </a:tr>
              <a:tr h="369500">
                <a:tc>
                  <a:txBody>
                    <a:bodyPr/>
                    <a:lstStyle/>
                    <a:p>
                      <a:pPr algn="l" fontAlgn="t"/>
                      <a:r>
                        <a:rPr lang="en-US" sz="2400">
                          <a:solidFill>
                            <a:srgbClr val="000000"/>
                          </a:solidFill>
                          <a:effectLst/>
                          <a:latin typeface="verdana"/>
                        </a:rPr>
                        <a:t>1</a:t>
                      </a:r>
                    </a:p>
                  </a:txBody>
                  <a:tcPr marL="76200" marR="76200" marT="76200" marB="76200"/>
                </a:tc>
                <a:tc>
                  <a:txBody>
                    <a:bodyPr/>
                    <a:lstStyle/>
                    <a:p>
                      <a:pPr algn="l" fontAlgn="t"/>
                      <a:r>
                        <a:rPr lang="en-US" sz="2400" dirty="0">
                          <a:solidFill>
                            <a:srgbClr val="000000"/>
                          </a:solidFill>
                          <a:effectLst/>
                          <a:latin typeface="verdana"/>
                        </a:rPr>
                        <a:t>public </a:t>
                      </a:r>
                      <a:r>
                        <a:rPr lang="en-US" sz="2400" dirty="0" err="1">
                          <a:solidFill>
                            <a:srgbClr val="000000"/>
                          </a:solidFill>
                          <a:effectLst/>
                          <a:latin typeface="verdana"/>
                        </a:rPr>
                        <a:t>boolean</a:t>
                      </a:r>
                      <a:r>
                        <a:rPr lang="en-US" sz="2400" dirty="0">
                          <a:solidFill>
                            <a:srgbClr val="000000"/>
                          </a:solidFill>
                          <a:effectLst/>
                          <a:latin typeface="verdana"/>
                        </a:rPr>
                        <a:t> </a:t>
                      </a:r>
                      <a:r>
                        <a:rPr lang="en-US" sz="2400" dirty="0" err="1">
                          <a:solidFill>
                            <a:srgbClr val="000000"/>
                          </a:solidFill>
                          <a:effectLst/>
                          <a:latin typeface="verdana"/>
                        </a:rPr>
                        <a:t>hasNext</a:t>
                      </a:r>
                      <a:r>
                        <a:rPr lang="en-US" sz="2400" dirty="0">
                          <a:solidFill>
                            <a:srgbClr val="000000"/>
                          </a:solidFill>
                          <a:effectLst/>
                          <a:latin typeface="verdana"/>
                        </a:rPr>
                        <a:t>()</a:t>
                      </a:r>
                    </a:p>
                  </a:txBody>
                  <a:tcPr marL="76200" marR="76200" marT="76200" marB="76200"/>
                </a:tc>
                <a:tc>
                  <a:txBody>
                    <a:bodyPr/>
                    <a:lstStyle/>
                    <a:p>
                      <a:pPr algn="l" fontAlgn="t"/>
                      <a:r>
                        <a:rPr lang="en-US" sz="2400">
                          <a:solidFill>
                            <a:srgbClr val="000000"/>
                          </a:solidFill>
                          <a:effectLst/>
                          <a:latin typeface="verdana"/>
                        </a:rPr>
                        <a:t>It returns true if the iterator has more elements otherwise it returns false.</a:t>
                      </a:r>
                    </a:p>
                  </a:txBody>
                  <a:tcPr marL="76200" marR="76200" marT="76200" marB="76200"/>
                </a:tc>
              </a:tr>
              <a:tr h="221700">
                <a:tc>
                  <a:txBody>
                    <a:bodyPr/>
                    <a:lstStyle/>
                    <a:p>
                      <a:pPr algn="l" fontAlgn="t"/>
                      <a:r>
                        <a:rPr lang="en-US" sz="2400">
                          <a:solidFill>
                            <a:srgbClr val="000000"/>
                          </a:solidFill>
                          <a:effectLst/>
                          <a:latin typeface="verdana"/>
                        </a:rPr>
                        <a:t>2</a:t>
                      </a:r>
                    </a:p>
                  </a:txBody>
                  <a:tcPr marL="76200" marR="76200" marT="76200" marB="76200"/>
                </a:tc>
                <a:tc>
                  <a:txBody>
                    <a:bodyPr/>
                    <a:lstStyle/>
                    <a:p>
                      <a:pPr algn="l" fontAlgn="t"/>
                      <a:r>
                        <a:rPr lang="en-US" sz="2400" dirty="0">
                          <a:solidFill>
                            <a:srgbClr val="000000"/>
                          </a:solidFill>
                          <a:effectLst/>
                          <a:latin typeface="verdana"/>
                        </a:rPr>
                        <a:t>public Object next()</a:t>
                      </a:r>
                    </a:p>
                  </a:txBody>
                  <a:tcPr marL="76200" marR="76200" marT="76200" marB="76200"/>
                </a:tc>
                <a:tc>
                  <a:txBody>
                    <a:bodyPr/>
                    <a:lstStyle/>
                    <a:p>
                      <a:pPr algn="l" fontAlgn="t"/>
                      <a:r>
                        <a:rPr lang="en-US" sz="2400" dirty="0">
                          <a:solidFill>
                            <a:srgbClr val="000000"/>
                          </a:solidFill>
                          <a:effectLst/>
                          <a:latin typeface="verdana"/>
                        </a:rPr>
                        <a:t>It returns the element and moves the cursor pointer to the next element.</a:t>
                      </a:r>
                    </a:p>
                  </a:txBody>
                  <a:tcPr marL="76200" marR="76200" marT="76200" marB="76200"/>
                </a:tc>
              </a:tr>
              <a:tr h="221700">
                <a:tc>
                  <a:txBody>
                    <a:bodyPr/>
                    <a:lstStyle/>
                    <a:p>
                      <a:pPr algn="l" fontAlgn="t"/>
                      <a:r>
                        <a:rPr lang="en-US" sz="2400">
                          <a:solidFill>
                            <a:srgbClr val="000000"/>
                          </a:solidFill>
                          <a:effectLst/>
                          <a:latin typeface="verdana"/>
                        </a:rPr>
                        <a:t>3</a:t>
                      </a:r>
                    </a:p>
                  </a:txBody>
                  <a:tcPr marL="76200" marR="76200" marT="76200" marB="76200"/>
                </a:tc>
                <a:tc>
                  <a:txBody>
                    <a:bodyPr/>
                    <a:lstStyle/>
                    <a:p>
                      <a:pPr algn="l" fontAlgn="t"/>
                      <a:r>
                        <a:rPr lang="en-US" sz="2400">
                          <a:solidFill>
                            <a:srgbClr val="000000"/>
                          </a:solidFill>
                          <a:effectLst/>
                          <a:latin typeface="verdana"/>
                        </a:rPr>
                        <a:t>public void remove()</a:t>
                      </a:r>
                    </a:p>
                  </a:txBody>
                  <a:tcPr marL="76200" marR="76200" marT="76200" marB="76200"/>
                </a:tc>
                <a:tc>
                  <a:txBody>
                    <a:bodyPr/>
                    <a:lstStyle/>
                    <a:p>
                      <a:pPr algn="l" fontAlgn="t"/>
                      <a:r>
                        <a:rPr lang="en-US" sz="2400" dirty="0">
                          <a:solidFill>
                            <a:srgbClr val="000000"/>
                          </a:solidFill>
                          <a:effectLst/>
                          <a:latin typeface="verdana"/>
                        </a:rPr>
                        <a:t>It removes the last elements returned by the iterator. It is less used.</a:t>
                      </a:r>
                    </a:p>
                  </a:txBody>
                  <a:tcPr marL="76200" marR="76200" marT="76200" marB="76200"/>
                </a:tc>
              </a:tr>
            </a:tbl>
          </a:graphicData>
        </a:graphic>
      </p:graphicFrame>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sp>
        <p:nvSpPr>
          <p:cNvPr id="3" name="Rectangle 2"/>
          <p:cNvSpPr/>
          <p:nvPr/>
        </p:nvSpPr>
        <p:spPr>
          <a:xfrm>
            <a:off x="537030" y="926876"/>
            <a:ext cx="11190514" cy="523220"/>
          </a:xfrm>
          <a:prstGeom prst="rect">
            <a:avLst/>
          </a:prstGeom>
        </p:spPr>
        <p:txBody>
          <a:bodyPr wrap="square">
            <a:spAutoFit/>
          </a:bodyPr>
          <a:lstStyle/>
          <a:p>
            <a:r>
              <a:rPr lang="en-US" sz="2800" dirty="0"/>
              <a:t>There are only three methods in the Iterator interface. They are:</a:t>
            </a:r>
          </a:p>
        </p:txBody>
      </p:sp>
    </p:spTree>
    <p:extLst>
      <p:ext uri="{BB962C8B-B14F-4D97-AF65-F5344CB8AC3E}">
        <p14:creationId xmlns:p14="http://schemas.microsoft.com/office/powerpoint/2010/main" val="176187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Java </a:t>
            </a:r>
            <a:r>
              <a:rPr lang="en-US" sz="3200" dirty="0" err="1" smtClean="0"/>
              <a:t>ArrayList</a:t>
            </a:r>
            <a:r>
              <a:rPr lang="en-US" sz="3200" dirty="0" smtClean="0"/>
              <a:t> </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5257800" cy="5647418"/>
          </a:xfrm>
        </p:spPr>
        <p:txBody>
          <a:bodyPr>
            <a:normAutofit lnSpcReduction="10000"/>
          </a:bodyPr>
          <a:lstStyle/>
          <a:p>
            <a:pPr fontAlgn="base"/>
            <a:r>
              <a:rPr lang="en-US" sz="3200" dirty="0" err="1"/>
              <a:t>ArrayList</a:t>
            </a:r>
            <a:r>
              <a:rPr lang="en-US" sz="3200" dirty="0"/>
              <a:t> in Java is used to store dynamically sized collection of elements. Contrary to Arrays that are fixed in size, an </a:t>
            </a:r>
            <a:r>
              <a:rPr lang="en-US" sz="3200" dirty="0" err="1"/>
              <a:t>ArrayList</a:t>
            </a:r>
            <a:r>
              <a:rPr lang="en-US" sz="3200" dirty="0"/>
              <a:t> grows its size automatically when new elements are added to it</a:t>
            </a:r>
            <a:r>
              <a:rPr lang="en-US" sz="3200" dirty="0" smtClean="0"/>
              <a:t>.</a:t>
            </a:r>
            <a:endParaRPr lang="en-US" sz="3200" dirty="0"/>
          </a:p>
          <a:p>
            <a:pPr fontAlgn="base"/>
            <a:r>
              <a:rPr lang="en-US" sz="3200" dirty="0" err="1"/>
              <a:t>ArrayList</a:t>
            </a:r>
            <a:r>
              <a:rPr lang="en-US" sz="3200" dirty="0"/>
              <a:t> is part of Java’s collection framework and implements Java’s List </a:t>
            </a:r>
            <a:r>
              <a:rPr lang="en-US" sz="3200" dirty="0" smtClean="0"/>
              <a:t>interface, it is in the package </a:t>
            </a:r>
            <a:r>
              <a:rPr lang="en-US" b="1" dirty="0" err="1" smtClean="0"/>
              <a:t>java.util.ArrayList</a:t>
            </a:r>
            <a:endParaRPr lang="en-US" b="1"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7628" y="1228723"/>
            <a:ext cx="4746171" cy="501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9158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1074058"/>
            <a:ext cx="10515601" cy="5282292"/>
          </a:xfrm>
        </p:spPr>
        <p:txBody>
          <a:bodyPr>
            <a:normAutofit fontScale="85000" lnSpcReduction="20000"/>
          </a:bodyPr>
          <a:lstStyle/>
          <a:p>
            <a:pPr algn="just"/>
            <a:r>
              <a:rPr lang="en-US" sz="3200" dirty="0"/>
              <a:t>Following are few key points to note about </a:t>
            </a:r>
            <a:r>
              <a:rPr lang="en-US" sz="3200" dirty="0" err="1"/>
              <a:t>ArrayList</a:t>
            </a:r>
            <a:r>
              <a:rPr lang="en-US" sz="3200" dirty="0"/>
              <a:t> in </a:t>
            </a:r>
            <a:r>
              <a:rPr lang="en-US" sz="3200" dirty="0" smtClean="0"/>
              <a:t>Java:</a:t>
            </a:r>
            <a:endParaRPr lang="en-US" sz="3200" dirty="0"/>
          </a:p>
          <a:p>
            <a:pPr algn="just"/>
            <a:r>
              <a:rPr lang="en-US" sz="3200" dirty="0"/>
              <a:t>An </a:t>
            </a:r>
            <a:r>
              <a:rPr lang="en-US" sz="3200" dirty="0" err="1"/>
              <a:t>ArrayList</a:t>
            </a:r>
            <a:r>
              <a:rPr lang="en-US" sz="3200" dirty="0"/>
              <a:t> is a re-sizable array, also called a dynamic array. It grows its size to accommodate new elements and shrinks the size when the elements are removed.</a:t>
            </a:r>
          </a:p>
          <a:p>
            <a:pPr algn="just"/>
            <a:r>
              <a:rPr lang="en-US" sz="3200" dirty="0" err="1"/>
              <a:t>ArrayList</a:t>
            </a:r>
            <a:r>
              <a:rPr lang="en-US" sz="3200" dirty="0"/>
              <a:t> internally uses an array to store the elements. Just like arrays, It allows you to retrieve the elements by their index.</a:t>
            </a:r>
          </a:p>
          <a:p>
            <a:pPr algn="just"/>
            <a:r>
              <a:rPr lang="en-US" sz="3200" dirty="0"/>
              <a:t>Java </a:t>
            </a:r>
            <a:r>
              <a:rPr lang="en-US" sz="3200" dirty="0" err="1"/>
              <a:t>ArrayList</a:t>
            </a:r>
            <a:r>
              <a:rPr lang="en-US" sz="3200" dirty="0"/>
              <a:t> allows duplicate and null values.</a:t>
            </a:r>
          </a:p>
          <a:p>
            <a:pPr algn="just"/>
            <a:r>
              <a:rPr lang="en-US" sz="3200" dirty="0"/>
              <a:t>Java </a:t>
            </a:r>
            <a:r>
              <a:rPr lang="en-US" sz="3200" dirty="0" err="1"/>
              <a:t>ArrayList</a:t>
            </a:r>
            <a:r>
              <a:rPr lang="en-US" sz="3200" dirty="0"/>
              <a:t> is an ordered collection. It maintains the insertion order of the elements.</a:t>
            </a:r>
          </a:p>
          <a:p>
            <a:pPr algn="just"/>
            <a:r>
              <a:rPr lang="en-US" sz="3200" dirty="0"/>
              <a:t>You cannot create an </a:t>
            </a:r>
            <a:r>
              <a:rPr lang="en-US" sz="3200" dirty="0" err="1"/>
              <a:t>ArrayList</a:t>
            </a:r>
            <a:r>
              <a:rPr lang="en-US" sz="3200" dirty="0"/>
              <a:t> of primitive types like </a:t>
            </a:r>
            <a:r>
              <a:rPr lang="en-US" sz="3200" dirty="0" err="1"/>
              <a:t>int</a:t>
            </a:r>
            <a:r>
              <a:rPr lang="en-US" sz="3200" dirty="0"/>
              <a:t>, char etc. You need to use boxed types like Integer, Character, Boolean etc.</a:t>
            </a:r>
          </a:p>
          <a:p>
            <a:pPr algn="just"/>
            <a:r>
              <a:rPr lang="en-US" sz="3200" dirty="0"/>
              <a:t>Java </a:t>
            </a:r>
            <a:r>
              <a:rPr lang="en-US" sz="3200" dirty="0" err="1"/>
              <a:t>ArrayList</a:t>
            </a:r>
            <a:r>
              <a:rPr lang="en-US" sz="3200" dirty="0"/>
              <a:t> is not synchronized. If multiple threads try to modify an </a:t>
            </a:r>
            <a:r>
              <a:rPr lang="en-US" sz="3200" dirty="0" err="1"/>
              <a:t>ArrayList</a:t>
            </a:r>
            <a:r>
              <a:rPr lang="en-US" sz="3200" dirty="0"/>
              <a:t> at the same time, then the final outcome will be non-deterministic. You must explicitly synchronize access to an </a:t>
            </a:r>
            <a:r>
              <a:rPr lang="en-US" sz="3200" dirty="0" err="1"/>
              <a:t>ArrayList</a:t>
            </a:r>
            <a:r>
              <a:rPr lang="en-US" sz="3200" dirty="0"/>
              <a:t> if multiple threads are </a:t>
            </a:r>
            <a:r>
              <a:rPr lang="en-US" sz="3200" dirty="0" err="1"/>
              <a:t>gonna</a:t>
            </a:r>
            <a:r>
              <a:rPr lang="en-US" sz="3200" dirty="0"/>
              <a:t> modify it</a:t>
            </a:r>
            <a:r>
              <a:rPr lang="en-US" sz="3200" dirty="0" smtClean="0"/>
              <a:t>.</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spTree>
    <p:extLst>
      <p:ext uri="{BB962C8B-B14F-4D97-AF65-F5344CB8AC3E}">
        <p14:creationId xmlns:p14="http://schemas.microsoft.com/office/powerpoint/2010/main" val="161219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fontScale="55000" lnSpcReduction="20000"/>
          </a:bodyPr>
          <a:lstStyle/>
          <a:p>
            <a:r>
              <a:rPr lang="en-US" sz="3200" b="1" dirty="0"/>
              <a:t>Creating an </a:t>
            </a:r>
            <a:r>
              <a:rPr lang="en-US" sz="3200" b="1" dirty="0" err="1"/>
              <a:t>ArrayList</a:t>
            </a:r>
            <a:r>
              <a:rPr lang="en-US" sz="3200" b="1" dirty="0"/>
              <a:t> and adding new elements to </a:t>
            </a:r>
            <a:r>
              <a:rPr lang="en-US" sz="3200" b="1" dirty="0" smtClean="0"/>
              <a:t>it: using </a:t>
            </a:r>
            <a:r>
              <a:rPr lang="en-US" sz="1800" b="1" dirty="0"/>
              <a:t> </a:t>
            </a:r>
            <a:r>
              <a:rPr lang="en-US" sz="3300" b="1" dirty="0" err="1"/>
              <a:t>ArrayList</a:t>
            </a:r>
            <a:r>
              <a:rPr lang="en-US" sz="3300" b="1" dirty="0"/>
              <a:t>() </a:t>
            </a:r>
            <a:r>
              <a:rPr lang="en-US" sz="3300" b="1" dirty="0" smtClean="0"/>
              <a:t>constructor and </a:t>
            </a:r>
            <a:r>
              <a:rPr lang="en-US" sz="3300" b="1" dirty="0"/>
              <a:t> add() method</a:t>
            </a:r>
            <a:r>
              <a:rPr lang="en-US" sz="3300" b="1" dirty="0" smtClean="0"/>
              <a:t>.</a:t>
            </a:r>
          </a:p>
          <a:p>
            <a:pPr marL="0" indent="0">
              <a:buNone/>
            </a:pPr>
            <a:r>
              <a:rPr lang="en-US" sz="3200" dirty="0" smtClean="0"/>
              <a:t>import </a:t>
            </a:r>
            <a:r>
              <a:rPr lang="en-US" sz="3200" dirty="0" err="1"/>
              <a:t>java.util.ArrayList</a:t>
            </a:r>
            <a:r>
              <a:rPr lang="en-US" sz="3200" dirty="0"/>
              <a:t>;</a:t>
            </a:r>
          </a:p>
          <a:p>
            <a:pPr marL="0" indent="0">
              <a:lnSpc>
                <a:spcPct val="120000"/>
              </a:lnSpc>
              <a:spcBef>
                <a:spcPts val="0"/>
              </a:spcBef>
              <a:buNone/>
            </a:pPr>
            <a:r>
              <a:rPr lang="en-US" sz="3200" dirty="0"/>
              <a:t>import </a:t>
            </a:r>
            <a:r>
              <a:rPr lang="en-US" sz="3200" dirty="0" err="1"/>
              <a:t>java.util.List</a:t>
            </a:r>
            <a:r>
              <a:rPr lang="en-US" sz="3200" dirty="0" smtClean="0"/>
              <a:t>;</a:t>
            </a:r>
            <a:endParaRPr lang="en-US" sz="3200" dirty="0"/>
          </a:p>
          <a:p>
            <a:pPr marL="0" indent="0">
              <a:lnSpc>
                <a:spcPct val="120000"/>
              </a:lnSpc>
              <a:spcBef>
                <a:spcPts val="0"/>
              </a:spcBef>
              <a:buNone/>
            </a:pPr>
            <a:r>
              <a:rPr lang="en-US" sz="3200" dirty="0"/>
              <a:t>public class </a:t>
            </a:r>
            <a:r>
              <a:rPr lang="en-US" sz="3200" dirty="0" err="1"/>
              <a:t>CreateArrayListExample</a:t>
            </a:r>
            <a:r>
              <a:rPr lang="en-US" sz="3200" dirty="0"/>
              <a:t> </a:t>
            </a:r>
            <a:r>
              <a:rPr lang="en-US" sz="3200" dirty="0" smtClean="0"/>
              <a:t>{</a:t>
            </a:r>
            <a:endParaRPr lang="en-US" sz="3200" dirty="0"/>
          </a:p>
          <a:p>
            <a:pPr marL="0" indent="0">
              <a:lnSpc>
                <a:spcPct val="120000"/>
              </a:lnSpc>
              <a:spcBef>
                <a:spcPts val="0"/>
              </a:spcBef>
              <a:buNone/>
            </a:pPr>
            <a:r>
              <a:rPr lang="en-US" sz="3200" dirty="0"/>
              <a:t>    public static void main(String[] </a:t>
            </a:r>
            <a:r>
              <a:rPr lang="en-US" sz="3200" dirty="0" err="1"/>
              <a:t>args</a:t>
            </a:r>
            <a:r>
              <a:rPr lang="en-US" sz="3200" dirty="0"/>
              <a:t>) </a:t>
            </a:r>
            <a:r>
              <a:rPr lang="en-US" sz="3200" dirty="0" smtClean="0"/>
              <a:t>{</a:t>
            </a:r>
          </a:p>
          <a:p>
            <a:pPr marL="0" indent="0">
              <a:lnSpc>
                <a:spcPct val="120000"/>
              </a:lnSpc>
              <a:spcBef>
                <a:spcPts val="0"/>
              </a:spcBef>
              <a:buNone/>
            </a:pPr>
            <a:r>
              <a:rPr lang="en-US" sz="3200" dirty="0" smtClean="0"/>
              <a:t>        List&lt;String&gt; animals = new </a:t>
            </a:r>
            <a:r>
              <a:rPr lang="en-US" sz="3200" dirty="0" err="1" smtClean="0"/>
              <a:t>ArrayList</a:t>
            </a:r>
            <a:r>
              <a:rPr lang="en-US" sz="3200" dirty="0" smtClean="0"/>
              <a:t>&lt;&gt;(); </a:t>
            </a:r>
            <a:r>
              <a:rPr lang="en-US" sz="3200" dirty="0"/>
              <a:t>// Creating an </a:t>
            </a:r>
            <a:r>
              <a:rPr lang="en-US" sz="3200" dirty="0" err="1"/>
              <a:t>ArrayList</a:t>
            </a:r>
            <a:r>
              <a:rPr lang="en-US" sz="3200" dirty="0"/>
              <a:t> of String</a:t>
            </a:r>
            <a:endParaRPr lang="en-US" sz="3200" dirty="0" smtClean="0"/>
          </a:p>
          <a:p>
            <a:pPr marL="0" indent="0">
              <a:lnSpc>
                <a:spcPct val="120000"/>
              </a:lnSpc>
              <a:spcBef>
                <a:spcPts val="0"/>
              </a:spcBef>
              <a:buNone/>
            </a:pPr>
            <a:r>
              <a:rPr lang="en-US" sz="3200" dirty="0" smtClean="0"/>
              <a:t>        </a:t>
            </a:r>
            <a:r>
              <a:rPr lang="en-US" sz="3200" dirty="0"/>
              <a:t>// Adding new elements to the </a:t>
            </a:r>
            <a:r>
              <a:rPr lang="en-US" sz="3200" dirty="0" err="1"/>
              <a:t>ArrayList</a:t>
            </a:r>
            <a:endParaRPr lang="en-US" sz="3200" dirty="0"/>
          </a:p>
          <a:p>
            <a:pPr marL="0" indent="0">
              <a:lnSpc>
                <a:spcPct val="120000"/>
              </a:lnSpc>
              <a:spcBef>
                <a:spcPts val="0"/>
              </a:spcBef>
              <a:buNone/>
            </a:pPr>
            <a:r>
              <a:rPr lang="en-US" sz="3200" dirty="0"/>
              <a:t>        </a:t>
            </a:r>
            <a:r>
              <a:rPr lang="en-US" sz="3200" dirty="0" err="1"/>
              <a:t>animals.add</a:t>
            </a:r>
            <a:r>
              <a:rPr lang="en-US" sz="3200" dirty="0"/>
              <a:t>("Lion");</a:t>
            </a:r>
          </a:p>
          <a:p>
            <a:pPr marL="0" indent="0">
              <a:lnSpc>
                <a:spcPct val="120000"/>
              </a:lnSpc>
              <a:spcBef>
                <a:spcPts val="0"/>
              </a:spcBef>
              <a:buNone/>
            </a:pPr>
            <a:r>
              <a:rPr lang="en-US" sz="3200" dirty="0"/>
              <a:t>        </a:t>
            </a:r>
            <a:r>
              <a:rPr lang="en-US" sz="3200" dirty="0" err="1"/>
              <a:t>animals.add</a:t>
            </a:r>
            <a:r>
              <a:rPr lang="en-US" sz="3200" dirty="0"/>
              <a:t>("Tiger");</a:t>
            </a:r>
          </a:p>
          <a:p>
            <a:pPr marL="0" indent="0">
              <a:lnSpc>
                <a:spcPct val="120000"/>
              </a:lnSpc>
              <a:spcBef>
                <a:spcPts val="0"/>
              </a:spcBef>
              <a:buNone/>
            </a:pPr>
            <a:r>
              <a:rPr lang="en-US" sz="3200" dirty="0"/>
              <a:t>        </a:t>
            </a:r>
            <a:r>
              <a:rPr lang="en-US" sz="3200" dirty="0" err="1"/>
              <a:t>animals.add</a:t>
            </a:r>
            <a:r>
              <a:rPr lang="en-US" sz="3200" dirty="0"/>
              <a:t>("Cat");</a:t>
            </a:r>
          </a:p>
          <a:p>
            <a:pPr marL="0" indent="0">
              <a:lnSpc>
                <a:spcPct val="120000"/>
              </a:lnSpc>
              <a:spcBef>
                <a:spcPts val="0"/>
              </a:spcBef>
              <a:buNone/>
            </a:pPr>
            <a:r>
              <a:rPr lang="en-US" sz="3200" dirty="0"/>
              <a:t>        </a:t>
            </a:r>
            <a:r>
              <a:rPr lang="en-US" sz="3200" dirty="0" err="1"/>
              <a:t>animals.add</a:t>
            </a:r>
            <a:r>
              <a:rPr lang="en-US" sz="3200" dirty="0"/>
              <a:t>("Dog</a:t>
            </a:r>
            <a:r>
              <a:rPr lang="en-US" sz="3200" dirty="0" smtClean="0"/>
              <a:t>");</a:t>
            </a:r>
            <a:endParaRPr lang="en-US" sz="3200" dirty="0"/>
          </a:p>
          <a:p>
            <a:pPr marL="0" indent="0">
              <a:lnSpc>
                <a:spcPct val="120000"/>
              </a:lnSpc>
              <a:spcBef>
                <a:spcPts val="0"/>
              </a:spcBef>
              <a:buNone/>
            </a:pPr>
            <a:r>
              <a:rPr lang="en-US" sz="3200" dirty="0"/>
              <a:t>        </a:t>
            </a:r>
            <a:r>
              <a:rPr lang="en-US" sz="3200" dirty="0" err="1"/>
              <a:t>System.out.println</a:t>
            </a:r>
            <a:r>
              <a:rPr lang="en-US" sz="3200" dirty="0"/>
              <a:t>(animals</a:t>
            </a:r>
            <a:r>
              <a:rPr lang="en-US" sz="3200" dirty="0" smtClean="0"/>
              <a:t>);</a:t>
            </a:r>
            <a:endParaRPr lang="en-US" sz="3200" dirty="0"/>
          </a:p>
          <a:p>
            <a:pPr marL="0" indent="0">
              <a:lnSpc>
                <a:spcPct val="120000"/>
              </a:lnSpc>
              <a:spcBef>
                <a:spcPts val="0"/>
              </a:spcBef>
              <a:buNone/>
            </a:pPr>
            <a:r>
              <a:rPr lang="en-US" sz="3200" dirty="0"/>
              <a:t>        // Adding an element at a particular index in an </a:t>
            </a:r>
            <a:r>
              <a:rPr lang="en-US" sz="3200" dirty="0" err="1"/>
              <a:t>ArrayList</a:t>
            </a:r>
            <a:endParaRPr lang="en-US" sz="3200" dirty="0"/>
          </a:p>
          <a:p>
            <a:pPr marL="0" indent="0">
              <a:lnSpc>
                <a:spcPct val="120000"/>
              </a:lnSpc>
              <a:spcBef>
                <a:spcPts val="0"/>
              </a:spcBef>
              <a:buNone/>
            </a:pPr>
            <a:r>
              <a:rPr lang="en-US" sz="3200" dirty="0"/>
              <a:t>        </a:t>
            </a:r>
            <a:r>
              <a:rPr lang="en-US" sz="3200" dirty="0" err="1"/>
              <a:t>animals.add</a:t>
            </a:r>
            <a:r>
              <a:rPr lang="en-US" sz="3200" dirty="0"/>
              <a:t>(2, "Elephant</a:t>
            </a:r>
            <a:r>
              <a:rPr lang="en-US" sz="3200" dirty="0" smtClean="0"/>
              <a:t>");</a:t>
            </a:r>
            <a:endParaRPr lang="en-US" sz="3200" dirty="0"/>
          </a:p>
          <a:p>
            <a:pPr marL="0" indent="0">
              <a:lnSpc>
                <a:spcPct val="120000"/>
              </a:lnSpc>
              <a:spcBef>
                <a:spcPts val="0"/>
              </a:spcBef>
              <a:buNone/>
            </a:pPr>
            <a:r>
              <a:rPr lang="en-US" sz="3200" dirty="0"/>
              <a:t>        </a:t>
            </a:r>
            <a:r>
              <a:rPr lang="en-US" sz="3200" dirty="0" err="1"/>
              <a:t>System.out.println</a:t>
            </a:r>
            <a:r>
              <a:rPr lang="en-US" sz="3200" dirty="0"/>
              <a:t>(animals</a:t>
            </a:r>
            <a:r>
              <a:rPr lang="en-US" sz="3200" dirty="0" smtClean="0"/>
              <a:t>);</a:t>
            </a:r>
            <a:endParaRPr lang="en-US" sz="3200" dirty="0"/>
          </a:p>
          <a:p>
            <a:pPr marL="0" indent="0">
              <a:lnSpc>
                <a:spcPct val="120000"/>
              </a:lnSpc>
              <a:spcBef>
                <a:spcPts val="0"/>
              </a:spcBef>
              <a:buNone/>
            </a:pPr>
            <a:r>
              <a:rPr lang="en-US" sz="3200" dirty="0"/>
              <a:t>    }</a:t>
            </a:r>
          </a:p>
          <a:p>
            <a:pPr marL="0" indent="0">
              <a:lnSpc>
                <a:spcPct val="120000"/>
              </a:lnSpc>
              <a:spcBef>
                <a:spcPts val="0"/>
              </a:spcBef>
              <a:buNone/>
            </a:pPr>
            <a:r>
              <a:rPr lang="en-US" sz="3200" dirty="0"/>
              <a:t>}</a:t>
            </a:r>
            <a:endParaRPr lang="en-US" sz="3200" dirty="0" smtClean="0"/>
          </a:p>
          <a:p>
            <a:endParaRPr lang="en-US" sz="3200" dirty="0"/>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7649030" y="3973706"/>
            <a:ext cx="3704770" cy="124468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da-DK" sz="2000" dirty="0"/>
              <a:t>[Lion, Tiger, Cat, Dog]</a:t>
            </a:r>
          </a:p>
          <a:p>
            <a:pPr marL="0" indent="0">
              <a:buNone/>
            </a:pPr>
            <a:r>
              <a:rPr lang="da-DK" sz="2000" dirty="0"/>
              <a:t>[Lion, Tiger, Elephant, Cat, Dog]</a:t>
            </a:r>
            <a:endParaRPr lang="en-US" sz="2000" dirty="0"/>
          </a:p>
        </p:txBody>
      </p:sp>
    </p:spTree>
    <p:extLst>
      <p:ext uri="{BB962C8B-B14F-4D97-AF65-F5344CB8AC3E}">
        <p14:creationId xmlns:p14="http://schemas.microsoft.com/office/powerpoint/2010/main" val="304306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1074057"/>
            <a:ext cx="11179630" cy="5647418"/>
          </a:xfrm>
        </p:spPr>
        <p:txBody>
          <a:bodyPr>
            <a:normAutofit fontScale="32500" lnSpcReduction="20000"/>
          </a:bodyPr>
          <a:lstStyle/>
          <a:p>
            <a:r>
              <a:rPr lang="en-US" sz="5500" b="1" dirty="0"/>
              <a:t>Creating an </a:t>
            </a:r>
            <a:r>
              <a:rPr lang="en-US" sz="5500" b="1" dirty="0" err="1"/>
              <a:t>ArrayList</a:t>
            </a:r>
            <a:r>
              <a:rPr lang="en-US" sz="5500" b="1" dirty="0"/>
              <a:t> from another </a:t>
            </a:r>
            <a:r>
              <a:rPr lang="en-US" sz="5500" b="1" dirty="0" smtClean="0"/>
              <a:t>collection: using </a:t>
            </a:r>
            <a:r>
              <a:rPr lang="en-US" sz="5500" b="1" dirty="0"/>
              <a:t>the </a:t>
            </a:r>
            <a:r>
              <a:rPr lang="en-US" sz="5500" b="1" dirty="0" err="1"/>
              <a:t>ArrayList</a:t>
            </a:r>
            <a:r>
              <a:rPr lang="en-US" sz="5500" b="1" dirty="0"/>
              <a:t>(Collection c) </a:t>
            </a:r>
            <a:r>
              <a:rPr lang="en-US" sz="5500" b="1" dirty="0" smtClean="0"/>
              <a:t>constructor</a:t>
            </a:r>
            <a:r>
              <a:rPr lang="en-US" sz="5500" b="1" dirty="0"/>
              <a:t> </a:t>
            </a:r>
            <a:r>
              <a:rPr lang="en-US" sz="5500" b="1" dirty="0" smtClean="0"/>
              <a:t>and  </a:t>
            </a:r>
            <a:r>
              <a:rPr lang="en-US" sz="5500" b="1" dirty="0" err="1" smtClean="0"/>
              <a:t>addAll</a:t>
            </a:r>
            <a:r>
              <a:rPr lang="en-US" sz="5500" b="1" dirty="0"/>
              <a:t>() method</a:t>
            </a:r>
            <a:r>
              <a:rPr lang="en-US" sz="5500" b="1" dirty="0" smtClean="0"/>
              <a:t>.</a:t>
            </a:r>
          </a:p>
          <a:p>
            <a:pPr marL="0" indent="0">
              <a:buNone/>
            </a:pPr>
            <a:r>
              <a:rPr lang="en-US" sz="5200" dirty="0" smtClean="0"/>
              <a:t>import </a:t>
            </a:r>
            <a:r>
              <a:rPr lang="en-US" sz="5200" dirty="0" err="1"/>
              <a:t>java.util.ArrayList</a:t>
            </a:r>
            <a:r>
              <a:rPr lang="en-US" sz="5200" dirty="0"/>
              <a:t>;</a:t>
            </a:r>
          </a:p>
          <a:p>
            <a:pPr marL="0" indent="0">
              <a:lnSpc>
                <a:spcPct val="120000"/>
              </a:lnSpc>
              <a:spcBef>
                <a:spcPts val="0"/>
              </a:spcBef>
              <a:buNone/>
            </a:pPr>
            <a:r>
              <a:rPr lang="en-US" sz="5200" dirty="0"/>
              <a:t>import </a:t>
            </a:r>
            <a:r>
              <a:rPr lang="en-US" sz="5200" dirty="0" err="1"/>
              <a:t>java.util.List</a:t>
            </a:r>
            <a:r>
              <a:rPr lang="en-US" sz="5200" dirty="0" smtClean="0"/>
              <a:t>;</a:t>
            </a:r>
            <a:endParaRPr lang="en-US" sz="5200" dirty="0"/>
          </a:p>
          <a:p>
            <a:pPr marL="0" indent="0">
              <a:lnSpc>
                <a:spcPct val="120000"/>
              </a:lnSpc>
              <a:spcBef>
                <a:spcPts val="0"/>
              </a:spcBef>
              <a:buNone/>
            </a:pPr>
            <a:r>
              <a:rPr lang="en-US" sz="5200" dirty="0"/>
              <a:t>public class </a:t>
            </a:r>
            <a:r>
              <a:rPr lang="en-US" sz="5200" dirty="0" err="1"/>
              <a:t>CreateArrayListFromCollectionExample</a:t>
            </a:r>
            <a:r>
              <a:rPr lang="en-US" sz="5200" dirty="0"/>
              <a:t> {</a:t>
            </a:r>
          </a:p>
          <a:p>
            <a:pPr marL="0" indent="0">
              <a:lnSpc>
                <a:spcPct val="120000"/>
              </a:lnSpc>
              <a:spcBef>
                <a:spcPts val="0"/>
              </a:spcBef>
              <a:buNone/>
            </a:pPr>
            <a:r>
              <a:rPr lang="en-US" sz="5200" dirty="0" smtClean="0"/>
              <a:t>    </a:t>
            </a:r>
            <a:r>
              <a:rPr lang="en-US" sz="5200" dirty="0"/>
              <a:t>public static void main(String[] </a:t>
            </a:r>
            <a:r>
              <a:rPr lang="en-US" sz="5200" dirty="0" err="1"/>
              <a:t>args</a:t>
            </a:r>
            <a:r>
              <a:rPr lang="en-US" sz="5200" dirty="0"/>
              <a:t>) {</a:t>
            </a:r>
          </a:p>
          <a:p>
            <a:pPr marL="0" indent="0">
              <a:lnSpc>
                <a:spcPct val="120000"/>
              </a:lnSpc>
              <a:spcBef>
                <a:spcPts val="0"/>
              </a:spcBef>
              <a:buNone/>
            </a:pPr>
            <a:r>
              <a:rPr lang="en-US" sz="5200" dirty="0"/>
              <a:t>        List&lt;Integer&gt; </a:t>
            </a:r>
            <a:r>
              <a:rPr lang="en-US" sz="5200" dirty="0" err="1"/>
              <a:t>firstFivePrimeNumbers</a:t>
            </a:r>
            <a:r>
              <a:rPr lang="en-US" sz="5200" dirty="0"/>
              <a:t> = new </a:t>
            </a:r>
            <a:r>
              <a:rPr lang="en-US" sz="5200" dirty="0" err="1"/>
              <a:t>ArrayList</a:t>
            </a:r>
            <a:r>
              <a:rPr lang="en-US" sz="5200" dirty="0"/>
              <a:t>&lt;&gt;();</a:t>
            </a:r>
          </a:p>
          <a:p>
            <a:pPr marL="0" indent="0">
              <a:lnSpc>
                <a:spcPct val="120000"/>
              </a:lnSpc>
              <a:spcBef>
                <a:spcPts val="0"/>
              </a:spcBef>
              <a:buNone/>
            </a:pPr>
            <a:r>
              <a:rPr lang="en-US" sz="5200" dirty="0"/>
              <a:t>        </a:t>
            </a:r>
            <a:r>
              <a:rPr lang="en-US" sz="5200" dirty="0" err="1"/>
              <a:t>firstFivePrimeNumbers.add</a:t>
            </a:r>
            <a:r>
              <a:rPr lang="en-US" sz="5200" dirty="0"/>
              <a:t>(2);</a:t>
            </a:r>
          </a:p>
          <a:p>
            <a:pPr marL="0" indent="0">
              <a:lnSpc>
                <a:spcPct val="120000"/>
              </a:lnSpc>
              <a:spcBef>
                <a:spcPts val="0"/>
              </a:spcBef>
              <a:buNone/>
            </a:pPr>
            <a:r>
              <a:rPr lang="en-US" sz="5200" dirty="0"/>
              <a:t>        </a:t>
            </a:r>
            <a:r>
              <a:rPr lang="en-US" sz="5200" dirty="0" err="1"/>
              <a:t>firstFivePrimeNumbers.add</a:t>
            </a:r>
            <a:r>
              <a:rPr lang="en-US" sz="5200" dirty="0"/>
              <a:t>(3);</a:t>
            </a:r>
          </a:p>
          <a:p>
            <a:pPr marL="0" indent="0">
              <a:lnSpc>
                <a:spcPct val="120000"/>
              </a:lnSpc>
              <a:spcBef>
                <a:spcPts val="0"/>
              </a:spcBef>
              <a:buNone/>
            </a:pPr>
            <a:r>
              <a:rPr lang="en-US" sz="5200" dirty="0"/>
              <a:t>        </a:t>
            </a:r>
            <a:r>
              <a:rPr lang="en-US" sz="5200" dirty="0" err="1"/>
              <a:t>firstFivePrimeNumbers.add</a:t>
            </a:r>
            <a:r>
              <a:rPr lang="en-US" sz="5200" dirty="0"/>
              <a:t>(5</a:t>
            </a:r>
            <a:r>
              <a:rPr lang="en-US" sz="5200" dirty="0" smtClean="0"/>
              <a:t>);        </a:t>
            </a:r>
          </a:p>
          <a:p>
            <a:pPr marL="0" indent="0">
              <a:lnSpc>
                <a:spcPct val="120000"/>
              </a:lnSpc>
              <a:spcBef>
                <a:spcPts val="0"/>
              </a:spcBef>
              <a:buNone/>
            </a:pPr>
            <a:r>
              <a:rPr lang="en-US" sz="5200" dirty="0" smtClean="0"/>
              <a:t>        // Creating an </a:t>
            </a:r>
            <a:r>
              <a:rPr lang="en-US" sz="5200" dirty="0" err="1" smtClean="0"/>
              <a:t>ArrayList</a:t>
            </a:r>
            <a:r>
              <a:rPr lang="en-US" sz="5200" dirty="0" smtClean="0"/>
              <a:t> from another collection</a:t>
            </a:r>
          </a:p>
          <a:p>
            <a:pPr marL="0" indent="0">
              <a:lnSpc>
                <a:spcPct val="120000"/>
              </a:lnSpc>
              <a:spcBef>
                <a:spcPts val="0"/>
              </a:spcBef>
              <a:buNone/>
            </a:pPr>
            <a:r>
              <a:rPr lang="en-US" sz="5200" dirty="0" smtClean="0"/>
              <a:t>        </a:t>
            </a:r>
            <a:r>
              <a:rPr lang="en-US" sz="5200" dirty="0"/>
              <a:t>List&lt;Integer&gt; </a:t>
            </a:r>
            <a:r>
              <a:rPr lang="en-US" sz="5200" dirty="0" err="1"/>
              <a:t>firstTenPrimeNumbers</a:t>
            </a:r>
            <a:r>
              <a:rPr lang="en-US" sz="5200" dirty="0"/>
              <a:t> = new </a:t>
            </a:r>
            <a:r>
              <a:rPr lang="en-US" sz="5200" dirty="0" err="1"/>
              <a:t>ArrayList</a:t>
            </a:r>
            <a:r>
              <a:rPr lang="en-US" sz="5200" dirty="0"/>
              <a:t>&lt;&gt;(</a:t>
            </a:r>
            <a:r>
              <a:rPr lang="en-US" sz="5200" dirty="0" err="1"/>
              <a:t>firstFivePrimeNumbers</a:t>
            </a:r>
            <a:r>
              <a:rPr lang="en-US" sz="5200" dirty="0"/>
              <a:t>);</a:t>
            </a:r>
          </a:p>
          <a:p>
            <a:pPr marL="0" indent="0">
              <a:lnSpc>
                <a:spcPct val="120000"/>
              </a:lnSpc>
              <a:spcBef>
                <a:spcPts val="0"/>
              </a:spcBef>
              <a:buNone/>
            </a:pPr>
            <a:r>
              <a:rPr lang="en-US" sz="5200" dirty="0" smtClean="0"/>
              <a:t>        </a:t>
            </a:r>
            <a:r>
              <a:rPr lang="en-US" sz="5200" dirty="0"/>
              <a:t>List&lt;Integer&gt; </a:t>
            </a:r>
            <a:r>
              <a:rPr lang="en-US" sz="5200" dirty="0" err="1"/>
              <a:t>nextFivePrimeNumbers</a:t>
            </a:r>
            <a:r>
              <a:rPr lang="en-US" sz="5200" dirty="0"/>
              <a:t> = new </a:t>
            </a:r>
            <a:r>
              <a:rPr lang="en-US" sz="5200" dirty="0" err="1"/>
              <a:t>ArrayList</a:t>
            </a:r>
            <a:r>
              <a:rPr lang="en-US" sz="5200" dirty="0"/>
              <a:t>&lt;&gt;();</a:t>
            </a:r>
          </a:p>
          <a:p>
            <a:pPr marL="0" indent="0">
              <a:lnSpc>
                <a:spcPct val="120000"/>
              </a:lnSpc>
              <a:spcBef>
                <a:spcPts val="0"/>
              </a:spcBef>
              <a:buNone/>
            </a:pPr>
            <a:r>
              <a:rPr lang="en-US" sz="5200" dirty="0"/>
              <a:t>        </a:t>
            </a:r>
            <a:r>
              <a:rPr lang="en-US" sz="5200" dirty="0" err="1"/>
              <a:t>nextFivePrimeNumbers.add</a:t>
            </a:r>
            <a:r>
              <a:rPr lang="en-US" sz="5200" dirty="0"/>
              <a:t>(13);</a:t>
            </a:r>
          </a:p>
          <a:p>
            <a:pPr marL="0" indent="0">
              <a:lnSpc>
                <a:spcPct val="120000"/>
              </a:lnSpc>
              <a:spcBef>
                <a:spcPts val="0"/>
              </a:spcBef>
              <a:buNone/>
            </a:pPr>
            <a:r>
              <a:rPr lang="en-US" sz="5200" dirty="0"/>
              <a:t>        </a:t>
            </a:r>
            <a:r>
              <a:rPr lang="en-US" sz="5200" dirty="0" err="1"/>
              <a:t>nextFivePrimeNumbers.add</a:t>
            </a:r>
            <a:r>
              <a:rPr lang="en-US" sz="5200" dirty="0"/>
              <a:t>(17</a:t>
            </a:r>
            <a:r>
              <a:rPr lang="en-US" sz="5200" dirty="0" smtClean="0"/>
              <a:t>);</a:t>
            </a:r>
          </a:p>
          <a:p>
            <a:pPr marL="0" indent="0">
              <a:lnSpc>
                <a:spcPct val="120000"/>
              </a:lnSpc>
              <a:spcBef>
                <a:spcPts val="0"/>
              </a:spcBef>
              <a:buNone/>
            </a:pPr>
            <a:r>
              <a:rPr lang="en-US" sz="5200" dirty="0" smtClean="0"/>
              <a:t>        // Adding an entire collection to an </a:t>
            </a:r>
            <a:r>
              <a:rPr lang="en-US" sz="5200" dirty="0" err="1" smtClean="0"/>
              <a:t>ArrayList</a:t>
            </a:r>
            <a:endParaRPr lang="en-US" sz="5200" dirty="0" smtClean="0"/>
          </a:p>
          <a:p>
            <a:pPr marL="0" indent="0">
              <a:lnSpc>
                <a:spcPct val="120000"/>
              </a:lnSpc>
              <a:spcBef>
                <a:spcPts val="0"/>
              </a:spcBef>
              <a:buNone/>
            </a:pPr>
            <a:r>
              <a:rPr lang="en-US" sz="5200" dirty="0" smtClean="0"/>
              <a:t>        </a:t>
            </a:r>
            <a:r>
              <a:rPr lang="en-US" sz="5200" dirty="0" err="1"/>
              <a:t>firstTenPrimeNumbers.addAll</a:t>
            </a:r>
            <a:r>
              <a:rPr lang="en-US" sz="5200" dirty="0"/>
              <a:t>(</a:t>
            </a:r>
            <a:r>
              <a:rPr lang="en-US" sz="5200" dirty="0" err="1"/>
              <a:t>nextFivePrimeNumbers</a:t>
            </a:r>
            <a:r>
              <a:rPr lang="en-US" sz="5200" dirty="0"/>
              <a:t>);</a:t>
            </a:r>
          </a:p>
          <a:p>
            <a:pPr marL="0" indent="0">
              <a:lnSpc>
                <a:spcPct val="120000"/>
              </a:lnSpc>
              <a:spcBef>
                <a:spcPts val="0"/>
              </a:spcBef>
              <a:buNone/>
            </a:pPr>
            <a:r>
              <a:rPr lang="en-US" sz="5200" dirty="0" smtClean="0"/>
              <a:t>        </a:t>
            </a:r>
            <a:r>
              <a:rPr lang="en-US" sz="5200" dirty="0" err="1"/>
              <a:t>System.out.println</a:t>
            </a:r>
            <a:r>
              <a:rPr lang="en-US" sz="5200" dirty="0"/>
              <a:t>(</a:t>
            </a:r>
            <a:r>
              <a:rPr lang="en-US" sz="5200" dirty="0" err="1"/>
              <a:t>firstTenPrimeNumbers</a:t>
            </a:r>
            <a:r>
              <a:rPr lang="en-US" sz="5200" dirty="0"/>
              <a:t>);</a:t>
            </a:r>
          </a:p>
          <a:p>
            <a:pPr marL="0" indent="0">
              <a:lnSpc>
                <a:spcPct val="120000"/>
              </a:lnSpc>
              <a:spcBef>
                <a:spcPts val="0"/>
              </a:spcBef>
              <a:buNone/>
            </a:pPr>
            <a:r>
              <a:rPr lang="en-US" sz="5200" dirty="0"/>
              <a:t>    }</a:t>
            </a:r>
          </a:p>
          <a:p>
            <a:pPr marL="0" indent="0">
              <a:lnSpc>
                <a:spcPct val="120000"/>
              </a:lnSpc>
              <a:spcBef>
                <a:spcPts val="0"/>
              </a:spcBef>
              <a:buNone/>
            </a:pPr>
            <a:r>
              <a:rPr lang="en-US" sz="52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7232119" y="4572001"/>
            <a:ext cx="3704770" cy="105278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[2, 3, 5</a:t>
            </a:r>
            <a:r>
              <a:rPr lang="en-US" sz="2000" dirty="0" smtClean="0"/>
              <a:t>, </a:t>
            </a:r>
            <a:r>
              <a:rPr lang="en-US" sz="2000" dirty="0"/>
              <a:t>13, </a:t>
            </a:r>
            <a:r>
              <a:rPr lang="en-US" sz="2000" dirty="0" smtClean="0"/>
              <a:t>17]</a:t>
            </a:r>
            <a:endParaRPr lang="en-US" sz="2000" dirty="0"/>
          </a:p>
        </p:txBody>
      </p:sp>
    </p:spTree>
    <p:extLst>
      <p:ext uri="{BB962C8B-B14F-4D97-AF65-F5344CB8AC3E}">
        <p14:creationId xmlns:p14="http://schemas.microsoft.com/office/powerpoint/2010/main" val="9789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1074057"/>
            <a:ext cx="11179630" cy="5647418"/>
          </a:xfrm>
        </p:spPr>
        <p:txBody>
          <a:bodyPr>
            <a:normAutofit fontScale="25000" lnSpcReduction="20000"/>
          </a:bodyPr>
          <a:lstStyle/>
          <a:p>
            <a:r>
              <a:rPr lang="en-US" sz="7200" b="1" dirty="0"/>
              <a:t>Accessing elements from an </a:t>
            </a:r>
            <a:r>
              <a:rPr lang="en-US" sz="7200" b="1" dirty="0" err="1" smtClean="0"/>
              <a:t>ArrayList</a:t>
            </a:r>
            <a:r>
              <a:rPr lang="en-US" sz="7200" b="1" dirty="0" smtClean="0"/>
              <a:t>: </a:t>
            </a:r>
            <a:r>
              <a:rPr lang="en-US" sz="7200" b="1" dirty="0"/>
              <a:t>using the </a:t>
            </a:r>
            <a:r>
              <a:rPr lang="en-US" sz="7200" b="1" dirty="0" err="1"/>
              <a:t>isEmpty</a:t>
            </a:r>
            <a:r>
              <a:rPr lang="en-US" sz="7200" b="1" dirty="0" smtClean="0"/>
              <a:t>(), </a:t>
            </a:r>
            <a:r>
              <a:rPr lang="en-US" sz="7200" b="1" dirty="0"/>
              <a:t>the size</a:t>
            </a:r>
            <a:r>
              <a:rPr lang="en-US" sz="7200" b="1" dirty="0" smtClean="0"/>
              <a:t>(), </a:t>
            </a:r>
            <a:r>
              <a:rPr lang="en-US" sz="7200" b="1" dirty="0"/>
              <a:t>the get</a:t>
            </a:r>
            <a:r>
              <a:rPr lang="en-US" sz="7200" b="1" dirty="0" smtClean="0"/>
              <a:t>() and the set()  </a:t>
            </a:r>
            <a:r>
              <a:rPr lang="en-US" sz="7200" b="1" dirty="0"/>
              <a:t>method.</a:t>
            </a:r>
          </a:p>
          <a:p>
            <a:pPr marL="0" indent="0">
              <a:buNone/>
            </a:pPr>
            <a:r>
              <a:rPr lang="en-US" sz="6400" dirty="0" smtClean="0"/>
              <a:t>import </a:t>
            </a:r>
            <a:r>
              <a:rPr lang="en-US" sz="6400" dirty="0" err="1"/>
              <a:t>java.util.ArrayList</a:t>
            </a:r>
            <a:r>
              <a:rPr lang="en-US" sz="6400" dirty="0"/>
              <a:t>;</a:t>
            </a:r>
          </a:p>
          <a:p>
            <a:pPr marL="0" indent="0">
              <a:lnSpc>
                <a:spcPct val="120000"/>
              </a:lnSpc>
              <a:spcBef>
                <a:spcPts val="0"/>
              </a:spcBef>
              <a:buNone/>
            </a:pPr>
            <a:r>
              <a:rPr lang="en-US" sz="6400" dirty="0"/>
              <a:t>import </a:t>
            </a:r>
            <a:r>
              <a:rPr lang="en-US" sz="6400" dirty="0" err="1"/>
              <a:t>java.util.List</a:t>
            </a:r>
            <a:r>
              <a:rPr lang="en-US" sz="6400" dirty="0" smtClean="0"/>
              <a:t>;</a:t>
            </a:r>
            <a:endParaRPr lang="en-US" sz="6400" dirty="0"/>
          </a:p>
          <a:p>
            <a:pPr marL="0" indent="0">
              <a:lnSpc>
                <a:spcPct val="120000"/>
              </a:lnSpc>
              <a:spcBef>
                <a:spcPts val="0"/>
              </a:spcBef>
              <a:buNone/>
            </a:pPr>
            <a:r>
              <a:rPr lang="en-US" sz="6400" dirty="0"/>
              <a:t>public class </a:t>
            </a:r>
            <a:r>
              <a:rPr lang="en-US" sz="6400" dirty="0" err="1"/>
              <a:t>AccessElementsFromArrayListExample</a:t>
            </a:r>
            <a:r>
              <a:rPr lang="en-US" sz="6400" dirty="0"/>
              <a:t> {</a:t>
            </a:r>
          </a:p>
          <a:p>
            <a:pPr marL="0" indent="0">
              <a:lnSpc>
                <a:spcPct val="120000"/>
              </a:lnSpc>
              <a:spcBef>
                <a:spcPts val="0"/>
              </a:spcBef>
              <a:buNone/>
            </a:pPr>
            <a:r>
              <a:rPr lang="en-US" sz="6400" dirty="0"/>
              <a:t>    public static void main(String[] </a:t>
            </a:r>
            <a:r>
              <a:rPr lang="en-US" sz="6400" dirty="0" err="1"/>
              <a:t>args</a:t>
            </a:r>
            <a:r>
              <a:rPr lang="en-US" sz="6400" dirty="0"/>
              <a:t>) {</a:t>
            </a:r>
          </a:p>
          <a:p>
            <a:pPr marL="0" indent="0">
              <a:lnSpc>
                <a:spcPct val="120000"/>
              </a:lnSpc>
              <a:spcBef>
                <a:spcPts val="0"/>
              </a:spcBef>
              <a:buNone/>
            </a:pPr>
            <a:r>
              <a:rPr lang="en-US" sz="6400" dirty="0"/>
              <a:t>        List&lt;String&gt; </a:t>
            </a:r>
            <a:r>
              <a:rPr lang="en-US" sz="6400" dirty="0" err="1"/>
              <a:t>topCompanies</a:t>
            </a:r>
            <a:r>
              <a:rPr lang="en-US" sz="6400" dirty="0"/>
              <a:t> = new </a:t>
            </a:r>
            <a:r>
              <a:rPr lang="en-US" sz="6400" dirty="0" err="1"/>
              <a:t>ArrayList</a:t>
            </a:r>
            <a:r>
              <a:rPr lang="en-US" sz="6400" dirty="0" smtClean="0"/>
              <a:t>&lt;&gt;();</a:t>
            </a:r>
            <a:endParaRPr lang="en-US" sz="6400" dirty="0"/>
          </a:p>
          <a:p>
            <a:pPr marL="0" indent="0">
              <a:lnSpc>
                <a:spcPct val="120000"/>
              </a:lnSpc>
              <a:spcBef>
                <a:spcPts val="0"/>
              </a:spcBef>
              <a:buNone/>
            </a:pPr>
            <a:r>
              <a:rPr lang="en-US" sz="6400" dirty="0"/>
              <a:t>        </a:t>
            </a:r>
            <a:r>
              <a:rPr lang="en-US" sz="6400" dirty="0" err="1"/>
              <a:t>System.out.println</a:t>
            </a:r>
            <a:r>
              <a:rPr lang="en-US" sz="6400" dirty="0"/>
              <a:t>("Is the </a:t>
            </a:r>
            <a:r>
              <a:rPr lang="en-US" sz="6400" dirty="0" err="1"/>
              <a:t>topCompanies</a:t>
            </a:r>
            <a:r>
              <a:rPr lang="en-US" sz="6400" dirty="0"/>
              <a:t> list empty? : " + </a:t>
            </a:r>
            <a:r>
              <a:rPr lang="en-US" sz="6400" dirty="0" err="1"/>
              <a:t>topCompanies.isEmpty</a:t>
            </a:r>
            <a:r>
              <a:rPr lang="en-US" sz="6400" dirty="0" smtClean="0"/>
              <a:t>()); </a:t>
            </a:r>
            <a:r>
              <a:rPr lang="en-US" sz="6400" dirty="0"/>
              <a:t>// Check if an </a:t>
            </a:r>
            <a:r>
              <a:rPr lang="en-US" sz="6400" dirty="0" err="1"/>
              <a:t>ArrayList</a:t>
            </a:r>
            <a:r>
              <a:rPr lang="en-US" sz="6400" dirty="0"/>
              <a:t> is empty</a:t>
            </a:r>
          </a:p>
          <a:p>
            <a:pPr marL="0" indent="0">
              <a:lnSpc>
                <a:spcPct val="120000"/>
              </a:lnSpc>
              <a:spcBef>
                <a:spcPts val="0"/>
              </a:spcBef>
              <a:buNone/>
            </a:pPr>
            <a:r>
              <a:rPr lang="en-US" sz="6400" dirty="0"/>
              <a:t>        </a:t>
            </a:r>
            <a:r>
              <a:rPr lang="en-US" sz="6400" dirty="0" err="1"/>
              <a:t>topCompanies.add</a:t>
            </a:r>
            <a:r>
              <a:rPr lang="en-US" sz="6400" dirty="0"/>
              <a:t>("Google");</a:t>
            </a:r>
          </a:p>
          <a:p>
            <a:pPr marL="0" indent="0">
              <a:lnSpc>
                <a:spcPct val="120000"/>
              </a:lnSpc>
              <a:spcBef>
                <a:spcPts val="0"/>
              </a:spcBef>
              <a:buNone/>
            </a:pPr>
            <a:r>
              <a:rPr lang="en-US" sz="6400" dirty="0"/>
              <a:t>        </a:t>
            </a:r>
            <a:r>
              <a:rPr lang="en-US" sz="6400" dirty="0" err="1"/>
              <a:t>topCompanies.add</a:t>
            </a:r>
            <a:r>
              <a:rPr lang="en-US" sz="6400" dirty="0"/>
              <a:t>("Apple");</a:t>
            </a:r>
          </a:p>
          <a:p>
            <a:pPr marL="0" indent="0">
              <a:lnSpc>
                <a:spcPct val="120000"/>
              </a:lnSpc>
              <a:spcBef>
                <a:spcPts val="0"/>
              </a:spcBef>
              <a:buNone/>
            </a:pPr>
            <a:r>
              <a:rPr lang="en-US" sz="6400" dirty="0"/>
              <a:t>        </a:t>
            </a:r>
            <a:r>
              <a:rPr lang="en-US" sz="6400" dirty="0" err="1"/>
              <a:t>topCompanies.add</a:t>
            </a:r>
            <a:r>
              <a:rPr lang="en-US" sz="6400" dirty="0"/>
              <a:t>("Microsoft</a:t>
            </a:r>
            <a:r>
              <a:rPr lang="en-US" sz="6400" dirty="0" smtClean="0"/>
              <a:t>");</a:t>
            </a:r>
          </a:p>
          <a:p>
            <a:pPr marL="0" indent="0">
              <a:lnSpc>
                <a:spcPct val="120000"/>
              </a:lnSpc>
              <a:spcBef>
                <a:spcPts val="0"/>
              </a:spcBef>
              <a:buNone/>
            </a:pPr>
            <a:r>
              <a:rPr lang="en-US" sz="6400" dirty="0" smtClean="0"/>
              <a:t>        // Find the size of an </a:t>
            </a:r>
            <a:r>
              <a:rPr lang="en-US" sz="6400" dirty="0" err="1" smtClean="0"/>
              <a:t>ArrayList</a:t>
            </a:r>
            <a:endParaRPr lang="en-US" sz="6400" dirty="0" smtClean="0"/>
          </a:p>
          <a:p>
            <a:pPr marL="0" indent="0">
              <a:lnSpc>
                <a:spcPct val="120000"/>
              </a:lnSpc>
              <a:spcBef>
                <a:spcPts val="0"/>
              </a:spcBef>
              <a:buNone/>
            </a:pPr>
            <a:r>
              <a:rPr lang="en-US" sz="6400" dirty="0" smtClean="0"/>
              <a:t>        </a:t>
            </a:r>
            <a:r>
              <a:rPr lang="en-US" sz="6400" dirty="0" err="1"/>
              <a:t>System.out.println</a:t>
            </a:r>
            <a:r>
              <a:rPr lang="en-US" sz="6400" dirty="0"/>
              <a:t>("Here are the top " + </a:t>
            </a:r>
            <a:r>
              <a:rPr lang="en-US" sz="6400" dirty="0" err="1"/>
              <a:t>topCompanies.size</a:t>
            </a:r>
            <a:r>
              <a:rPr lang="en-US" sz="6400" dirty="0"/>
              <a:t>() + " companies in the world");</a:t>
            </a:r>
          </a:p>
          <a:p>
            <a:pPr marL="0" indent="0">
              <a:lnSpc>
                <a:spcPct val="120000"/>
              </a:lnSpc>
              <a:spcBef>
                <a:spcPts val="0"/>
              </a:spcBef>
              <a:buNone/>
            </a:pPr>
            <a:r>
              <a:rPr lang="en-US" sz="6400" dirty="0"/>
              <a:t>        </a:t>
            </a:r>
            <a:r>
              <a:rPr lang="en-US" sz="6400" dirty="0" err="1"/>
              <a:t>System.out.println</a:t>
            </a:r>
            <a:r>
              <a:rPr lang="en-US" sz="6400" dirty="0"/>
              <a:t>(</a:t>
            </a:r>
            <a:r>
              <a:rPr lang="en-US" sz="6400" dirty="0" err="1"/>
              <a:t>topCompanies</a:t>
            </a:r>
            <a:r>
              <a:rPr lang="en-US" sz="6400" dirty="0" smtClean="0"/>
              <a:t>);        </a:t>
            </a:r>
            <a:endParaRPr lang="en-US" sz="6400" dirty="0"/>
          </a:p>
          <a:p>
            <a:pPr marL="0" indent="0">
              <a:lnSpc>
                <a:spcPct val="120000"/>
              </a:lnSpc>
              <a:spcBef>
                <a:spcPts val="0"/>
              </a:spcBef>
              <a:buNone/>
            </a:pPr>
            <a:r>
              <a:rPr lang="en-US" sz="6400" dirty="0"/>
              <a:t>        String </a:t>
            </a:r>
            <a:r>
              <a:rPr lang="en-US" sz="6400" dirty="0" err="1"/>
              <a:t>bestCompany</a:t>
            </a:r>
            <a:r>
              <a:rPr lang="en-US" sz="6400" dirty="0"/>
              <a:t> = </a:t>
            </a:r>
            <a:r>
              <a:rPr lang="en-US" sz="6400" dirty="0" err="1"/>
              <a:t>topCompanies.get</a:t>
            </a:r>
            <a:r>
              <a:rPr lang="en-US" sz="6400" dirty="0"/>
              <a:t>(0</a:t>
            </a:r>
            <a:r>
              <a:rPr lang="en-US" sz="6400" dirty="0" smtClean="0"/>
              <a:t>);</a:t>
            </a:r>
            <a:r>
              <a:rPr lang="en-US" sz="6400" dirty="0"/>
              <a:t> // Retrieve the element at a given index</a:t>
            </a:r>
          </a:p>
          <a:p>
            <a:pPr marL="0" indent="0">
              <a:lnSpc>
                <a:spcPct val="120000"/>
              </a:lnSpc>
              <a:spcBef>
                <a:spcPts val="0"/>
              </a:spcBef>
              <a:buNone/>
            </a:pPr>
            <a:r>
              <a:rPr lang="en-US" sz="6400" dirty="0"/>
              <a:t>        String </a:t>
            </a:r>
            <a:r>
              <a:rPr lang="en-US" sz="6400" dirty="0" err="1"/>
              <a:t>secondBestCompany</a:t>
            </a:r>
            <a:r>
              <a:rPr lang="en-US" sz="6400" dirty="0"/>
              <a:t> = </a:t>
            </a:r>
            <a:r>
              <a:rPr lang="en-US" sz="6400" dirty="0" err="1"/>
              <a:t>topCompanies.get</a:t>
            </a:r>
            <a:r>
              <a:rPr lang="en-US" sz="6400" dirty="0"/>
              <a:t>(1);</a:t>
            </a:r>
          </a:p>
          <a:p>
            <a:pPr marL="0" indent="0">
              <a:lnSpc>
                <a:spcPct val="120000"/>
              </a:lnSpc>
              <a:spcBef>
                <a:spcPts val="0"/>
              </a:spcBef>
              <a:buNone/>
            </a:pPr>
            <a:r>
              <a:rPr lang="en-US" sz="6400" dirty="0"/>
              <a:t>        String </a:t>
            </a:r>
            <a:r>
              <a:rPr lang="en-US" sz="6400" dirty="0" err="1"/>
              <a:t>lastCompany</a:t>
            </a:r>
            <a:r>
              <a:rPr lang="en-US" sz="6400" dirty="0"/>
              <a:t> = </a:t>
            </a:r>
            <a:r>
              <a:rPr lang="en-US" sz="6400" dirty="0" err="1"/>
              <a:t>topCompanies.get</a:t>
            </a:r>
            <a:r>
              <a:rPr lang="en-US" sz="6400" dirty="0"/>
              <a:t>(</a:t>
            </a:r>
            <a:r>
              <a:rPr lang="en-US" sz="6400" dirty="0" err="1"/>
              <a:t>topCompanies.size</a:t>
            </a:r>
            <a:r>
              <a:rPr lang="en-US" sz="6400" dirty="0"/>
              <a:t>() - 1</a:t>
            </a:r>
            <a:r>
              <a:rPr lang="en-US" sz="6400" dirty="0" smtClean="0"/>
              <a:t>);</a:t>
            </a:r>
            <a:endParaRPr lang="en-US" sz="6400" dirty="0"/>
          </a:p>
          <a:p>
            <a:pPr marL="0" indent="0">
              <a:lnSpc>
                <a:spcPct val="120000"/>
              </a:lnSpc>
              <a:spcBef>
                <a:spcPts val="0"/>
              </a:spcBef>
              <a:buNone/>
            </a:pPr>
            <a:r>
              <a:rPr lang="en-US" sz="6400" dirty="0"/>
              <a:t>        </a:t>
            </a:r>
            <a:r>
              <a:rPr lang="en-US" sz="6400" dirty="0" err="1"/>
              <a:t>System.out.println</a:t>
            </a:r>
            <a:r>
              <a:rPr lang="en-US" sz="6400" dirty="0"/>
              <a:t>("Best Company: " + </a:t>
            </a:r>
            <a:r>
              <a:rPr lang="en-US" sz="6400" dirty="0" err="1"/>
              <a:t>bestCompany</a:t>
            </a:r>
            <a:r>
              <a:rPr lang="en-US" sz="6400" dirty="0"/>
              <a:t>);</a:t>
            </a:r>
          </a:p>
          <a:p>
            <a:pPr marL="0" indent="0">
              <a:lnSpc>
                <a:spcPct val="120000"/>
              </a:lnSpc>
              <a:spcBef>
                <a:spcPts val="0"/>
              </a:spcBef>
              <a:buNone/>
            </a:pPr>
            <a:r>
              <a:rPr lang="en-US" sz="6400" dirty="0"/>
              <a:t>        </a:t>
            </a:r>
            <a:r>
              <a:rPr lang="en-US" sz="6400" dirty="0" err="1"/>
              <a:t>System.out.println</a:t>
            </a:r>
            <a:r>
              <a:rPr lang="en-US" sz="6400" dirty="0"/>
              <a:t>("Second Best Company: " + </a:t>
            </a:r>
            <a:r>
              <a:rPr lang="en-US" sz="6400" dirty="0" err="1"/>
              <a:t>secondBestCompany</a:t>
            </a:r>
            <a:r>
              <a:rPr lang="en-US" sz="6400" dirty="0"/>
              <a:t>);</a:t>
            </a:r>
          </a:p>
          <a:p>
            <a:pPr marL="0" indent="0">
              <a:lnSpc>
                <a:spcPct val="120000"/>
              </a:lnSpc>
              <a:spcBef>
                <a:spcPts val="0"/>
              </a:spcBef>
              <a:buNone/>
            </a:pPr>
            <a:r>
              <a:rPr lang="en-US" sz="6400" dirty="0"/>
              <a:t>        </a:t>
            </a:r>
            <a:r>
              <a:rPr lang="en-US" sz="6400" dirty="0" err="1"/>
              <a:t>System.out.println</a:t>
            </a:r>
            <a:r>
              <a:rPr lang="en-US" sz="6400" dirty="0"/>
              <a:t>("Last Company in the list: " + </a:t>
            </a:r>
            <a:r>
              <a:rPr lang="en-US" sz="6400" dirty="0" err="1"/>
              <a:t>lastCompany</a:t>
            </a:r>
            <a:r>
              <a:rPr lang="en-US" sz="6400" dirty="0" smtClean="0"/>
              <a:t>);</a:t>
            </a:r>
          </a:p>
          <a:p>
            <a:pPr marL="0" indent="0">
              <a:lnSpc>
                <a:spcPct val="120000"/>
              </a:lnSpc>
              <a:spcBef>
                <a:spcPts val="0"/>
              </a:spcBef>
              <a:buNone/>
            </a:pPr>
            <a:r>
              <a:rPr lang="en-US" sz="6400" dirty="0" smtClean="0"/>
              <a:t>        </a:t>
            </a:r>
            <a:r>
              <a:rPr lang="en-US" sz="6400" dirty="0" err="1" smtClean="0"/>
              <a:t>topCompanies.set</a:t>
            </a:r>
            <a:r>
              <a:rPr lang="en-US" sz="6400" dirty="0" smtClean="0"/>
              <a:t>(2,"</a:t>
            </a:r>
            <a:r>
              <a:rPr lang="en-US" sz="6400" dirty="0" err="1" smtClean="0"/>
              <a:t>Walmart</a:t>
            </a:r>
            <a:r>
              <a:rPr lang="en-US" sz="6400" dirty="0" smtClean="0"/>
              <a:t>");</a:t>
            </a:r>
            <a:r>
              <a:rPr lang="en-US" sz="6400" dirty="0"/>
              <a:t> // Modify the element at a given index</a:t>
            </a:r>
            <a:endParaRPr lang="en-US" sz="6400" dirty="0" smtClean="0"/>
          </a:p>
          <a:p>
            <a:pPr marL="0" indent="0">
              <a:lnSpc>
                <a:spcPct val="120000"/>
              </a:lnSpc>
              <a:spcBef>
                <a:spcPts val="0"/>
              </a:spcBef>
              <a:buNone/>
            </a:pPr>
            <a:r>
              <a:rPr lang="en-US" sz="6400" dirty="0" smtClean="0"/>
              <a:t>        </a:t>
            </a:r>
            <a:r>
              <a:rPr lang="en-US" sz="6400" dirty="0" err="1"/>
              <a:t>System.out.println</a:t>
            </a:r>
            <a:r>
              <a:rPr lang="en-US" sz="6400" dirty="0"/>
              <a:t>("Modified top companies list: " + </a:t>
            </a:r>
            <a:r>
              <a:rPr lang="en-US" sz="6400" dirty="0" err="1"/>
              <a:t>topCompanies</a:t>
            </a:r>
            <a:r>
              <a:rPr lang="en-US" sz="6400" dirty="0"/>
              <a:t>);</a:t>
            </a:r>
          </a:p>
          <a:p>
            <a:pPr marL="0" indent="0">
              <a:lnSpc>
                <a:spcPct val="120000"/>
              </a:lnSpc>
              <a:spcBef>
                <a:spcPts val="0"/>
              </a:spcBef>
              <a:buNone/>
            </a:pPr>
            <a:r>
              <a:rPr lang="en-US" sz="6400" dirty="0"/>
              <a:t>    }</a:t>
            </a:r>
          </a:p>
          <a:p>
            <a:pPr marL="0" indent="0">
              <a:lnSpc>
                <a:spcPct val="120000"/>
              </a:lnSpc>
              <a:spcBef>
                <a:spcPts val="0"/>
              </a:spcBef>
              <a:buNone/>
            </a:pPr>
            <a:r>
              <a:rPr lang="en-US" sz="64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8483600" y="4279899"/>
            <a:ext cx="3708400" cy="244157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smtClean="0"/>
              <a:t>Is </a:t>
            </a:r>
            <a:r>
              <a:rPr lang="en-US" sz="2000" dirty="0"/>
              <a:t>the </a:t>
            </a:r>
            <a:r>
              <a:rPr lang="en-US" sz="2000" dirty="0" err="1"/>
              <a:t>topCompanies</a:t>
            </a:r>
            <a:r>
              <a:rPr lang="en-US" sz="2000" dirty="0"/>
              <a:t> list empty? : true</a:t>
            </a:r>
          </a:p>
          <a:p>
            <a:pPr marL="0" indent="0">
              <a:buNone/>
            </a:pPr>
            <a:r>
              <a:rPr lang="en-US" sz="2000" dirty="0"/>
              <a:t>Here are the top </a:t>
            </a:r>
            <a:r>
              <a:rPr lang="en-US" sz="2000" dirty="0" smtClean="0"/>
              <a:t>3 </a:t>
            </a:r>
            <a:r>
              <a:rPr lang="en-US" sz="2000" dirty="0"/>
              <a:t>companies in the world</a:t>
            </a:r>
          </a:p>
          <a:p>
            <a:pPr marL="0" indent="0">
              <a:buNone/>
            </a:pPr>
            <a:r>
              <a:rPr lang="en-US" sz="2000" dirty="0"/>
              <a:t>[Google, Apple, </a:t>
            </a:r>
            <a:r>
              <a:rPr lang="en-US" sz="2000" dirty="0" smtClean="0"/>
              <a:t>Microsoft]</a:t>
            </a:r>
            <a:endParaRPr lang="en-US" sz="2000" dirty="0"/>
          </a:p>
          <a:p>
            <a:pPr marL="0" indent="0">
              <a:buNone/>
            </a:pPr>
            <a:r>
              <a:rPr lang="en-US" sz="2000" dirty="0"/>
              <a:t>Best Company: Google</a:t>
            </a:r>
          </a:p>
          <a:p>
            <a:pPr marL="0" indent="0">
              <a:buNone/>
            </a:pPr>
            <a:r>
              <a:rPr lang="en-US" sz="2000" dirty="0"/>
              <a:t>Second Best Company: Apple</a:t>
            </a:r>
          </a:p>
          <a:p>
            <a:pPr marL="0" indent="0">
              <a:buNone/>
            </a:pPr>
            <a:r>
              <a:rPr lang="en-US" sz="2000" dirty="0"/>
              <a:t>Last Company in the list: Microsoft</a:t>
            </a:r>
          </a:p>
          <a:p>
            <a:pPr marL="0" indent="0">
              <a:buNone/>
            </a:pPr>
            <a:r>
              <a:rPr lang="en-US" sz="2000" dirty="0"/>
              <a:t>Modified top companies list: [Google, Apple, </a:t>
            </a:r>
            <a:r>
              <a:rPr lang="en-US" sz="2000" dirty="0" err="1" smtClean="0"/>
              <a:t>Walmart</a:t>
            </a:r>
            <a:r>
              <a:rPr lang="en-US" sz="2000" dirty="0"/>
              <a:t>]</a:t>
            </a:r>
          </a:p>
        </p:txBody>
      </p:sp>
    </p:spTree>
    <p:extLst>
      <p:ext uri="{BB962C8B-B14F-4D97-AF65-F5344CB8AC3E}">
        <p14:creationId xmlns:p14="http://schemas.microsoft.com/office/powerpoint/2010/main" val="3328566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1074057"/>
            <a:ext cx="11179630" cy="5647418"/>
          </a:xfrm>
        </p:spPr>
        <p:txBody>
          <a:bodyPr>
            <a:normAutofit fontScale="25000" lnSpcReduction="20000"/>
          </a:bodyPr>
          <a:lstStyle/>
          <a:p>
            <a:r>
              <a:rPr lang="en-US" sz="7200" b="1" dirty="0"/>
              <a:t>Removing elements from an </a:t>
            </a:r>
            <a:r>
              <a:rPr lang="en-US" sz="7200" b="1" dirty="0" err="1"/>
              <a:t>ArrayList</a:t>
            </a:r>
            <a:r>
              <a:rPr lang="en-US" sz="7200" b="1" dirty="0"/>
              <a:t>:</a:t>
            </a:r>
            <a:r>
              <a:rPr lang="en-US" sz="7200" b="1" dirty="0" smtClean="0"/>
              <a:t> </a:t>
            </a:r>
            <a:r>
              <a:rPr lang="en-US" sz="7200" b="1" dirty="0"/>
              <a:t>using the  remove(</a:t>
            </a:r>
            <a:r>
              <a:rPr lang="en-US" sz="7200" b="1" dirty="0" err="1"/>
              <a:t>int</a:t>
            </a:r>
            <a:r>
              <a:rPr lang="en-US" sz="7200" b="1" dirty="0"/>
              <a:t> index) </a:t>
            </a:r>
            <a:r>
              <a:rPr lang="en-US" sz="7200" b="1" dirty="0" smtClean="0"/>
              <a:t>, </a:t>
            </a:r>
            <a:r>
              <a:rPr lang="en-US" sz="7200" b="1" dirty="0"/>
              <a:t>the remove(Object o), the </a:t>
            </a:r>
            <a:r>
              <a:rPr lang="en-US" sz="7200" b="1" dirty="0" err="1"/>
              <a:t>removeAll</a:t>
            </a:r>
            <a:r>
              <a:rPr lang="en-US" sz="7200" b="1" dirty="0" smtClean="0"/>
              <a:t>(), </a:t>
            </a:r>
            <a:r>
              <a:rPr lang="en-US" sz="7200" b="1" dirty="0"/>
              <a:t>the </a:t>
            </a:r>
            <a:r>
              <a:rPr lang="en-US" sz="7200" b="1" dirty="0" err="1"/>
              <a:t>removeIf</a:t>
            </a:r>
            <a:r>
              <a:rPr lang="en-US" sz="7200" b="1" dirty="0"/>
              <a:t>() </a:t>
            </a:r>
            <a:r>
              <a:rPr lang="en-US" sz="7200" b="1" dirty="0" smtClean="0"/>
              <a:t>and the clear()  </a:t>
            </a:r>
            <a:r>
              <a:rPr lang="en-US" sz="7200" b="1" dirty="0"/>
              <a:t>method.</a:t>
            </a:r>
          </a:p>
          <a:p>
            <a:pPr marL="0" indent="0">
              <a:buNone/>
            </a:pPr>
            <a:r>
              <a:rPr lang="en-US" sz="6400" dirty="0" smtClean="0"/>
              <a:t>import </a:t>
            </a:r>
            <a:r>
              <a:rPr lang="en-US" sz="6400" dirty="0" err="1"/>
              <a:t>java.util.ArrayList</a:t>
            </a:r>
            <a:r>
              <a:rPr lang="en-US" sz="6400" dirty="0"/>
              <a:t>;</a:t>
            </a:r>
          </a:p>
          <a:p>
            <a:pPr marL="0" indent="0">
              <a:lnSpc>
                <a:spcPct val="120000"/>
              </a:lnSpc>
              <a:spcBef>
                <a:spcPts val="0"/>
              </a:spcBef>
              <a:buNone/>
            </a:pPr>
            <a:r>
              <a:rPr lang="en-US" sz="6400" dirty="0"/>
              <a:t>import </a:t>
            </a:r>
            <a:r>
              <a:rPr lang="en-US" sz="6400" dirty="0" err="1"/>
              <a:t>java.util.List</a:t>
            </a:r>
            <a:r>
              <a:rPr lang="en-US" sz="6400" dirty="0" smtClean="0"/>
              <a:t>;</a:t>
            </a:r>
            <a:endParaRPr lang="en-US" sz="6400" dirty="0"/>
          </a:p>
          <a:p>
            <a:pPr marL="0" indent="0">
              <a:lnSpc>
                <a:spcPct val="120000"/>
              </a:lnSpc>
              <a:spcBef>
                <a:spcPts val="0"/>
              </a:spcBef>
              <a:buNone/>
            </a:pPr>
            <a:r>
              <a:rPr lang="en-US" sz="6400" dirty="0"/>
              <a:t>import </a:t>
            </a:r>
            <a:r>
              <a:rPr lang="en-US" sz="6400" dirty="0" err="1"/>
              <a:t>java.util.function.Predicate</a:t>
            </a:r>
            <a:r>
              <a:rPr lang="en-US" sz="6400" dirty="0" smtClean="0"/>
              <a:t>;</a:t>
            </a:r>
            <a:endParaRPr lang="en-US" sz="6400" dirty="0"/>
          </a:p>
          <a:p>
            <a:pPr marL="0" indent="0">
              <a:lnSpc>
                <a:spcPct val="120000"/>
              </a:lnSpc>
              <a:spcBef>
                <a:spcPts val="0"/>
              </a:spcBef>
              <a:buNone/>
            </a:pPr>
            <a:r>
              <a:rPr lang="en-US" sz="6400" dirty="0"/>
              <a:t>public class </a:t>
            </a:r>
            <a:r>
              <a:rPr lang="en-US" sz="6400" dirty="0" err="1"/>
              <a:t>RemoveElementsFromArrayListExample</a:t>
            </a:r>
            <a:r>
              <a:rPr lang="en-US" sz="6400" dirty="0"/>
              <a:t> {</a:t>
            </a:r>
          </a:p>
          <a:p>
            <a:pPr marL="0" indent="0">
              <a:lnSpc>
                <a:spcPct val="120000"/>
              </a:lnSpc>
              <a:spcBef>
                <a:spcPts val="0"/>
              </a:spcBef>
              <a:buNone/>
            </a:pPr>
            <a:r>
              <a:rPr lang="en-US" sz="6400" dirty="0"/>
              <a:t>    public static void main(String[] </a:t>
            </a:r>
            <a:r>
              <a:rPr lang="en-US" sz="6400" dirty="0" err="1"/>
              <a:t>args</a:t>
            </a:r>
            <a:r>
              <a:rPr lang="en-US" sz="6400" dirty="0"/>
              <a:t>) {</a:t>
            </a:r>
          </a:p>
          <a:p>
            <a:pPr marL="0" indent="0">
              <a:lnSpc>
                <a:spcPct val="120000"/>
              </a:lnSpc>
              <a:spcBef>
                <a:spcPts val="0"/>
              </a:spcBef>
              <a:buNone/>
            </a:pPr>
            <a:r>
              <a:rPr lang="en-US" sz="6400" dirty="0"/>
              <a:t>        List&lt;String&gt; </a:t>
            </a:r>
            <a:r>
              <a:rPr lang="en-US" sz="6400" dirty="0" err="1"/>
              <a:t>programmingLanguages</a:t>
            </a:r>
            <a:r>
              <a:rPr lang="en-US" sz="6400" dirty="0"/>
              <a:t> = new </a:t>
            </a:r>
            <a:r>
              <a:rPr lang="en-US" sz="6400" dirty="0" err="1"/>
              <a:t>ArrayList</a:t>
            </a:r>
            <a:r>
              <a:rPr lang="en-US" sz="6400" dirty="0"/>
              <a:t>&lt;&gt;();</a:t>
            </a:r>
          </a:p>
          <a:p>
            <a:pPr marL="0" indent="0">
              <a:lnSpc>
                <a:spcPct val="120000"/>
              </a:lnSpc>
              <a:spcBef>
                <a:spcPts val="0"/>
              </a:spcBef>
              <a:buNone/>
            </a:pPr>
            <a:r>
              <a:rPr lang="en-US" sz="6400" dirty="0"/>
              <a:t>        </a:t>
            </a:r>
            <a:r>
              <a:rPr lang="en-US" sz="6400" dirty="0" err="1"/>
              <a:t>programmingLanguages.add</a:t>
            </a:r>
            <a:r>
              <a:rPr lang="en-US" sz="6400" dirty="0"/>
              <a:t>("C");</a:t>
            </a:r>
          </a:p>
          <a:p>
            <a:pPr marL="0" indent="0">
              <a:lnSpc>
                <a:spcPct val="120000"/>
              </a:lnSpc>
              <a:spcBef>
                <a:spcPts val="0"/>
              </a:spcBef>
              <a:buNone/>
            </a:pPr>
            <a:r>
              <a:rPr lang="en-US" sz="6400" dirty="0"/>
              <a:t>        </a:t>
            </a:r>
            <a:r>
              <a:rPr lang="en-US" sz="6400" dirty="0" err="1"/>
              <a:t>programmingLanguages.add</a:t>
            </a:r>
            <a:r>
              <a:rPr lang="en-US" sz="6400" dirty="0"/>
              <a:t>("C++");</a:t>
            </a:r>
          </a:p>
          <a:p>
            <a:pPr marL="0" indent="0">
              <a:lnSpc>
                <a:spcPct val="120000"/>
              </a:lnSpc>
              <a:spcBef>
                <a:spcPts val="0"/>
              </a:spcBef>
              <a:buNone/>
            </a:pPr>
            <a:r>
              <a:rPr lang="en-US" sz="6400" dirty="0"/>
              <a:t>        </a:t>
            </a:r>
            <a:r>
              <a:rPr lang="en-US" sz="6400" dirty="0" err="1"/>
              <a:t>programmingLanguages.add</a:t>
            </a:r>
            <a:r>
              <a:rPr lang="en-US" sz="6400" dirty="0"/>
              <a:t>("Java");</a:t>
            </a:r>
          </a:p>
          <a:p>
            <a:pPr marL="0" indent="0">
              <a:lnSpc>
                <a:spcPct val="120000"/>
              </a:lnSpc>
              <a:spcBef>
                <a:spcPts val="0"/>
              </a:spcBef>
              <a:buNone/>
            </a:pPr>
            <a:r>
              <a:rPr lang="en-US" sz="6400" dirty="0"/>
              <a:t>        </a:t>
            </a:r>
            <a:r>
              <a:rPr lang="en-US" sz="6400" dirty="0" err="1"/>
              <a:t>programmingLanguages.add</a:t>
            </a:r>
            <a:r>
              <a:rPr lang="en-US" sz="6400" dirty="0"/>
              <a:t>("</a:t>
            </a:r>
            <a:r>
              <a:rPr lang="en-US" sz="6400" dirty="0" err="1"/>
              <a:t>Kotlin</a:t>
            </a:r>
            <a:r>
              <a:rPr lang="en-US" sz="6400" dirty="0"/>
              <a:t>");</a:t>
            </a:r>
          </a:p>
          <a:p>
            <a:pPr marL="0" indent="0">
              <a:lnSpc>
                <a:spcPct val="120000"/>
              </a:lnSpc>
              <a:spcBef>
                <a:spcPts val="0"/>
              </a:spcBef>
              <a:buNone/>
            </a:pPr>
            <a:r>
              <a:rPr lang="en-US" sz="6400" dirty="0"/>
              <a:t>        </a:t>
            </a:r>
            <a:r>
              <a:rPr lang="en-US" sz="6400" dirty="0" err="1"/>
              <a:t>programmingLanguages.add</a:t>
            </a:r>
            <a:r>
              <a:rPr lang="en-US" sz="6400" dirty="0"/>
              <a:t>("Python");</a:t>
            </a:r>
          </a:p>
          <a:p>
            <a:pPr marL="0" indent="0">
              <a:lnSpc>
                <a:spcPct val="120000"/>
              </a:lnSpc>
              <a:spcBef>
                <a:spcPts val="0"/>
              </a:spcBef>
              <a:buNone/>
            </a:pPr>
            <a:r>
              <a:rPr lang="en-US" sz="6400" dirty="0"/>
              <a:t>        </a:t>
            </a:r>
            <a:r>
              <a:rPr lang="en-US" sz="6400" dirty="0" err="1"/>
              <a:t>programmingLanguages.add</a:t>
            </a:r>
            <a:r>
              <a:rPr lang="en-US" sz="6400" dirty="0"/>
              <a:t>("Perl");</a:t>
            </a:r>
          </a:p>
          <a:p>
            <a:pPr marL="0" indent="0">
              <a:lnSpc>
                <a:spcPct val="120000"/>
              </a:lnSpc>
              <a:spcBef>
                <a:spcPts val="0"/>
              </a:spcBef>
              <a:buNone/>
            </a:pPr>
            <a:r>
              <a:rPr lang="en-US" sz="6400" dirty="0"/>
              <a:t>        </a:t>
            </a:r>
            <a:r>
              <a:rPr lang="en-US" sz="6400" dirty="0" err="1"/>
              <a:t>programmingLanguages.add</a:t>
            </a:r>
            <a:r>
              <a:rPr lang="en-US" sz="6400" dirty="0"/>
              <a:t>("Ruby</a:t>
            </a:r>
            <a:r>
              <a:rPr lang="en-US" sz="6400" dirty="0" smtClean="0"/>
              <a:t>");</a:t>
            </a:r>
            <a:endParaRPr lang="en-US" sz="6400" dirty="0"/>
          </a:p>
          <a:p>
            <a:pPr marL="0" indent="0">
              <a:lnSpc>
                <a:spcPct val="120000"/>
              </a:lnSpc>
              <a:spcBef>
                <a:spcPts val="0"/>
              </a:spcBef>
              <a:buNone/>
            </a:pPr>
            <a:r>
              <a:rPr lang="en-US" sz="6400" dirty="0"/>
              <a:t>        </a:t>
            </a:r>
            <a:r>
              <a:rPr lang="en-US" sz="6400" dirty="0" err="1"/>
              <a:t>System.out.println</a:t>
            </a:r>
            <a:r>
              <a:rPr lang="en-US" sz="6400" dirty="0"/>
              <a:t>("Initial List: " + </a:t>
            </a:r>
            <a:r>
              <a:rPr lang="en-US" sz="6400" dirty="0" err="1"/>
              <a:t>programmingLanguages</a:t>
            </a:r>
            <a:r>
              <a:rPr lang="en-US" sz="6400" dirty="0" smtClean="0"/>
              <a:t>);       </a:t>
            </a:r>
          </a:p>
          <a:p>
            <a:pPr marL="0" indent="0">
              <a:lnSpc>
                <a:spcPct val="120000"/>
              </a:lnSpc>
              <a:spcBef>
                <a:spcPts val="0"/>
              </a:spcBef>
              <a:buNone/>
            </a:pPr>
            <a:r>
              <a:rPr lang="en-US" sz="6400" dirty="0" smtClean="0"/>
              <a:t>        </a:t>
            </a:r>
            <a:r>
              <a:rPr lang="en-US" sz="6400" dirty="0" err="1" smtClean="0"/>
              <a:t>programmingLanguages.remove</a:t>
            </a:r>
            <a:r>
              <a:rPr lang="en-US" sz="6400" dirty="0" smtClean="0"/>
              <a:t>(5);</a:t>
            </a:r>
            <a:r>
              <a:rPr lang="en-US" sz="6400" dirty="0"/>
              <a:t> // Remove the element at index `5`</a:t>
            </a:r>
            <a:endParaRPr lang="en-US" sz="6400" dirty="0" smtClean="0"/>
          </a:p>
          <a:p>
            <a:pPr marL="0" indent="0">
              <a:lnSpc>
                <a:spcPct val="120000"/>
              </a:lnSpc>
              <a:spcBef>
                <a:spcPts val="0"/>
              </a:spcBef>
              <a:buNone/>
            </a:pPr>
            <a:r>
              <a:rPr lang="en-US" sz="6400" dirty="0" smtClean="0"/>
              <a:t>        </a:t>
            </a:r>
            <a:r>
              <a:rPr lang="en-US" sz="6400" dirty="0" err="1"/>
              <a:t>System.out.println</a:t>
            </a:r>
            <a:r>
              <a:rPr lang="en-US" sz="6400" dirty="0"/>
              <a:t>("After remove(5): " + </a:t>
            </a:r>
            <a:r>
              <a:rPr lang="en-US" sz="6400" dirty="0" err="1"/>
              <a:t>programmingLanguages</a:t>
            </a:r>
            <a:r>
              <a:rPr lang="en-US" sz="6400" dirty="0" smtClean="0"/>
              <a:t>);</a:t>
            </a:r>
            <a:endParaRPr lang="en-US" sz="6400" dirty="0"/>
          </a:p>
          <a:p>
            <a:pPr marL="0" indent="0">
              <a:lnSpc>
                <a:spcPct val="120000"/>
              </a:lnSpc>
              <a:spcBef>
                <a:spcPts val="0"/>
              </a:spcBef>
              <a:buNone/>
            </a:pPr>
            <a:r>
              <a:rPr lang="en-US" sz="6400" dirty="0"/>
              <a:t>        // Remove the first occurrence of the given element from the </a:t>
            </a:r>
            <a:r>
              <a:rPr lang="en-US" sz="6400" dirty="0" err="1"/>
              <a:t>ArrayList</a:t>
            </a:r>
            <a:endParaRPr lang="en-US" sz="6400" dirty="0"/>
          </a:p>
          <a:p>
            <a:pPr marL="0" indent="0">
              <a:lnSpc>
                <a:spcPct val="120000"/>
              </a:lnSpc>
              <a:spcBef>
                <a:spcPts val="0"/>
              </a:spcBef>
              <a:buNone/>
            </a:pPr>
            <a:r>
              <a:rPr lang="en-US" sz="6400" dirty="0"/>
              <a:t>        // (The remove() method returns false if the element does not exist in the </a:t>
            </a:r>
            <a:r>
              <a:rPr lang="en-US" sz="6400" dirty="0" err="1"/>
              <a:t>ArrayList</a:t>
            </a:r>
            <a:r>
              <a:rPr lang="en-US" sz="6400" dirty="0"/>
              <a:t>)</a:t>
            </a:r>
          </a:p>
          <a:p>
            <a:pPr marL="0" indent="0">
              <a:lnSpc>
                <a:spcPct val="120000"/>
              </a:lnSpc>
              <a:spcBef>
                <a:spcPts val="0"/>
              </a:spcBef>
              <a:buNone/>
            </a:pPr>
            <a:r>
              <a:rPr lang="en-US" sz="6400" dirty="0"/>
              <a:t>        </a:t>
            </a:r>
            <a:r>
              <a:rPr lang="en-US" sz="6400" dirty="0" err="1"/>
              <a:t>boolean</a:t>
            </a:r>
            <a:r>
              <a:rPr lang="en-US" sz="6400" dirty="0"/>
              <a:t> </a:t>
            </a:r>
            <a:r>
              <a:rPr lang="en-US" sz="6400" dirty="0" err="1"/>
              <a:t>isRemoved</a:t>
            </a:r>
            <a:r>
              <a:rPr lang="en-US" sz="6400" dirty="0"/>
              <a:t> = </a:t>
            </a:r>
            <a:r>
              <a:rPr lang="en-US" sz="6400" dirty="0" err="1"/>
              <a:t>programmingLanguages.remove</a:t>
            </a:r>
            <a:r>
              <a:rPr lang="en-US" sz="6400" dirty="0"/>
              <a:t>("</a:t>
            </a:r>
            <a:r>
              <a:rPr lang="en-US" sz="6400" dirty="0" err="1"/>
              <a:t>Kotlin</a:t>
            </a:r>
            <a:r>
              <a:rPr lang="en-US" sz="6400" dirty="0"/>
              <a:t>");</a:t>
            </a:r>
          </a:p>
          <a:p>
            <a:pPr marL="0" indent="0">
              <a:lnSpc>
                <a:spcPct val="120000"/>
              </a:lnSpc>
              <a:spcBef>
                <a:spcPts val="0"/>
              </a:spcBef>
              <a:buNone/>
            </a:pPr>
            <a:r>
              <a:rPr lang="en-US" sz="6400" dirty="0"/>
              <a:t>        </a:t>
            </a:r>
            <a:r>
              <a:rPr lang="en-US" sz="6400" dirty="0" err="1"/>
              <a:t>System.out.println</a:t>
            </a:r>
            <a:r>
              <a:rPr lang="en-US" sz="6400" dirty="0"/>
              <a:t>("After remove(\"</a:t>
            </a:r>
            <a:r>
              <a:rPr lang="en-US" sz="6400" dirty="0" err="1"/>
              <a:t>Kotlin</a:t>
            </a:r>
            <a:r>
              <a:rPr lang="en-US" sz="6400" dirty="0"/>
              <a:t>\"): " + </a:t>
            </a:r>
            <a:r>
              <a:rPr lang="en-US" sz="6400" dirty="0" err="1"/>
              <a:t>programmingLanguages</a:t>
            </a:r>
            <a:r>
              <a:rPr lang="en-US" sz="6400" dirty="0" smtClean="0"/>
              <a:t>);</a:t>
            </a:r>
            <a:endParaRPr lang="en-US" sz="6400" dirty="0"/>
          </a:p>
        </p:txBody>
      </p:sp>
    </p:spTree>
    <p:extLst>
      <p:ext uri="{BB962C8B-B14F-4D97-AF65-F5344CB8AC3E}">
        <p14:creationId xmlns:p14="http://schemas.microsoft.com/office/powerpoint/2010/main" val="256702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1074057"/>
            <a:ext cx="11179630" cy="5390243"/>
          </a:xfrm>
        </p:spPr>
        <p:txBody>
          <a:bodyPr>
            <a:normAutofit fontScale="25000" lnSpcReduction="20000"/>
          </a:bodyPr>
          <a:lstStyle/>
          <a:p>
            <a:pPr marL="0" indent="0">
              <a:buNone/>
            </a:pPr>
            <a:r>
              <a:rPr lang="en-US" sz="5600" dirty="0" smtClean="0"/>
              <a:t>        </a:t>
            </a:r>
            <a:r>
              <a:rPr lang="en-US" sz="6400" dirty="0" smtClean="0"/>
              <a:t>// </a:t>
            </a:r>
            <a:r>
              <a:rPr lang="en-US" sz="6400" dirty="0"/>
              <a:t>Remove all the elements that exist in a given collection</a:t>
            </a:r>
          </a:p>
          <a:p>
            <a:pPr marL="0" indent="0">
              <a:lnSpc>
                <a:spcPct val="120000"/>
              </a:lnSpc>
              <a:spcBef>
                <a:spcPts val="0"/>
              </a:spcBef>
              <a:buNone/>
            </a:pPr>
            <a:r>
              <a:rPr lang="en-US" sz="6400" dirty="0"/>
              <a:t>        List&lt;String&gt; </a:t>
            </a:r>
            <a:r>
              <a:rPr lang="en-US" sz="6400" dirty="0" err="1"/>
              <a:t>scriptingLanguages</a:t>
            </a:r>
            <a:r>
              <a:rPr lang="en-US" sz="6400" dirty="0"/>
              <a:t> = new </a:t>
            </a:r>
            <a:r>
              <a:rPr lang="en-US" sz="6400" dirty="0" err="1"/>
              <a:t>ArrayList</a:t>
            </a:r>
            <a:r>
              <a:rPr lang="en-US" sz="6400" dirty="0"/>
              <a:t>&lt;&gt;();</a:t>
            </a:r>
          </a:p>
          <a:p>
            <a:pPr marL="0" indent="0">
              <a:lnSpc>
                <a:spcPct val="120000"/>
              </a:lnSpc>
              <a:spcBef>
                <a:spcPts val="0"/>
              </a:spcBef>
              <a:buNone/>
            </a:pPr>
            <a:r>
              <a:rPr lang="en-US" sz="6400" dirty="0"/>
              <a:t>        </a:t>
            </a:r>
            <a:r>
              <a:rPr lang="en-US" sz="6400" dirty="0" err="1"/>
              <a:t>scriptingLanguages.add</a:t>
            </a:r>
            <a:r>
              <a:rPr lang="en-US" sz="6400" dirty="0"/>
              <a:t>("Python");</a:t>
            </a:r>
          </a:p>
          <a:p>
            <a:pPr marL="0" indent="0">
              <a:lnSpc>
                <a:spcPct val="120000"/>
              </a:lnSpc>
              <a:spcBef>
                <a:spcPts val="0"/>
              </a:spcBef>
              <a:buNone/>
            </a:pPr>
            <a:r>
              <a:rPr lang="en-US" sz="6400" dirty="0"/>
              <a:t>        </a:t>
            </a:r>
            <a:r>
              <a:rPr lang="en-US" sz="6400" dirty="0" err="1"/>
              <a:t>scriptingLanguages.add</a:t>
            </a:r>
            <a:r>
              <a:rPr lang="en-US" sz="6400" dirty="0"/>
              <a:t>("Ruby");</a:t>
            </a:r>
          </a:p>
          <a:p>
            <a:pPr marL="0" indent="0">
              <a:lnSpc>
                <a:spcPct val="120000"/>
              </a:lnSpc>
              <a:spcBef>
                <a:spcPts val="0"/>
              </a:spcBef>
              <a:buNone/>
            </a:pPr>
            <a:r>
              <a:rPr lang="en-US" sz="6400" dirty="0"/>
              <a:t>        </a:t>
            </a:r>
            <a:r>
              <a:rPr lang="en-US" sz="6400" dirty="0" err="1"/>
              <a:t>scriptingLanguages.add</a:t>
            </a:r>
            <a:r>
              <a:rPr lang="en-US" sz="6400" dirty="0"/>
              <a:t>("Perl</a:t>
            </a:r>
            <a:r>
              <a:rPr lang="en-US" sz="6400" dirty="0" smtClean="0"/>
              <a:t>");</a:t>
            </a:r>
            <a:endParaRPr lang="en-US" sz="6400" dirty="0"/>
          </a:p>
          <a:p>
            <a:pPr marL="0" indent="0">
              <a:lnSpc>
                <a:spcPct val="120000"/>
              </a:lnSpc>
              <a:spcBef>
                <a:spcPts val="0"/>
              </a:spcBef>
              <a:buNone/>
            </a:pPr>
            <a:r>
              <a:rPr lang="en-US" sz="6400" dirty="0"/>
              <a:t>        </a:t>
            </a:r>
            <a:r>
              <a:rPr lang="en-US" sz="6400" dirty="0" err="1"/>
              <a:t>programmingLanguages.removeAll</a:t>
            </a:r>
            <a:r>
              <a:rPr lang="en-US" sz="6400" dirty="0"/>
              <a:t>(</a:t>
            </a:r>
            <a:r>
              <a:rPr lang="en-US" sz="6400" dirty="0" err="1"/>
              <a:t>scriptingLanguages</a:t>
            </a:r>
            <a:r>
              <a:rPr lang="en-US" sz="6400" dirty="0"/>
              <a:t>);</a:t>
            </a:r>
          </a:p>
          <a:p>
            <a:pPr marL="0" indent="0">
              <a:lnSpc>
                <a:spcPct val="120000"/>
              </a:lnSpc>
              <a:spcBef>
                <a:spcPts val="0"/>
              </a:spcBef>
              <a:buNone/>
            </a:pPr>
            <a:r>
              <a:rPr lang="en-US" sz="6400" dirty="0"/>
              <a:t>        </a:t>
            </a:r>
            <a:r>
              <a:rPr lang="en-US" sz="6400" dirty="0" err="1"/>
              <a:t>System.out.println</a:t>
            </a:r>
            <a:r>
              <a:rPr lang="en-US" sz="6400" dirty="0"/>
              <a:t>("After </a:t>
            </a:r>
            <a:r>
              <a:rPr lang="en-US" sz="6400" dirty="0" err="1"/>
              <a:t>removeAll</a:t>
            </a:r>
            <a:r>
              <a:rPr lang="en-US" sz="6400" dirty="0"/>
              <a:t>(</a:t>
            </a:r>
            <a:r>
              <a:rPr lang="en-US" sz="6400" dirty="0" err="1"/>
              <a:t>scriptingLanguages</a:t>
            </a:r>
            <a:r>
              <a:rPr lang="en-US" sz="6400" dirty="0"/>
              <a:t>): " + </a:t>
            </a:r>
            <a:r>
              <a:rPr lang="en-US" sz="6400" dirty="0" err="1"/>
              <a:t>programmingLanguages</a:t>
            </a:r>
            <a:r>
              <a:rPr lang="en-US" sz="6400" dirty="0" smtClean="0"/>
              <a:t>);</a:t>
            </a:r>
            <a:endParaRPr lang="en-US" sz="6400" dirty="0"/>
          </a:p>
          <a:p>
            <a:pPr marL="0" indent="0">
              <a:lnSpc>
                <a:spcPct val="120000"/>
              </a:lnSpc>
              <a:spcBef>
                <a:spcPts val="0"/>
              </a:spcBef>
              <a:buNone/>
            </a:pPr>
            <a:r>
              <a:rPr lang="en-US" sz="6400" dirty="0"/>
              <a:t>        // Remove all the elements that satisfy the given predicate</a:t>
            </a:r>
          </a:p>
          <a:p>
            <a:pPr marL="0" indent="0">
              <a:lnSpc>
                <a:spcPct val="120000"/>
              </a:lnSpc>
              <a:spcBef>
                <a:spcPts val="0"/>
              </a:spcBef>
              <a:buNone/>
            </a:pPr>
            <a:r>
              <a:rPr lang="en-US" sz="6400" dirty="0"/>
              <a:t>        </a:t>
            </a:r>
            <a:r>
              <a:rPr lang="en-US" sz="6400" dirty="0" err="1"/>
              <a:t>programmingLanguages.removeIf</a:t>
            </a:r>
            <a:r>
              <a:rPr lang="en-US" sz="6400" dirty="0"/>
              <a:t>(new Predicate&lt;String&gt;() {</a:t>
            </a:r>
          </a:p>
          <a:p>
            <a:pPr marL="0" indent="0">
              <a:lnSpc>
                <a:spcPct val="120000"/>
              </a:lnSpc>
              <a:spcBef>
                <a:spcPts val="0"/>
              </a:spcBef>
              <a:buNone/>
            </a:pPr>
            <a:r>
              <a:rPr lang="en-US" sz="6400" dirty="0"/>
              <a:t>            @Override</a:t>
            </a:r>
          </a:p>
          <a:p>
            <a:pPr marL="0" indent="0">
              <a:lnSpc>
                <a:spcPct val="120000"/>
              </a:lnSpc>
              <a:spcBef>
                <a:spcPts val="0"/>
              </a:spcBef>
              <a:buNone/>
            </a:pPr>
            <a:r>
              <a:rPr lang="en-US" sz="6400" dirty="0"/>
              <a:t>            public </a:t>
            </a:r>
            <a:r>
              <a:rPr lang="en-US" sz="6400" dirty="0" err="1"/>
              <a:t>boolean</a:t>
            </a:r>
            <a:r>
              <a:rPr lang="en-US" sz="6400" dirty="0"/>
              <a:t> test(String s) {</a:t>
            </a:r>
          </a:p>
          <a:p>
            <a:pPr marL="0" indent="0">
              <a:lnSpc>
                <a:spcPct val="120000"/>
              </a:lnSpc>
              <a:spcBef>
                <a:spcPts val="0"/>
              </a:spcBef>
              <a:buNone/>
            </a:pPr>
            <a:r>
              <a:rPr lang="en-US" sz="6400" dirty="0"/>
              <a:t>                return </a:t>
            </a:r>
            <a:r>
              <a:rPr lang="en-US" sz="6400" dirty="0" err="1"/>
              <a:t>s.startsWith</a:t>
            </a:r>
            <a:r>
              <a:rPr lang="en-US" sz="6400" dirty="0"/>
              <a:t>("C");</a:t>
            </a:r>
          </a:p>
          <a:p>
            <a:pPr marL="0" indent="0">
              <a:lnSpc>
                <a:spcPct val="120000"/>
              </a:lnSpc>
              <a:spcBef>
                <a:spcPts val="0"/>
              </a:spcBef>
              <a:buNone/>
            </a:pPr>
            <a:r>
              <a:rPr lang="en-US" sz="6400" dirty="0"/>
              <a:t>            }</a:t>
            </a:r>
          </a:p>
          <a:p>
            <a:pPr marL="0" indent="0">
              <a:lnSpc>
                <a:spcPct val="120000"/>
              </a:lnSpc>
              <a:spcBef>
                <a:spcPts val="0"/>
              </a:spcBef>
              <a:buNone/>
            </a:pPr>
            <a:r>
              <a:rPr lang="en-US" sz="6400" dirty="0"/>
              <a:t>        </a:t>
            </a:r>
            <a:r>
              <a:rPr lang="en-US" sz="6400" dirty="0" smtClean="0"/>
              <a:t>});</a:t>
            </a:r>
            <a:endParaRPr lang="en-US" sz="6400" dirty="0"/>
          </a:p>
          <a:p>
            <a:pPr marL="0" indent="0">
              <a:lnSpc>
                <a:spcPct val="120000"/>
              </a:lnSpc>
              <a:spcBef>
                <a:spcPts val="0"/>
              </a:spcBef>
              <a:buNone/>
            </a:pPr>
            <a:r>
              <a:rPr lang="en-US" sz="6400" dirty="0"/>
              <a:t>        </a:t>
            </a:r>
            <a:r>
              <a:rPr lang="en-US" sz="6400" dirty="0" err="1"/>
              <a:t>System.out.println</a:t>
            </a:r>
            <a:r>
              <a:rPr lang="en-US" sz="6400" dirty="0"/>
              <a:t>("After Removing all elements that start with \"C\": " + </a:t>
            </a:r>
            <a:r>
              <a:rPr lang="en-US" sz="6400" dirty="0" err="1"/>
              <a:t>programmingLanguages</a:t>
            </a:r>
            <a:r>
              <a:rPr lang="en-US" sz="6400" dirty="0"/>
              <a:t>);</a:t>
            </a:r>
          </a:p>
          <a:p>
            <a:pPr marL="0" indent="0">
              <a:lnSpc>
                <a:spcPct val="120000"/>
              </a:lnSpc>
              <a:spcBef>
                <a:spcPts val="0"/>
              </a:spcBef>
              <a:buNone/>
            </a:pPr>
            <a:r>
              <a:rPr lang="en-US" sz="6400" dirty="0" smtClean="0"/>
              <a:t>        </a:t>
            </a:r>
            <a:r>
              <a:rPr lang="en-US" sz="6400" dirty="0"/>
              <a:t>// Remove all elements from the </a:t>
            </a:r>
            <a:r>
              <a:rPr lang="en-US" sz="6400" dirty="0" err="1"/>
              <a:t>ArrayList</a:t>
            </a:r>
            <a:endParaRPr lang="en-US" sz="6400" dirty="0"/>
          </a:p>
          <a:p>
            <a:pPr marL="0" indent="0">
              <a:lnSpc>
                <a:spcPct val="120000"/>
              </a:lnSpc>
              <a:spcBef>
                <a:spcPts val="0"/>
              </a:spcBef>
              <a:buNone/>
            </a:pPr>
            <a:r>
              <a:rPr lang="en-US" sz="6400" dirty="0"/>
              <a:t>        </a:t>
            </a:r>
            <a:r>
              <a:rPr lang="en-US" sz="6400" dirty="0" err="1"/>
              <a:t>programmingLanguages.clear</a:t>
            </a:r>
            <a:r>
              <a:rPr lang="en-US" sz="6400" dirty="0"/>
              <a:t>();</a:t>
            </a:r>
          </a:p>
          <a:p>
            <a:pPr marL="0" indent="0">
              <a:lnSpc>
                <a:spcPct val="120000"/>
              </a:lnSpc>
              <a:spcBef>
                <a:spcPts val="0"/>
              </a:spcBef>
              <a:buNone/>
            </a:pPr>
            <a:r>
              <a:rPr lang="en-US" sz="6400" dirty="0"/>
              <a:t>        </a:t>
            </a:r>
            <a:r>
              <a:rPr lang="en-US" sz="6400" dirty="0" err="1"/>
              <a:t>System.out.println</a:t>
            </a:r>
            <a:r>
              <a:rPr lang="en-US" sz="6400" dirty="0"/>
              <a:t>("After clear(): " + </a:t>
            </a:r>
            <a:r>
              <a:rPr lang="en-US" sz="6400" dirty="0" err="1"/>
              <a:t>programmingLanguages</a:t>
            </a:r>
            <a:r>
              <a:rPr lang="en-US" sz="6400" dirty="0"/>
              <a:t>);</a:t>
            </a:r>
          </a:p>
          <a:p>
            <a:pPr marL="0" indent="0">
              <a:lnSpc>
                <a:spcPct val="120000"/>
              </a:lnSpc>
              <a:spcBef>
                <a:spcPts val="0"/>
              </a:spcBef>
              <a:buNone/>
            </a:pPr>
            <a:r>
              <a:rPr lang="en-US" sz="6400" dirty="0"/>
              <a:t>    }</a:t>
            </a:r>
          </a:p>
          <a:p>
            <a:pPr marL="0" indent="0">
              <a:lnSpc>
                <a:spcPct val="120000"/>
              </a:lnSpc>
              <a:spcBef>
                <a:spcPts val="0"/>
              </a:spcBef>
              <a:buNone/>
            </a:pPr>
            <a:r>
              <a:rPr lang="en-US" sz="6400" dirty="0"/>
              <a:t>}</a:t>
            </a:r>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8671034" y="1043213"/>
            <a:ext cx="3520965" cy="304005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Initial List: [C, C++, Java, </a:t>
            </a:r>
            <a:r>
              <a:rPr lang="en-US" sz="2000" dirty="0" err="1"/>
              <a:t>Kotlin</a:t>
            </a:r>
            <a:r>
              <a:rPr lang="en-US" sz="2000" dirty="0"/>
              <a:t>, Python, Perl, Ruby]</a:t>
            </a:r>
          </a:p>
          <a:p>
            <a:pPr marL="0" indent="0">
              <a:buNone/>
            </a:pPr>
            <a:r>
              <a:rPr lang="en-US" sz="2000" dirty="0"/>
              <a:t>After remove(5): [C, C++, Java, </a:t>
            </a:r>
            <a:r>
              <a:rPr lang="en-US" sz="2000" dirty="0" err="1"/>
              <a:t>Kotlin</a:t>
            </a:r>
            <a:r>
              <a:rPr lang="en-US" sz="2000" dirty="0"/>
              <a:t>, Python, Ruby]</a:t>
            </a:r>
          </a:p>
          <a:p>
            <a:pPr marL="0" indent="0">
              <a:buNone/>
            </a:pPr>
            <a:r>
              <a:rPr lang="en-US" sz="2000" dirty="0"/>
              <a:t>After remove("</a:t>
            </a:r>
            <a:r>
              <a:rPr lang="en-US" sz="2000" dirty="0" err="1"/>
              <a:t>Kotlin</a:t>
            </a:r>
            <a:r>
              <a:rPr lang="en-US" sz="2000" dirty="0"/>
              <a:t>"): [C, C++, Java, Python, Ruby]</a:t>
            </a:r>
          </a:p>
          <a:p>
            <a:pPr marL="0" indent="0">
              <a:buNone/>
            </a:pPr>
            <a:r>
              <a:rPr lang="en-US" sz="2000" dirty="0"/>
              <a:t>After </a:t>
            </a:r>
            <a:r>
              <a:rPr lang="en-US" sz="2000" dirty="0" err="1"/>
              <a:t>removeAll</a:t>
            </a:r>
            <a:r>
              <a:rPr lang="en-US" sz="2000" dirty="0"/>
              <a:t>(</a:t>
            </a:r>
            <a:r>
              <a:rPr lang="en-US" sz="2000" dirty="0" err="1"/>
              <a:t>scriptingLanguages</a:t>
            </a:r>
            <a:r>
              <a:rPr lang="en-US" sz="2000" dirty="0"/>
              <a:t>): [C, C++, Java]</a:t>
            </a:r>
          </a:p>
          <a:p>
            <a:pPr marL="0" indent="0">
              <a:buNone/>
            </a:pPr>
            <a:r>
              <a:rPr lang="en-US" sz="2000" dirty="0"/>
              <a:t>After Removing all elements that start with "C": [Java]</a:t>
            </a:r>
          </a:p>
          <a:p>
            <a:pPr marL="0" indent="0">
              <a:buNone/>
            </a:pPr>
            <a:r>
              <a:rPr lang="en-US" sz="2000" dirty="0"/>
              <a:t>After clear(): []</a:t>
            </a:r>
          </a:p>
        </p:txBody>
      </p:sp>
    </p:spTree>
    <p:extLst>
      <p:ext uri="{BB962C8B-B14F-4D97-AF65-F5344CB8AC3E}">
        <p14:creationId xmlns:p14="http://schemas.microsoft.com/office/powerpoint/2010/main" val="972804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934357"/>
            <a:ext cx="11179630" cy="5647418"/>
          </a:xfrm>
        </p:spPr>
        <p:txBody>
          <a:bodyPr>
            <a:normAutofit fontScale="25000" lnSpcReduction="20000"/>
          </a:bodyPr>
          <a:lstStyle/>
          <a:p>
            <a:r>
              <a:rPr lang="en-US" sz="7200" b="1" dirty="0"/>
              <a:t>Iterating over an </a:t>
            </a:r>
            <a:r>
              <a:rPr lang="en-US" sz="7200" b="1" dirty="0" err="1" smtClean="0"/>
              <a:t>ArrayList</a:t>
            </a:r>
            <a:r>
              <a:rPr lang="en-US" sz="7200" b="1" dirty="0"/>
              <a:t> </a:t>
            </a:r>
            <a:r>
              <a:rPr lang="en-US" sz="7200" b="1" dirty="0" smtClean="0"/>
              <a:t>using </a:t>
            </a:r>
            <a:r>
              <a:rPr lang="en-US" sz="7200" b="1" dirty="0"/>
              <a:t>iterator</a:t>
            </a:r>
            <a:r>
              <a:rPr lang="en-US" sz="7200" b="1" dirty="0" smtClean="0"/>
              <a:t>() ,</a:t>
            </a:r>
            <a:r>
              <a:rPr lang="en-US" sz="7200" b="1" dirty="0" err="1" smtClean="0"/>
              <a:t>forEach</a:t>
            </a:r>
            <a:r>
              <a:rPr lang="en-US" sz="7200" b="1" dirty="0" smtClean="0"/>
              <a:t> and for.</a:t>
            </a:r>
            <a:endParaRPr lang="en-US" sz="7200" b="1" dirty="0"/>
          </a:p>
          <a:p>
            <a:pPr marL="0" indent="0">
              <a:buNone/>
            </a:pPr>
            <a:r>
              <a:rPr lang="en-US" sz="6400" dirty="0" smtClean="0"/>
              <a:t>import </a:t>
            </a:r>
            <a:r>
              <a:rPr lang="en-US" sz="6400" dirty="0" err="1"/>
              <a:t>java.util.ArrayList</a:t>
            </a:r>
            <a:r>
              <a:rPr lang="en-US" sz="6400" dirty="0"/>
              <a:t>;</a:t>
            </a:r>
          </a:p>
          <a:p>
            <a:pPr marL="0" indent="0">
              <a:lnSpc>
                <a:spcPct val="120000"/>
              </a:lnSpc>
              <a:spcBef>
                <a:spcPts val="0"/>
              </a:spcBef>
              <a:buNone/>
            </a:pPr>
            <a:r>
              <a:rPr lang="en-US" sz="6400" dirty="0" smtClean="0"/>
              <a:t>import </a:t>
            </a:r>
            <a:r>
              <a:rPr lang="en-US" sz="6400" dirty="0" err="1"/>
              <a:t>java.util.Iterator</a:t>
            </a:r>
            <a:r>
              <a:rPr lang="en-US" sz="6400" dirty="0"/>
              <a:t>;</a:t>
            </a:r>
          </a:p>
          <a:p>
            <a:pPr marL="0" indent="0">
              <a:lnSpc>
                <a:spcPct val="120000"/>
              </a:lnSpc>
              <a:spcBef>
                <a:spcPts val="0"/>
              </a:spcBef>
              <a:buNone/>
            </a:pPr>
            <a:r>
              <a:rPr lang="en-US" sz="6400" dirty="0"/>
              <a:t>import </a:t>
            </a:r>
            <a:r>
              <a:rPr lang="en-US" sz="6400" dirty="0" err="1"/>
              <a:t>java.util.List</a:t>
            </a:r>
            <a:r>
              <a:rPr lang="en-US" sz="6400" dirty="0"/>
              <a:t>;</a:t>
            </a:r>
          </a:p>
          <a:p>
            <a:pPr marL="0" indent="0">
              <a:lnSpc>
                <a:spcPct val="120000"/>
              </a:lnSpc>
              <a:spcBef>
                <a:spcPts val="0"/>
              </a:spcBef>
              <a:buNone/>
            </a:pPr>
            <a:r>
              <a:rPr lang="en-US" sz="6400" dirty="0" smtClean="0"/>
              <a:t>public </a:t>
            </a:r>
            <a:r>
              <a:rPr lang="en-US" sz="6400" dirty="0"/>
              <a:t>class </a:t>
            </a:r>
            <a:r>
              <a:rPr lang="en-US" sz="6400" dirty="0" err="1"/>
              <a:t>IterateOverArrayListExample</a:t>
            </a:r>
            <a:r>
              <a:rPr lang="en-US" sz="6400" dirty="0"/>
              <a:t> {</a:t>
            </a:r>
          </a:p>
          <a:p>
            <a:pPr marL="0" indent="0">
              <a:lnSpc>
                <a:spcPct val="120000"/>
              </a:lnSpc>
              <a:spcBef>
                <a:spcPts val="0"/>
              </a:spcBef>
              <a:buNone/>
            </a:pPr>
            <a:r>
              <a:rPr lang="en-US" sz="6400" dirty="0"/>
              <a:t>    public static void main(String[] </a:t>
            </a:r>
            <a:r>
              <a:rPr lang="en-US" sz="6400" dirty="0" err="1"/>
              <a:t>args</a:t>
            </a:r>
            <a:r>
              <a:rPr lang="en-US" sz="6400" dirty="0"/>
              <a:t>) {</a:t>
            </a:r>
          </a:p>
          <a:p>
            <a:pPr marL="0" indent="0">
              <a:lnSpc>
                <a:spcPct val="120000"/>
              </a:lnSpc>
              <a:spcBef>
                <a:spcPts val="0"/>
              </a:spcBef>
              <a:buNone/>
            </a:pPr>
            <a:r>
              <a:rPr lang="en-US" sz="6400" dirty="0"/>
              <a:t>        List&lt;String&gt; </a:t>
            </a:r>
            <a:r>
              <a:rPr lang="en-US" sz="6400" dirty="0" err="1"/>
              <a:t>tvShows</a:t>
            </a:r>
            <a:r>
              <a:rPr lang="en-US" sz="6400" dirty="0"/>
              <a:t> = new </a:t>
            </a:r>
            <a:r>
              <a:rPr lang="en-US" sz="6400" dirty="0" err="1"/>
              <a:t>ArrayList</a:t>
            </a:r>
            <a:r>
              <a:rPr lang="en-US" sz="6400" dirty="0"/>
              <a:t>&lt;&gt;();</a:t>
            </a:r>
          </a:p>
          <a:p>
            <a:pPr marL="0" indent="0">
              <a:lnSpc>
                <a:spcPct val="120000"/>
              </a:lnSpc>
              <a:spcBef>
                <a:spcPts val="0"/>
              </a:spcBef>
              <a:buNone/>
            </a:pPr>
            <a:r>
              <a:rPr lang="en-US" sz="6400" dirty="0"/>
              <a:t>        </a:t>
            </a:r>
            <a:r>
              <a:rPr lang="en-US" sz="6400" dirty="0" err="1"/>
              <a:t>tvShows.add</a:t>
            </a:r>
            <a:r>
              <a:rPr lang="en-US" sz="6400" dirty="0"/>
              <a:t>("Breaking Bad</a:t>
            </a:r>
            <a:r>
              <a:rPr lang="en-US" sz="6400" dirty="0" smtClean="0"/>
              <a:t>");  </a:t>
            </a:r>
            <a:r>
              <a:rPr lang="en-US" sz="6400" dirty="0" err="1"/>
              <a:t>tvShows.add</a:t>
            </a:r>
            <a:r>
              <a:rPr lang="en-US" sz="6400" dirty="0"/>
              <a:t>("Game Of Thrones");</a:t>
            </a:r>
          </a:p>
          <a:p>
            <a:pPr marL="0" indent="0">
              <a:lnSpc>
                <a:spcPct val="120000"/>
              </a:lnSpc>
              <a:spcBef>
                <a:spcPts val="0"/>
              </a:spcBef>
              <a:buNone/>
            </a:pPr>
            <a:r>
              <a:rPr lang="en-US" sz="6400" dirty="0"/>
              <a:t>        </a:t>
            </a:r>
            <a:r>
              <a:rPr lang="en-US" sz="6400" dirty="0" err="1"/>
              <a:t>tvShows.add</a:t>
            </a:r>
            <a:r>
              <a:rPr lang="en-US" sz="6400" dirty="0"/>
              <a:t>("Friends</a:t>
            </a:r>
            <a:r>
              <a:rPr lang="en-US" sz="6400" dirty="0" smtClean="0"/>
              <a:t>");  </a:t>
            </a:r>
            <a:r>
              <a:rPr lang="en-US" sz="6400" dirty="0" err="1"/>
              <a:t>tvShows.add</a:t>
            </a:r>
            <a:r>
              <a:rPr lang="en-US" sz="6400" dirty="0"/>
              <a:t>("Prison break</a:t>
            </a:r>
            <a:r>
              <a:rPr lang="en-US" sz="6400" dirty="0" smtClean="0"/>
              <a:t>");</a:t>
            </a:r>
            <a:endParaRPr lang="en-US" sz="6400" dirty="0"/>
          </a:p>
          <a:p>
            <a:pPr marL="0" indent="0">
              <a:lnSpc>
                <a:spcPct val="120000"/>
              </a:lnSpc>
              <a:spcBef>
                <a:spcPts val="0"/>
              </a:spcBef>
              <a:buNone/>
            </a:pPr>
            <a:r>
              <a:rPr lang="en-US" sz="6400" dirty="0"/>
              <a:t>        </a:t>
            </a:r>
            <a:r>
              <a:rPr lang="en-US" sz="6400" dirty="0" err="1"/>
              <a:t>System.out.println</a:t>
            </a:r>
            <a:r>
              <a:rPr lang="en-US" sz="6400" dirty="0"/>
              <a:t>("=== Iterate using Java 8 </a:t>
            </a:r>
            <a:r>
              <a:rPr lang="en-US" sz="6400" dirty="0" err="1"/>
              <a:t>forEach</a:t>
            </a:r>
            <a:r>
              <a:rPr lang="en-US" sz="6400" dirty="0"/>
              <a:t> and lambda ===");</a:t>
            </a:r>
          </a:p>
          <a:p>
            <a:pPr marL="0" indent="0">
              <a:lnSpc>
                <a:spcPct val="120000"/>
              </a:lnSpc>
              <a:spcBef>
                <a:spcPts val="0"/>
              </a:spcBef>
              <a:buNone/>
            </a:pPr>
            <a:r>
              <a:rPr lang="en-US" sz="6400" dirty="0"/>
              <a:t>        </a:t>
            </a:r>
            <a:r>
              <a:rPr lang="en-US" sz="6400" dirty="0" err="1"/>
              <a:t>tvShows.forEach</a:t>
            </a:r>
            <a:r>
              <a:rPr lang="en-US" sz="6400" dirty="0"/>
              <a:t>(</a:t>
            </a:r>
            <a:r>
              <a:rPr lang="en-US" sz="6400" dirty="0" err="1"/>
              <a:t>tvShow</a:t>
            </a:r>
            <a:r>
              <a:rPr lang="en-US" sz="6400" dirty="0"/>
              <a:t> -&gt; </a:t>
            </a:r>
            <a:r>
              <a:rPr lang="en-US" sz="6400" dirty="0" smtClean="0"/>
              <a:t>{ </a:t>
            </a:r>
            <a:r>
              <a:rPr lang="en-US" sz="6400" dirty="0" err="1"/>
              <a:t>System.out.println</a:t>
            </a:r>
            <a:r>
              <a:rPr lang="en-US" sz="6400" dirty="0"/>
              <a:t>(</a:t>
            </a:r>
            <a:r>
              <a:rPr lang="en-US" sz="6400" dirty="0" err="1"/>
              <a:t>tvShow</a:t>
            </a:r>
            <a:r>
              <a:rPr lang="en-US" sz="6400" dirty="0" smtClean="0"/>
              <a:t>);});</a:t>
            </a:r>
            <a:endParaRPr lang="en-US" sz="6400" dirty="0"/>
          </a:p>
          <a:p>
            <a:pPr marL="0" indent="0">
              <a:lnSpc>
                <a:spcPct val="120000"/>
              </a:lnSpc>
              <a:spcBef>
                <a:spcPts val="0"/>
              </a:spcBef>
              <a:buNone/>
            </a:pPr>
            <a:r>
              <a:rPr lang="en-US" sz="6400" dirty="0"/>
              <a:t>        </a:t>
            </a:r>
            <a:r>
              <a:rPr lang="en-US" sz="6400" dirty="0" err="1"/>
              <a:t>System.out.println</a:t>
            </a:r>
            <a:r>
              <a:rPr lang="en-US" sz="6400" dirty="0"/>
              <a:t>("\n=== Iterate using an iterator() ===");</a:t>
            </a:r>
          </a:p>
          <a:p>
            <a:pPr marL="0" indent="0">
              <a:lnSpc>
                <a:spcPct val="120000"/>
              </a:lnSpc>
              <a:spcBef>
                <a:spcPts val="0"/>
              </a:spcBef>
              <a:buNone/>
            </a:pPr>
            <a:r>
              <a:rPr lang="en-US" sz="6400" dirty="0"/>
              <a:t>        Iterator&lt;String&gt; </a:t>
            </a:r>
            <a:r>
              <a:rPr lang="en-US" sz="6400" dirty="0" err="1"/>
              <a:t>tvShowIterator</a:t>
            </a:r>
            <a:r>
              <a:rPr lang="en-US" sz="6400" dirty="0"/>
              <a:t> = </a:t>
            </a:r>
            <a:r>
              <a:rPr lang="en-US" sz="6400" dirty="0" err="1"/>
              <a:t>tvShows.iterator</a:t>
            </a:r>
            <a:r>
              <a:rPr lang="en-US" sz="6400" dirty="0"/>
              <a:t>();</a:t>
            </a:r>
          </a:p>
          <a:p>
            <a:pPr marL="0" indent="0">
              <a:lnSpc>
                <a:spcPct val="120000"/>
              </a:lnSpc>
              <a:spcBef>
                <a:spcPts val="0"/>
              </a:spcBef>
              <a:buNone/>
            </a:pPr>
            <a:r>
              <a:rPr lang="en-US" sz="6400" dirty="0"/>
              <a:t>        while (</a:t>
            </a:r>
            <a:r>
              <a:rPr lang="en-US" sz="6400" dirty="0" err="1"/>
              <a:t>tvShowIterator.hasNext</a:t>
            </a:r>
            <a:r>
              <a:rPr lang="en-US" sz="6400" dirty="0"/>
              <a:t>()) {</a:t>
            </a:r>
          </a:p>
          <a:p>
            <a:pPr marL="0" indent="0">
              <a:lnSpc>
                <a:spcPct val="120000"/>
              </a:lnSpc>
              <a:spcBef>
                <a:spcPts val="0"/>
              </a:spcBef>
              <a:buNone/>
            </a:pPr>
            <a:r>
              <a:rPr lang="en-US" sz="6400" dirty="0"/>
              <a:t>            String </a:t>
            </a:r>
            <a:r>
              <a:rPr lang="en-US" sz="6400" dirty="0" err="1"/>
              <a:t>tvShow</a:t>
            </a:r>
            <a:r>
              <a:rPr lang="en-US" sz="6400" dirty="0"/>
              <a:t> = </a:t>
            </a:r>
            <a:r>
              <a:rPr lang="en-US" sz="6400" dirty="0" err="1"/>
              <a:t>tvShowIterator.next</a:t>
            </a:r>
            <a:r>
              <a:rPr lang="en-US" sz="6400" dirty="0"/>
              <a:t>();</a:t>
            </a:r>
          </a:p>
          <a:p>
            <a:pPr marL="0" indent="0">
              <a:lnSpc>
                <a:spcPct val="120000"/>
              </a:lnSpc>
              <a:spcBef>
                <a:spcPts val="0"/>
              </a:spcBef>
              <a:buNone/>
            </a:pPr>
            <a:r>
              <a:rPr lang="en-US" sz="6400" dirty="0"/>
              <a:t>            </a:t>
            </a:r>
            <a:r>
              <a:rPr lang="en-US" sz="6400" dirty="0" err="1"/>
              <a:t>System.out.println</a:t>
            </a:r>
            <a:r>
              <a:rPr lang="en-US" sz="6400" dirty="0"/>
              <a:t>(</a:t>
            </a:r>
            <a:r>
              <a:rPr lang="en-US" sz="6400" dirty="0" err="1"/>
              <a:t>tvShow</a:t>
            </a:r>
            <a:r>
              <a:rPr lang="en-US" sz="6400" dirty="0"/>
              <a:t>);</a:t>
            </a:r>
          </a:p>
          <a:p>
            <a:pPr marL="0" indent="0">
              <a:lnSpc>
                <a:spcPct val="120000"/>
              </a:lnSpc>
              <a:spcBef>
                <a:spcPts val="0"/>
              </a:spcBef>
              <a:buNone/>
            </a:pPr>
            <a:r>
              <a:rPr lang="en-US" sz="6400" dirty="0"/>
              <a:t>        }</a:t>
            </a:r>
          </a:p>
          <a:p>
            <a:pPr marL="0" indent="0">
              <a:lnSpc>
                <a:spcPct val="120000"/>
              </a:lnSpc>
              <a:spcBef>
                <a:spcPts val="0"/>
              </a:spcBef>
              <a:buNone/>
            </a:pPr>
            <a:r>
              <a:rPr lang="en-US" sz="6400" dirty="0" smtClean="0"/>
              <a:t>        </a:t>
            </a:r>
            <a:r>
              <a:rPr lang="en-US" sz="6400" dirty="0" err="1"/>
              <a:t>System.out.println</a:t>
            </a:r>
            <a:r>
              <a:rPr lang="en-US" sz="6400" dirty="0"/>
              <a:t>("\n=== Iterate using for loop with index ===");</a:t>
            </a:r>
          </a:p>
          <a:p>
            <a:pPr marL="0" indent="0">
              <a:lnSpc>
                <a:spcPct val="120000"/>
              </a:lnSpc>
              <a:spcBef>
                <a:spcPts val="0"/>
              </a:spcBef>
              <a:buNone/>
            </a:pPr>
            <a:r>
              <a:rPr lang="en-US" sz="6400" dirty="0"/>
              <a:t>        for(</a:t>
            </a:r>
            <a:r>
              <a:rPr lang="en-US" sz="6400" dirty="0" err="1"/>
              <a:t>int</a:t>
            </a:r>
            <a:r>
              <a:rPr lang="en-US" sz="6400" dirty="0"/>
              <a:t> i = 0; i &lt; </a:t>
            </a:r>
            <a:r>
              <a:rPr lang="en-US" sz="6400" dirty="0" err="1"/>
              <a:t>tvShows.size</a:t>
            </a:r>
            <a:r>
              <a:rPr lang="en-US" sz="6400" dirty="0"/>
              <a:t>(); i++) {</a:t>
            </a:r>
          </a:p>
          <a:p>
            <a:pPr marL="0" indent="0">
              <a:lnSpc>
                <a:spcPct val="120000"/>
              </a:lnSpc>
              <a:spcBef>
                <a:spcPts val="0"/>
              </a:spcBef>
              <a:buNone/>
            </a:pPr>
            <a:r>
              <a:rPr lang="en-US" sz="6400" dirty="0"/>
              <a:t>            </a:t>
            </a:r>
            <a:r>
              <a:rPr lang="en-US" sz="6400" dirty="0" err="1"/>
              <a:t>System.out.println</a:t>
            </a:r>
            <a:r>
              <a:rPr lang="en-US" sz="6400" dirty="0"/>
              <a:t>(</a:t>
            </a:r>
            <a:r>
              <a:rPr lang="en-US" sz="6400" dirty="0" err="1"/>
              <a:t>tvShows.get</a:t>
            </a:r>
            <a:r>
              <a:rPr lang="en-US" sz="6400" dirty="0"/>
              <a:t>(i));</a:t>
            </a:r>
          </a:p>
          <a:p>
            <a:pPr marL="0" indent="0">
              <a:lnSpc>
                <a:spcPct val="120000"/>
              </a:lnSpc>
              <a:spcBef>
                <a:spcPts val="0"/>
              </a:spcBef>
              <a:buNone/>
            </a:pPr>
            <a:r>
              <a:rPr lang="en-US" sz="6400" dirty="0"/>
              <a:t>        }</a:t>
            </a:r>
          </a:p>
          <a:p>
            <a:pPr marL="0" indent="0">
              <a:lnSpc>
                <a:spcPct val="120000"/>
              </a:lnSpc>
              <a:spcBef>
                <a:spcPts val="0"/>
              </a:spcBef>
              <a:buNone/>
            </a:pPr>
            <a:r>
              <a:rPr lang="en-US" sz="6400" dirty="0"/>
              <a:t>    }</a:t>
            </a:r>
          </a:p>
          <a:p>
            <a:pPr marL="0" indent="0">
              <a:lnSpc>
                <a:spcPct val="120000"/>
              </a:lnSpc>
              <a:spcBef>
                <a:spcPts val="0"/>
              </a:spcBef>
              <a:buNone/>
            </a:pPr>
            <a:r>
              <a:rPr lang="en-US" sz="6400" dirty="0"/>
              <a:t>}</a:t>
            </a:r>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8150772" y="1525814"/>
            <a:ext cx="4041228" cy="463368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 Iterate using Java 8 </a:t>
            </a:r>
            <a:r>
              <a:rPr lang="en-US" sz="2000" dirty="0" err="1"/>
              <a:t>forEach</a:t>
            </a:r>
            <a:r>
              <a:rPr lang="en-US" sz="2000" dirty="0"/>
              <a:t> and lambda ===</a:t>
            </a:r>
          </a:p>
          <a:p>
            <a:pPr marL="0" indent="0">
              <a:buNone/>
            </a:pPr>
            <a:r>
              <a:rPr lang="en-US" sz="2000" dirty="0"/>
              <a:t>Breaking Bad</a:t>
            </a:r>
          </a:p>
          <a:p>
            <a:pPr marL="0" indent="0">
              <a:buNone/>
            </a:pPr>
            <a:r>
              <a:rPr lang="en-US" sz="2000" dirty="0"/>
              <a:t>Game Of Thrones</a:t>
            </a:r>
          </a:p>
          <a:p>
            <a:pPr marL="0" indent="0">
              <a:buNone/>
            </a:pPr>
            <a:r>
              <a:rPr lang="en-US" sz="2000" dirty="0"/>
              <a:t>Friends</a:t>
            </a:r>
          </a:p>
          <a:p>
            <a:pPr marL="0" indent="0">
              <a:buNone/>
            </a:pPr>
            <a:r>
              <a:rPr lang="en-US" sz="2000" dirty="0"/>
              <a:t>Prison </a:t>
            </a:r>
            <a:r>
              <a:rPr lang="en-US" sz="2000" dirty="0" smtClean="0"/>
              <a:t>break</a:t>
            </a:r>
            <a:endParaRPr lang="en-US" sz="2000" dirty="0"/>
          </a:p>
          <a:p>
            <a:pPr marL="0" indent="0">
              <a:buNone/>
            </a:pPr>
            <a:r>
              <a:rPr lang="en-US" sz="2000" dirty="0"/>
              <a:t>=== Iterate using an iterator() ===</a:t>
            </a:r>
          </a:p>
          <a:p>
            <a:pPr marL="0" indent="0">
              <a:buNone/>
            </a:pPr>
            <a:r>
              <a:rPr lang="en-US" sz="2000" dirty="0"/>
              <a:t>Breaking Bad</a:t>
            </a:r>
          </a:p>
          <a:p>
            <a:pPr marL="0" indent="0">
              <a:buNone/>
            </a:pPr>
            <a:r>
              <a:rPr lang="en-US" sz="2000" dirty="0"/>
              <a:t>Game Of Thrones</a:t>
            </a:r>
          </a:p>
          <a:p>
            <a:pPr marL="0" indent="0">
              <a:buNone/>
            </a:pPr>
            <a:r>
              <a:rPr lang="en-US" sz="2000" dirty="0"/>
              <a:t>Friends</a:t>
            </a:r>
          </a:p>
          <a:p>
            <a:pPr marL="0" indent="0">
              <a:buNone/>
            </a:pPr>
            <a:r>
              <a:rPr lang="en-US" sz="2000" dirty="0"/>
              <a:t>Prison </a:t>
            </a:r>
            <a:r>
              <a:rPr lang="en-US" sz="2000" dirty="0" smtClean="0"/>
              <a:t>break</a:t>
            </a:r>
          </a:p>
          <a:p>
            <a:pPr marL="0" indent="0">
              <a:buNone/>
            </a:pPr>
            <a:r>
              <a:rPr lang="en-US" sz="2000" dirty="0"/>
              <a:t>=== Iterate using for loop with index ===</a:t>
            </a:r>
          </a:p>
          <a:p>
            <a:pPr marL="0" indent="0">
              <a:buNone/>
            </a:pPr>
            <a:r>
              <a:rPr lang="en-US" sz="2000" dirty="0"/>
              <a:t>Breaking Bad</a:t>
            </a:r>
          </a:p>
          <a:p>
            <a:pPr marL="0" indent="0">
              <a:buNone/>
            </a:pPr>
            <a:r>
              <a:rPr lang="en-US" sz="2000" dirty="0"/>
              <a:t>Game Of Thrones</a:t>
            </a:r>
          </a:p>
          <a:p>
            <a:pPr marL="0" indent="0">
              <a:buNone/>
            </a:pPr>
            <a:r>
              <a:rPr lang="en-US" sz="2000" dirty="0"/>
              <a:t>Friends</a:t>
            </a:r>
          </a:p>
          <a:p>
            <a:pPr marL="0" indent="0">
              <a:buNone/>
            </a:pPr>
            <a:r>
              <a:rPr lang="en-US" sz="2000" dirty="0"/>
              <a:t>Prison break</a:t>
            </a:r>
          </a:p>
        </p:txBody>
      </p:sp>
    </p:spTree>
    <p:extLst>
      <p:ext uri="{BB962C8B-B14F-4D97-AF65-F5344CB8AC3E}">
        <p14:creationId xmlns:p14="http://schemas.microsoft.com/office/powerpoint/2010/main" val="380359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934357"/>
            <a:ext cx="11179630" cy="5647418"/>
          </a:xfrm>
        </p:spPr>
        <p:txBody>
          <a:bodyPr>
            <a:normAutofit fontScale="25000" lnSpcReduction="20000"/>
          </a:bodyPr>
          <a:lstStyle/>
          <a:p>
            <a:r>
              <a:rPr lang="en-US" sz="7200" b="1" dirty="0" smtClean="0"/>
              <a:t>Searching </a:t>
            </a:r>
            <a:r>
              <a:rPr lang="en-US" sz="7200" b="1" dirty="0"/>
              <a:t>for elements in an </a:t>
            </a:r>
            <a:r>
              <a:rPr lang="en-US" sz="7200" b="1" dirty="0" err="1" smtClean="0"/>
              <a:t>ArrayList</a:t>
            </a:r>
            <a:r>
              <a:rPr lang="en-US" sz="7200" b="1" dirty="0" smtClean="0"/>
              <a:t> using the </a:t>
            </a:r>
            <a:r>
              <a:rPr lang="en-US" sz="7200" b="1" dirty="0"/>
              <a:t>contains</a:t>
            </a:r>
            <a:r>
              <a:rPr lang="en-US" sz="7200" b="1" dirty="0" smtClean="0"/>
              <a:t>(), the </a:t>
            </a:r>
            <a:r>
              <a:rPr lang="en-US" sz="7200" b="1" dirty="0" err="1" smtClean="0"/>
              <a:t>indexOf</a:t>
            </a:r>
            <a:r>
              <a:rPr lang="en-US" sz="7200" b="1" dirty="0" smtClean="0"/>
              <a:t>() and </a:t>
            </a:r>
            <a:r>
              <a:rPr lang="en-US" sz="7200" b="1" dirty="0" err="1" smtClean="0"/>
              <a:t>lastIndexOf</a:t>
            </a:r>
            <a:r>
              <a:rPr lang="en-US" sz="7200" b="1" dirty="0" smtClean="0"/>
              <a:t>() method</a:t>
            </a:r>
          </a:p>
          <a:p>
            <a:pPr marL="0" indent="0">
              <a:buNone/>
            </a:pPr>
            <a:r>
              <a:rPr lang="en-US" sz="6400" dirty="0" smtClean="0"/>
              <a:t>import </a:t>
            </a:r>
            <a:r>
              <a:rPr lang="en-US" sz="6400" dirty="0" err="1"/>
              <a:t>java.util.ArrayList</a:t>
            </a:r>
            <a:r>
              <a:rPr lang="en-US" sz="6400" dirty="0"/>
              <a:t>;</a:t>
            </a:r>
          </a:p>
          <a:p>
            <a:pPr marL="0" indent="0">
              <a:lnSpc>
                <a:spcPct val="120000"/>
              </a:lnSpc>
              <a:spcBef>
                <a:spcPts val="0"/>
              </a:spcBef>
              <a:buNone/>
            </a:pPr>
            <a:r>
              <a:rPr lang="en-US" sz="6400" dirty="0" smtClean="0"/>
              <a:t>import </a:t>
            </a:r>
            <a:r>
              <a:rPr lang="en-US" sz="6400" dirty="0" err="1"/>
              <a:t>java.util.List</a:t>
            </a:r>
            <a:r>
              <a:rPr lang="en-US" sz="6400" dirty="0"/>
              <a:t>;</a:t>
            </a:r>
          </a:p>
          <a:p>
            <a:pPr marL="0" indent="0">
              <a:lnSpc>
                <a:spcPct val="120000"/>
              </a:lnSpc>
              <a:spcBef>
                <a:spcPts val="0"/>
              </a:spcBef>
              <a:buNone/>
            </a:pPr>
            <a:r>
              <a:rPr lang="en-US" sz="6400" dirty="0"/>
              <a:t>public class </a:t>
            </a:r>
            <a:r>
              <a:rPr lang="en-US" sz="6400" dirty="0" err="1"/>
              <a:t>SearchElementsInArrayListExample</a:t>
            </a:r>
            <a:r>
              <a:rPr lang="en-US" sz="6400" dirty="0"/>
              <a:t> {</a:t>
            </a:r>
          </a:p>
          <a:p>
            <a:pPr marL="0" indent="0">
              <a:lnSpc>
                <a:spcPct val="120000"/>
              </a:lnSpc>
              <a:spcBef>
                <a:spcPts val="0"/>
              </a:spcBef>
              <a:buNone/>
            </a:pPr>
            <a:r>
              <a:rPr lang="en-US" sz="6400" dirty="0"/>
              <a:t>    public static void main(String[] </a:t>
            </a:r>
            <a:r>
              <a:rPr lang="en-US" sz="6400" dirty="0" err="1"/>
              <a:t>args</a:t>
            </a:r>
            <a:r>
              <a:rPr lang="en-US" sz="6400" dirty="0"/>
              <a:t>) {</a:t>
            </a:r>
          </a:p>
          <a:p>
            <a:pPr marL="0" indent="0">
              <a:lnSpc>
                <a:spcPct val="120000"/>
              </a:lnSpc>
              <a:spcBef>
                <a:spcPts val="0"/>
              </a:spcBef>
              <a:buNone/>
            </a:pPr>
            <a:r>
              <a:rPr lang="en-US" sz="6400" dirty="0"/>
              <a:t>        List&lt;String&gt; names = new </a:t>
            </a:r>
            <a:r>
              <a:rPr lang="en-US" sz="6400" dirty="0" err="1"/>
              <a:t>ArrayList</a:t>
            </a:r>
            <a:r>
              <a:rPr lang="en-US" sz="6400" dirty="0"/>
              <a:t>&lt;&gt;();</a:t>
            </a:r>
          </a:p>
          <a:p>
            <a:pPr marL="0" indent="0">
              <a:lnSpc>
                <a:spcPct val="120000"/>
              </a:lnSpc>
              <a:spcBef>
                <a:spcPts val="0"/>
              </a:spcBef>
              <a:buNone/>
            </a:pPr>
            <a:r>
              <a:rPr lang="en-US" sz="6400" dirty="0"/>
              <a:t>        </a:t>
            </a:r>
            <a:r>
              <a:rPr lang="en-US" sz="6400" dirty="0" err="1"/>
              <a:t>names.add</a:t>
            </a:r>
            <a:r>
              <a:rPr lang="en-US" sz="6400" dirty="0"/>
              <a:t>("John");</a:t>
            </a:r>
          </a:p>
          <a:p>
            <a:pPr marL="0" indent="0">
              <a:lnSpc>
                <a:spcPct val="120000"/>
              </a:lnSpc>
              <a:spcBef>
                <a:spcPts val="0"/>
              </a:spcBef>
              <a:buNone/>
            </a:pPr>
            <a:r>
              <a:rPr lang="en-US" sz="6400" dirty="0"/>
              <a:t>        </a:t>
            </a:r>
            <a:r>
              <a:rPr lang="en-US" sz="6400" dirty="0" err="1"/>
              <a:t>names.add</a:t>
            </a:r>
            <a:r>
              <a:rPr lang="en-US" sz="6400" dirty="0"/>
              <a:t>("Alice");</a:t>
            </a:r>
          </a:p>
          <a:p>
            <a:pPr marL="0" indent="0">
              <a:lnSpc>
                <a:spcPct val="120000"/>
              </a:lnSpc>
              <a:spcBef>
                <a:spcPts val="0"/>
              </a:spcBef>
              <a:buNone/>
            </a:pPr>
            <a:r>
              <a:rPr lang="en-US" sz="6400" dirty="0"/>
              <a:t>        </a:t>
            </a:r>
            <a:r>
              <a:rPr lang="en-US" sz="6400" dirty="0" err="1"/>
              <a:t>names.add</a:t>
            </a:r>
            <a:r>
              <a:rPr lang="en-US" sz="6400" dirty="0"/>
              <a:t>("Bob");</a:t>
            </a:r>
          </a:p>
          <a:p>
            <a:pPr marL="0" indent="0">
              <a:lnSpc>
                <a:spcPct val="120000"/>
              </a:lnSpc>
              <a:spcBef>
                <a:spcPts val="0"/>
              </a:spcBef>
              <a:buNone/>
            </a:pPr>
            <a:r>
              <a:rPr lang="en-US" sz="6400" dirty="0"/>
              <a:t>        </a:t>
            </a:r>
            <a:r>
              <a:rPr lang="en-US" sz="6400" dirty="0" err="1"/>
              <a:t>names.add</a:t>
            </a:r>
            <a:r>
              <a:rPr lang="en-US" sz="6400" dirty="0"/>
              <a:t>("Steve");</a:t>
            </a:r>
          </a:p>
          <a:p>
            <a:pPr marL="0" indent="0">
              <a:lnSpc>
                <a:spcPct val="120000"/>
              </a:lnSpc>
              <a:spcBef>
                <a:spcPts val="0"/>
              </a:spcBef>
              <a:buNone/>
            </a:pPr>
            <a:r>
              <a:rPr lang="en-US" sz="6400" dirty="0"/>
              <a:t>        </a:t>
            </a:r>
            <a:r>
              <a:rPr lang="en-US" sz="6400" dirty="0" err="1"/>
              <a:t>names.add</a:t>
            </a:r>
            <a:r>
              <a:rPr lang="en-US" sz="6400" dirty="0"/>
              <a:t>("John");</a:t>
            </a:r>
          </a:p>
          <a:p>
            <a:pPr marL="0" indent="0">
              <a:lnSpc>
                <a:spcPct val="120000"/>
              </a:lnSpc>
              <a:spcBef>
                <a:spcPts val="0"/>
              </a:spcBef>
              <a:buNone/>
            </a:pPr>
            <a:r>
              <a:rPr lang="en-US" sz="6400" dirty="0"/>
              <a:t>        </a:t>
            </a:r>
            <a:r>
              <a:rPr lang="en-US" sz="6400" dirty="0" err="1"/>
              <a:t>names.add</a:t>
            </a:r>
            <a:r>
              <a:rPr lang="en-US" sz="6400" dirty="0"/>
              <a:t>("Steve");</a:t>
            </a:r>
          </a:p>
          <a:p>
            <a:pPr marL="0" indent="0">
              <a:lnSpc>
                <a:spcPct val="120000"/>
              </a:lnSpc>
              <a:spcBef>
                <a:spcPts val="0"/>
              </a:spcBef>
              <a:buNone/>
            </a:pPr>
            <a:r>
              <a:rPr lang="en-US" sz="6400" dirty="0"/>
              <a:t>        </a:t>
            </a:r>
            <a:r>
              <a:rPr lang="en-US" sz="6400" dirty="0" err="1"/>
              <a:t>names.add</a:t>
            </a:r>
            <a:r>
              <a:rPr lang="en-US" sz="6400" dirty="0"/>
              <a:t>("Maria</a:t>
            </a:r>
            <a:r>
              <a:rPr lang="en-US" sz="6400" dirty="0" smtClean="0"/>
              <a:t>");</a:t>
            </a:r>
            <a:endParaRPr lang="en-US" sz="6400" dirty="0"/>
          </a:p>
          <a:p>
            <a:pPr marL="0" indent="0">
              <a:lnSpc>
                <a:spcPct val="120000"/>
              </a:lnSpc>
              <a:spcBef>
                <a:spcPts val="0"/>
              </a:spcBef>
              <a:buNone/>
            </a:pPr>
            <a:r>
              <a:rPr lang="en-US" sz="6400" dirty="0"/>
              <a:t>        // Check if an </a:t>
            </a:r>
            <a:r>
              <a:rPr lang="en-US" sz="6400" dirty="0" err="1"/>
              <a:t>ArrayList</a:t>
            </a:r>
            <a:r>
              <a:rPr lang="en-US" sz="6400" dirty="0"/>
              <a:t> contains a given element</a:t>
            </a:r>
          </a:p>
          <a:p>
            <a:pPr marL="0" indent="0">
              <a:lnSpc>
                <a:spcPct val="120000"/>
              </a:lnSpc>
              <a:spcBef>
                <a:spcPts val="0"/>
              </a:spcBef>
              <a:buNone/>
            </a:pPr>
            <a:r>
              <a:rPr lang="en-US" sz="6400" dirty="0"/>
              <a:t>        </a:t>
            </a:r>
            <a:r>
              <a:rPr lang="en-US" sz="6400" dirty="0" err="1"/>
              <a:t>System.out.println</a:t>
            </a:r>
            <a:r>
              <a:rPr lang="en-US" sz="6400" dirty="0"/>
              <a:t>("Does names array contain \"Bob\"? : " + </a:t>
            </a:r>
            <a:r>
              <a:rPr lang="en-US" sz="6400" dirty="0" err="1"/>
              <a:t>names.contains</a:t>
            </a:r>
            <a:r>
              <a:rPr lang="en-US" sz="6400" dirty="0"/>
              <a:t>("Bob</a:t>
            </a:r>
            <a:r>
              <a:rPr lang="en-US" sz="6400" dirty="0" smtClean="0"/>
              <a:t>"));</a:t>
            </a:r>
            <a:endParaRPr lang="en-US" sz="6400" dirty="0"/>
          </a:p>
          <a:p>
            <a:pPr marL="0" indent="0">
              <a:lnSpc>
                <a:spcPct val="120000"/>
              </a:lnSpc>
              <a:spcBef>
                <a:spcPts val="0"/>
              </a:spcBef>
              <a:buNone/>
            </a:pPr>
            <a:r>
              <a:rPr lang="en-US" sz="6400" dirty="0"/>
              <a:t>        // Find the index of the first occurrence of an element in an </a:t>
            </a:r>
            <a:r>
              <a:rPr lang="en-US" sz="6400" dirty="0" err="1"/>
              <a:t>ArrayList</a:t>
            </a:r>
            <a:endParaRPr lang="en-US" sz="6400" dirty="0"/>
          </a:p>
          <a:p>
            <a:pPr marL="0" indent="0">
              <a:lnSpc>
                <a:spcPct val="120000"/>
              </a:lnSpc>
              <a:spcBef>
                <a:spcPts val="0"/>
              </a:spcBef>
              <a:buNone/>
            </a:pPr>
            <a:r>
              <a:rPr lang="en-US" sz="6400" dirty="0"/>
              <a:t>        </a:t>
            </a:r>
            <a:r>
              <a:rPr lang="en-US" sz="6400" dirty="0" err="1"/>
              <a:t>System.out.println</a:t>
            </a:r>
            <a:r>
              <a:rPr lang="en-US" sz="6400" dirty="0"/>
              <a:t>("</a:t>
            </a:r>
            <a:r>
              <a:rPr lang="en-US" sz="6400" dirty="0" err="1"/>
              <a:t>indexOf</a:t>
            </a:r>
            <a:r>
              <a:rPr lang="en-US" sz="6400" dirty="0"/>
              <a:t> \"Steve\": " + </a:t>
            </a:r>
            <a:r>
              <a:rPr lang="en-US" sz="6400" dirty="0" err="1"/>
              <a:t>names.indexOf</a:t>
            </a:r>
            <a:r>
              <a:rPr lang="en-US" sz="6400" dirty="0"/>
              <a:t>("Steve"));</a:t>
            </a:r>
          </a:p>
          <a:p>
            <a:pPr marL="0" indent="0">
              <a:lnSpc>
                <a:spcPct val="120000"/>
              </a:lnSpc>
              <a:spcBef>
                <a:spcPts val="0"/>
              </a:spcBef>
              <a:buNone/>
            </a:pPr>
            <a:r>
              <a:rPr lang="en-US" sz="6400" dirty="0"/>
              <a:t>        </a:t>
            </a:r>
            <a:r>
              <a:rPr lang="en-US" sz="6400" dirty="0" err="1"/>
              <a:t>System.out.println</a:t>
            </a:r>
            <a:r>
              <a:rPr lang="en-US" sz="6400" dirty="0"/>
              <a:t>("</a:t>
            </a:r>
            <a:r>
              <a:rPr lang="en-US" sz="6400" dirty="0" err="1"/>
              <a:t>indexOf</a:t>
            </a:r>
            <a:r>
              <a:rPr lang="en-US" sz="6400" dirty="0"/>
              <a:t> \"Mark\": " + </a:t>
            </a:r>
            <a:r>
              <a:rPr lang="en-US" sz="6400" dirty="0" err="1"/>
              <a:t>names.indexOf</a:t>
            </a:r>
            <a:r>
              <a:rPr lang="en-US" sz="6400" dirty="0"/>
              <a:t>("Mark</a:t>
            </a:r>
            <a:r>
              <a:rPr lang="en-US" sz="6400" dirty="0" smtClean="0"/>
              <a:t>"));</a:t>
            </a:r>
            <a:endParaRPr lang="en-US" sz="6400" dirty="0"/>
          </a:p>
          <a:p>
            <a:pPr marL="0" indent="0">
              <a:lnSpc>
                <a:spcPct val="120000"/>
              </a:lnSpc>
              <a:spcBef>
                <a:spcPts val="0"/>
              </a:spcBef>
              <a:buNone/>
            </a:pPr>
            <a:r>
              <a:rPr lang="en-US" sz="6400" dirty="0"/>
              <a:t>        // Find the index of the last occurrence of an element in an </a:t>
            </a:r>
            <a:r>
              <a:rPr lang="en-US" sz="6400" dirty="0" err="1"/>
              <a:t>ArrayList</a:t>
            </a:r>
            <a:endParaRPr lang="en-US" sz="6400" dirty="0"/>
          </a:p>
          <a:p>
            <a:pPr marL="0" indent="0">
              <a:lnSpc>
                <a:spcPct val="120000"/>
              </a:lnSpc>
              <a:spcBef>
                <a:spcPts val="0"/>
              </a:spcBef>
              <a:buNone/>
            </a:pPr>
            <a:r>
              <a:rPr lang="en-US" sz="6400" dirty="0"/>
              <a:t>        </a:t>
            </a:r>
            <a:r>
              <a:rPr lang="en-US" sz="6400" dirty="0" err="1"/>
              <a:t>System.out.println</a:t>
            </a:r>
            <a:r>
              <a:rPr lang="en-US" sz="6400" dirty="0"/>
              <a:t>("</a:t>
            </a:r>
            <a:r>
              <a:rPr lang="en-US" sz="6400" dirty="0" err="1"/>
              <a:t>lastIndexOf</a:t>
            </a:r>
            <a:r>
              <a:rPr lang="en-US" sz="6400" dirty="0"/>
              <a:t> \"John\" : " + </a:t>
            </a:r>
            <a:r>
              <a:rPr lang="en-US" sz="6400" dirty="0" err="1"/>
              <a:t>names.lastIndexOf</a:t>
            </a:r>
            <a:r>
              <a:rPr lang="en-US" sz="6400" dirty="0"/>
              <a:t>("John"));</a:t>
            </a:r>
          </a:p>
          <a:p>
            <a:pPr marL="0" indent="0">
              <a:lnSpc>
                <a:spcPct val="120000"/>
              </a:lnSpc>
              <a:spcBef>
                <a:spcPts val="0"/>
              </a:spcBef>
              <a:buNone/>
            </a:pPr>
            <a:r>
              <a:rPr lang="en-US" sz="6400" dirty="0"/>
              <a:t>        </a:t>
            </a:r>
            <a:r>
              <a:rPr lang="en-US" sz="6400" dirty="0" err="1"/>
              <a:t>System.out.println</a:t>
            </a:r>
            <a:r>
              <a:rPr lang="en-US" sz="6400" dirty="0"/>
              <a:t>("</a:t>
            </a:r>
            <a:r>
              <a:rPr lang="en-US" sz="6400" dirty="0" err="1"/>
              <a:t>lastIndexOf</a:t>
            </a:r>
            <a:r>
              <a:rPr lang="en-US" sz="6400" dirty="0"/>
              <a:t> \"Bill\" : " + </a:t>
            </a:r>
            <a:r>
              <a:rPr lang="en-US" sz="6400" dirty="0" err="1"/>
              <a:t>names.lastIndexOf</a:t>
            </a:r>
            <a:r>
              <a:rPr lang="en-US" sz="6400" dirty="0"/>
              <a:t>("Bill"));</a:t>
            </a:r>
          </a:p>
          <a:p>
            <a:pPr marL="0" indent="0">
              <a:lnSpc>
                <a:spcPct val="120000"/>
              </a:lnSpc>
              <a:spcBef>
                <a:spcPts val="0"/>
              </a:spcBef>
              <a:buNone/>
            </a:pPr>
            <a:r>
              <a:rPr lang="en-US" sz="6400" dirty="0"/>
              <a:t>    }</a:t>
            </a:r>
          </a:p>
          <a:p>
            <a:pPr marL="0" indent="0">
              <a:lnSpc>
                <a:spcPct val="120000"/>
              </a:lnSpc>
              <a:spcBef>
                <a:spcPts val="0"/>
              </a:spcBef>
              <a:buNone/>
            </a:pPr>
            <a:r>
              <a:rPr lang="en-US" sz="6400" dirty="0"/>
              <a:t>}</a:t>
            </a:r>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725103" y="1525814"/>
            <a:ext cx="4292725" cy="2431331"/>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Does names array contain "Bob"? : true</a:t>
            </a:r>
          </a:p>
          <a:p>
            <a:pPr marL="0" indent="0">
              <a:buNone/>
            </a:pPr>
            <a:r>
              <a:rPr lang="en-US" sz="2000" dirty="0" err="1"/>
              <a:t>indexOf</a:t>
            </a:r>
            <a:r>
              <a:rPr lang="en-US" sz="2000" dirty="0"/>
              <a:t> "Steve": 3</a:t>
            </a:r>
          </a:p>
          <a:p>
            <a:pPr marL="0" indent="0">
              <a:buNone/>
            </a:pPr>
            <a:r>
              <a:rPr lang="en-US" sz="2000" dirty="0" err="1"/>
              <a:t>indexOf</a:t>
            </a:r>
            <a:r>
              <a:rPr lang="en-US" sz="2000" dirty="0"/>
              <a:t> "Mark": -1</a:t>
            </a:r>
          </a:p>
          <a:p>
            <a:pPr marL="0" indent="0">
              <a:buNone/>
            </a:pPr>
            <a:r>
              <a:rPr lang="en-US" sz="2000" dirty="0" err="1"/>
              <a:t>lastIndexOf</a:t>
            </a:r>
            <a:r>
              <a:rPr lang="en-US" sz="2000" dirty="0"/>
              <a:t> "John" : 4</a:t>
            </a:r>
          </a:p>
          <a:p>
            <a:pPr marL="0" indent="0">
              <a:buNone/>
            </a:pPr>
            <a:r>
              <a:rPr lang="en-US" sz="2000" dirty="0" err="1"/>
              <a:t>lastIndexOf</a:t>
            </a:r>
            <a:r>
              <a:rPr lang="en-US" sz="2000" dirty="0"/>
              <a:t> "Bill" : -1</a:t>
            </a:r>
          </a:p>
        </p:txBody>
      </p:sp>
    </p:spTree>
    <p:extLst>
      <p:ext uri="{BB962C8B-B14F-4D97-AF65-F5344CB8AC3E}">
        <p14:creationId xmlns:p14="http://schemas.microsoft.com/office/powerpoint/2010/main" val="231835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err="1"/>
              <a:t>ArrayList</a:t>
            </a:r>
            <a:r>
              <a:rPr lang="en-US" sz="3200" dirty="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934357"/>
            <a:ext cx="11179630" cy="5647418"/>
          </a:xfrm>
        </p:spPr>
        <p:txBody>
          <a:bodyPr>
            <a:normAutofit fontScale="25000" lnSpcReduction="20000"/>
          </a:bodyPr>
          <a:lstStyle/>
          <a:p>
            <a:r>
              <a:rPr lang="en-US" sz="7200" b="1" dirty="0"/>
              <a:t>Sorting an </a:t>
            </a:r>
            <a:r>
              <a:rPr lang="en-US" sz="7200" b="1" dirty="0" err="1"/>
              <a:t>ArrayList</a:t>
            </a:r>
            <a:r>
              <a:rPr lang="en-US" sz="7200" b="1" dirty="0"/>
              <a:t> </a:t>
            </a:r>
            <a:r>
              <a:rPr lang="en-US" sz="7200" b="1" dirty="0" smtClean="0"/>
              <a:t>using the </a:t>
            </a:r>
            <a:r>
              <a:rPr lang="en-US" sz="7200" b="1" dirty="0" err="1"/>
              <a:t>Collections.sort</a:t>
            </a:r>
            <a:r>
              <a:rPr lang="en-US" sz="7200" b="1" dirty="0" smtClean="0"/>
              <a:t>() and </a:t>
            </a:r>
            <a:r>
              <a:rPr lang="en-US" sz="7200" b="1" dirty="0" err="1"/>
              <a:t>ArrayList.sort</a:t>
            </a:r>
            <a:r>
              <a:rPr lang="en-US" sz="7200" b="1" dirty="0"/>
              <a:t>() method</a:t>
            </a:r>
            <a:endParaRPr lang="en-US" sz="7200" b="1" dirty="0" smtClean="0"/>
          </a:p>
          <a:p>
            <a:pPr marL="0" indent="0">
              <a:buNone/>
            </a:pPr>
            <a:r>
              <a:rPr lang="en-US" sz="6400" dirty="0" smtClean="0"/>
              <a:t>import </a:t>
            </a:r>
            <a:r>
              <a:rPr lang="en-US" sz="6400" dirty="0" err="1"/>
              <a:t>java.util.ArrayList</a:t>
            </a:r>
            <a:r>
              <a:rPr lang="en-US" sz="6400" dirty="0" smtClean="0"/>
              <a:t>;</a:t>
            </a:r>
          </a:p>
          <a:p>
            <a:pPr marL="0" indent="0">
              <a:buNone/>
            </a:pPr>
            <a:r>
              <a:rPr lang="en-US" sz="6400" dirty="0"/>
              <a:t>import </a:t>
            </a:r>
            <a:r>
              <a:rPr lang="en-US" sz="6400" dirty="0" err="1"/>
              <a:t>java.util.Collections</a:t>
            </a:r>
            <a:r>
              <a:rPr lang="en-US" sz="6400" dirty="0"/>
              <a:t>;</a:t>
            </a:r>
          </a:p>
          <a:p>
            <a:pPr marL="0" indent="0">
              <a:lnSpc>
                <a:spcPct val="120000"/>
              </a:lnSpc>
              <a:spcBef>
                <a:spcPts val="0"/>
              </a:spcBef>
              <a:buNone/>
            </a:pPr>
            <a:r>
              <a:rPr lang="en-US" sz="6400" dirty="0" smtClean="0"/>
              <a:t>import </a:t>
            </a:r>
            <a:r>
              <a:rPr lang="en-US" sz="6400" dirty="0" err="1"/>
              <a:t>java.util.List</a:t>
            </a:r>
            <a:r>
              <a:rPr lang="en-US" sz="6400" dirty="0"/>
              <a:t>;</a:t>
            </a:r>
          </a:p>
          <a:p>
            <a:pPr marL="0" indent="0">
              <a:lnSpc>
                <a:spcPct val="120000"/>
              </a:lnSpc>
              <a:spcBef>
                <a:spcPts val="0"/>
              </a:spcBef>
              <a:buNone/>
            </a:pPr>
            <a:r>
              <a:rPr lang="en-US" sz="6400" dirty="0"/>
              <a:t>public class </a:t>
            </a:r>
            <a:r>
              <a:rPr lang="en-US" sz="6400" dirty="0" err="1"/>
              <a:t>ArrayListCollectionsSortExample</a:t>
            </a:r>
            <a:r>
              <a:rPr lang="en-US" sz="6400" dirty="0"/>
              <a:t> {</a:t>
            </a:r>
          </a:p>
          <a:p>
            <a:pPr marL="0" indent="0">
              <a:lnSpc>
                <a:spcPct val="120000"/>
              </a:lnSpc>
              <a:spcBef>
                <a:spcPts val="0"/>
              </a:spcBef>
              <a:buNone/>
            </a:pPr>
            <a:r>
              <a:rPr lang="en-US" sz="6400" dirty="0"/>
              <a:t>    public static void main(String[] </a:t>
            </a:r>
            <a:r>
              <a:rPr lang="en-US" sz="6400" dirty="0" err="1"/>
              <a:t>args</a:t>
            </a:r>
            <a:r>
              <a:rPr lang="en-US" sz="6400" dirty="0"/>
              <a:t>) {</a:t>
            </a:r>
          </a:p>
          <a:p>
            <a:pPr marL="0" indent="0">
              <a:lnSpc>
                <a:spcPct val="120000"/>
              </a:lnSpc>
              <a:spcBef>
                <a:spcPts val="0"/>
              </a:spcBef>
              <a:buNone/>
            </a:pPr>
            <a:r>
              <a:rPr lang="en-US" sz="6400" dirty="0"/>
              <a:t>        List&lt;Integer&gt; numbers = new </a:t>
            </a:r>
            <a:r>
              <a:rPr lang="en-US" sz="6400" dirty="0" err="1"/>
              <a:t>ArrayList</a:t>
            </a:r>
            <a:r>
              <a:rPr lang="en-US" sz="6400" dirty="0"/>
              <a:t>&lt;&gt;();</a:t>
            </a:r>
          </a:p>
          <a:p>
            <a:pPr marL="0" indent="0">
              <a:lnSpc>
                <a:spcPct val="120000"/>
              </a:lnSpc>
              <a:spcBef>
                <a:spcPts val="0"/>
              </a:spcBef>
              <a:buNone/>
            </a:pPr>
            <a:r>
              <a:rPr lang="en-US" sz="6400" dirty="0"/>
              <a:t>        </a:t>
            </a:r>
            <a:r>
              <a:rPr lang="en-US" sz="6400" dirty="0" err="1"/>
              <a:t>numbers.add</a:t>
            </a:r>
            <a:r>
              <a:rPr lang="en-US" sz="6400" dirty="0"/>
              <a:t>(13</a:t>
            </a:r>
            <a:r>
              <a:rPr lang="en-US" sz="6400" dirty="0" smtClean="0"/>
              <a:t>);  </a:t>
            </a:r>
            <a:r>
              <a:rPr lang="en-US" sz="6400" dirty="0" err="1"/>
              <a:t>numbers.add</a:t>
            </a:r>
            <a:r>
              <a:rPr lang="en-US" sz="6400" dirty="0"/>
              <a:t>(7</a:t>
            </a:r>
            <a:r>
              <a:rPr lang="en-US" sz="6400" dirty="0" smtClean="0"/>
              <a:t>);  </a:t>
            </a:r>
            <a:r>
              <a:rPr lang="en-US" sz="6400" dirty="0" err="1"/>
              <a:t>numbers.add</a:t>
            </a:r>
            <a:r>
              <a:rPr lang="en-US" sz="6400" dirty="0"/>
              <a:t>(18</a:t>
            </a:r>
            <a:r>
              <a:rPr lang="en-US" sz="6400" dirty="0" smtClean="0"/>
              <a:t>);   </a:t>
            </a:r>
            <a:r>
              <a:rPr lang="en-US" sz="6400" dirty="0" err="1"/>
              <a:t>numbers.add</a:t>
            </a:r>
            <a:r>
              <a:rPr lang="en-US" sz="6400" dirty="0"/>
              <a:t>(5</a:t>
            </a:r>
            <a:r>
              <a:rPr lang="en-US" sz="6400" dirty="0" smtClean="0"/>
              <a:t>);</a:t>
            </a:r>
          </a:p>
          <a:p>
            <a:pPr marL="0" indent="0">
              <a:lnSpc>
                <a:spcPct val="120000"/>
              </a:lnSpc>
              <a:spcBef>
                <a:spcPts val="0"/>
              </a:spcBef>
              <a:buNone/>
            </a:pPr>
            <a:r>
              <a:rPr lang="en-US" sz="6400" dirty="0" smtClean="0"/>
              <a:t>        </a:t>
            </a:r>
            <a:r>
              <a:rPr lang="en-US" sz="6400" dirty="0" err="1" smtClean="0"/>
              <a:t>System.out.println</a:t>
            </a:r>
            <a:r>
              <a:rPr lang="en-US" sz="6400" dirty="0" smtClean="0"/>
              <a:t>("Before : " + numbers);</a:t>
            </a:r>
            <a:endParaRPr lang="en-US" sz="6400" dirty="0"/>
          </a:p>
          <a:p>
            <a:pPr marL="0" indent="0">
              <a:lnSpc>
                <a:spcPct val="120000"/>
              </a:lnSpc>
              <a:spcBef>
                <a:spcPts val="0"/>
              </a:spcBef>
              <a:buNone/>
            </a:pPr>
            <a:r>
              <a:rPr lang="en-US" sz="6400" dirty="0"/>
              <a:t>        // Sorting an </a:t>
            </a:r>
            <a:r>
              <a:rPr lang="en-US" sz="6400" dirty="0" err="1"/>
              <a:t>ArrayList</a:t>
            </a:r>
            <a:r>
              <a:rPr lang="en-US" sz="6400" dirty="0"/>
              <a:t> using </a:t>
            </a:r>
            <a:r>
              <a:rPr lang="en-US" sz="6400" dirty="0" err="1"/>
              <a:t>Collections.sort</a:t>
            </a:r>
            <a:r>
              <a:rPr lang="en-US" sz="6400" dirty="0"/>
              <a:t>() method</a:t>
            </a:r>
          </a:p>
          <a:p>
            <a:pPr marL="0" indent="0">
              <a:lnSpc>
                <a:spcPct val="120000"/>
              </a:lnSpc>
              <a:spcBef>
                <a:spcPts val="0"/>
              </a:spcBef>
              <a:buNone/>
            </a:pPr>
            <a:r>
              <a:rPr lang="en-US" sz="6400" dirty="0"/>
              <a:t>        </a:t>
            </a:r>
            <a:r>
              <a:rPr lang="en-US" sz="6400" dirty="0" err="1"/>
              <a:t>Collections.sort</a:t>
            </a:r>
            <a:r>
              <a:rPr lang="en-US" sz="6400" dirty="0"/>
              <a:t>(numbers</a:t>
            </a:r>
            <a:r>
              <a:rPr lang="en-US" sz="6400" dirty="0" smtClean="0"/>
              <a:t>);</a:t>
            </a:r>
            <a:endParaRPr lang="en-US" sz="6400" dirty="0"/>
          </a:p>
          <a:p>
            <a:pPr marL="0" indent="0">
              <a:lnSpc>
                <a:spcPct val="120000"/>
              </a:lnSpc>
              <a:spcBef>
                <a:spcPts val="0"/>
              </a:spcBef>
              <a:buNone/>
            </a:pPr>
            <a:r>
              <a:rPr lang="en-US" sz="6400" dirty="0"/>
              <a:t>        </a:t>
            </a:r>
            <a:r>
              <a:rPr lang="en-US" sz="6400" dirty="0" err="1"/>
              <a:t>System.out.println</a:t>
            </a:r>
            <a:r>
              <a:rPr lang="en-US" sz="6400" dirty="0"/>
              <a:t>("After : " + numbers</a:t>
            </a:r>
            <a:r>
              <a:rPr lang="en-US" sz="6400" dirty="0" smtClean="0"/>
              <a:t>);</a:t>
            </a:r>
          </a:p>
          <a:p>
            <a:pPr marL="0" indent="0">
              <a:lnSpc>
                <a:spcPct val="120000"/>
              </a:lnSpc>
              <a:spcBef>
                <a:spcPts val="0"/>
              </a:spcBef>
              <a:buNone/>
            </a:pPr>
            <a:r>
              <a:rPr lang="en-US" sz="6400" dirty="0" smtClean="0"/>
              <a:t>        List&lt;String</a:t>
            </a:r>
            <a:r>
              <a:rPr lang="en-US" sz="6400" dirty="0"/>
              <a:t>&gt; names = new </a:t>
            </a:r>
            <a:r>
              <a:rPr lang="en-US" sz="6400" dirty="0" err="1"/>
              <a:t>ArrayList</a:t>
            </a:r>
            <a:r>
              <a:rPr lang="en-US" sz="6400" dirty="0"/>
              <a:t>&lt;&gt;();</a:t>
            </a:r>
          </a:p>
          <a:p>
            <a:pPr marL="0" indent="0">
              <a:lnSpc>
                <a:spcPct val="120000"/>
              </a:lnSpc>
              <a:spcBef>
                <a:spcPts val="0"/>
              </a:spcBef>
              <a:buNone/>
            </a:pPr>
            <a:r>
              <a:rPr lang="en-US" sz="6400" dirty="0"/>
              <a:t>        </a:t>
            </a:r>
            <a:r>
              <a:rPr lang="en-US" sz="6400" dirty="0" err="1"/>
              <a:t>names.add</a:t>
            </a:r>
            <a:r>
              <a:rPr lang="en-US" sz="6400" dirty="0"/>
              <a:t>("Lisa</a:t>
            </a:r>
            <a:r>
              <a:rPr lang="en-US" sz="6400" dirty="0" smtClean="0"/>
              <a:t>");       </a:t>
            </a:r>
            <a:r>
              <a:rPr lang="en-US" sz="6400" dirty="0" err="1"/>
              <a:t>names.add</a:t>
            </a:r>
            <a:r>
              <a:rPr lang="en-US" sz="6400" dirty="0"/>
              <a:t>("Jennifer");</a:t>
            </a:r>
          </a:p>
          <a:p>
            <a:pPr marL="0" indent="0">
              <a:lnSpc>
                <a:spcPct val="120000"/>
              </a:lnSpc>
              <a:spcBef>
                <a:spcPts val="0"/>
              </a:spcBef>
              <a:buNone/>
            </a:pPr>
            <a:r>
              <a:rPr lang="en-US" sz="6400" dirty="0"/>
              <a:t>        </a:t>
            </a:r>
            <a:r>
              <a:rPr lang="en-US" sz="6400" dirty="0" err="1"/>
              <a:t>names.add</a:t>
            </a:r>
            <a:r>
              <a:rPr lang="en-US" sz="6400" dirty="0"/>
              <a:t>("Mark</a:t>
            </a:r>
            <a:r>
              <a:rPr lang="en-US" sz="6400" dirty="0" smtClean="0"/>
              <a:t>");    </a:t>
            </a:r>
            <a:r>
              <a:rPr lang="en-US" sz="6400" dirty="0" err="1"/>
              <a:t>names.add</a:t>
            </a:r>
            <a:r>
              <a:rPr lang="en-US" sz="6400" dirty="0"/>
              <a:t>("David</a:t>
            </a:r>
            <a:r>
              <a:rPr lang="en-US" sz="6400" dirty="0" smtClean="0"/>
              <a:t>");</a:t>
            </a:r>
          </a:p>
          <a:p>
            <a:pPr marL="0" indent="0">
              <a:lnSpc>
                <a:spcPct val="120000"/>
              </a:lnSpc>
              <a:spcBef>
                <a:spcPts val="0"/>
              </a:spcBef>
              <a:buNone/>
            </a:pPr>
            <a:r>
              <a:rPr lang="en-US" sz="6400" dirty="0"/>
              <a:t>        </a:t>
            </a:r>
            <a:r>
              <a:rPr lang="en-US" sz="6400" dirty="0" err="1"/>
              <a:t>System.out.println</a:t>
            </a:r>
            <a:r>
              <a:rPr lang="en-US" sz="6400" dirty="0"/>
              <a:t>("Names : " + names);</a:t>
            </a:r>
            <a:endParaRPr lang="en-US" sz="6400" dirty="0" smtClean="0"/>
          </a:p>
          <a:p>
            <a:pPr marL="0" indent="0">
              <a:lnSpc>
                <a:spcPct val="120000"/>
              </a:lnSpc>
              <a:spcBef>
                <a:spcPts val="0"/>
              </a:spcBef>
              <a:buNone/>
            </a:pPr>
            <a:r>
              <a:rPr lang="en-US" sz="6400" dirty="0" smtClean="0"/>
              <a:t>        // </a:t>
            </a:r>
            <a:r>
              <a:rPr lang="en-US" sz="6400" dirty="0"/>
              <a:t>Sort an </a:t>
            </a:r>
            <a:r>
              <a:rPr lang="en-US" sz="6400" dirty="0" err="1"/>
              <a:t>ArrayList</a:t>
            </a:r>
            <a:r>
              <a:rPr lang="en-US" sz="6400" dirty="0"/>
              <a:t> using its sort() method. You must pass a Comparator to the </a:t>
            </a:r>
            <a:r>
              <a:rPr lang="en-US" sz="6400" dirty="0" err="1"/>
              <a:t>ArrayList.sort</a:t>
            </a:r>
            <a:r>
              <a:rPr lang="en-US" sz="6400" dirty="0"/>
              <a:t>() method.</a:t>
            </a:r>
          </a:p>
          <a:p>
            <a:pPr marL="0" indent="0">
              <a:lnSpc>
                <a:spcPct val="120000"/>
              </a:lnSpc>
              <a:spcBef>
                <a:spcPts val="0"/>
              </a:spcBef>
              <a:buNone/>
            </a:pPr>
            <a:r>
              <a:rPr lang="en-US" sz="6400" dirty="0"/>
              <a:t>        </a:t>
            </a:r>
            <a:r>
              <a:rPr lang="en-US" sz="6400" dirty="0" err="1"/>
              <a:t>names.sort</a:t>
            </a:r>
            <a:r>
              <a:rPr lang="en-US" sz="6400" dirty="0"/>
              <a:t>(new Comparator&lt;String&gt;() {</a:t>
            </a:r>
          </a:p>
          <a:p>
            <a:pPr marL="0" indent="0">
              <a:lnSpc>
                <a:spcPct val="120000"/>
              </a:lnSpc>
              <a:spcBef>
                <a:spcPts val="0"/>
              </a:spcBef>
              <a:buNone/>
            </a:pPr>
            <a:r>
              <a:rPr lang="en-US" sz="6400" dirty="0"/>
              <a:t>            @Override</a:t>
            </a:r>
          </a:p>
          <a:p>
            <a:pPr marL="0" indent="0">
              <a:lnSpc>
                <a:spcPct val="120000"/>
              </a:lnSpc>
              <a:spcBef>
                <a:spcPts val="0"/>
              </a:spcBef>
              <a:buNone/>
            </a:pPr>
            <a:r>
              <a:rPr lang="en-US" sz="6400" dirty="0"/>
              <a:t>            public </a:t>
            </a:r>
            <a:r>
              <a:rPr lang="en-US" sz="6400" dirty="0" err="1"/>
              <a:t>int</a:t>
            </a:r>
            <a:r>
              <a:rPr lang="en-US" sz="6400" dirty="0"/>
              <a:t> compare(String </a:t>
            </a:r>
            <a:r>
              <a:rPr lang="en-US" sz="6400" dirty="0" err="1"/>
              <a:t>name1</a:t>
            </a:r>
            <a:r>
              <a:rPr lang="en-US" sz="6400" dirty="0"/>
              <a:t>, String </a:t>
            </a:r>
            <a:r>
              <a:rPr lang="en-US" sz="6400" dirty="0" err="1"/>
              <a:t>name2</a:t>
            </a:r>
            <a:r>
              <a:rPr lang="en-US" sz="6400" dirty="0"/>
              <a:t>) </a:t>
            </a:r>
            <a:r>
              <a:rPr lang="en-US" sz="6400" dirty="0" smtClean="0"/>
              <a:t>{  </a:t>
            </a:r>
            <a:r>
              <a:rPr lang="en-US" sz="6400" dirty="0"/>
              <a:t>return </a:t>
            </a:r>
            <a:r>
              <a:rPr lang="en-US" sz="6400" dirty="0" err="1"/>
              <a:t>name1.compareTo</a:t>
            </a:r>
            <a:r>
              <a:rPr lang="en-US" sz="6400" dirty="0"/>
              <a:t>(</a:t>
            </a:r>
            <a:r>
              <a:rPr lang="en-US" sz="6400" dirty="0" err="1"/>
              <a:t>name2</a:t>
            </a:r>
            <a:r>
              <a:rPr lang="en-US" sz="6400" dirty="0" smtClean="0"/>
              <a:t>); }</a:t>
            </a:r>
            <a:endParaRPr lang="en-US" sz="6400" dirty="0"/>
          </a:p>
          <a:p>
            <a:pPr marL="0" indent="0">
              <a:lnSpc>
                <a:spcPct val="120000"/>
              </a:lnSpc>
              <a:spcBef>
                <a:spcPts val="0"/>
              </a:spcBef>
              <a:buNone/>
            </a:pPr>
            <a:r>
              <a:rPr lang="en-US" sz="6400" dirty="0"/>
              <a:t>        </a:t>
            </a:r>
            <a:r>
              <a:rPr lang="en-US" sz="6400" dirty="0" smtClean="0"/>
              <a:t>});</a:t>
            </a:r>
          </a:p>
          <a:p>
            <a:pPr marL="0" indent="0">
              <a:lnSpc>
                <a:spcPct val="120000"/>
              </a:lnSpc>
              <a:spcBef>
                <a:spcPts val="0"/>
              </a:spcBef>
              <a:buNone/>
            </a:pPr>
            <a:r>
              <a:rPr lang="en-US" sz="6400" dirty="0"/>
              <a:t>        </a:t>
            </a:r>
            <a:r>
              <a:rPr lang="en-US" sz="6400" dirty="0" err="1"/>
              <a:t>System.out.println</a:t>
            </a:r>
            <a:r>
              <a:rPr lang="en-US" sz="6400" dirty="0"/>
              <a:t>("Sorted Names : " + names);</a:t>
            </a:r>
          </a:p>
          <a:p>
            <a:pPr marL="0" indent="0">
              <a:lnSpc>
                <a:spcPct val="120000"/>
              </a:lnSpc>
              <a:spcBef>
                <a:spcPts val="0"/>
              </a:spcBef>
              <a:buNone/>
            </a:pPr>
            <a:r>
              <a:rPr lang="en-US" sz="6400" dirty="0"/>
              <a:t>    }</a:t>
            </a:r>
          </a:p>
          <a:p>
            <a:pPr marL="0" indent="0">
              <a:lnSpc>
                <a:spcPct val="120000"/>
              </a:lnSpc>
              <a:spcBef>
                <a:spcPts val="0"/>
              </a:spcBef>
              <a:buNone/>
            </a:pPr>
            <a:r>
              <a:rPr lang="en-US" sz="6400" dirty="0"/>
              <a:t>}</a:t>
            </a:r>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583214" y="1730767"/>
            <a:ext cx="4434615" cy="2052958"/>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Before : [13, 7, 18, </a:t>
            </a:r>
            <a:r>
              <a:rPr lang="en-US" sz="2000" dirty="0" smtClean="0"/>
              <a:t>5]</a:t>
            </a:r>
            <a:endParaRPr lang="en-US" sz="2000" dirty="0"/>
          </a:p>
          <a:p>
            <a:pPr marL="0" indent="0">
              <a:buNone/>
            </a:pPr>
            <a:r>
              <a:rPr lang="en-US" sz="2000" dirty="0"/>
              <a:t>After : </a:t>
            </a:r>
            <a:r>
              <a:rPr lang="en-US" sz="2000" dirty="0" smtClean="0"/>
              <a:t>[5</a:t>
            </a:r>
            <a:r>
              <a:rPr lang="en-US" sz="2000" dirty="0"/>
              <a:t>, 7, 13, 18</a:t>
            </a:r>
            <a:r>
              <a:rPr lang="en-US" sz="2000" dirty="0" smtClean="0"/>
              <a:t>]</a:t>
            </a:r>
          </a:p>
          <a:p>
            <a:pPr marL="0" indent="0">
              <a:buNone/>
            </a:pPr>
            <a:r>
              <a:rPr lang="de-DE" sz="2000" dirty="0"/>
              <a:t>Names : [Lisa, Jennifer, Mark, David]</a:t>
            </a:r>
            <a:endParaRPr lang="en-US" sz="2000" dirty="0" smtClean="0"/>
          </a:p>
          <a:p>
            <a:pPr marL="0" indent="0">
              <a:buNone/>
            </a:pPr>
            <a:r>
              <a:rPr lang="de-DE" sz="2000" dirty="0"/>
              <a:t>Sorted Names : [David, Jennifer, Lisa, Mark]</a:t>
            </a:r>
            <a:endParaRPr lang="en-US" sz="2000" dirty="0"/>
          </a:p>
        </p:txBody>
      </p:sp>
    </p:spTree>
    <p:extLst>
      <p:ext uri="{BB962C8B-B14F-4D97-AF65-F5344CB8AC3E}">
        <p14:creationId xmlns:p14="http://schemas.microsoft.com/office/powerpoint/2010/main" val="261734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What is a Stack?</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4616669" cy="5282293"/>
          </a:xfrm>
        </p:spPr>
        <p:txBody>
          <a:bodyPr>
            <a:normAutofit lnSpcReduction="10000"/>
          </a:bodyPr>
          <a:lstStyle/>
          <a:p>
            <a:pPr fontAlgn="base"/>
            <a:r>
              <a:rPr lang="en-US" sz="3200" dirty="0"/>
              <a:t>A Stack is a Last In First Out (LIFO) data structure. </a:t>
            </a:r>
            <a:endParaRPr lang="en-US" sz="3200" dirty="0" smtClean="0"/>
          </a:p>
          <a:p>
            <a:pPr fontAlgn="base"/>
            <a:r>
              <a:rPr lang="en-US" sz="3200" dirty="0" smtClean="0"/>
              <a:t>It </a:t>
            </a:r>
            <a:r>
              <a:rPr lang="en-US" sz="3200" dirty="0"/>
              <a:t>supports two basic operations called push and pop. The push operation adds an element at the top of the stack, and the pop operation removes an element from the top of the stack.</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5131" y="1277829"/>
            <a:ext cx="5378668" cy="4665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454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Stack</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5310352" cy="5282293"/>
          </a:xfrm>
        </p:spPr>
        <p:txBody>
          <a:bodyPr>
            <a:normAutofit fontScale="85000" lnSpcReduction="20000"/>
          </a:bodyPr>
          <a:lstStyle/>
          <a:p>
            <a:pPr algn="just" fontAlgn="base"/>
            <a:r>
              <a:rPr lang="en-US" sz="3200" dirty="0"/>
              <a:t>Java provides a Stack class which models the Stack data structure. The Stack class is part of Java’s collections framework. </a:t>
            </a:r>
            <a:endParaRPr lang="en-US" sz="3200" dirty="0" smtClean="0"/>
          </a:p>
          <a:p>
            <a:pPr algn="just" fontAlgn="base"/>
            <a:r>
              <a:rPr lang="en-US" sz="3200" dirty="0" smtClean="0"/>
              <a:t>The </a:t>
            </a:r>
            <a:r>
              <a:rPr lang="en-US" sz="3200" dirty="0"/>
              <a:t>Stack class extends Vector which implements the List interface. A Vector is a re-sizable collection. It grows its size to accommodate new elements and shrinks the size when the elements are removed</a:t>
            </a:r>
            <a:r>
              <a:rPr lang="en-US" sz="3200" dirty="0" smtClean="0"/>
              <a:t>.</a:t>
            </a:r>
            <a:endParaRPr lang="en-US" sz="3200" dirty="0"/>
          </a:p>
          <a:p>
            <a:pPr algn="just" fontAlgn="base"/>
            <a:r>
              <a:rPr lang="en-US" sz="3200" dirty="0" smtClean="0"/>
              <a:t>It </a:t>
            </a:r>
            <a:r>
              <a:rPr lang="en-US" sz="3200" dirty="0"/>
              <a:t>also grows and shrinks its size as needed when new elements are added or removed</a:t>
            </a:r>
            <a:r>
              <a:rPr lang="en-US" sz="3200" dirty="0" smtClean="0"/>
              <a:t>.</a:t>
            </a:r>
          </a:p>
          <a:p>
            <a:pPr algn="just" fontAlgn="base"/>
            <a:r>
              <a:rPr lang="en-US" sz="3200" dirty="0" smtClean="0"/>
              <a:t>It is in the </a:t>
            </a:r>
            <a:r>
              <a:rPr lang="en-US" sz="3200" dirty="0"/>
              <a:t>package </a:t>
            </a:r>
            <a:r>
              <a:rPr lang="en-US" sz="3200" b="1" dirty="0" err="1"/>
              <a:t>java.util.Stack</a:t>
            </a:r>
            <a:r>
              <a:rPr lang="en-US" sz="3200" b="1" dirty="0"/>
              <a:t>;</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235" y="833727"/>
            <a:ext cx="4673984" cy="5569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862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Stack</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Some common methods:</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graphicFrame>
        <p:nvGraphicFramePr>
          <p:cNvPr id="7" name="Content Placeholder 6"/>
          <p:cNvGraphicFramePr>
            <a:graphicFrameLocks/>
          </p:cNvGraphicFramePr>
          <p:nvPr>
            <p:extLst>
              <p:ext uri="{D42A27DB-BD31-4B8C-83A1-F6EECF244321}">
                <p14:modId xmlns:p14="http://schemas.microsoft.com/office/powerpoint/2010/main" val="2380557051"/>
              </p:ext>
            </p:extLst>
          </p:nvPr>
        </p:nvGraphicFramePr>
        <p:xfrm>
          <a:off x="678920" y="1683507"/>
          <a:ext cx="11190514" cy="4640676"/>
        </p:xfrm>
        <a:graphic>
          <a:graphicData uri="http://schemas.openxmlformats.org/drawingml/2006/table">
            <a:tbl>
              <a:tblPr>
                <a:tableStyleId>{5C22544A-7EE6-4342-B048-85BDC9FD1C3A}</a:tableStyleId>
              </a:tblPr>
              <a:tblGrid>
                <a:gridCol w="759708"/>
                <a:gridCol w="4520738"/>
                <a:gridCol w="5910068"/>
              </a:tblGrid>
              <a:tr h="242815">
                <a:tc>
                  <a:txBody>
                    <a:bodyPr/>
                    <a:lstStyle/>
                    <a:p>
                      <a:pPr algn="l" fontAlgn="t"/>
                      <a:r>
                        <a:rPr lang="en-US" sz="1800" b="1" u="none" strike="noStrike" dirty="0">
                          <a:effectLst/>
                        </a:rPr>
                        <a:t>No.</a:t>
                      </a:r>
                      <a:endParaRPr lang="en-US" sz="1800" b="1" i="0" u="none" strike="noStrike" dirty="0">
                        <a:solidFill>
                          <a:srgbClr val="000000"/>
                        </a:solidFill>
                        <a:effectLst/>
                        <a:latin typeface="Times New Roman"/>
                      </a:endParaRPr>
                    </a:p>
                  </a:txBody>
                  <a:tcPr marL="69447" marR="7716" marT="7716" marB="0"/>
                </a:tc>
                <a:tc>
                  <a:txBody>
                    <a:bodyPr/>
                    <a:lstStyle/>
                    <a:p>
                      <a:pPr algn="l" fontAlgn="t"/>
                      <a:r>
                        <a:rPr lang="en-US" sz="1800" b="1" u="none" strike="noStrike" dirty="0">
                          <a:effectLst/>
                        </a:rPr>
                        <a:t>Method</a:t>
                      </a:r>
                      <a:endParaRPr lang="en-US" sz="1800" b="1" i="0" u="none" strike="noStrike" dirty="0">
                        <a:solidFill>
                          <a:srgbClr val="000000"/>
                        </a:solidFill>
                        <a:effectLst/>
                        <a:latin typeface="Times New Roman"/>
                      </a:endParaRPr>
                    </a:p>
                  </a:txBody>
                  <a:tcPr marL="69447" marR="7716" marT="7716" marB="0"/>
                </a:tc>
                <a:tc>
                  <a:txBody>
                    <a:bodyPr/>
                    <a:lstStyle/>
                    <a:p>
                      <a:pPr algn="l" fontAlgn="t"/>
                      <a:r>
                        <a:rPr lang="en-US" sz="1800" b="1" u="none" strike="noStrike" dirty="0">
                          <a:effectLst/>
                        </a:rPr>
                        <a:t>Description</a:t>
                      </a:r>
                      <a:endParaRPr lang="en-US" sz="1800" b="1" i="0" u="none" strike="noStrike" dirty="0">
                        <a:solidFill>
                          <a:srgbClr val="000000"/>
                        </a:solidFill>
                        <a:effectLst/>
                        <a:latin typeface="Times New Roman"/>
                      </a:endParaRPr>
                    </a:p>
                  </a:txBody>
                  <a:tcPr marL="69447" marR="7716" marT="7716" marB="0"/>
                </a:tc>
              </a:tr>
              <a:tr h="369500">
                <a:tc>
                  <a:txBody>
                    <a:bodyPr/>
                    <a:lstStyle/>
                    <a:p>
                      <a:pPr algn="l" fontAlgn="t"/>
                      <a:r>
                        <a:rPr lang="en-US" sz="1800">
                          <a:solidFill>
                            <a:srgbClr val="000000"/>
                          </a:solidFill>
                          <a:effectLst/>
                          <a:latin typeface="verdana"/>
                        </a:rPr>
                        <a:t>1</a:t>
                      </a:r>
                    </a:p>
                  </a:txBody>
                  <a:tcPr marL="76200" marR="76200" marT="76200" marB="76200"/>
                </a:tc>
                <a:tc>
                  <a:txBody>
                    <a:bodyPr/>
                    <a:lstStyle/>
                    <a:p>
                      <a:pPr algn="l" fontAlgn="t"/>
                      <a:r>
                        <a:rPr lang="en-US" sz="1800" dirty="0">
                          <a:solidFill>
                            <a:srgbClr val="000000"/>
                          </a:solidFill>
                          <a:effectLst/>
                          <a:latin typeface="verdana"/>
                        </a:rPr>
                        <a:t>public </a:t>
                      </a:r>
                      <a:r>
                        <a:rPr lang="en-US" sz="1800" dirty="0" smtClean="0">
                          <a:solidFill>
                            <a:srgbClr val="000000"/>
                          </a:solidFill>
                          <a:effectLst/>
                          <a:latin typeface="verdana"/>
                        </a:rPr>
                        <a:t>void Stack()</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It is a constructor of</a:t>
                      </a:r>
                      <a:r>
                        <a:rPr lang="en-US" sz="1800" baseline="0" dirty="0" smtClean="0">
                          <a:solidFill>
                            <a:srgbClr val="000000"/>
                          </a:solidFill>
                          <a:effectLst/>
                          <a:latin typeface="verdana"/>
                        </a:rPr>
                        <a:t> stack and </a:t>
                      </a:r>
                      <a:r>
                        <a:rPr lang="en-US" sz="1800" dirty="0" smtClean="0">
                          <a:solidFill>
                            <a:srgbClr val="000000"/>
                          </a:solidFill>
                          <a:effectLst/>
                          <a:latin typeface="verdana"/>
                        </a:rPr>
                        <a:t>used to create an empty stack.</a:t>
                      </a:r>
                      <a:endParaRPr lang="en-US" sz="1800" dirty="0">
                        <a:solidFill>
                          <a:srgbClr val="000000"/>
                        </a:solidFill>
                        <a:effectLst/>
                        <a:latin typeface="verdana"/>
                      </a:endParaRPr>
                    </a:p>
                  </a:txBody>
                  <a:tcPr marL="76200" marR="76200" marT="76200" marB="76200"/>
                </a:tc>
              </a:tr>
              <a:tr h="221700">
                <a:tc>
                  <a:txBody>
                    <a:bodyPr/>
                    <a:lstStyle/>
                    <a:p>
                      <a:pPr algn="l" fontAlgn="t"/>
                      <a:r>
                        <a:rPr lang="en-US" sz="1800">
                          <a:solidFill>
                            <a:srgbClr val="000000"/>
                          </a:solidFill>
                          <a:effectLst/>
                          <a:latin typeface="verdana"/>
                        </a:rPr>
                        <a:t>2</a:t>
                      </a:r>
                    </a:p>
                  </a:txBody>
                  <a:tcPr marL="76200" marR="76200" marT="76200" marB="76200"/>
                </a:tc>
                <a:tc>
                  <a:txBody>
                    <a:bodyPr/>
                    <a:lstStyle/>
                    <a:p>
                      <a:pPr algn="l" fontAlgn="t"/>
                      <a:r>
                        <a:rPr lang="en-US" sz="1800" dirty="0">
                          <a:solidFill>
                            <a:srgbClr val="000000"/>
                          </a:solidFill>
                          <a:effectLst/>
                          <a:latin typeface="verdana"/>
                        </a:rPr>
                        <a:t>public </a:t>
                      </a:r>
                      <a:r>
                        <a:rPr lang="en-US" sz="1800" dirty="0" smtClean="0">
                          <a:solidFill>
                            <a:srgbClr val="000000"/>
                          </a:solidFill>
                          <a:effectLst/>
                          <a:latin typeface="verdana"/>
                        </a:rPr>
                        <a:t>Object push(Object element)</a:t>
                      </a:r>
                    </a:p>
                  </a:txBody>
                  <a:tcPr marL="76200" marR="76200" marT="76200" marB="76200"/>
                </a:tc>
                <a:tc>
                  <a:txBody>
                    <a:bodyPr/>
                    <a:lstStyle/>
                    <a:p>
                      <a:pPr algn="l" fontAlgn="t"/>
                      <a:r>
                        <a:rPr lang="en-US" sz="1800" dirty="0" smtClean="0">
                          <a:solidFill>
                            <a:srgbClr val="000000"/>
                          </a:solidFill>
                          <a:effectLst/>
                          <a:latin typeface="verdana"/>
                        </a:rPr>
                        <a:t>It is used to insert a specific element into the stack and returns the inserted element.</a:t>
                      </a:r>
                    </a:p>
                  </a:txBody>
                  <a:tcPr marL="76200" marR="76200" marT="76200" marB="76200"/>
                </a:tc>
              </a:tr>
              <a:tr h="221700">
                <a:tc>
                  <a:txBody>
                    <a:bodyPr/>
                    <a:lstStyle/>
                    <a:p>
                      <a:pPr algn="l" fontAlgn="t"/>
                      <a:r>
                        <a:rPr lang="en-US" sz="1800">
                          <a:solidFill>
                            <a:srgbClr val="000000"/>
                          </a:solidFill>
                          <a:effectLst/>
                          <a:latin typeface="verdana"/>
                        </a:rPr>
                        <a:t>3</a:t>
                      </a:r>
                    </a:p>
                  </a:txBody>
                  <a:tcPr marL="76200" marR="76200" marT="76200" marB="76200"/>
                </a:tc>
                <a:tc>
                  <a:txBody>
                    <a:bodyPr/>
                    <a:lstStyle/>
                    <a:p>
                      <a:pPr algn="l" fontAlgn="t"/>
                      <a:r>
                        <a:rPr lang="en-US" sz="1800" dirty="0">
                          <a:solidFill>
                            <a:srgbClr val="000000"/>
                          </a:solidFill>
                          <a:effectLst/>
                          <a:latin typeface="verdana"/>
                        </a:rPr>
                        <a:t>public </a:t>
                      </a:r>
                      <a:r>
                        <a:rPr lang="en-US" sz="1800" dirty="0" smtClean="0">
                          <a:solidFill>
                            <a:srgbClr val="000000"/>
                          </a:solidFill>
                          <a:effectLst/>
                          <a:latin typeface="verdana"/>
                        </a:rPr>
                        <a:t>Object pop()</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It is used to remove the top element from the stack and returns the removed element.</a:t>
                      </a:r>
                      <a:endParaRPr lang="en-US" sz="1800" dirty="0">
                        <a:solidFill>
                          <a:srgbClr val="000000"/>
                        </a:solidFill>
                        <a:effectLst/>
                        <a:latin typeface="verdana"/>
                      </a:endParaRPr>
                    </a:p>
                  </a:txBody>
                  <a:tcPr marL="76200" marR="76200" marT="76200" marB="76200"/>
                </a:tc>
              </a:tr>
              <a:tr h="221700">
                <a:tc>
                  <a:txBody>
                    <a:bodyPr/>
                    <a:lstStyle/>
                    <a:p>
                      <a:pPr algn="l" fontAlgn="t"/>
                      <a:r>
                        <a:rPr lang="en-US" sz="1800" dirty="0" smtClean="0">
                          <a:solidFill>
                            <a:srgbClr val="000000"/>
                          </a:solidFill>
                          <a:effectLst/>
                          <a:latin typeface="verdana"/>
                        </a:rPr>
                        <a:t>4</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Object peek()</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is used to return the first element of the stack, but it does not remove from the top.</a:t>
                      </a:r>
                      <a:endParaRPr lang="en-US" sz="1800" dirty="0">
                        <a:solidFill>
                          <a:srgbClr val="000000"/>
                        </a:solidFill>
                        <a:effectLst/>
                        <a:latin typeface="verdana"/>
                      </a:endParaRPr>
                    </a:p>
                  </a:txBody>
                  <a:tcPr marL="76200" marR="76200" marT="76200" marB="76200"/>
                </a:tc>
              </a:tr>
              <a:tr h="221700">
                <a:tc>
                  <a:txBody>
                    <a:bodyPr/>
                    <a:lstStyle/>
                    <a:p>
                      <a:pPr algn="l" fontAlgn="t"/>
                      <a:r>
                        <a:rPr lang="en-US" sz="1800" dirty="0" smtClean="0">
                          <a:solidFill>
                            <a:srgbClr val="000000"/>
                          </a:solidFill>
                          <a:effectLst/>
                          <a:latin typeface="verdana"/>
                        </a:rPr>
                        <a:t>5</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a:t>
                      </a:r>
                      <a:r>
                        <a:rPr lang="en-US" sz="1800" dirty="0" err="1" smtClean="0">
                          <a:solidFill>
                            <a:srgbClr val="000000"/>
                          </a:solidFill>
                          <a:effectLst/>
                          <a:latin typeface="verdana"/>
                        </a:rPr>
                        <a:t>boolean</a:t>
                      </a:r>
                      <a:r>
                        <a:rPr lang="en-US" sz="1800" dirty="0" smtClean="0">
                          <a:solidFill>
                            <a:srgbClr val="000000"/>
                          </a:solidFill>
                          <a:effectLst/>
                          <a:latin typeface="verdana"/>
                        </a:rPr>
                        <a:t> empty() </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is used to test if the stack is empty or not. If the stack is empty, it returns true else false</a:t>
                      </a:r>
                      <a:endParaRPr lang="en-US" sz="1800" dirty="0">
                        <a:solidFill>
                          <a:srgbClr val="000000"/>
                        </a:solidFill>
                        <a:effectLst/>
                        <a:latin typeface="verdana"/>
                      </a:endParaRPr>
                    </a:p>
                  </a:txBody>
                  <a:tcPr marL="76200" marR="76200" marT="76200" marB="76200"/>
                </a:tc>
              </a:tr>
              <a:tr h="221700">
                <a:tc>
                  <a:txBody>
                    <a:bodyPr/>
                    <a:lstStyle/>
                    <a:p>
                      <a:pPr algn="l" fontAlgn="t"/>
                      <a:r>
                        <a:rPr lang="en-US" sz="1800" dirty="0" smtClean="0">
                          <a:solidFill>
                            <a:srgbClr val="000000"/>
                          </a:solidFill>
                          <a:effectLst/>
                          <a:latin typeface="verdana"/>
                        </a:rPr>
                        <a:t>6</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a:t>
                      </a:r>
                      <a:r>
                        <a:rPr lang="en-US" sz="1800" dirty="0" err="1" smtClean="0">
                          <a:solidFill>
                            <a:srgbClr val="000000"/>
                          </a:solidFill>
                          <a:effectLst/>
                          <a:latin typeface="verdana"/>
                        </a:rPr>
                        <a:t>int</a:t>
                      </a:r>
                      <a:r>
                        <a:rPr lang="en-US" sz="1800" dirty="0" smtClean="0">
                          <a:solidFill>
                            <a:srgbClr val="000000"/>
                          </a:solidFill>
                          <a:effectLst/>
                          <a:latin typeface="verdana"/>
                        </a:rPr>
                        <a:t> search (Object element)</a:t>
                      </a:r>
                    </a:p>
                  </a:txBody>
                  <a:tcPr marL="76200" marR="76200" marT="76200" marB="7620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800" dirty="0" smtClean="0">
                          <a:solidFill>
                            <a:srgbClr val="000000"/>
                          </a:solidFill>
                          <a:effectLst/>
                          <a:latin typeface="verdana"/>
                        </a:rPr>
                        <a:t>returns a position of the specific object.</a:t>
                      </a:r>
                    </a:p>
                  </a:txBody>
                  <a:tcPr marL="76200" marR="76200" marT="76200" marB="76200"/>
                </a:tc>
              </a:tr>
              <a:tr h="221700">
                <a:tc>
                  <a:txBody>
                    <a:bodyPr/>
                    <a:lstStyle/>
                    <a:p>
                      <a:pPr algn="l" fontAlgn="t"/>
                      <a:r>
                        <a:rPr lang="en-US" sz="1800" dirty="0" smtClean="0">
                          <a:solidFill>
                            <a:srgbClr val="000000"/>
                          </a:solidFill>
                          <a:effectLst/>
                          <a:latin typeface="verdana"/>
                        </a:rPr>
                        <a:t>7</a:t>
                      </a:r>
                      <a:endParaRPr lang="en-US" sz="18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a:t>
                      </a:r>
                      <a:r>
                        <a:rPr lang="en-US" sz="1800" dirty="0" err="1" smtClean="0">
                          <a:solidFill>
                            <a:srgbClr val="000000"/>
                          </a:solidFill>
                          <a:effectLst/>
                          <a:latin typeface="verdana"/>
                        </a:rPr>
                        <a:t>int</a:t>
                      </a:r>
                      <a:r>
                        <a:rPr lang="en-US" sz="1800" dirty="0" smtClean="0">
                          <a:solidFill>
                            <a:srgbClr val="000000"/>
                          </a:solidFill>
                          <a:effectLst/>
                          <a:latin typeface="verdana"/>
                        </a:rPr>
                        <a:t> size()</a:t>
                      </a:r>
                    </a:p>
                  </a:txBody>
                  <a:tcPr marL="76200" marR="76200" marT="76200" marB="7620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800" dirty="0" smtClean="0">
                          <a:solidFill>
                            <a:srgbClr val="000000"/>
                          </a:solidFill>
                          <a:effectLst/>
                          <a:latin typeface="verdana"/>
                        </a:rPr>
                        <a:t>returns size</a:t>
                      </a:r>
                      <a:r>
                        <a:rPr lang="en-US" sz="1800" baseline="0" dirty="0" smtClean="0">
                          <a:solidFill>
                            <a:srgbClr val="000000"/>
                          </a:solidFill>
                          <a:effectLst/>
                          <a:latin typeface="verdana"/>
                        </a:rPr>
                        <a:t> of the stack</a:t>
                      </a:r>
                      <a:r>
                        <a:rPr lang="en-US" sz="1800" dirty="0" smtClean="0">
                          <a:solidFill>
                            <a:srgbClr val="000000"/>
                          </a:solidFill>
                          <a:effectLst/>
                          <a:latin typeface="verdana"/>
                        </a:rPr>
                        <a:t>.</a:t>
                      </a:r>
                    </a:p>
                  </a:txBody>
                  <a:tcPr marL="76200" marR="76200" marT="76200" marB="76200"/>
                </a:tc>
              </a:tr>
            </a:tbl>
          </a:graphicData>
        </a:graphic>
      </p:graphicFrame>
    </p:spTree>
    <p:extLst>
      <p:ext uri="{BB962C8B-B14F-4D97-AF65-F5344CB8AC3E}">
        <p14:creationId xmlns:p14="http://schemas.microsoft.com/office/powerpoint/2010/main" val="3995857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Stack</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783943"/>
          </a:xfrm>
        </p:spPr>
        <p:txBody>
          <a:bodyPr>
            <a:normAutofit fontScale="32500" lnSpcReduction="20000"/>
          </a:bodyPr>
          <a:lstStyle/>
          <a:p>
            <a:pPr algn="just" fontAlgn="base"/>
            <a:r>
              <a:rPr lang="en-US" sz="5500" b="1" dirty="0"/>
              <a:t>Creating a Stack and Performing basic operations like push, pop and </a:t>
            </a:r>
            <a:r>
              <a:rPr lang="en-US" sz="5500" b="1" dirty="0" smtClean="0"/>
              <a:t>peek</a:t>
            </a:r>
          </a:p>
          <a:p>
            <a:pPr marL="0" indent="0" algn="just" fontAlgn="base">
              <a:lnSpc>
                <a:spcPct val="120000"/>
              </a:lnSpc>
              <a:spcBef>
                <a:spcPts val="0"/>
              </a:spcBef>
              <a:buNone/>
            </a:pPr>
            <a:r>
              <a:rPr lang="en-US" sz="4900" dirty="0"/>
              <a:t>import </a:t>
            </a:r>
            <a:r>
              <a:rPr lang="en-US" sz="4900" dirty="0" err="1"/>
              <a:t>java.util.Stack</a:t>
            </a:r>
            <a:r>
              <a:rPr lang="en-US" sz="4900" dirty="0" smtClean="0"/>
              <a:t>;</a:t>
            </a:r>
            <a:endParaRPr lang="en-US" sz="4900" dirty="0"/>
          </a:p>
          <a:p>
            <a:pPr marL="0" indent="0" algn="just" fontAlgn="base">
              <a:lnSpc>
                <a:spcPct val="120000"/>
              </a:lnSpc>
              <a:spcBef>
                <a:spcPts val="0"/>
              </a:spcBef>
              <a:buNone/>
            </a:pPr>
            <a:r>
              <a:rPr lang="en-US" sz="4900" dirty="0"/>
              <a:t>public class </a:t>
            </a:r>
            <a:r>
              <a:rPr lang="en-US" sz="4900" dirty="0" err="1"/>
              <a:t>StackExample</a:t>
            </a:r>
            <a:r>
              <a:rPr lang="en-US" sz="4900" dirty="0"/>
              <a:t> {</a:t>
            </a:r>
          </a:p>
          <a:p>
            <a:pPr marL="0" indent="0" algn="just" fontAlgn="base">
              <a:lnSpc>
                <a:spcPct val="120000"/>
              </a:lnSpc>
              <a:spcBef>
                <a:spcPts val="0"/>
              </a:spcBef>
              <a:buNone/>
            </a:pPr>
            <a:r>
              <a:rPr lang="en-US" sz="4900" dirty="0"/>
              <a:t>    public static void main(String[] </a:t>
            </a:r>
            <a:r>
              <a:rPr lang="en-US" sz="4900" dirty="0" err="1"/>
              <a:t>args</a:t>
            </a:r>
            <a:r>
              <a:rPr lang="en-US" sz="4900" dirty="0"/>
              <a:t>) {</a:t>
            </a:r>
          </a:p>
          <a:p>
            <a:pPr marL="0" indent="0" algn="just" fontAlgn="base">
              <a:lnSpc>
                <a:spcPct val="120000"/>
              </a:lnSpc>
              <a:spcBef>
                <a:spcPts val="0"/>
              </a:spcBef>
              <a:buNone/>
            </a:pPr>
            <a:r>
              <a:rPr lang="en-US" sz="4900" dirty="0"/>
              <a:t>        // Creating a Stack</a:t>
            </a:r>
          </a:p>
          <a:p>
            <a:pPr marL="0" indent="0" algn="just" fontAlgn="base">
              <a:lnSpc>
                <a:spcPct val="120000"/>
              </a:lnSpc>
              <a:spcBef>
                <a:spcPts val="0"/>
              </a:spcBef>
              <a:buNone/>
            </a:pPr>
            <a:r>
              <a:rPr lang="en-US" sz="4900" dirty="0"/>
              <a:t>        Stack&lt;String&gt; </a:t>
            </a:r>
            <a:r>
              <a:rPr lang="en-US" sz="4900" dirty="0" err="1"/>
              <a:t>stackOfCards</a:t>
            </a:r>
            <a:r>
              <a:rPr lang="en-US" sz="4900" dirty="0"/>
              <a:t> = new Stack</a:t>
            </a:r>
            <a:r>
              <a:rPr lang="en-US" sz="4900" dirty="0" smtClean="0"/>
              <a:t>&lt;&gt;();</a:t>
            </a:r>
            <a:endParaRPr lang="en-US" sz="4900" dirty="0"/>
          </a:p>
          <a:p>
            <a:pPr marL="0" indent="0" algn="just" fontAlgn="base">
              <a:lnSpc>
                <a:spcPct val="120000"/>
              </a:lnSpc>
              <a:spcBef>
                <a:spcPts val="0"/>
              </a:spcBef>
              <a:buNone/>
            </a:pPr>
            <a:r>
              <a:rPr lang="en-US" sz="4900" dirty="0"/>
              <a:t>        // Pushing new items to the Stack</a:t>
            </a:r>
          </a:p>
          <a:p>
            <a:pPr marL="0" indent="0" algn="just" fontAlgn="base">
              <a:lnSpc>
                <a:spcPct val="120000"/>
              </a:lnSpc>
              <a:spcBef>
                <a:spcPts val="0"/>
              </a:spcBef>
              <a:buNone/>
            </a:pPr>
            <a:r>
              <a:rPr lang="en-US" sz="4900" dirty="0"/>
              <a:t>        </a:t>
            </a:r>
            <a:r>
              <a:rPr lang="en-US" sz="4900" dirty="0" err="1"/>
              <a:t>stackOfCards.push</a:t>
            </a:r>
            <a:r>
              <a:rPr lang="en-US" sz="4900" dirty="0"/>
              <a:t>("Jack</a:t>
            </a:r>
            <a:r>
              <a:rPr lang="en-US" sz="4900" dirty="0" smtClean="0"/>
              <a:t>"); </a:t>
            </a:r>
            <a:r>
              <a:rPr lang="en-US" sz="4900" dirty="0" err="1"/>
              <a:t>stackOfCards.push</a:t>
            </a:r>
            <a:r>
              <a:rPr lang="en-US" sz="4900" dirty="0"/>
              <a:t>("Queen");</a:t>
            </a:r>
          </a:p>
          <a:p>
            <a:pPr marL="0" indent="0" algn="just" fontAlgn="base">
              <a:lnSpc>
                <a:spcPct val="120000"/>
              </a:lnSpc>
              <a:spcBef>
                <a:spcPts val="0"/>
              </a:spcBef>
              <a:buNone/>
            </a:pPr>
            <a:r>
              <a:rPr lang="en-US" sz="4900" dirty="0"/>
              <a:t>        </a:t>
            </a:r>
            <a:r>
              <a:rPr lang="en-US" sz="4900" dirty="0" err="1"/>
              <a:t>stackOfCards.push</a:t>
            </a:r>
            <a:r>
              <a:rPr lang="en-US" sz="4900" dirty="0"/>
              <a:t>("King</a:t>
            </a:r>
            <a:r>
              <a:rPr lang="en-US" sz="4900" dirty="0" smtClean="0"/>
              <a:t>"); </a:t>
            </a:r>
            <a:r>
              <a:rPr lang="en-US" sz="4900" dirty="0" err="1"/>
              <a:t>stackOfCards.push</a:t>
            </a:r>
            <a:r>
              <a:rPr lang="en-US" sz="4900" dirty="0"/>
              <a:t>("Ace</a:t>
            </a:r>
            <a:r>
              <a:rPr lang="en-US" sz="4900" dirty="0" smtClean="0"/>
              <a:t>");</a:t>
            </a:r>
            <a:endParaRPr lang="en-US" sz="4900" dirty="0"/>
          </a:p>
          <a:p>
            <a:pPr marL="0" indent="0" algn="just" fontAlgn="base">
              <a:lnSpc>
                <a:spcPct val="120000"/>
              </a:lnSpc>
              <a:spcBef>
                <a:spcPts val="0"/>
              </a:spcBef>
              <a:buNone/>
            </a:pPr>
            <a:r>
              <a:rPr lang="en-US" sz="4900" dirty="0"/>
              <a:t>        </a:t>
            </a:r>
            <a:r>
              <a:rPr lang="en-US" sz="4900" dirty="0" err="1"/>
              <a:t>System.out.println</a:t>
            </a:r>
            <a:r>
              <a:rPr lang="en-US" sz="4900" dirty="0"/>
              <a:t>("Stack =&gt; " + </a:t>
            </a:r>
            <a:r>
              <a:rPr lang="en-US" sz="4900" dirty="0" err="1"/>
              <a:t>stackOfCards</a:t>
            </a:r>
            <a:r>
              <a:rPr lang="en-US" sz="4900" dirty="0"/>
              <a:t>);</a:t>
            </a:r>
          </a:p>
          <a:p>
            <a:pPr marL="0" indent="0" algn="just" fontAlgn="base">
              <a:lnSpc>
                <a:spcPct val="120000"/>
              </a:lnSpc>
              <a:spcBef>
                <a:spcPts val="0"/>
              </a:spcBef>
              <a:buNone/>
            </a:pPr>
            <a:r>
              <a:rPr lang="en-US" sz="4900" dirty="0"/>
              <a:t>        </a:t>
            </a:r>
            <a:r>
              <a:rPr lang="en-US" sz="4900" dirty="0" err="1"/>
              <a:t>System.out.println</a:t>
            </a:r>
            <a:r>
              <a:rPr lang="en-US" sz="4900" dirty="0" smtClean="0"/>
              <a:t>();</a:t>
            </a:r>
            <a:endParaRPr lang="en-US" sz="4900" dirty="0"/>
          </a:p>
          <a:p>
            <a:pPr marL="0" indent="0" algn="just" fontAlgn="base">
              <a:lnSpc>
                <a:spcPct val="120000"/>
              </a:lnSpc>
              <a:spcBef>
                <a:spcPts val="0"/>
              </a:spcBef>
              <a:buNone/>
            </a:pPr>
            <a:r>
              <a:rPr lang="en-US" sz="4900" dirty="0"/>
              <a:t>        // Popping items from the </a:t>
            </a:r>
            <a:r>
              <a:rPr lang="en-US" sz="4900" dirty="0" smtClean="0"/>
              <a:t>Stack ,Throws </a:t>
            </a:r>
            <a:r>
              <a:rPr lang="en-US" sz="4900" dirty="0" err="1"/>
              <a:t>EmptyStackException</a:t>
            </a:r>
            <a:r>
              <a:rPr lang="en-US" sz="4900" dirty="0"/>
              <a:t> if the stack is empty</a:t>
            </a:r>
          </a:p>
          <a:p>
            <a:pPr marL="0" indent="0" algn="just" fontAlgn="base">
              <a:lnSpc>
                <a:spcPct val="120000"/>
              </a:lnSpc>
              <a:spcBef>
                <a:spcPts val="0"/>
              </a:spcBef>
              <a:buNone/>
            </a:pPr>
            <a:r>
              <a:rPr lang="en-US" sz="4900" dirty="0"/>
              <a:t>        String </a:t>
            </a:r>
            <a:r>
              <a:rPr lang="en-US" sz="4900" dirty="0" err="1"/>
              <a:t>cardAtTop</a:t>
            </a:r>
            <a:r>
              <a:rPr lang="en-US" sz="4900" dirty="0"/>
              <a:t> = </a:t>
            </a:r>
            <a:r>
              <a:rPr lang="en-US" sz="4900" dirty="0" err="1"/>
              <a:t>stackOfCards.pop</a:t>
            </a:r>
            <a:r>
              <a:rPr lang="en-US" sz="4900" dirty="0"/>
              <a:t>(); </a:t>
            </a:r>
          </a:p>
          <a:p>
            <a:pPr marL="0" indent="0" algn="just" fontAlgn="base">
              <a:lnSpc>
                <a:spcPct val="120000"/>
              </a:lnSpc>
              <a:spcBef>
                <a:spcPts val="0"/>
              </a:spcBef>
              <a:buNone/>
            </a:pPr>
            <a:r>
              <a:rPr lang="en-US" sz="4900" dirty="0"/>
              <a:t>        </a:t>
            </a:r>
            <a:r>
              <a:rPr lang="en-US" sz="4900" dirty="0" err="1"/>
              <a:t>System.out.println</a:t>
            </a:r>
            <a:r>
              <a:rPr lang="en-US" sz="4900" dirty="0"/>
              <a:t>("</a:t>
            </a:r>
            <a:r>
              <a:rPr lang="en-US" sz="4900" dirty="0" err="1"/>
              <a:t>Stack.pop</a:t>
            </a:r>
            <a:r>
              <a:rPr lang="en-US" sz="4900" dirty="0"/>
              <a:t>() =&gt; " + </a:t>
            </a:r>
            <a:r>
              <a:rPr lang="en-US" sz="4900" dirty="0" err="1"/>
              <a:t>cardAtTop</a:t>
            </a:r>
            <a:r>
              <a:rPr lang="en-US" sz="4900" dirty="0"/>
              <a:t>);</a:t>
            </a:r>
          </a:p>
          <a:p>
            <a:pPr marL="0" indent="0" algn="just" fontAlgn="base">
              <a:lnSpc>
                <a:spcPct val="120000"/>
              </a:lnSpc>
              <a:spcBef>
                <a:spcPts val="0"/>
              </a:spcBef>
              <a:buNone/>
            </a:pPr>
            <a:r>
              <a:rPr lang="en-US" sz="4900" dirty="0"/>
              <a:t>        </a:t>
            </a:r>
            <a:r>
              <a:rPr lang="en-US" sz="4900" dirty="0" err="1"/>
              <a:t>System.out.println</a:t>
            </a:r>
            <a:r>
              <a:rPr lang="en-US" sz="4900" dirty="0"/>
              <a:t>("Current Stack =&gt; " + </a:t>
            </a:r>
            <a:r>
              <a:rPr lang="en-US" sz="4900" dirty="0" err="1"/>
              <a:t>stackOfCards</a:t>
            </a:r>
            <a:r>
              <a:rPr lang="en-US" sz="4900" dirty="0"/>
              <a:t>);</a:t>
            </a:r>
          </a:p>
          <a:p>
            <a:pPr marL="0" indent="0" algn="just" fontAlgn="base">
              <a:lnSpc>
                <a:spcPct val="120000"/>
              </a:lnSpc>
              <a:spcBef>
                <a:spcPts val="0"/>
              </a:spcBef>
              <a:buNone/>
            </a:pPr>
            <a:r>
              <a:rPr lang="en-US" sz="4900" dirty="0"/>
              <a:t>        </a:t>
            </a:r>
            <a:r>
              <a:rPr lang="en-US" sz="4900" dirty="0" err="1"/>
              <a:t>System.out.println</a:t>
            </a:r>
            <a:r>
              <a:rPr lang="en-US" sz="4900" dirty="0" smtClean="0"/>
              <a:t>();</a:t>
            </a:r>
            <a:endParaRPr lang="en-US" sz="4900" dirty="0"/>
          </a:p>
          <a:p>
            <a:pPr marL="0" indent="0" algn="just" fontAlgn="base">
              <a:lnSpc>
                <a:spcPct val="120000"/>
              </a:lnSpc>
              <a:spcBef>
                <a:spcPts val="0"/>
              </a:spcBef>
              <a:buNone/>
            </a:pPr>
            <a:r>
              <a:rPr lang="en-US" sz="4900" dirty="0"/>
              <a:t>        // Get the item at the top of the stack without removing it</a:t>
            </a:r>
          </a:p>
          <a:p>
            <a:pPr marL="0" indent="0" algn="just" fontAlgn="base">
              <a:lnSpc>
                <a:spcPct val="120000"/>
              </a:lnSpc>
              <a:spcBef>
                <a:spcPts val="0"/>
              </a:spcBef>
              <a:buNone/>
            </a:pPr>
            <a:r>
              <a:rPr lang="en-US" sz="4900" dirty="0"/>
              <a:t>        </a:t>
            </a:r>
            <a:r>
              <a:rPr lang="en-US" sz="4900" dirty="0" err="1"/>
              <a:t>cardAtTop</a:t>
            </a:r>
            <a:r>
              <a:rPr lang="en-US" sz="4900" dirty="0"/>
              <a:t> = </a:t>
            </a:r>
            <a:r>
              <a:rPr lang="en-US" sz="4900" dirty="0" err="1"/>
              <a:t>stackOfCards.peek</a:t>
            </a:r>
            <a:r>
              <a:rPr lang="en-US" sz="4900" dirty="0"/>
              <a:t>();</a:t>
            </a:r>
          </a:p>
          <a:p>
            <a:pPr marL="0" indent="0" algn="just" fontAlgn="base">
              <a:lnSpc>
                <a:spcPct val="120000"/>
              </a:lnSpc>
              <a:spcBef>
                <a:spcPts val="0"/>
              </a:spcBef>
              <a:buNone/>
            </a:pPr>
            <a:r>
              <a:rPr lang="en-US" sz="4900" dirty="0"/>
              <a:t>        </a:t>
            </a:r>
            <a:r>
              <a:rPr lang="en-US" sz="4900" dirty="0" err="1"/>
              <a:t>System.out.println</a:t>
            </a:r>
            <a:r>
              <a:rPr lang="en-US" sz="4900" dirty="0"/>
              <a:t>("</a:t>
            </a:r>
            <a:r>
              <a:rPr lang="en-US" sz="4900" dirty="0" err="1"/>
              <a:t>Stack.peek</a:t>
            </a:r>
            <a:r>
              <a:rPr lang="en-US" sz="4900" dirty="0"/>
              <a:t>() =&gt; " + </a:t>
            </a:r>
            <a:r>
              <a:rPr lang="en-US" sz="4900" dirty="0" err="1"/>
              <a:t>cardAtTop</a:t>
            </a:r>
            <a:r>
              <a:rPr lang="en-US" sz="4900" dirty="0"/>
              <a:t>);</a:t>
            </a:r>
          </a:p>
          <a:p>
            <a:pPr marL="0" indent="0" algn="just" fontAlgn="base">
              <a:lnSpc>
                <a:spcPct val="120000"/>
              </a:lnSpc>
              <a:spcBef>
                <a:spcPts val="0"/>
              </a:spcBef>
              <a:buNone/>
            </a:pPr>
            <a:r>
              <a:rPr lang="en-US" sz="4900" dirty="0"/>
              <a:t>        </a:t>
            </a:r>
            <a:r>
              <a:rPr lang="en-US" sz="4900" dirty="0" err="1"/>
              <a:t>System.out.println</a:t>
            </a:r>
            <a:r>
              <a:rPr lang="en-US" sz="4900" dirty="0"/>
              <a:t>("Current Stack =&gt; " + </a:t>
            </a:r>
            <a:r>
              <a:rPr lang="en-US" sz="4900" dirty="0" err="1"/>
              <a:t>stackOfCards</a:t>
            </a:r>
            <a:r>
              <a:rPr lang="en-US" sz="4900" dirty="0"/>
              <a:t>);</a:t>
            </a:r>
          </a:p>
          <a:p>
            <a:pPr marL="0" indent="0" algn="just" fontAlgn="base">
              <a:lnSpc>
                <a:spcPct val="120000"/>
              </a:lnSpc>
              <a:spcBef>
                <a:spcPts val="0"/>
              </a:spcBef>
              <a:buNone/>
            </a:pPr>
            <a:endParaRPr lang="en-US" sz="4900" dirty="0"/>
          </a:p>
          <a:p>
            <a:pPr marL="0" indent="0" algn="just" fontAlgn="base">
              <a:lnSpc>
                <a:spcPct val="120000"/>
              </a:lnSpc>
              <a:spcBef>
                <a:spcPts val="0"/>
              </a:spcBef>
              <a:buNone/>
            </a:pPr>
            <a:r>
              <a:rPr lang="en-US" sz="4900" dirty="0"/>
              <a:t>    }</a:t>
            </a:r>
          </a:p>
          <a:p>
            <a:pPr marL="0" indent="0" algn="just" fontAlgn="base">
              <a:lnSpc>
                <a:spcPct val="120000"/>
              </a:lnSpc>
              <a:spcBef>
                <a:spcPts val="0"/>
              </a:spcBef>
              <a:buNone/>
            </a:pPr>
            <a:r>
              <a:rPr lang="en-US" sz="4900" dirty="0"/>
              <a:t>}</a:t>
            </a:r>
            <a:endParaRPr lang="en-US" sz="49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22</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561473" y="4099034"/>
            <a:ext cx="3936094" cy="228540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Stack =&gt; [Jack, Queen, King, Ace</a:t>
            </a:r>
            <a:r>
              <a:rPr lang="en-US" sz="2000" dirty="0" smtClean="0"/>
              <a:t>]</a:t>
            </a:r>
            <a:endParaRPr lang="en-US" sz="2000" dirty="0"/>
          </a:p>
          <a:p>
            <a:pPr marL="0" indent="0">
              <a:buNone/>
            </a:pPr>
            <a:r>
              <a:rPr lang="en-US" sz="2000" dirty="0" err="1"/>
              <a:t>Stack.pop</a:t>
            </a:r>
            <a:r>
              <a:rPr lang="en-US" sz="2000" dirty="0"/>
              <a:t>() =&gt; Ace</a:t>
            </a:r>
          </a:p>
          <a:p>
            <a:pPr marL="0" indent="0">
              <a:buNone/>
            </a:pPr>
            <a:r>
              <a:rPr lang="en-US" sz="2000" dirty="0"/>
              <a:t>Current Stack =&gt; [Jack, Queen, King</a:t>
            </a:r>
            <a:r>
              <a:rPr lang="en-US" sz="2000" dirty="0" smtClean="0"/>
              <a:t>]</a:t>
            </a:r>
            <a:endParaRPr lang="en-US" sz="2000" dirty="0"/>
          </a:p>
          <a:p>
            <a:pPr marL="0" indent="0">
              <a:buNone/>
            </a:pPr>
            <a:r>
              <a:rPr lang="en-US" sz="2000" dirty="0" err="1"/>
              <a:t>Stack.peek</a:t>
            </a:r>
            <a:r>
              <a:rPr lang="en-US" sz="2000" dirty="0"/>
              <a:t>() =&gt; King</a:t>
            </a:r>
          </a:p>
          <a:p>
            <a:pPr marL="0" indent="0">
              <a:buNone/>
            </a:pPr>
            <a:r>
              <a:rPr lang="en-US" sz="2000" dirty="0"/>
              <a:t>Current Stack =&gt; [Jack, Queen, King]</a:t>
            </a:r>
          </a:p>
        </p:txBody>
      </p:sp>
    </p:spTree>
    <p:extLst>
      <p:ext uri="{BB962C8B-B14F-4D97-AF65-F5344CB8AC3E}">
        <p14:creationId xmlns:p14="http://schemas.microsoft.com/office/powerpoint/2010/main" val="183605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Stack</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783943"/>
          </a:xfrm>
        </p:spPr>
        <p:txBody>
          <a:bodyPr>
            <a:normAutofit fontScale="32500" lnSpcReduction="20000"/>
          </a:bodyPr>
          <a:lstStyle/>
          <a:p>
            <a:pPr algn="just" fontAlgn="base"/>
            <a:r>
              <a:rPr lang="en-US" sz="5500" b="1" dirty="0"/>
              <a:t>Iterating over a Stack </a:t>
            </a:r>
            <a:r>
              <a:rPr lang="en-US" sz="5500" b="1" dirty="0" smtClean="0"/>
              <a:t>using </a:t>
            </a:r>
            <a:r>
              <a:rPr lang="en-US" sz="5500" b="1" dirty="0"/>
              <a:t>iterator</a:t>
            </a:r>
            <a:r>
              <a:rPr lang="en-US" sz="5500" b="1" dirty="0" smtClean="0"/>
              <a:t>() and </a:t>
            </a:r>
            <a:r>
              <a:rPr lang="en-US" sz="5500" b="1" dirty="0" err="1" smtClean="0"/>
              <a:t>forEach</a:t>
            </a:r>
            <a:r>
              <a:rPr lang="en-US" sz="5500" b="1" dirty="0" smtClean="0"/>
              <a:t>() in </a:t>
            </a:r>
            <a:r>
              <a:rPr lang="en-US" sz="5500" b="1" dirty="0"/>
              <a:t>Java </a:t>
            </a:r>
            <a:r>
              <a:rPr lang="en-US" sz="5500" b="1" dirty="0" smtClean="0"/>
              <a:t>8.</a:t>
            </a:r>
          </a:p>
          <a:p>
            <a:pPr marL="0" indent="0" algn="just" fontAlgn="base">
              <a:lnSpc>
                <a:spcPct val="120000"/>
              </a:lnSpc>
              <a:spcBef>
                <a:spcPts val="0"/>
              </a:spcBef>
              <a:buNone/>
            </a:pPr>
            <a:r>
              <a:rPr lang="en-US" sz="4900" dirty="0"/>
              <a:t>import </a:t>
            </a:r>
            <a:r>
              <a:rPr lang="en-US" sz="4900" dirty="0" err="1"/>
              <a:t>java.util.Iterator</a:t>
            </a:r>
            <a:r>
              <a:rPr lang="en-US" sz="4900" dirty="0"/>
              <a:t>;</a:t>
            </a:r>
          </a:p>
          <a:p>
            <a:pPr marL="0" indent="0" algn="just" fontAlgn="base">
              <a:lnSpc>
                <a:spcPct val="120000"/>
              </a:lnSpc>
              <a:spcBef>
                <a:spcPts val="0"/>
              </a:spcBef>
              <a:buNone/>
            </a:pPr>
            <a:r>
              <a:rPr lang="en-US" sz="4900" dirty="0"/>
              <a:t>import </a:t>
            </a:r>
            <a:r>
              <a:rPr lang="en-US" sz="4900" dirty="0" err="1"/>
              <a:t>java.util.ListIterator</a:t>
            </a:r>
            <a:r>
              <a:rPr lang="en-US" sz="4900" dirty="0"/>
              <a:t>;</a:t>
            </a:r>
          </a:p>
          <a:p>
            <a:pPr marL="0" indent="0" algn="just" fontAlgn="base">
              <a:lnSpc>
                <a:spcPct val="120000"/>
              </a:lnSpc>
              <a:spcBef>
                <a:spcPts val="0"/>
              </a:spcBef>
              <a:buNone/>
            </a:pPr>
            <a:r>
              <a:rPr lang="en-US" sz="4900" dirty="0"/>
              <a:t>import </a:t>
            </a:r>
            <a:r>
              <a:rPr lang="en-US" sz="4900" dirty="0" err="1"/>
              <a:t>java.util.Stack</a:t>
            </a:r>
            <a:r>
              <a:rPr lang="en-US" sz="4900" dirty="0" smtClean="0"/>
              <a:t>;</a:t>
            </a:r>
            <a:endParaRPr lang="en-US" sz="4900" dirty="0"/>
          </a:p>
          <a:p>
            <a:pPr marL="0" indent="0" algn="just" fontAlgn="base">
              <a:lnSpc>
                <a:spcPct val="120000"/>
              </a:lnSpc>
              <a:spcBef>
                <a:spcPts val="0"/>
              </a:spcBef>
              <a:buNone/>
            </a:pPr>
            <a:r>
              <a:rPr lang="en-US" sz="4900" dirty="0"/>
              <a:t>public class </a:t>
            </a:r>
            <a:r>
              <a:rPr lang="en-US" sz="4900" dirty="0" err="1"/>
              <a:t>IterateOverStackExample</a:t>
            </a:r>
            <a:r>
              <a:rPr lang="en-US" sz="4900" dirty="0"/>
              <a:t> {</a:t>
            </a:r>
          </a:p>
          <a:p>
            <a:pPr marL="0" indent="0" algn="just" fontAlgn="base">
              <a:lnSpc>
                <a:spcPct val="120000"/>
              </a:lnSpc>
              <a:spcBef>
                <a:spcPts val="0"/>
              </a:spcBef>
              <a:buNone/>
            </a:pPr>
            <a:r>
              <a:rPr lang="en-US" sz="4900" dirty="0"/>
              <a:t>    public static void main(String[] </a:t>
            </a:r>
            <a:r>
              <a:rPr lang="en-US" sz="4900" dirty="0" err="1"/>
              <a:t>args</a:t>
            </a:r>
            <a:r>
              <a:rPr lang="en-US" sz="4900" dirty="0"/>
              <a:t>) {</a:t>
            </a:r>
          </a:p>
          <a:p>
            <a:pPr marL="0" indent="0" algn="just" fontAlgn="base">
              <a:lnSpc>
                <a:spcPct val="120000"/>
              </a:lnSpc>
              <a:spcBef>
                <a:spcPts val="0"/>
              </a:spcBef>
              <a:buNone/>
            </a:pPr>
            <a:r>
              <a:rPr lang="en-US" sz="4900" dirty="0"/>
              <a:t>        Stack&lt;String&gt; </a:t>
            </a:r>
            <a:r>
              <a:rPr lang="en-US" sz="4900" dirty="0" err="1"/>
              <a:t>stackOfPlates</a:t>
            </a:r>
            <a:r>
              <a:rPr lang="en-US" sz="4900" dirty="0"/>
              <a:t> = new Stack</a:t>
            </a:r>
            <a:r>
              <a:rPr lang="en-US" sz="4900" dirty="0" smtClean="0"/>
              <a:t>&lt;&gt;();</a:t>
            </a:r>
            <a:endParaRPr lang="en-US" sz="4900" dirty="0"/>
          </a:p>
          <a:p>
            <a:pPr marL="0" indent="0" algn="just" fontAlgn="base">
              <a:lnSpc>
                <a:spcPct val="120000"/>
              </a:lnSpc>
              <a:spcBef>
                <a:spcPts val="0"/>
              </a:spcBef>
              <a:buNone/>
            </a:pPr>
            <a:r>
              <a:rPr lang="en-US" sz="4900" dirty="0"/>
              <a:t>        </a:t>
            </a:r>
            <a:r>
              <a:rPr lang="en-US" sz="4900" dirty="0" err="1"/>
              <a:t>stackOfPlates.add</a:t>
            </a:r>
            <a:r>
              <a:rPr lang="en-US" sz="4900" dirty="0"/>
              <a:t>("Plate 1</a:t>
            </a:r>
            <a:r>
              <a:rPr lang="en-US" sz="4900" dirty="0" smtClean="0"/>
              <a:t>");        </a:t>
            </a:r>
            <a:r>
              <a:rPr lang="en-US" sz="4900" dirty="0" err="1"/>
              <a:t>stackOfPlates.add</a:t>
            </a:r>
            <a:r>
              <a:rPr lang="en-US" sz="4900" dirty="0"/>
              <a:t>("Plate 2");</a:t>
            </a:r>
          </a:p>
          <a:p>
            <a:pPr marL="0" indent="0" algn="just" fontAlgn="base">
              <a:lnSpc>
                <a:spcPct val="120000"/>
              </a:lnSpc>
              <a:spcBef>
                <a:spcPts val="0"/>
              </a:spcBef>
              <a:buNone/>
            </a:pPr>
            <a:r>
              <a:rPr lang="en-US" sz="4900" dirty="0"/>
              <a:t>        </a:t>
            </a:r>
            <a:r>
              <a:rPr lang="en-US" sz="4900" dirty="0" err="1"/>
              <a:t>stackOfPlates.add</a:t>
            </a:r>
            <a:r>
              <a:rPr lang="en-US" sz="4900" dirty="0"/>
              <a:t>("Plate 3</a:t>
            </a:r>
            <a:r>
              <a:rPr lang="en-US" sz="4900" dirty="0" smtClean="0"/>
              <a:t>");        </a:t>
            </a:r>
            <a:r>
              <a:rPr lang="en-US" sz="4900" dirty="0" err="1"/>
              <a:t>stackOfPlates.add</a:t>
            </a:r>
            <a:r>
              <a:rPr lang="en-US" sz="4900" dirty="0"/>
              <a:t>("Plate 4</a:t>
            </a:r>
            <a:r>
              <a:rPr lang="en-US" sz="4900" dirty="0" smtClean="0"/>
              <a:t>");</a:t>
            </a:r>
            <a:endParaRPr lang="en-US" sz="4900" dirty="0"/>
          </a:p>
          <a:p>
            <a:pPr marL="0" indent="0" algn="just" fontAlgn="base">
              <a:lnSpc>
                <a:spcPct val="120000"/>
              </a:lnSpc>
              <a:spcBef>
                <a:spcPts val="0"/>
              </a:spcBef>
              <a:buNone/>
            </a:pPr>
            <a:r>
              <a:rPr lang="en-US" sz="4900" dirty="0"/>
              <a:t>        </a:t>
            </a:r>
            <a:r>
              <a:rPr lang="en-US" sz="4900" dirty="0" err="1"/>
              <a:t>System.out.println</a:t>
            </a:r>
            <a:r>
              <a:rPr lang="en-US" sz="4900" dirty="0"/>
              <a:t>("=== Iterate over a Stack using Java 8 </a:t>
            </a:r>
            <a:r>
              <a:rPr lang="en-US" sz="4900" dirty="0" err="1"/>
              <a:t>forEach</a:t>
            </a:r>
            <a:r>
              <a:rPr lang="en-US" sz="4900" dirty="0"/>
              <a:t>() method ===");</a:t>
            </a:r>
          </a:p>
          <a:p>
            <a:pPr marL="0" indent="0" algn="just" fontAlgn="base">
              <a:lnSpc>
                <a:spcPct val="120000"/>
              </a:lnSpc>
              <a:spcBef>
                <a:spcPts val="0"/>
              </a:spcBef>
              <a:buNone/>
            </a:pPr>
            <a:r>
              <a:rPr lang="en-US" sz="4900" dirty="0"/>
              <a:t>        </a:t>
            </a:r>
            <a:r>
              <a:rPr lang="en-US" sz="4900" dirty="0" err="1"/>
              <a:t>stackOfPlates.forEach</a:t>
            </a:r>
            <a:r>
              <a:rPr lang="en-US" sz="4900" dirty="0"/>
              <a:t>(plate -&gt; {</a:t>
            </a:r>
          </a:p>
          <a:p>
            <a:pPr marL="0" indent="0" algn="just" fontAlgn="base">
              <a:lnSpc>
                <a:spcPct val="120000"/>
              </a:lnSpc>
              <a:spcBef>
                <a:spcPts val="0"/>
              </a:spcBef>
              <a:buNone/>
            </a:pPr>
            <a:r>
              <a:rPr lang="en-US" sz="4900" dirty="0"/>
              <a:t>            </a:t>
            </a:r>
            <a:r>
              <a:rPr lang="en-US" sz="4900" dirty="0" err="1"/>
              <a:t>System.out.println</a:t>
            </a:r>
            <a:r>
              <a:rPr lang="en-US" sz="4900" dirty="0"/>
              <a:t>(plate);</a:t>
            </a:r>
          </a:p>
          <a:p>
            <a:pPr marL="0" indent="0" algn="just" fontAlgn="base">
              <a:lnSpc>
                <a:spcPct val="120000"/>
              </a:lnSpc>
              <a:spcBef>
                <a:spcPts val="0"/>
              </a:spcBef>
              <a:buNone/>
            </a:pPr>
            <a:r>
              <a:rPr lang="en-US" sz="4900" dirty="0"/>
              <a:t>        </a:t>
            </a:r>
            <a:r>
              <a:rPr lang="en-US" sz="4900" dirty="0" smtClean="0"/>
              <a:t>});</a:t>
            </a:r>
            <a:endParaRPr lang="en-US" sz="4900" dirty="0"/>
          </a:p>
          <a:p>
            <a:pPr marL="0" indent="0" algn="just" fontAlgn="base">
              <a:lnSpc>
                <a:spcPct val="120000"/>
              </a:lnSpc>
              <a:spcBef>
                <a:spcPts val="0"/>
              </a:spcBef>
              <a:buNone/>
            </a:pPr>
            <a:r>
              <a:rPr lang="en-US" sz="4900" dirty="0"/>
              <a:t>        </a:t>
            </a:r>
            <a:r>
              <a:rPr lang="en-US" sz="4900" dirty="0" err="1"/>
              <a:t>System.out.println</a:t>
            </a:r>
            <a:r>
              <a:rPr lang="en-US" sz="4900" dirty="0"/>
              <a:t>("\n=== Iterate over a Stack using iterator() ===");</a:t>
            </a:r>
          </a:p>
          <a:p>
            <a:pPr marL="0" indent="0" algn="just" fontAlgn="base">
              <a:lnSpc>
                <a:spcPct val="120000"/>
              </a:lnSpc>
              <a:spcBef>
                <a:spcPts val="0"/>
              </a:spcBef>
              <a:buNone/>
            </a:pPr>
            <a:r>
              <a:rPr lang="en-US" sz="4900" dirty="0"/>
              <a:t>        Iterator&lt;String&gt; </a:t>
            </a:r>
            <a:r>
              <a:rPr lang="en-US" sz="4900" dirty="0" err="1"/>
              <a:t>platesIterator</a:t>
            </a:r>
            <a:r>
              <a:rPr lang="en-US" sz="4900" dirty="0"/>
              <a:t> = </a:t>
            </a:r>
            <a:r>
              <a:rPr lang="en-US" sz="4900" dirty="0" err="1"/>
              <a:t>stackOfPlates.iterator</a:t>
            </a:r>
            <a:r>
              <a:rPr lang="en-US" sz="4900" dirty="0"/>
              <a:t>();</a:t>
            </a:r>
          </a:p>
          <a:p>
            <a:pPr marL="0" indent="0" algn="just" fontAlgn="base">
              <a:lnSpc>
                <a:spcPct val="120000"/>
              </a:lnSpc>
              <a:spcBef>
                <a:spcPts val="0"/>
              </a:spcBef>
              <a:buNone/>
            </a:pPr>
            <a:r>
              <a:rPr lang="en-US" sz="4900" dirty="0"/>
              <a:t>        while (</a:t>
            </a:r>
            <a:r>
              <a:rPr lang="en-US" sz="4900" dirty="0" err="1"/>
              <a:t>platesIterator.hasNext</a:t>
            </a:r>
            <a:r>
              <a:rPr lang="en-US" sz="4900" dirty="0"/>
              <a:t>()) {</a:t>
            </a:r>
          </a:p>
          <a:p>
            <a:pPr marL="0" indent="0" algn="just" fontAlgn="base">
              <a:lnSpc>
                <a:spcPct val="120000"/>
              </a:lnSpc>
              <a:spcBef>
                <a:spcPts val="0"/>
              </a:spcBef>
              <a:buNone/>
            </a:pPr>
            <a:r>
              <a:rPr lang="en-US" sz="4900" dirty="0"/>
              <a:t>            String plate = </a:t>
            </a:r>
            <a:r>
              <a:rPr lang="en-US" sz="4900" dirty="0" err="1"/>
              <a:t>platesIterator.next</a:t>
            </a:r>
            <a:r>
              <a:rPr lang="en-US" sz="4900" dirty="0"/>
              <a:t>();</a:t>
            </a:r>
          </a:p>
          <a:p>
            <a:pPr marL="0" indent="0" algn="just" fontAlgn="base">
              <a:lnSpc>
                <a:spcPct val="120000"/>
              </a:lnSpc>
              <a:spcBef>
                <a:spcPts val="0"/>
              </a:spcBef>
              <a:buNone/>
            </a:pPr>
            <a:r>
              <a:rPr lang="en-US" sz="4900" dirty="0"/>
              <a:t>            </a:t>
            </a:r>
            <a:r>
              <a:rPr lang="en-US" sz="4900" dirty="0" err="1"/>
              <a:t>System.out.println</a:t>
            </a:r>
            <a:r>
              <a:rPr lang="en-US" sz="4900" dirty="0"/>
              <a:t>(plate);</a:t>
            </a:r>
          </a:p>
          <a:p>
            <a:pPr marL="0" indent="0" algn="just" fontAlgn="base">
              <a:lnSpc>
                <a:spcPct val="120000"/>
              </a:lnSpc>
              <a:spcBef>
                <a:spcPts val="0"/>
              </a:spcBef>
              <a:buNone/>
            </a:pPr>
            <a:r>
              <a:rPr lang="en-US" sz="4900" dirty="0"/>
              <a:t>        </a:t>
            </a:r>
            <a:r>
              <a:rPr lang="en-US" sz="4900" dirty="0" smtClean="0"/>
              <a:t>}</a:t>
            </a:r>
            <a:endParaRPr lang="en-US" sz="4900" dirty="0"/>
          </a:p>
          <a:p>
            <a:pPr marL="0" indent="0" algn="just" fontAlgn="base">
              <a:lnSpc>
                <a:spcPct val="120000"/>
              </a:lnSpc>
              <a:spcBef>
                <a:spcPts val="0"/>
              </a:spcBef>
              <a:buNone/>
            </a:pPr>
            <a:r>
              <a:rPr lang="en-US" sz="4900" dirty="0"/>
              <a:t>    }</a:t>
            </a:r>
          </a:p>
          <a:p>
            <a:pPr marL="0" indent="0" algn="just" fontAlgn="base">
              <a:lnSpc>
                <a:spcPct val="120000"/>
              </a:lnSpc>
              <a:spcBef>
                <a:spcPts val="0"/>
              </a:spcBef>
              <a:buNone/>
            </a:pPr>
            <a:r>
              <a:rPr lang="en-US" sz="4900" dirty="0"/>
              <a:t>}</a:t>
            </a:r>
            <a:endParaRPr lang="en-US" sz="49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23</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8024648" y="2811613"/>
            <a:ext cx="4167352" cy="354724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 Iterate over a Stack using Java 8 </a:t>
            </a:r>
            <a:r>
              <a:rPr lang="en-US" sz="2000" dirty="0" err="1"/>
              <a:t>forEach</a:t>
            </a:r>
            <a:r>
              <a:rPr lang="en-US" sz="2000" dirty="0"/>
              <a:t>() method ===</a:t>
            </a:r>
          </a:p>
          <a:p>
            <a:pPr marL="0" indent="0">
              <a:buNone/>
            </a:pPr>
            <a:r>
              <a:rPr lang="en-US" sz="2000" dirty="0"/>
              <a:t>Plate 1</a:t>
            </a:r>
          </a:p>
          <a:p>
            <a:pPr marL="0" indent="0">
              <a:buNone/>
            </a:pPr>
            <a:r>
              <a:rPr lang="en-US" sz="2000" dirty="0"/>
              <a:t>Plate 2</a:t>
            </a:r>
          </a:p>
          <a:p>
            <a:pPr marL="0" indent="0">
              <a:buNone/>
            </a:pPr>
            <a:r>
              <a:rPr lang="en-US" sz="2000" dirty="0"/>
              <a:t>Plate 3</a:t>
            </a:r>
          </a:p>
          <a:p>
            <a:pPr marL="0" indent="0">
              <a:buNone/>
            </a:pPr>
            <a:r>
              <a:rPr lang="en-US" sz="2000" dirty="0"/>
              <a:t>Plate </a:t>
            </a:r>
            <a:r>
              <a:rPr lang="en-US" sz="2000" dirty="0" smtClean="0"/>
              <a:t>4</a:t>
            </a:r>
            <a:endParaRPr lang="en-US" sz="2000" dirty="0"/>
          </a:p>
          <a:p>
            <a:pPr marL="0" indent="0">
              <a:buNone/>
            </a:pPr>
            <a:r>
              <a:rPr lang="en-US" sz="2000" dirty="0"/>
              <a:t>=== Iterate over a Stack using iterator() ===</a:t>
            </a:r>
          </a:p>
          <a:p>
            <a:pPr marL="0" indent="0">
              <a:buNone/>
            </a:pPr>
            <a:r>
              <a:rPr lang="en-US" sz="2000" dirty="0"/>
              <a:t>Plate 1</a:t>
            </a:r>
          </a:p>
          <a:p>
            <a:pPr marL="0" indent="0">
              <a:buNone/>
            </a:pPr>
            <a:r>
              <a:rPr lang="en-US" sz="2000" dirty="0"/>
              <a:t>Plate 2</a:t>
            </a:r>
          </a:p>
          <a:p>
            <a:pPr marL="0" indent="0">
              <a:buNone/>
            </a:pPr>
            <a:r>
              <a:rPr lang="en-US" sz="2000" dirty="0"/>
              <a:t>Plate 3</a:t>
            </a:r>
          </a:p>
          <a:p>
            <a:pPr marL="0" indent="0">
              <a:buNone/>
            </a:pPr>
            <a:r>
              <a:rPr lang="en-US" sz="2000" dirty="0"/>
              <a:t>Plate 4</a:t>
            </a:r>
          </a:p>
        </p:txBody>
      </p:sp>
    </p:spTree>
    <p:extLst>
      <p:ext uri="{BB962C8B-B14F-4D97-AF65-F5344CB8AC3E}">
        <p14:creationId xmlns:p14="http://schemas.microsoft.com/office/powerpoint/2010/main" val="3547498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Stack</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783943"/>
          </a:xfrm>
        </p:spPr>
        <p:txBody>
          <a:bodyPr>
            <a:normAutofit fontScale="32500" lnSpcReduction="20000"/>
          </a:bodyPr>
          <a:lstStyle/>
          <a:p>
            <a:pPr algn="just" fontAlgn="base"/>
            <a:r>
              <a:rPr lang="en-US" sz="5500" b="1" dirty="0"/>
              <a:t>Other Stack </a:t>
            </a:r>
            <a:r>
              <a:rPr lang="en-US" sz="5500" b="1" dirty="0" smtClean="0"/>
              <a:t>Operations: Check </a:t>
            </a:r>
            <a:r>
              <a:rPr lang="en-US" sz="5500" b="1" dirty="0"/>
              <a:t>if the stack is </a:t>
            </a:r>
            <a:r>
              <a:rPr lang="en-US" sz="5500" b="1" dirty="0" smtClean="0"/>
              <a:t>empty, Find </a:t>
            </a:r>
            <a:r>
              <a:rPr lang="en-US" sz="5500" b="1" dirty="0"/>
              <a:t>the size </a:t>
            </a:r>
            <a:r>
              <a:rPr lang="en-US" sz="5500" b="1" dirty="0" smtClean="0"/>
              <a:t>and  Search </a:t>
            </a:r>
            <a:r>
              <a:rPr lang="en-US" sz="5500" b="1" dirty="0"/>
              <a:t>for an element in the Stack</a:t>
            </a:r>
            <a:r>
              <a:rPr lang="en-US" sz="5500" b="1" dirty="0" smtClean="0"/>
              <a:t>.</a:t>
            </a:r>
          </a:p>
          <a:p>
            <a:pPr marL="0" indent="0" algn="just" fontAlgn="base">
              <a:buNone/>
            </a:pPr>
            <a:r>
              <a:rPr lang="en-US" sz="4900" dirty="0" smtClean="0"/>
              <a:t>import </a:t>
            </a:r>
            <a:r>
              <a:rPr lang="en-US" sz="4900" dirty="0" err="1"/>
              <a:t>java.util.Stack</a:t>
            </a:r>
            <a:r>
              <a:rPr lang="en-US" sz="4900" dirty="0" smtClean="0"/>
              <a:t>;</a:t>
            </a:r>
            <a:endParaRPr lang="en-US" sz="4900" dirty="0"/>
          </a:p>
          <a:p>
            <a:pPr marL="0" indent="0" algn="just" fontAlgn="base">
              <a:lnSpc>
                <a:spcPct val="120000"/>
              </a:lnSpc>
              <a:spcBef>
                <a:spcPts val="0"/>
              </a:spcBef>
              <a:buNone/>
            </a:pPr>
            <a:r>
              <a:rPr lang="en-US" sz="4900" dirty="0"/>
              <a:t>public class </a:t>
            </a:r>
            <a:r>
              <a:rPr lang="en-US" sz="4900" dirty="0" err="1"/>
              <a:t>StackSizeSearchExample</a:t>
            </a:r>
            <a:r>
              <a:rPr lang="en-US" sz="4900" dirty="0"/>
              <a:t> {</a:t>
            </a:r>
          </a:p>
          <a:p>
            <a:pPr marL="0" indent="0" algn="just" fontAlgn="base">
              <a:lnSpc>
                <a:spcPct val="120000"/>
              </a:lnSpc>
              <a:spcBef>
                <a:spcPts val="0"/>
              </a:spcBef>
              <a:buNone/>
            </a:pPr>
            <a:r>
              <a:rPr lang="en-US" sz="4900" dirty="0"/>
              <a:t>    public static void main(String[] </a:t>
            </a:r>
            <a:r>
              <a:rPr lang="en-US" sz="4900" dirty="0" err="1"/>
              <a:t>args</a:t>
            </a:r>
            <a:r>
              <a:rPr lang="en-US" sz="4900" dirty="0"/>
              <a:t>) {</a:t>
            </a:r>
          </a:p>
          <a:p>
            <a:pPr marL="0" indent="0" algn="just" fontAlgn="base">
              <a:lnSpc>
                <a:spcPct val="120000"/>
              </a:lnSpc>
              <a:spcBef>
                <a:spcPts val="0"/>
              </a:spcBef>
              <a:buNone/>
            </a:pPr>
            <a:r>
              <a:rPr lang="en-US" sz="4900" dirty="0"/>
              <a:t>        Stack&lt;String&gt; </a:t>
            </a:r>
            <a:r>
              <a:rPr lang="en-US" sz="4900" dirty="0" err="1"/>
              <a:t>stackOfCards</a:t>
            </a:r>
            <a:r>
              <a:rPr lang="en-US" sz="4900" dirty="0"/>
              <a:t> = new Stack</a:t>
            </a:r>
            <a:r>
              <a:rPr lang="en-US" sz="4900" dirty="0" smtClean="0"/>
              <a:t>&lt;&gt;();</a:t>
            </a:r>
            <a:endParaRPr lang="en-US" sz="4900" dirty="0"/>
          </a:p>
          <a:p>
            <a:pPr marL="0" indent="0" algn="just" fontAlgn="base">
              <a:lnSpc>
                <a:spcPct val="120000"/>
              </a:lnSpc>
              <a:spcBef>
                <a:spcPts val="0"/>
              </a:spcBef>
              <a:buNone/>
            </a:pPr>
            <a:r>
              <a:rPr lang="en-US" sz="4900" dirty="0"/>
              <a:t>        </a:t>
            </a:r>
            <a:r>
              <a:rPr lang="en-US" sz="4900" dirty="0" err="1"/>
              <a:t>stackOfCards.push</a:t>
            </a:r>
            <a:r>
              <a:rPr lang="en-US" sz="4900" dirty="0"/>
              <a:t>("Jack</a:t>
            </a:r>
            <a:r>
              <a:rPr lang="en-US" sz="4900" dirty="0" smtClean="0"/>
              <a:t>");        </a:t>
            </a:r>
            <a:r>
              <a:rPr lang="en-US" sz="4900" dirty="0" err="1"/>
              <a:t>stackOfCards.push</a:t>
            </a:r>
            <a:r>
              <a:rPr lang="en-US" sz="4900" dirty="0"/>
              <a:t>("Queen");</a:t>
            </a:r>
          </a:p>
          <a:p>
            <a:pPr marL="0" indent="0" algn="just" fontAlgn="base">
              <a:lnSpc>
                <a:spcPct val="120000"/>
              </a:lnSpc>
              <a:spcBef>
                <a:spcPts val="0"/>
              </a:spcBef>
              <a:buNone/>
            </a:pPr>
            <a:r>
              <a:rPr lang="en-US" sz="4900" dirty="0"/>
              <a:t>        </a:t>
            </a:r>
            <a:r>
              <a:rPr lang="en-US" sz="4900" dirty="0" err="1"/>
              <a:t>stackOfCards.push</a:t>
            </a:r>
            <a:r>
              <a:rPr lang="en-US" sz="4900" dirty="0"/>
              <a:t>("King</a:t>
            </a:r>
            <a:r>
              <a:rPr lang="en-US" sz="4900" dirty="0" smtClean="0"/>
              <a:t>");        </a:t>
            </a:r>
            <a:r>
              <a:rPr lang="en-US" sz="4900" dirty="0" err="1"/>
              <a:t>stackOfCards.push</a:t>
            </a:r>
            <a:r>
              <a:rPr lang="en-US" sz="4900" dirty="0"/>
              <a:t>("Ace</a:t>
            </a:r>
            <a:r>
              <a:rPr lang="en-US" sz="4900" dirty="0" smtClean="0"/>
              <a:t>");</a:t>
            </a:r>
            <a:endParaRPr lang="en-US" sz="4900" dirty="0"/>
          </a:p>
          <a:p>
            <a:pPr marL="0" indent="0" algn="just" fontAlgn="base">
              <a:lnSpc>
                <a:spcPct val="120000"/>
              </a:lnSpc>
              <a:spcBef>
                <a:spcPts val="0"/>
              </a:spcBef>
              <a:buNone/>
            </a:pPr>
            <a:r>
              <a:rPr lang="en-US" sz="4900" dirty="0"/>
              <a:t>        </a:t>
            </a:r>
            <a:r>
              <a:rPr lang="en-US" sz="4900" dirty="0" err="1"/>
              <a:t>System.out.println</a:t>
            </a:r>
            <a:r>
              <a:rPr lang="en-US" sz="4900" dirty="0"/>
              <a:t>("Stack : " + </a:t>
            </a:r>
            <a:r>
              <a:rPr lang="en-US" sz="4900" dirty="0" err="1"/>
              <a:t>stackOfCards</a:t>
            </a:r>
            <a:r>
              <a:rPr lang="en-US" sz="4900" dirty="0" smtClean="0"/>
              <a:t>);</a:t>
            </a:r>
            <a:endParaRPr lang="en-US" sz="4900" dirty="0"/>
          </a:p>
          <a:p>
            <a:pPr marL="0" indent="0" algn="just" fontAlgn="base">
              <a:lnSpc>
                <a:spcPct val="120000"/>
              </a:lnSpc>
              <a:spcBef>
                <a:spcPts val="0"/>
              </a:spcBef>
              <a:buNone/>
            </a:pPr>
            <a:r>
              <a:rPr lang="en-US" sz="4900" dirty="0"/>
              <a:t>        // Check if the Stack is empty</a:t>
            </a:r>
          </a:p>
          <a:p>
            <a:pPr marL="0" indent="0" algn="just" fontAlgn="base">
              <a:lnSpc>
                <a:spcPct val="120000"/>
              </a:lnSpc>
              <a:spcBef>
                <a:spcPts val="0"/>
              </a:spcBef>
              <a:buNone/>
            </a:pPr>
            <a:r>
              <a:rPr lang="en-US" sz="4900" dirty="0"/>
              <a:t>        </a:t>
            </a:r>
            <a:r>
              <a:rPr lang="en-US" sz="4900" dirty="0" err="1"/>
              <a:t>System.out.println</a:t>
            </a:r>
            <a:r>
              <a:rPr lang="en-US" sz="4900" dirty="0"/>
              <a:t>("Is Stack empty? : " + </a:t>
            </a:r>
            <a:r>
              <a:rPr lang="en-US" sz="4900" dirty="0" err="1"/>
              <a:t>stackOfCards.isEmpty</a:t>
            </a:r>
            <a:r>
              <a:rPr lang="en-US" sz="4900" dirty="0" smtClean="0"/>
              <a:t>());</a:t>
            </a:r>
            <a:endParaRPr lang="en-US" sz="4900" dirty="0"/>
          </a:p>
          <a:p>
            <a:pPr marL="0" indent="0" algn="just" fontAlgn="base">
              <a:lnSpc>
                <a:spcPct val="120000"/>
              </a:lnSpc>
              <a:spcBef>
                <a:spcPts val="0"/>
              </a:spcBef>
              <a:buNone/>
            </a:pPr>
            <a:r>
              <a:rPr lang="en-US" sz="4900" dirty="0"/>
              <a:t>        // Find the size of Stack</a:t>
            </a:r>
          </a:p>
          <a:p>
            <a:pPr marL="0" indent="0" algn="just" fontAlgn="base">
              <a:lnSpc>
                <a:spcPct val="120000"/>
              </a:lnSpc>
              <a:spcBef>
                <a:spcPts val="0"/>
              </a:spcBef>
              <a:buNone/>
            </a:pPr>
            <a:r>
              <a:rPr lang="en-US" sz="4900" dirty="0"/>
              <a:t>        </a:t>
            </a:r>
            <a:r>
              <a:rPr lang="en-US" sz="4900" dirty="0" err="1"/>
              <a:t>System.out.println</a:t>
            </a:r>
            <a:r>
              <a:rPr lang="en-US" sz="4900" dirty="0"/>
              <a:t>("Size of Stack : " + </a:t>
            </a:r>
            <a:r>
              <a:rPr lang="en-US" sz="4900" dirty="0" err="1"/>
              <a:t>stackOfCards.size</a:t>
            </a:r>
            <a:r>
              <a:rPr lang="en-US" sz="4900" dirty="0" smtClean="0"/>
              <a:t>());</a:t>
            </a:r>
            <a:endParaRPr lang="en-US" sz="4900" dirty="0"/>
          </a:p>
          <a:p>
            <a:pPr marL="0" indent="0" algn="just" fontAlgn="base">
              <a:lnSpc>
                <a:spcPct val="120000"/>
              </a:lnSpc>
              <a:spcBef>
                <a:spcPts val="0"/>
              </a:spcBef>
              <a:buNone/>
            </a:pPr>
            <a:r>
              <a:rPr lang="en-US" sz="4900" dirty="0"/>
              <a:t>        // Search for an element</a:t>
            </a:r>
          </a:p>
          <a:p>
            <a:pPr marL="0" indent="0" algn="just" fontAlgn="base">
              <a:lnSpc>
                <a:spcPct val="120000"/>
              </a:lnSpc>
              <a:spcBef>
                <a:spcPts val="0"/>
              </a:spcBef>
              <a:buNone/>
            </a:pPr>
            <a:r>
              <a:rPr lang="en-US" sz="4900" dirty="0"/>
              <a:t>        </a:t>
            </a:r>
            <a:r>
              <a:rPr lang="en-US" sz="4900" dirty="0" err="1" smtClean="0"/>
              <a:t>int</a:t>
            </a:r>
            <a:r>
              <a:rPr lang="en-US" sz="4900" dirty="0" smtClean="0"/>
              <a:t> </a:t>
            </a:r>
            <a:r>
              <a:rPr lang="en-US" sz="4900" dirty="0"/>
              <a:t>position = </a:t>
            </a:r>
            <a:r>
              <a:rPr lang="en-US" sz="4900" dirty="0" err="1"/>
              <a:t>stackOfCards.search</a:t>
            </a:r>
            <a:r>
              <a:rPr lang="en-US" sz="4900" dirty="0"/>
              <a:t>("Queen</a:t>
            </a:r>
            <a:r>
              <a:rPr lang="en-US" sz="4900" dirty="0" smtClean="0"/>
              <a:t>");</a:t>
            </a:r>
            <a:endParaRPr lang="en-US" sz="4900" dirty="0"/>
          </a:p>
          <a:p>
            <a:pPr marL="0" indent="0" algn="just" fontAlgn="base">
              <a:lnSpc>
                <a:spcPct val="120000"/>
              </a:lnSpc>
              <a:spcBef>
                <a:spcPts val="0"/>
              </a:spcBef>
              <a:buNone/>
            </a:pPr>
            <a:r>
              <a:rPr lang="en-US" sz="4900" dirty="0"/>
              <a:t>        if(position != -1) {</a:t>
            </a:r>
          </a:p>
          <a:p>
            <a:pPr marL="0" indent="0" algn="just" fontAlgn="base">
              <a:lnSpc>
                <a:spcPct val="120000"/>
              </a:lnSpc>
              <a:spcBef>
                <a:spcPts val="0"/>
              </a:spcBef>
              <a:buNone/>
            </a:pPr>
            <a:r>
              <a:rPr lang="en-US" sz="4900" dirty="0"/>
              <a:t>            </a:t>
            </a:r>
            <a:r>
              <a:rPr lang="en-US" sz="4900" dirty="0" err="1"/>
              <a:t>System.out.println</a:t>
            </a:r>
            <a:r>
              <a:rPr lang="en-US" sz="4900" dirty="0"/>
              <a:t>("Found the element \"Queen\" at position : " + position);</a:t>
            </a:r>
          </a:p>
          <a:p>
            <a:pPr marL="0" indent="0" algn="just" fontAlgn="base">
              <a:lnSpc>
                <a:spcPct val="120000"/>
              </a:lnSpc>
              <a:spcBef>
                <a:spcPts val="0"/>
              </a:spcBef>
              <a:buNone/>
            </a:pPr>
            <a:r>
              <a:rPr lang="en-US" sz="4900" dirty="0"/>
              <a:t>        } else {</a:t>
            </a:r>
          </a:p>
          <a:p>
            <a:pPr marL="0" indent="0" algn="just" fontAlgn="base">
              <a:lnSpc>
                <a:spcPct val="120000"/>
              </a:lnSpc>
              <a:spcBef>
                <a:spcPts val="0"/>
              </a:spcBef>
              <a:buNone/>
            </a:pPr>
            <a:r>
              <a:rPr lang="en-US" sz="4900" dirty="0"/>
              <a:t>            </a:t>
            </a:r>
            <a:r>
              <a:rPr lang="en-US" sz="4900" dirty="0" err="1"/>
              <a:t>System.out.println</a:t>
            </a:r>
            <a:r>
              <a:rPr lang="en-US" sz="4900" dirty="0"/>
              <a:t>("Element not found");</a:t>
            </a:r>
          </a:p>
          <a:p>
            <a:pPr marL="0" indent="0" algn="just" fontAlgn="base">
              <a:lnSpc>
                <a:spcPct val="120000"/>
              </a:lnSpc>
              <a:spcBef>
                <a:spcPts val="0"/>
              </a:spcBef>
              <a:buNone/>
            </a:pPr>
            <a:r>
              <a:rPr lang="en-US" sz="4900" dirty="0"/>
              <a:t>        }</a:t>
            </a:r>
          </a:p>
          <a:p>
            <a:pPr marL="0" indent="0" algn="just" fontAlgn="base">
              <a:lnSpc>
                <a:spcPct val="120000"/>
              </a:lnSpc>
              <a:spcBef>
                <a:spcPts val="0"/>
              </a:spcBef>
              <a:buNone/>
            </a:pPr>
            <a:endParaRPr lang="en-US" sz="4900" dirty="0"/>
          </a:p>
          <a:p>
            <a:pPr marL="0" indent="0" algn="just" fontAlgn="base">
              <a:lnSpc>
                <a:spcPct val="120000"/>
              </a:lnSpc>
              <a:spcBef>
                <a:spcPts val="0"/>
              </a:spcBef>
              <a:buNone/>
            </a:pPr>
            <a:r>
              <a:rPr lang="en-US" sz="4900" dirty="0"/>
              <a:t>    }</a:t>
            </a:r>
          </a:p>
          <a:p>
            <a:pPr marL="0" indent="0" algn="just" fontAlgn="base">
              <a:lnSpc>
                <a:spcPct val="120000"/>
              </a:lnSpc>
              <a:spcBef>
                <a:spcPts val="0"/>
              </a:spcBef>
              <a:buNone/>
            </a:pPr>
            <a:r>
              <a:rPr lang="en-US" sz="4900" dirty="0"/>
              <a:t>}</a:t>
            </a:r>
            <a:endParaRPr lang="en-US" sz="49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24</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961585" y="2396306"/>
            <a:ext cx="3535981" cy="228540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r>
              <a:rPr lang="en-US" sz="2000" dirty="0" smtClean="0"/>
              <a:t>:</a:t>
            </a:r>
            <a:endParaRPr lang="en-US" sz="2000" dirty="0"/>
          </a:p>
          <a:p>
            <a:pPr marL="0" indent="0">
              <a:buNone/>
            </a:pPr>
            <a:r>
              <a:rPr lang="en-US" sz="2000" dirty="0"/>
              <a:t>Stack : [Jack, Queen, King, Ace]</a:t>
            </a:r>
          </a:p>
          <a:p>
            <a:pPr marL="0" indent="0">
              <a:buNone/>
            </a:pPr>
            <a:r>
              <a:rPr lang="en-US" sz="2000" dirty="0"/>
              <a:t>Is Stack empty? : false</a:t>
            </a:r>
          </a:p>
          <a:p>
            <a:pPr marL="0" indent="0">
              <a:buNone/>
            </a:pPr>
            <a:r>
              <a:rPr lang="en-US" sz="2000" dirty="0"/>
              <a:t>Size of Stack : 4</a:t>
            </a:r>
          </a:p>
          <a:p>
            <a:pPr marL="0" indent="0">
              <a:buNone/>
            </a:pPr>
            <a:r>
              <a:rPr lang="en-US" sz="2000" dirty="0"/>
              <a:t>Found the element "Queen" at position : 3</a:t>
            </a:r>
          </a:p>
        </p:txBody>
      </p:sp>
    </p:spTree>
    <p:extLst>
      <p:ext uri="{BB962C8B-B14F-4D97-AF65-F5344CB8AC3E}">
        <p14:creationId xmlns:p14="http://schemas.microsoft.com/office/powerpoint/2010/main" val="227233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What is a Queue?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2567777"/>
          </a:xfrm>
        </p:spPr>
        <p:txBody>
          <a:bodyPr>
            <a:normAutofit fontScale="85000" lnSpcReduction="20000"/>
          </a:bodyPr>
          <a:lstStyle/>
          <a:p>
            <a:pPr algn="just" fontAlgn="base"/>
            <a:r>
              <a:rPr lang="en-US" sz="3200" dirty="0"/>
              <a:t>A Queue is a First In First Out (FIFO) data structure. It models a queue in real-life. </a:t>
            </a:r>
            <a:endParaRPr lang="en-US" sz="3200" dirty="0" smtClean="0"/>
          </a:p>
          <a:p>
            <a:pPr algn="just" fontAlgn="base"/>
            <a:r>
              <a:rPr lang="en-US" sz="3200" dirty="0" smtClean="0"/>
              <a:t>Just </a:t>
            </a:r>
            <a:r>
              <a:rPr lang="en-US" sz="3200" dirty="0"/>
              <a:t>like queues in real life, new elements in a Queue data structure are added at the back and removed from the front</a:t>
            </a:r>
            <a:r>
              <a:rPr lang="en-US" sz="3200" dirty="0" smtClean="0"/>
              <a:t>.</a:t>
            </a:r>
          </a:p>
          <a:p>
            <a:pPr algn="just" fontAlgn="base"/>
            <a:r>
              <a:rPr lang="en-US" sz="3200" dirty="0"/>
              <a:t>The process of adding an element at the back of the Queue is called </a:t>
            </a:r>
            <a:r>
              <a:rPr lang="en-US" sz="3200" dirty="0" err="1"/>
              <a:t>Enqueue</a:t>
            </a:r>
            <a:r>
              <a:rPr lang="en-US" sz="3200" dirty="0"/>
              <a:t>, and the process of removing an element from the front of the Queue is called </a:t>
            </a:r>
            <a:r>
              <a:rPr lang="en-US" sz="3200" dirty="0" err="1"/>
              <a:t>Dequeue</a:t>
            </a:r>
            <a:r>
              <a:rPr lang="en-US" sz="3200" dirty="0"/>
              <a:t>.</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25</a:t>
            </a:fld>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6351" y="3641835"/>
            <a:ext cx="7640472" cy="2714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14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Java Queue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5720254" cy="5282293"/>
          </a:xfrm>
        </p:spPr>
        <p:txBody>
          <a:bodyPr>
            <a:normAutofit fontScale="92500" lnSpcReduction="20000"/>
          </a:bodyPr>
          <a:lstStyle/>
          <a:p>
            <a:pPr fontAlgn="base"/>
            <a:r>
              <a:rPr lang="en-US" sz="3200" dirty="0"/>
              <a:t>Java provides a Queue interface which is part of Java’s collections </a:t>
            </a:r>
            <a:r>
              <a:rPr lang="en-US" sz="3200" dirty="0" smtClean="0"/>
              <a:t>framework.</a:t>
            </a:r>
          </a:p>
          <a:p>
            <a:pPr fontAlgn="base"/>
            <a:r>
              <a:rPr lang="en-US" sz="3200" dirty="0"/>
              <a:t>A Queue in Java is just an interface. We need a concrete implementation of the Queue interface to work with, in our programs</a:t>
            </a:r>
            <a:r>
              <a:rPr lang="en-US" sz="3200" dirty="0" smtClean="0"/>
              <a:t>.</a:t>
            </a:r>
            <a:endParaRPr lang="en-US" sz="3200" dirty="0"/>
          </a:p>
          <a:p>
            <a:pPr fontAlgn="base"/>
            <a:r>
              <a:rPr lang="en-US" sz="3200" dirty="0"/>
              <a:t>As shown in the diagram above, the </a:t>
            </a:r>
            <a:r>
              <a:rPr lang="en-US" sz="3200" dirty="0" err="1"/>
              <a:t>LinkedList</a:t>
            </a:r>
            <a:r>
              <a:rPr lang="en-US" sz="3200" dirty="0"/>
              <a:t> class implements the Queue interface and therefore it can be used as a Queue</a:t>
            </a:r>
            <a:r>
              <a:rPr lang="en-US" sz="3200" dirty="0" smtClean="0"/>
              <a:t>.</a:t>
            </a:r>
          </a:p>
          <a:p>
            <a:pPr fontAlgn="base"/>
            <a:r>
              <a:rPr lang="en-US" sz="3200" dirty="0"/>
              <a:t>It is in the package </a:t>
            </a:r>
            <a:r>
              <a:rPr lang="en-US" sz="3200" b="1" dirty="0" err="1" smtClean="0"/>
              <a:t>java.util.Queue</a:t>
            </a:r>
            <a:r>
              <a:rPr lang="en-US" sz="3200" b="1" dirty="0" smtClean="0"/>
              <a:t>;</a:t>
            </a:r>
            <a:endParaRPr lang="en-US" sz="3200" b="1" dirty="0"/>
          </a:p>
          <a:p>
            <a:pPr fontAlgn="base"/>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26</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8454" y="1146175"/>
            <a:ext cx="5286375" cy="521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88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Q</a:t>
            </a:r>
            <a:r>
              <a:rPr lang="en-US" sz="3200" dirty="0" smtClean="0"/>
              <a:t>ueue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Some common methods:</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27</a:t>
            </a:fld>
            <a:endParaRPr lang="en-US" dirty="0"/>
          </a:p>
        </p:txBody>
      </p:sp>
      <p:graphicFrame>
        <p:nvGraphicFramePr>
          <p:cNvPr id="8" name="Content Placeholder 6"/>
          <p:cNvGraphicFramePr>
            <a:graphicFrameLocks/>
          </p:cNvGraphicFramePr>
          <p:nvPr>
            <p:extLst>
              <p:ext uri="{D42A27DB-BD31-4B8C-83A1-F6EECF244321}">
                <p14:modId xmlns:p14="http://schemas.microsoft.com/office/powerpoint/2010/main" val="117006654"/>
              </p:ext>
            </p:extLst>
          </p:nvPr>
        </p:nvGraphicFramePr>
        <p:xfrm>
          <a:off x="678920" y="1683507"/>
          <a:ext cx="11190514" cy="5174076"/>
        </p:xfrm>
        <a:graphic>
          <a:graphicData uri="http://schemas.openxmlformats.org/drawingml/2006/table">
            <a:tbl>
              <a:tblPr>
                <a:tableStyleId>{5C22544A-7EE6-4342-B048-85BDC9FD1C3A}</a:tableStyleId>
              </a:tblPr>
              <a:tblGrid>
                <a:gridCol w="535025"/>
                <a:gridCol w="3342289"/>
                <a:gridCol w="7313200"/>
              </a:tblGrid>
              <a:tr h="242815">
                <a:tc>
                  <a:txBody>
                    <a:bodyPr/>
                    <a:lstStyle/>
                    <a:p>
                      <a:pPr algn="l" fontAlgn="t"/>
                      <a:r>
                        <a:rPr lang="en-US" sz="1600" b="1" u="none" strike="noStrike" dirty="0">
                          <a:effectLst/>
                        </a:rPr>
                        <a:t>No.</a:t>
                      </a:r>
                      <a:endParaRPr lang="en-US" sz="1600" b="1" i="0" u="none" strike="noStrike" dirty="0">
                        <a:solidFill>
                          <a:srgbClr val="000000"/>
                        </a:solidFill>
                        <a:effectLst/>
                        <a:latin typeface="Times New Roman"/>
                      </a:endParaRPr>
                    </a:p>
                  </a:txBody>
                  <a:tcPr marL="69447" marR="7716" marT="7716" marB="0"/>
                </a:tc>
                <a:tc>
                  <a:txBody>
                    <a:bodyPr/>
                    <a:lstStyle/>
                    <a:p>
                      <a:pPr algn="l" fontAlgn="t"/>
                      <a:r>
                        <a:rPr lang="en-US" sz="1600" b="1" u="none" strike="noStrike" dirty="0">
                          <a:effectLst/>
                        </a:rPr>
                        <a:t>Method</a:t>
                      </a:r>
                      <a:endParaRPr lang="en-US" sz="1600" b="1" i="0" u="none" strike="noStrike" dirty="0">
                        <a:solidFill>
                          <a:srgbClr val="000000"/>
                        </a:solidFill>
                        <a:effectLst/>
                        <a:latin typeface="Times New Roman"/>
                      </a:endParaRPr>
                    </a:p>
                  </a:txBody>
                  <a:tcPr marL="69447" marR="7716" marT="7716" marB="0"/>
                </a:tc>
                <a:tc>
                  <a:txBody>
                    <a:bodyPr/>
                    <a:lstStyle/>
                    <a:p>
                      <a:pPr algn="l" fontAlgn="t"/>
                      <a:r>
                        <a:rPr lang="en-US" sz="1600" b="1" u="none" strike="noStrike" dirty="0">
                          <a:effectLst/>
                        </a:rPr>
                        <a:t>Description</a:t>
                      </a:r>
                      <a:endParaRPr lang="en-US" sz="1600" b="1" i="0" u="none" strike="noStrike" dirty="0">
                        <a:solidFill>
                          <a:srgbClr val="000000"/>
                        </a:solidFill>
                        <a:effectLst/>
                        <a:latin typeface="Times New Roman"/>
                      </a:endParaRPr>
                    </a:p>
                  </a:txBody>
                  <a:tcPr marL="69447" marR="7716" marT="7716" marB="0"/>
                </a:tc>
              </a:tr>
              <a:tr h="369500">
                <a:tc>
                  <a:txBody>
                    <a:bodyPr/>
                    <a:lstStyle/>
                    <a:p>
                      <a:pPr algn="l" fontAlgn="t"/>
                      <a:r>
                        <a:rPr lang="en-US" sz="1600">
                          <a:solidFill>
                            <a:srgbClr val="000000"/>
                          </a:solidFill>
                          <a:effectLst/>
                          <a:latin typeface="verdana"/>
                        </a:rPr>
                        <a:t>1</a:t>
                      </a:r>
                    </a:p>
                  </a:txBody>
                  <a:tcPr marL="76200" marR="76200" marT="76200" marB="76200"/>
                </a:tc>
                <a:tc>
                  <a:txBody>
                    <a:bodyPr/>
                    <a:lstStyle/>
                    <a:p>
                      <a:pPr algn="l" fontAlgn="t"/>
                      <a:r>
                        <a:rPr lang="en-US" sz="1800" dirty="0">
                          <a:solidFill>
                            <a:srgbClr val="000000"/>
                          </a:solidFill>
                          <a:effectLst/>
                          <a:latin typeface="verdana"/>
                        </a:rPr>
                        <a:t>public </a:t>
                      </a:r>
                      <a:r>
                        <a:rPr lang="en-US" sz="1800" dirty="0" smtClean="0">
                          <a:solidFill>
                            <a:srgbClr val="000000"/>
                          </a:solidFill>
                          <a:effectLst/>
                          <a:latin typeface="verdana"/>
                        </a:rPr>
                        <a:t>void </a:t>
                      </a:r>
                      <a:r>
                        <a:rPr lang="en-US" sz="1800" dirty="0" err="1" smtClean="0">
                          <a:solidFill>
                            <a:srgbClr val="000000"/>
                          </a:solidFill>
                          <a:effectLst/>
                          <a:latin typeface="verdana"/>
                        </a:rPr>
                        <a:t>LinkedList</a:t>
                      </a:r>
                      <a:r>
                        <a:rPr lang="en-US" sz="1800" dirty="0" smtClean="0">
                          <a:solidFill>
                            <a:srgbClr val="000000"/>
                          </a:solidFill>
                          <a:effectLst/>
                          <a:latin typeface="verdana"/>
                        </a:rPr>
                        <a:t> ()</a:t>
                      </a:r>
                      <a:endParaRPr lang="en-US" sz="1800" dirty="0">
                        <a:solidFill>
                          <a:srgbClr val="000000"/>
                        </a:solidFill>
                        <a:effectLst/>
                        <a:latin typeface="verdana"/>
                      </a:endParaRPr>
                    </a:p>
                  </a:txBody>
                  <a:tcPr marL="76200" marR="76200" marT="76200" marB="76200"/>
                </a:tc>
                <a:tc>
                  <a:txBody>
                    <a:bodyPr/>
                    <a:lstStyle/>
                    <a:p>
                      <a:pPr algn="l" fontAlgn="t"/>
                      <a:r>
                        <a:rPr lang="en-US" sz="1700" dirty="0" smtClean="0">
                          <a:solidFill>
                            <a:srgbClr val="000000"/>
                          </a:solidFill>
                          <a:effectLst/>
                          <a:latin typeface="verdana"/>
                        </a:rPr>
                        <a:t>It is a constructor of</a:t>
                      </a:r>
                      <a:r>
                        <a:rPr lang="en-US" sz="1700" baseline="0" dirty="0" smtClean="0">
                          <a:solidFill>
                            <a:srgbClr val="000000"/>
                          </a:solidFill>
                          <a:effectLst/>
                          <a:latin typeface="verdana"/>
                        </a:rPr>
                        <a:t> queue and </a:t>
                      </a:r>
                      <a:r>
                        <a:rPr lang="en-US" sz="1700" dirty="0" smtClean="0">
                          <a:solidFill>
                            <a:srgbClr val="000000"/>
                          </a:solidFill>
                          <a:effectLst/>
                          <a:latin typeface="verdana"/>
                        </a:rPr>
                        <a:t>used to create an empty queue.</a:t>
                      </a:r>
                      <a:endParaRPr lang="en-US" sz="1700" dirty="0">
                        <a:solidFill>
                          <a:srgbClr val="000000"/>
                        </a:solidFill>
                        <a:effectLst/>
                        <a:latin typeface="verdana"/>
                      </a:endParaRPr>
                    </a:p>
                  </a:txBody>
                  <a:tcPr marL="76200" marR="76200" marT="76200" marB="76200"/>
                </a:tc>
              </a:tr>
              <a:tr h="221700">
                <a:tc>
                  <a:txBody>
                    <a:bodyPr/>
                    <a:lstStyle/>
                    <a:p>
                      <a:pPr algn="l" fontAlgn="t"/>
                      <a:r>
                        <a:rPr lang="en-US" sz="1600">
                          <a:solidFill>
                            <a:srgbClr val="000000"/>
                          </a:solidFill>
                          <a:effectLst/>
                          <a:latin typeface="verdana"/>
                        </a:rPr>
                        <a:t>2</a:t>
                      </a:r>
                    </a:p>
                  </a:txBody>
                  <a:tcPr marL="76200" marR="76200" marT="76200" marB="76200"/>
                </a:tc>
                <a:tc>
                  <a:txBody>
                    <a:bodyPr/>
                    <a:lstStyle/>
                    <a:p>
                      <a:pPr algn="l" fontAlgn="t"/>
                      <a:r>
                        <a:rPr lang="en-US" sz="1800" dirty="0">
                          <a:solidFill>
                            <a:srgbClr val="000000"/>
                          </a:solidFill>
                          <a:effectLst/>
                          <a:latin typeface="verdana"/>
                        </a:rPr>
                        <a:t>public </a:t>
                      </a:r>
                      <a:r>
                        <a:rPr lang="en-US" sz="1800" dirty="0" err="1" smtClean="0">
                          <a:solidFill>
                            <a:srgbClr val="000000"/>
                          </a:solidFill>
                          <a:effectLst/>
                          <a:latin typeface="verdana"/>
                        </a:rPr>
                        <a:t>boolean</a:t>
                      </a:r>
                      <a:r>
                        <a:rPr lang="en-US" sz="1800" dirty="0" smtClean="0">
                          <a:solidFill>
                            <a:srgbClr val="000000"/>
                          </a:solidFill>
                          <a:effectLst/>
                          <a:latin typeface="verdana"/>
                        </a:rPr>
                        <a:t> add(Object element)</a:t>
                      </a:r>
                    </a:p>
                  </a:txBody>
                  <a:tcPr marL="76200" marR="76200" marT="76200" marB="76200"/>
                </a:tc>
                <a:tc>
                  <a:txBody>
                    <a:bodyPr/>
                    <a:lstStyle/>
                    <a:p>
                      <a:pPr algn="l" fontAlgn="t"/>
                      <a:r>
                        <a:rPr lang="en-US" sz="1700" dirty="0" smtClean="0">
                          <a:solidFill>
                            <a:srgbClr val="000000"/>
                          </a:solidFill>
                          <a:effectLst/>
                          <a:latin typeface="verdana"/>
                        </a:rPr>
                        <a:t>It is used to insert any specific element at the end of a queue. As its return type is </a:t>
                      </a:r>
                      <a:r>
                        <a:rPr lang="en-US" sz="1700" dirty="0" err="1" smtClean="0">
                          <a:solidFill>
                            <a:srgbClr val="000000"/>
                          </a:solidFill>
                          <a:effectLst/>
                          <a:latin typeface="verdana"/>
                        </a:rPr>
                        <a:t>boolean</a:t>
                      </a:r>
                      <a:r>
                        <a:rPr lang="en-US" sz="1700" dirty="0" smtClean="0">
                          <a:solidFill>
                            <a:srgbClr val="000000"/>
                          </a:solidFill>
                          <a:effectLst/>
                          <a:latin typeface="verdana"/>
                        </a:rPr>
                        <a:t>, it returns true/false if the element is successfully or</a:t>
                      </a:r>
                      <a:r>
                        <a:rPr lang="en-US" sz="1700" baseline="0" dirty="0" smtClean="0">
                          <a:solidFill>
                            <a:srgbClr val="000000"/>
                          </a:solidFill>
                          <a:effectLst/>
                          <a:latin typeface="verdana"/>
                        </a:rPr>
                        <a:t> not</a:t>
                      </a:r>
                      <a:r>
                        <a:rPr lang="en-US" sz="1700" dirty="0" smtClean="0">
                          <a:solidFill>
                            <a:srgbClr val="000000"/>
                          </a:solidFill>
                          <a:effectLst/>
                          <a:latin typeface="verdana"/>
                        </a:rPr>
                        <a:t> added to the queue.</a:t>
                      </a:r>
                    </a:p>
                  </a:txBody>
                  <a:tcPr marL="76200" marR="76200" marT="76200" marB="76200"/>
                </a:tc>
              </a:tr>
              <a:tr h="221700">
                <a:tc>
                  <a:txBody>
                    <a:bodyPr/>
                    <a:lstStyle/>
                    <a:p>
                      <a:pPr algn="l" fontAlgn="t"/>
                      <a:r>
                        <a:rPr lang="en-US" sz="1600">
                          <a:solidFill>
                            <a:srgbClr val="000000"/>
                          </a:solidFill>
                          <a:effectLst/>
                          <a:latin typeface="verdana"/>
                        </a:rPr>
                        <a:t>3</a:t>
                      </a:r>
                    </a:p>
                  </a:txBody>
                  <a:tcPr marL="76200" marR="76200" marT="76200" marB="76200"/>
                </a:tc>
                <a:tc>
                  <a:txBody>
                    <a:bodyPr/>
                    <a:lstStyle/>
                    <a:p>
                      <a:pPr algn="l" fontAlgn="t"/>
                      <a:r>
                        <a:rPr lang="en-US" sz="1800" dirty="0">
                          <a:solidFill>
                            <a:srgbClr val="000000"/>
                          </a:solidFill>
                          <a:effectLst/>
                          <a:latin typeface="verdana"/>
                        </a:rPr>
                        <a:t>public </a:t>
                      </a:r>
                      <a:r>
                        <a:rPr lang="en-US" sz="1800" dirty="0" err="1" smtClean="0">
                          <a:solidFill>
                            <a:srgbClr val="000000"/>
                          </a:solidFill>
                          <a:effectLst/>
                          <a:latin typeface="verdana"/>
                        </a:rPr>
                        <a:t>boolean</a:t>
                      </a:r>
                      <a:r>
                        <a:rPr lang="en-US" sz="1800" dirty="0" smtClean="0">
                          <a:solidFill>
                            <a:srgbClr val="000000"/>
                          </a:solidFill>
                          <a:effectLst/>
                          <a:latin typeface="verdana"/>
                        </a:rPr>
                        <a:t> offer(Object element)</a:t>
                      </a:r>
                    </a:p>
                  </a:txBody>
                  <a:tcPr marL="76200" marR="76200" marT="76200" marB="76200"/>
                </a:tc>
                <a:tc>
                  <a:txBody>
                    <a:bodyPr/>
                    <a:lstStyle/>
                    <a:p>
                      <a:pPr algn="l" fontAlgn="t"/>
                      <a:r>
                        <a:rPr lang="en-US" sz="1700" dirty="0" smtClean="0">
                          <a:solidFill>
                            <a:srgbClr val="000000"/>
                          </a:solidFill>
                          <a:effectLst/>
                          <a:latin typeface="verdana"/>
                        </a:rPr>
                        <a:t>It also adds the specified element to queue. It performs the same work as add() method.</a:t>
                      </a:r>
                      <a:endParaRPr lang="en-US" sz="1700" dirty="0">
                        <a:solidFill>
                          <a:srgbClr val="000000"/>
                        </a:solidFill>
                        <a:effectLst/>
                        <a:latin typeface="verdana"/>
                      </a:endParaRPr>
                    </a:p>
                  </a:txBody>
                  <a:tcPr marL="76200" marR="76200" marT="76200" marB="76200"/>
                </a:tc>
              </a:tr>
              <a:tr h="221700">
                <a:tc>
                  <a:txBody>
                    <a:bodyPr/>
                    <a:lstStyle/>
                    <a:p>
                      <a:pPr algn="l" fontAlgn="t"/>
                      <a:r>
                        <a:rPr lang="en-US" sz="1600" dirty="0" smtClean="0">
                          <a:solidFill>
                            <a:srgbClr val="000000"/>
                          </a:solidFill>
                          <a:effectLst/>
                          <a:latin typeface="verdana"/>
                        </a:rPr>
                        <a:t>4</a:t>
                      </a:r>
                      <a:endParaRPr lang="en-US" sz="16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Object remove()</a:t>
                      </a:r>
                      <a:endParaRPr lang="en-US" sz="1800" dirty="0">
                        <a:solidFill>
                          <a:srgbClr val="000000"/>
                        </a:solidFill>
                        <a:effectLst/>
                        <a:latin typeface="verdana"/>
                      </a:endParaRPr>
                    </a:p>
                  </a:txBody>
                  <a:tcPr marL="76200" marR="76200" marT="76200" marB="76200"/>
                </a:tc>
                <a:tc>
                  <a:txBody>
                    <a:bodyPr/>
                    <a:lstStyle/>
                    <a:p>
                      <a:pPr algn="l" fontAlgn="t"/>
                      <a:r>
                        <a:rPr lang="en-US" sz="1700" dirty="0" smtClean="0">
                          <a:solidFill>
                            <a:srgbClr val="000000"/>
                          </a:solidFill>
                          <a:effectLst/>
                          <a:latin typeface="verdana"/>
                        </a:rPr>
                        <a:t>It is used to retrieve or remove the head (the first element) of the queue and returns its value.</a:t>
                      </a:r>
                      <a:endParaRPr lang="en-US" sz="1700" dirty="0">
                        <a:solidFill>
                          <a:srgbClr val="000000"/>
                        </a:solidFill>
                        <a:effectLst/>
                        <a:latin typeface="verdana"/>
                      </a:endParaRPr>
                    </a:p>
                  </a:txBody>
                  <a:tcPr marL="76200" marR="76200" marT="76200" marB="76200"/>
                </a:tc>
              </a:tr>
              <a:tr h="221700">
                <a:tc>
                  <a:txBody>
                    <a:bodyPr/>
                    <a:lstStyle/>
                    <a:p>
                      <a:pPr algn="l" fontAlgn="t"/>
                      <a:r>
                        <a:rPr lang="en-US" sz="1600" dirty="0" smtClean="0">
                          <a:solidFill>
                            <a:srgbClr val="000000"/>
                          </a:solidFill>
                          <a:effectLst/>
                          <a:latin typeface="verdana"/>
                        </a:rPr>
                        <a:t>5</a:t>
                      </a:r>
                      <a:endParaRPr lang="en-US" sz="16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Object poll()</a:t>
                      </a:r>
                    </a:p>
                  </a:txBody>
                  <a:tcPr marL="76200" marR="76200" marT="76200" marB="76200"/>
                </a:tc>
                <a:tc>
                  <a:txBody>
                    <a:bodyPr/>
                    <a:lstStyle/>
                    <a:p>
                      <a:pPr algn="l" fontAlgn="t"/>
                      <a:r>
                        <a:rPr lang="en-US" sz="1700" dirty="0" smtClean="0">
                          <a:solidFill>
                            <a:srgbClr val="000000"/>
                          </a:solidFill>
                          <a:effectLst/>
                          <a:latin typeface="verdana"/>
                        </a:rPr>
                        <a:t>The poll() method is similar to remove () method, but the only difference is poll () returns null if the queue is empty.</a:t>
                      </a:r>
                      <a:endParaRPr lang="en-US" sz="1700" dirty="0">
                        <a:solidFill>
                          <a:srgbClr val="000000"/>
                        </a:solidFill>
                        <a:effectLst/>
                        <a:latin typeface="verdana"/>
                      </a:endParaRPr>
                    </a:p>
                  </a:txBody>
                  <a:tcPr marL="76200" marR="76200" marT="76200" marB="76200"/>
                </a:tc>
              </a:tr>
              <a:tr h="221700">
                <a:tc>
                  <a:txBody>
                    <a:bodyPr/>
                    <a:lstStyle/>
                    <a:p>
                      <a:pPr algn="l" fontAlgn="t"/>
                      <a:r>
                        <a:rPr lang="en-US" sz="1600" dirty="0" smtClean="0">
                          <a:solidFill>
                            <a:srgbClr val="000000"/>
                          </a:solidFill>
                          <a:effectLst/>
                          <a:latin typeface="verdana"/>
                        </a:rPr>
                        <a:t>6</a:t>
                      </a:r>
                      <a:endParaRPr lang="en-US" sz="16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Object peek()</a:t>
                      </a:r>
                    </a:p>
                  </a:txBody>
                  <a:tcPr marL="76200" marR="76200" marT="76200" marB="76200"/>
                </a:tc>
                <a:tc>
                  <a:txBody>
                    <a:bodyPr/>
                    <a:lstStyle/>
                    <a:p>
                      <a:pPr algn="l" fontAlgn="t"/>
                      <a:r>
                        <a:rPr lang="en-US" sz="1700" dirty="0" smtClean="0">
                          <a:solidFill>
                            <a:srgbClr val="000000"/>
                          </a:solidFill>
                          <a:effectLst/>
                          <a:latin typeface="verdana"/>
                        </a:rPr>
                        <a:t>returns the head of the queue</a:t>
                      </a:r>
                      <a:endParaRPr lang="en-US" sz="1700" dirty="0">
                        <a:solidFill>
                          <a:srgbClr val="000000"/>
                        </a:solidFill>
                        <a:effectLst/>
                        <a:latin typeface="verdana"/>
                      </a:endParaRPr>
                    </a:p>
                  </a:txBody>
                  <a:tcPr marL="76200" marR="76200" marT="76200" marB="76200"/>
                </a:tc>
              </a:tr>
              <a:tr h="221700">
                <a:tc>
                  <a:txBody>
                    <a:bodyPr/>
                    <a:lstStyle/>
                    <a:p>
                      <a:pPr algn="l" fontAlgn="t"/>
                      <a:r>
                        <a:rPr lang="en-US" sz="1600" dirty="0" smtClean="0">
                          <a:solidFill>
                            <a:srgbClr val="000000"/>
                          </a:solidFill>
                          <a:effectLst/>
                          <a:latin typeface="verdana"/>
                        </a:rPr>
                        <a:t>7</a:t>
                      </a:r>
                      <a:endParaRPr lang="en-US" sz="16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Object element()</a:t>
                      </a:r>
                    </a:p>
                  </a:txBody>
                  <a:tcPr marL="76200" marR="76200" marT="76200" marB="7620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700" dirty="0" smtClean="0">
                          <a:solidFill>
                            <a:srgbClr val="000000"/>
                          </a:solidFill>
                          <a:effectLst/>
                          <a:latin typeface="verdana"/>
                        </a:rPr>
                        <a:t>returns the head of the queue. But difference betwee</a:t>
                      </a:r>
                      <a:r>
                        <a:rPr lang="en-US" sz="1700" baseline="0" dirty="0" smtClean="0">
                          <a:solidFill>
                            <a:srgbClr val="000000"/>
                          </a:solidFill>
                          <a:effectLst/>
                          <a:latin typeface="verdana"/>
                        </a:rPr>
                        <a:t>n</a:t>
                      </a:r>
                      <a:r>
                        <a:rPr lang="en-US" sz="1700" dirty="0" smtClean="0">
                          <a:solidFill>
                            <a:srgbClr val="000000"/>
                          </a:solidFill>
                          <a:effectLst/>
                          <a:latin typeface="verdana"/>
                        </a:rPr>
                        <a:t> element() and peek() returns null if the queue is empty.</a:t>
                      </a:r>
                    </a:p>
                  </a:txBody>
                  <a:tcPr marL="76200" marR="76200" marT="76200" marB="76200"/>
                </a:tc>
              </a:tr>
              <a:tr h="221700">
                <a:tc>
                  <a:txBody>
                    <a:bodyPr/>
                    <a:lstStyle/>
                    <a:p>
                      <a:pPr algn="l" fontAlgn="t"/>
                      <a:r>
                        <a:rPr lang="en-US" sz="1600" dirty="0" smtClean="0">
                          <a:solidFill>
                            <a:srgbClr val="000000"/>
                          </a:solidFill>
                          <a:effectLst/>
                          <a:latin typeface="verdana"/>
                        </a:rPr>
                        <a:t>8</a:t>
                      </a:r>
                      <a:endParaRPr lang="en-US" sz="1600" dirty="0">
                        <a:solidFill>
                          <a:srgbClr val="000000"/>
                        </a:solidFill>
                        <a:effectLst/>
                        <a:latin typeface="verdana"/>
                      </a:endParaRPr>
                    </a:p>
                  </a:txBody>
                  <a:tcPr marL="76200" marR="76200" marT="76200" marB="76200"/>
                </a:tc>
                <a:tc>
                  <a:txBody>
                    <a:bodyPr/>
                    <a:lstStyle/>
                    <a:p>
                      <a:pPr algn="l" fontAlgn="t"/>
                      <a:r>
                        <a:rPr lang="en-US" sz="1800" dirty="0" smtClean="0">
                          <a:solidFill>
                            <a:srgbClr val="000000"/>
                          </a:solidFill>
                          <a:effectLst/>
                          <a:latin typeface="verdana"/>
                        </a:rPr>
                        <a:t>public </a:t>
                      </a:r>
                      <a:r>
                        <a:rPr lang="en-US" sz="1800" dirty="0" err="1" smtClean="0">
                          <a:solidFill>
                            <a:srgbClr val="000000"/>
                          </a:solidFill>
                          <a:effectLst/>
                          <a:latin typeface="verdana"/>
                        </a:rPr>
                        <a:t>int</a:t>
                      </a:r>
                      <a:r>
                        <a:rPr lang="en-US" sz="1800" dirty="0" smtClean="0">
                          <a:solidFill>
                            <a:srgbClr val="000000"/>
                          </a:solidFill>
                          <a:effectLst/>
                          <a:latin typeface="verdana"/>
                        </a:rPr>
                        <a:t> size()</a:t>
                      </a:r>
                    </a:p>
                  </a:txBody>
                  <a:tcPr marL="76200" marR="76200" marT="76200" marB="7620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700" dirty="0" smtClean="0">
                          <a:solidFill>
                            <a:srgbClr val="000000"/>
                          </a:solidFill>
                          <a:effectLst/>
                          <a:latin typeface="verdana"/>
                        </a:rPr>
                        <a:t>returns size</a:t>
                      </a:r>
                      <a:r>
                        <a:rPr lang="en-US" sz="1700" baseline="0" dirty="0" smtClean="0">
                          <a:solidFill>
                            <a:srgbClr val="000000"/>
                          </a:solidFill>
                          <a:effectLst/>
                          <a:latin typeface="verdana"/>
                        </a:rPr>
                        <a:t> of the queue</a:t>
                      </a:r>
                      <a:r>
                        <a:rPr lang="en-US" sz="1700" dirty="0" smtClean="0">
                          <a:solidFill>
                            <a:srgbClr val="000000"/>
                          </a:solidFill>
                          <a:effectLst/>
                          <a:latin typeface="verdana"/>
                        </a:rPr>
                        <a:t>.</a:t>
                      </a:r>
                    </a:p>
                  </a:txBody>
                  <a:tcPr marL="76200" marR="76200" marT="76200" marB="76200"/>
                </a:tc>
              </a:tr>
            </a:tbl>
          </a:graphicData>
        </a:graphic>
      </p:graphicFrame>
    </p:spTree>
    <p:extLst>
      <p:ext uri="{BB962C8B-B14F-4D97-AF65-F5344CB8AC3E}">
        <p14:creationId xmlns:p14="http://schemas.microsoft.com/office/powerpoint/2010/main" val="14889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Queue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fontScale="40000" lnSpcReduction="20000"/>
          </a:bodyPr>
          <a:lstStyle/>
          <a:p>
            <a:pPr algn="just" fontAlgn="base"/>
            <a:r>
              <a:rPr lang="en-US" sz="4500" b="1" dirty="0"/>
              <a:t>Creating a Queue and Performing basic operations like </a:t>
            </a:r>
            <a:r>
              <a:rPr lang="en-US" sz="4500" b="1" dirty="0" err="1"/>
              <a:t>Enqueue</a:t>
            </a:r>
            <a:r>
              <a:rPr lang="en-US" sz="4500" b="1" dirty="0"/>
              <a:t> and </a:t>
            </a:r>
            <a:r>
              <a:rPr lang="en-US" sz="4500" b="1" dirty="0" err="1"/>
              <a:t>Dequeue</a:t>
            </a:r>
            <a:r>
              <a:rPr lang="en-US" sz="4500" b="1" dirty="0" smtClean="0"/>
              <a:t>.</a:t>
            </a:r>
          </a:p>
          <a:p>
            <a:pPr marL="0" indent="0" algn="just" fontAlgn="base">
              <a:lnSpc>
                <a:spcPct val="120000"/>
              </a:lnSpc>
              <a:spcBef>
                <a:spcPts val="0"/>
              </a:spcBef>
              <a:buNone/>
            </a:pPr>
            <a:r>
              <a:rPr lang="en-US" sz="4000" dirty="0" smtClean="0"/>
              <a:t>import </a:t>
            </a:r>
            <a:r>
              <a:rPr lang="en-US" sz="4000" dirty="0" err="1" smtClean="0"/>
              <a:t>java.util.LinkedList</a:t>
            </a:r>
            <a:r>
              <a:rPr lang="en-US" sz="4000" dirty="0" smtClean="0"/>
              <a:t>;</a:t>
            </a:r>
          </a:p>
          <a:p>
            <a:pPr marL="0" indent="0" algn="just" fontAlgn="base">
              <a:lnSpc>
                <a:spcPct val="120000"/>
              </a:lnSpc>
              <a:spcBef>
                <a:spcPts val="0"/>
              </a:spcBef>
              <a:buNone/>
            </a:pPr>
            <a:r>
              <a:rPr lang="en-US" sz="4000" dirty="0" smtClean="0"/>
              <a:t>import </a:t>
            </a:r>
            <a:r>
              <a:rPr lang="en-US" sz="4000" dirty="0" err="1" smtClean="0"/>
              <a:t>java.util.Queue</a:t>
            </a:r>
            <a:r>
              <a:rPr lang="en-US" sz="4000" dirty="0" smtClean="0"/>
              <a:t>;</a:t>
            </a:r>
          </a:p>
          <a:p>
            <a:pPr marL="0" indent="0" algn="just" fontAlgn="base">
              <a:lnSpc>
                <a:spcPct val="120000"/>
              </a:lnSpc>
              <a:spcBef>
                <a:spcPts val="0"/>
              </a:spcBef>
              <a:buNone/>
            </a:pPr>
            <a:r>
              <a:rPr lang="en-US" sz="4000" dirty="0" smtClean="0"/>
              <a:t>public class </a:t>
            </a:r>
            <a:r>
              <a:rPr lang="en-US" sz="4000" dirty="0" err="1" smtClean="0"/>
              <a:t>QueueExample</a:t>
            </a:r>
            <a:r>
              <a:rPr lang="en-US" sz="4000" dirty="0" smtClean="0"/>
              <a:t> {</a:t>
            </a:r>
          </a:p>
          <a:p>
            <a:pPr marL="0" indent="0" algn="just" fontAlgn="base">
              <a:lnSpc>
                <a:spcPct val="120000"/>
              </a:lnSpc>
              <a:spcBef>
                <a:spcPts val="0"/>
              </a:spcBef>
              <a:buNone/>
            </a:pPr>
            <a:r>
              <a:rPr lang="en-US" sz="4000" dirty="0" smtClean="0"/>
              <a:t>    public static void main(String[] </a:t>
            </a:r>
            <a:r>
              <a:rPr lang="en-US" sz="4000" dirty="0" err="1" smtClean="0"/>
              <a:t>args</a:t>
            </a:r>
            <a:r>
              <a:rPr lang="en-US" sz="4000" dirty="0" smtClean="0"/>
              <a:t>) {</a:t>
            </a:r>
          </a:p>
          <a:p>
            <a:pPr marL="0" indent="0" algn="just" fontAlgn="base">
              <a:lnSpc>
                <a:spcPct val="120000"/>
              </a:lnSpc>
              <a:spcBef>
                <a:spcPts val="0"/>
              </a:spcBef>
              <a:buNone/>
            </a:pPr>
            <a:r>
              <a:rPr lang="en-US" sz="4000" dirty="0" smtClean="0"/>
              <a:t>        // Create and initialize a Queue using a </a:t>
            </a:r>
            <a:r>
              <a:rPr lang="en-US" sz="4000" dirty="0" err="1" smtClean="0"/>
              <a:t>LinkedList</a:t>
            </a:r>
            <a:endParaRPr lang="en-US" sz="4000" dirty="0" smtClean="0"/>
          </a:p>
          <a:p>
            <a:pPr marL="0" indent="0" algn="just" fontAlgn="base">
              <a:lnSpc>
                <a:spcPct val="120000"/>
              </a:lnSpc>
              <a:spcBef>
                <a:spcPts val="0"/>
              </a:spcBef>
              <a:buNone/>
            </a:pPr>
            <a:r>
              <a:rPr lang="en-US" sz="4000" dirty="0" smtClean="0"/>
              <a:t>        Queue&lt;String&gt; </a:t>
            </a:r>
            <a:r>
              <a:rPr lang="en-US" sz="4000" dirty="0" err="1" smtClean="0"/>
              <a:t>waitingQueue</a:t>
            </a:r>
            <a:r>
              <a:rPr lang="en-US" sz="4000" dirty="0" smtClean="0"/>
              <a:t> = new </a:t>
            </a:r>
            <a:r>
              <a:rPr lang="en-US" sz="4000" dirty="0" err="1" smtClean="0"/>
              <a:t>LinkedList</a:t>
            </a:r>
            <a:r>
              <a:rPr lang="en-US" sz="4000" dirty="0" smtClean="0"/>
              <a:t>&lt;&gt;();</a:t>
            </a:r>
          </a:p>
          <a:p>
            <a:pPr marL="0" indent="0" algn="just" fontAlgn="base">
              <a:lnSpc>
                <a:spcPct val="120000"/>
              </a:lnSpc>
              <a:spcBef>
                <a:spcPts val="0"/>
              </a:spcBef>
              <a:buNone/>
            </a:pPr>
            <a:r>
              <a:rPr lang="en-US" sz="4000" dirty="0" smtClean="0"/>
              <a:t>        // Adding new </a:t>
            </a:r>
            <a:r>
              <a:rPr lang="en-US" sz="4000" dirty="0"/>
              <a:t>elements to the Queue (The </a:t>
            </a:r>
            <a:r>
              <a:rPr lang="en-US" sz="4000" dirty="0" err="1"/>
              <a:t>Enqueue</a:t>
            </a:r>
            <a:r>
              <a:rPr lang="en-US" sz="4000" dirty="0"/>
              <a:t> operation)</a:t>
            </a:r>
          </a:p>
          <a:p>
            <a:pPr marL="0" indent="0" algn="just" fontAlgn="base">
              <a:lnSpc>
                <a:spcPct val="120000"/>
              </a:lnSpc>
              <a:spcBef>
                <a:spcPts val="0"/>
              </a:spcBef>
              <a:buNone/>
            </a:pPr>
            <a:r>
              <a:rPr lang="en-US" sz="4000" dirty="0"/>
              <a:t>        </a:t>
            </a:r>
            <a:r>
              <a:rPr lang="en-US" sz="4000" dirty="0" err="1"/>
              <a:t>waitingQueue.add</a:t>
            </a:r>
            <a:r>
              <a:rPr lang="en-US" sz="4000" dirty="0"/>
              <a:t>("Rajeev</a:t>
            </a:r>
            <a:r>
              <a:rPr lang="en-US" sz="4000" dirty="0" smtClean="0"/>
              <a:t>"); </a:t>
            </a:r>
            <a:r>
              <a:rPr lang="en-US" sz="4000" dirty="0" err="1" smtClean="0"/>
              <a:t>waitingQueue.add</a:t>
            </a:r>
            <a:r>
              <a:rPr lang="en-US" sz="4000" dirty="0"/>
              <a:t>("Chris");</a:t>
            </a:r>
          </a:p>
          <a:p>
            <a:pPr marL="0" indent="0" algn="just" fontAlgn="base">
              <a:lnSpc>
                <a:spcPct val="120000"/>
              </a:lnSpc>
              <a:spcBef>
                <a:spcPts val="0"/>
              </a:spcBef>
              <a:buNone/>
            </a:pPr>
            <a:r>
              <a:rPr lang="en-US" sz="4000" dirty="0"/>
              <a:t>        </a:t>
            </a:r>
            <a:r>
              <a:rPr lang="en-US" sz="4000" dirty="0" err="1"/>
              <a:t>waitingQueue.add</a:t>
            </a:r>
            <a:r>
              <a:rPr lang="en-US" sz="4000" dirty="0"/>
              <a:t>("John</a:t>
            </a:r>
            <a:r>
              <a:rPr lang="en-US" sz="4000" dirty="0" smtClean="0"/>
              <a:t>");    </a:t>
            </a:r>
            <a:r>
              <a:rPr lang="en-US" sz="4000" dirty="0" err="1" smtClean="0"/>
              <a:t>waitingQueue.add</a:t>
            </a:r>
            <a:r>
              <a:rPr lang="en-US" sz="4000" dirty="0"/>
              <a:t>("Mark");</a:t>
            </a:r>
          </a:p>
          <a:p>
            <a:pPr marL="0" indent="0" algn="just" fontAlgn="base">
              <a:lnSpc>
                <a:spcPct val="120000"/>
              </a:lnSpc>
              <a:spcBef>
                <a:spcPts val="0"/>
              </a:spcBef>
              <a:buNone/>
            </a:pPr>
            <a:r>
              <a:rPr lang="en-US" sz="4000" dirty="0"/>
              <a:t>        </a:t>
            </a:r>
            <a:r>
              <a:rPr lang="en-US" sz="4000" dirty="0" err="1"/>
              <a:t>waitingQueue.add</a:t>
            </a:r>
            <a:r>
              <a:rPr lang="en-US" sz="4000" dirty="0"/>
              <a:t>("Steven</a:t>
            </a:r>
            <a:r>
              <a:rPr lang="en-US" sz="4000" dirty="0" smtClean="0"/>
              <a:t>");</a:t>
            </a:r>
            <a:endParaRPr lang="en-US" sz="4000" dirty="0"/>
          </a:p>
          <a:p>
            <a:pPr marL="0" indent="0" algn="just" fontAlgn="base">
              <a:lnSpc>
                <a:spcPct val="120000"/>
              </a:lnSpc>
              <a:spcBef>
                <a:spcPts val="0"/>
              </a:spcBef>
              <a:buNone/>
            </a:pPr>
            <a:r>
              <a:rPr lang="en-US" sz="4000" dirty="0"/>
              <a:t>        </a:t>
            </a:r>
            <a:r>
              <a:rPr lang="en-US" sz="4000" dirty="0" err="1"/>
              <a:t>System.out.println</a:t>
            </a:r>
            <a:r>
              <a:rPr lang="en-US" sz="4000" dirty="0"/>
              <a:t>("</a:t>
            </a:r>
            <a:r>
              <a:rPr lang="en-US" sz="4000" dirty="0" err="1"/>
              <a:t>WaitingQueue</a:t>
            </a:r>
            <a:r>
              <a:rPr lang="en-US" sz="4000" dirty="0"/>
              <a:t> : " + </a:t>
            </a:r>
            <a:r>
              <a:rPr lang="en-US" sz="4000" dirty="0" err="1"/>
              <a:t>waitingQueue</a:t>
            </a:r>
            <a:r>
              <a:rPr lang="en-US" sz="4000" dirty="0" smtClean="0"/>
              <a:t>);</a:t>
            </a:r>
            <a:endParaRPr lang="en-US" sz="4000" dirty="0"/>
          </a:p>
          <a:p>
            <a:pPr marL="0" indent="0" algn="just" fontAlgn="base">
              <a:lnSpc>
                <a:spcPct val="120000"/>
              </a:lnSpc>
              <a:spcBef>
                <a:spcPts val="0"/>
              </a:spcBef>
              <a:buNone/>
            </a:pPr>
            <a:r>
              <a:rPr lang="en-US" sz="4000" dirty="0"/>
              <a:t>        // Removing an element from the Queue using remove() </a:t>
            </a:r>
            <a:r>
              <a:rPr lang="en-US" sz="4000" dirty="0" smtClean="0"/>
              <a:t>,throws </a:t>
            </a:r>
            <a:r>
              <a:rPr lang="en-US" sz="4000" dirty="0" err="1"/>
              <a:t>NoSuchElementException</a:t>
            </a:r>
            <a:r>
              <a:rPr lang="en-US" sz="4000" dirty="0"/>
              <a:t> if the Queue is empty</a:t>
            </a:r>
          </a:p>
          <a:p>
            <a:pPr marL="0" indent="0" algn="just" fontAlgn="base">
              <a:lnSpc>
                <a:spcPct val="120000"/>
              </a:lnSpc>
              <a:spcBef>
                <a:spcPts val="0"/>
              </a:spcBef>
              <a:buNone/>
            </a:pPr>
            <a:r>
              <a:rPr lang="en-US" sz="4000" dirty="0"/>
              <a:t>        String name = </a:t>
            </a:r>
            <a:r>
              <a:rPr lang="en-US" sz="4000" dirty="0" err="1"/>
              <a:t>waitingQueue.remove</a:t>
            </a:r>
            <a:r>
              <a:rPr lang="en-US" sz="4000" dirty="0"/>
              <a:t>();</a:t>
            </a:r>
          </a:p>
          <a:p>
            <a:pPr marL="0" indent="0" algn="just" fontAlgn="base">
              <a:lnSpc>
                <a:spcPct val="120000"/>
              </a:lnSpc>
              <a:spcBef>
                <a:spcPts val="0"/>
              </a:spcBef>
              <a:buNone/>
            </a:pPr>
            <a:r>
              <a:rPr lang="en-US" sz="4000" dirty="0"/>
              <a:t>        </a:t>
            </a:r>
            <a:r>
              <a:rPr lang="en-US" sz="4000" dirty="0" err="1"/>
              <a:t>System.out.println</a:t>
            </a:r>
            <a:r>
              <a:rPr lang="en-US" sz="4000" dirty="0"/>
              <a:t>("Removed from </a:t>
            </a:r>
            <a:r>
              <a:rPr lang="en-US" sz="4000" dirty="0" err="1"/>
              <a:t>WaitingQueue</a:t>
            </a:r>
            <a:r>
              <a:rPr lang="en-US" sz="4000" dirty="0"/>
              <a:t> : " + name + " | New </a:t>
            </a:r>
            <a:r>
              <a:rPr lang="en-US" sz="4000" dirty="0" err="1"/>
              <a:t>WaitingQueue</a:t>
            </a:r>
            <a:r>
              <a:rPr lang="en-US" sz="4000" dirty="0"/>
              <a:t> : " + </a:t>
            </a:r>
            <a:r>
              <a:rPr lang="en-US" sz="4000" dirty="0" err="1"/>
              <a:t>waitingQueue</a:t>
            </a:r>
            <a:r>
              <a:rPr lang="en-US" sz="4000" dirty="0" smtClean="0"/>
              <a:t>);</a:t>
            </a:r>
            <a:endParaRPr lang="en-US" sz="4000" dirty="0"/>
          </a:p>
          <a:p>
            <a:pPr marL="0" indent="0" algn="just" fontAlgn="base">
              <a:lnSpc>
                <a:spcPct val="120000"/>
              </a:lnSpc>
              <a:spcBef>
                <a:spcPts val="0"/>
              </a:spcBef>
              <a:buNone/>
            </a:pPr>
            <a:r>
              <a:rPr lang="en-US" sz="4000" dirty="0"/>
              <a:t>        // Removing an element from the Queue using poll</a:t>
            </a:r>
            <a:r>
              <a:rPr lang="en-US" sz="4000" dirty="0" smtClean="0"/>
              <a:t>(),it </a:t>
            </a:r>
            <a:r>
              <a:rPr lang="en-US" sz="4000" dirty="0"/>
              <a:t>returns null if the Queue is empty.</a:t>
            </a:r>
          </a:p>
          <a:p>
            <a:pPr marL="0" indent="0" algn="just" fontAlgn="base">
              <a:lnSpc>
                <a:spcPct val="120000"/>
              </a:lnSpc>
              <a:spcBef>
                <a:spcPts val="0"/>
              </a:spcBef>
              <a:buNone/>
            </a:pPr>
            <a:r>
              <a:rPr lang="en-US" sz="4000" dirty="0"/>
              <a:t>        name = </a:t>
            </a:r>
            <a:r>
              <a:rPr lang="en-US" sz="4000" dirty="0" err="1"/>
              <a:t>waitingQueue.poll</a:t>
            </a:r>
            <a:r>
              <a:rPr lang="en-US" sz="4000" dirty="0"/>
              <a:t>();</a:t>
            </a:r>
          </a:p>
          <a:p>
            <a:pPr marL="0" indent="0" algn="just" fontAlgn="base">
              <a:lnSpc>
                <a:spcPct val="120000"/>
              </a:lnSpc>
              <a:spcBef>
                <a:spcPts val="0"/>
              </a:spcBef>
              <a:buNone/>
            </a:pPr>
            <a:r>
              <a:rPr lang="en-US" sz="4000" dirty="0"/>
              <a:t>        </a:t>
            </a:r>
            <a:r>
              <a:rPr lang="en-US" sz="4000" dirty="0" err="1"/>
              <a:t>System.out.println</a:t>
            </a:r>
            <a:r>
              <a:rPr lang="en-US" sz="4000" dirty="0"/>
              <a:t>("Removed from </a:t>
            </a:r>
            <a:r>
              <a:rPr lang="en-US" sz="4000" dirty="0" err="1"/>
              <a:t>WaitingQueue</a:t>
            </a:r>
            <a:r>
              <a:rPr lang="en-US" sz="4000" dirty="0"/>
              <a:t> : " + name + " | New </a:t>
            </a:r>
            <a:r>
              <a:rPr lang="en-US" sz="4000" dirty="0" err="1"/>
              <a:t>WaitingQueue</a:t>
            </a:r>
            <a:r>
              <a:rPr lang="en-US" sz="4000" dirty="0"/>
              <a:t> : " + </a:t>
            </a:r>
            <a:r>
              <a:rPr lang="en-US" sz="4000" dirty="0" err="1"/>
              <a:t>waitingQueue</a:t>
            </a:r>
            <a:r>
              <a:rPr lang="en-US" sz="4000" dirty="0"/>
              <a:t>);</a:t>
            </a:r>
          </a:p>
          <a:p>
            <a:pPr marL="0" indent="0" algn="just" fontAlgn="base">
              <a:lnSpc>
                <a:spcPct val="120000"/>
              </a:lnSpc>
              <a:spcBef>
                <a:spcPts val="0"/>
              </a:spcBef>
              <a:buNone/>
            </a:pPr>
            <a:r>
              <a:rPr lang="en-US" sz="4000" dirty="0"/>
              <a:t>    }</a:t>
            </a:r>
          </a:p>
          <a:p>
            <a:pPr marL="0" indent="0" algn="just" fontAlgn="base">
              <a:lnSpc>
                <a:spcPct val="120000"/>
              </a:lnSpc>
              <a:spcBef>
                <a:spcPts val="0"/>
              </a:spcBef>
              <a:buNone/>
            </a:pPr>
            <a:r>
              <a:rPr lang="en-US" sz="4000" dirty="0"/>
              <a:t>}</a:t>
            </a:r>
            <a:endParaRPr lang="en-US" sz="40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28</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6921056" y="1497670"/>
            <a:ext cx="4871546" cy="179732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r>
              <a:rPr lang="en-US" sz="2000" dirty="0" smtClean="0"/>
              <a:t>:</a:t>
            </a:r>
            <a:endParaRPr lang="en-US" sz="2000" dirty="0"/>
          </a:p>
          <a:p>
            <a:pPr marL="0" indent="0">
              <a:buNone/>
            </a:pPr>
            <a:r>
              <a:rPr lang="en-US" sz="2000" dirty="0" err="1"/>
              <a:t>WaitingQueue</a:t>
            </a:r>
            <a:r>
              <a:rPr lang="en-US" sz="2000" dirty="0"/>
              <a:t> : [Rajeev, Chris, John, Mark, Steven]</a:t>
            </a:r>
          </a:p>
          <a:p>
            <a:pPr marL="0" indent="0">
              <a:buNone/>
            </a:pPr>
            <a:r>
              <a:rPr lang="en-US" sz="2000" dirty="0"/>
              <a:t>Removed from </a:t>
            </a:r>
            <a:r>
              <a:rPr lang="en-US" sz="2000" dirty="0" err="1"/>
              <a:t>WaitingQueue</a:t>
            </a:r>
            <a:r>
              <a:rPr lang="en-US" sz="2000" dirty="0"/>
              <a:t> : Rajeev | New </a:t>
            </a:r>
            <a:r>
              <a:rPr lang="en-US" sz="2000" dirty="0" err="1"/>
              <a:t>WaitingQueue</a:t>
            </a:r>
            <a:r>
              <a:rPr lang="en-US" sz="2000" dirty="0"/>
              <a:t> : [Chris, John, Mark, Steven]</a:t>
            </a:r>
          </a:p>
          <a:p>
            <a:pPr marL="0" indent="0">
              <a:buNone/>
            </a:pPr>
            <a:r>
              <a:rPr lang="en-US" sz="2000" dirty="0"/>
              <a:t>Removed from </a:t>
            </a:r>
            <a:r>
              <a:rPr lang="en-US" sz="2000" dirty="0" err="1"/>
              <a:t>WaitingQueue</a:t>
            </a:r>
            <a:r>
              <a:rPr lang="en-US" sz="2000" dirty="0"/>
              <a:t> : Chris | New </a:t>
            </a:r>
            <a:r>
              <a:rPr lang="en-US" sz="2000" dirty="0" err="1"/>
              <a:t>WaitingQueue</a:t>
            </a:r>
            <a:r>
              <a:rPr lang="en-US" sz="2000" dirty="0"/>
              <a:t> : [John, Mark, Steven]</a:t>
            </a:r>
          </a:p>
        </p:txBody>
      </p:sp>
    </p:spTree>
    <p:extLst>
      <p:ext uri="{BB962C8B-B14F-4D97-AF65-F5344CB8AC3E}">
        <p14:creationId xmlns:p14="http://schemas.microsoft.com/office/powerpoint/2010/main" val="152964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Queue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783943"/>
          </a:xfrm>
        </p:spPr>
        <p:txBody>
          <a:bodyPr>
            <a:normAutofit fontScale="32500" lnSpcReduction="20000"/>
          </a:bodyPr>
          <a:lstStyle/>
          <a:p>
            <a:pPr algn="just" fontAlgn="base"/>
            <a:r>
              <a:rPr lang="en-US" sz="5500" b="1" dirty="0"/>
              <a:t>Iterating over a </a:t>
            </a:r>
            <a:r>
              <a:rPr lang="en-US" sz="5500" b="1" dirty="0" smtClean="0"/>
              <a:t>Queue using </a:t>
            </a:r>
            <a:r>
              <a:rPr lang="en-US" sz="5500" b="1" dirty="0"/>
              <a:t>iterator</a:t>
            </a:r>
            <a:r>
              <a:rPr lang="en-US" sz="5500" b="1" dirty="0" smtClean="0"/>
              <a:t>() and </a:t>
            </a:r>
            <a:r>
              <a:rPr lang="en-US" sz="5500" b="1" dirty="0" err="1" smtClean="0"/>
              <a:t>forEach</a:t>
            </a:r>
            <a:r>
              <a:rPr lang="en-US" sz="5500" b="1" dirty="0" smtClean="0"/>
              <a:t>() in </a:t>
            </a:r>
            <a:r>
              <a:rPr lang="en-US" sz="5500" b="1" dirty="0"/>
              <a:t>Java </a:t>
            </a:r>
            <a:r>
              <a:rPr lang="en-US" sz="5500" b="1" dirty="0" smtClean="0"/>
              <a:t>8.</a:t>
            </a:r>
          </a:p>
          <a:p>
            <a:pPr marL="0" indent="0" algn="just" fontAlgn="base">
              <a:lnSpc>
                <a:spcPct val="120000"/>
              </a:lnSpc>
              <a:spcBef>
                <a:spcPts val="0"/>
              </a:spcBef>
              <a:buNone/>
            </a:pPr>
            <a:r>
              <a:rPr lang="en-US" sz="4900" dirty="0"/>
              <a:t>import </a:t>
            </a:r>
            <a:r>
              <a:rPr lang="en-US" sz="4900" dirty="0" err="1"/>
              <a:t>java.util.Iterator</a:t>
            </a:r>
            <a:r>
              <a:rPr lang="en-US" sz="4900" dirty="0"/>
              <a:t>;</a:t>
            </a:r>
          </a:p>
          <a:p>
            <a:pPr marL="0" indent="0" algn="just" fontAlgn="base">
              <a:lnSpc>
                <a:spcPct val="120000"/>
              </a:lnSpc>
              <a:spcBef>
                <a:spcPts val="0"/>
              </a:spcBef>
              <a:buNone/>
            </a:pPr>
            <a:r>
              <a:rPr lang="en-US" sz="4900" dirty="0"/>
              <a:t>import </a:t>
            </a:r>
            <a:r>
              <a:rPr lang="en-US" sz="4900" dirty="0" err="1"/>
              <a:t>java.util.LinkedList</a:t>
            </a:r>
            <a:r>
              <a:rPr lang="en-US" sz="4900" dirty="0"/>
              <a:t>;</a:t>
            </a:r>
          </a:p>
          <a:p>
            <a:pPr marL="0" indent="0" algn="just" fontAlgn="base">
              <a:lnSpc>
                <a:spcPct val="120000"/>
              </a:lnSpc>
              <a:spcBef>
                <a:spcPts val="0"/>
              </a:spcBef>
              <a:buNone/>
            </a:pPr>
            <a:r>
              <a:rPr lang="en-US" sz="4900" dirty="0"/>
              <a:t>import </a:t>
            </a:r>
            <a:r>
              <a:rPr lang="en-US" sz="4900" dirty="0" err="1"/>
              <a:t>java.util.Queue</a:t>
            </a:r>
            <a:r>
              <a:rPr lang="en-US" sz="4900" dirty="0" smtClean="0"/>
              <a:t>;</a:t>
            </a:r>
          </a:p>
          <a:p>
            <a:pPr marL="0" indent="0" algn="just" fontAlgn="base">
              <a:lnSpc>
                <a:spcPct val="120000"/>
              </a:lnSpc>
              <a:spcBef>
                <a:spcPts val="0"/>
              </a:spcBef>
              <a:buNone/>
            </a:pPr>
            <a:r>
              <a:rPr lang="en-US" sz="4900" dirty="0" smtClean="0"/>
              <a:t>public </a:t>
            </a:r>
            <a:r>
              <a:rPr lang="en-US" sz="4900" dirty="0"/>
              <a:t>class </a:t>
            </a:r>
            <a:r>
              <a:rPr lang="en-US" sz="4900" dirty="0" err="1"/>
              <a:t>IterateOverQueueExample</a:t>
            </a:r>
            <a:r>
              <a:rPr lang="en-US" sz="4900" dirty="0"/>
              <a:t> {</a:t>
            </a:r>
          </a:p>
          <a:p>
            <a:pPr marL="0" indent="0" algn="just" fontAlgn="base">
              <a:lnSpc>
                <a:spcPct val="120000"/>
              </a:lnSpc>
              <a:spcBef>
                <a:spcPts val="0"/>
              </a:spcBef>
              <a:buNone/>
            </a:pPr>
            <a:r>
              <a:rPr lang="en-US" sz="4900" dirty="0"/>
              <a:t>    public static void main(String[] </a:t>
            </a:r>
            <a:r>
              <a:rPr lang="en-US" sz="4900" dirty="0" err="1"/>
              <a:t>args</a:t>
            </a:r>
            <a:r>
              <a:rPr lang="en-US" sz="4900" dirty="0"/>
              <a:t>) {</a:t>
            </a:r>
          </a:p>
          <a:p>
            <a:pPr marL="0" indent="0" algn="just" fontAlgn="base">
              <a:lnSpc>
                <a:spcPct val="120000"/>
              </a:lnSpc>
              <a:spcBef>
                <a:spcPts val="0"/>
              </a:spcBef>
              <a:buNone/>
            </a:pPr>
            <a:r>
              <a:rPr lang="en-US" sz="4900" dirty="0"/>
              <a:t>        Queue&lt;String&gt; </a:t>
            </a:r>
            <a:r>
              <a:rPr lang="en-US" sz="4900" dirty="0" err="1"/>
              <a:t>waitingQueue</a:t>
            </a:r>
            <a:r>
              <a:rPr lang="en-US" sz="4900" dirty="0"/>
              <a:t> = new </a:t>
            </a:r>
            <a:r>
              <a:rPr lang="en-US" sz="4900" dirty="0" err="1"/>
              <a:t>LinkedList</a:t>
            </a:r>
            <a:r>
              <a:rPr lang="en-US" sz="4900" dirty="0" smtClean="0"/>
              <a:t>&lt;&gt;();</a:t>
            </a:r>
          </a:p>
          <a:p>
            <a:pPr marL="0" indent="0" algn="just" fontAlgn="base">
              <a:lnSpc>
                <a:spcPct val="120000"/>
              </a:lnSpc>
              <a:spcBef>
                <a:spcPts val="0"/>
              </a:spcBef>
              <a:buNone/>
            </a:pPr>
            <a:r>
              <a:rPr lang="en-US" sz="4900" dirty="0" smtClean="0"/>
              <a:t>        </a:t>
            </a:r>
            <a:r>
              <a:rPr lang="en-US" sz="4900" dirty="0" err="1"/>
              <a:t>waitingQueue.add</a:t>
            </a:r>
            <a:r>
              <a:rPr lang="en-US" sz="4900" dirty="0"/>
              <a:t>("John");</a:t>
            </a:r>
          </a:p>
          <a:p>
            <a:pPr marL="0" indent="0" algn="just" fontAlgn="base">
              <a:lnSpc>
                <a:spcPct val="120000"/>
              </a:lnSpc>
              <a:spcBef>
                <a:spcPts val="0"/>
              </a:spcBef>
              <a:buNone/>
            </a:pPr>
            <a:r>
              <a:rPr lang="en-US" sz="4900" dirty="0"/>
              <a:t>        </a:t>
            </a:r>
            <a:r>
              <a:rPr lang="en-US" sz="4900" dirty="0" err="1"/>
              <a:t>waitingQueue.add</a:t>
            </a:r>
            <a:r>
              <a:rPr lang="en-US" sz="4900" dirty="0"/>
              <a:t>("Brad");</a:t>
            </a:r>
          </a:p>
          <a:p>
            <a:pPr marL="0" indent="0" algn="just" fontAlgn="base">
              <a:lnSpc>
                <a:spcPct val="120000"/>
              </a:lnSpc>
              <a:spcBef>
                <a:spcPts val="0"/>
              </a:spcBef>
              <a:buNone/>
            </a:pPr>
            <a:r>
              <a:rPr lang="en-US" sz="4900" dirty="0"/>
              <a:t>        </a:t>
            </a:r>
            <a:r>
              <a:rPr lang="en-US" sz="4900" dirty="0" err="1"/>
              <a:t>waitingQueue.add</a:t>
            </a:r>
            <a:r>
              <a:rPr lang="en-US" sz="4900" dirty="0"/>
              <a:t>("Angelina");</a:t>
            </a:r>
          </a:p>
          <a:p>
            <a:pPr marL="0" indent="0" algn="just" fontAlgn="base">
              <a:lnSpc>
                <a:spcPct val="120000"/>
              </a:lnSpc>
              <a:spcBef>
                <a:spcPts val="0"/>
              </a:spcBef>
              <a:buNone/>
            </a:pPr>
            <a:r>
              <a:rPr lang="en-US" sz="4900" dirty="0"/>
              <a:t>        </a:t>
            </a:r>
            <a:r>
              <a:rPr lang="en-US" sz="4900" dirty="0" err="1"/>
              <a:t>waitingQueue.add</a:t>
            </a:r>
            <a:r>
              <a:rPr lang="en-US" sz="4900" dirty="0"/>
              <a:t>("Julia</a:t>
            </a:r>
            <a:r>
              <a:rPr lang="en-US" sz="4900" dirty="0" smtClean="0"/>
              <a:t>");</a:t>
            </a:r>
          </a:p>
          <a:p>
            <a:pPr marL="0" indent="0" algn="just" fontAlgn="base">
              <a:lnSpc>
                <a:spcPct val="120000"/>
              </a:lnSpc>
              <a:spcBef>
                <a:spcPts val="0"/>
              </a:spcBef>
              <a:buNone/>
            </a:pPr>
            <a:r>
              <a:rPr lang="en-US" sz="4900" dirty="0" smtClean="0"/>
              <a:t>        </a:t>
            </a:r>
            <a:r>
              <a:rPr lang="en-US" sz="4900" dirty="0" err="1"/>
              <a:t>System.out.println</a:t>
            </a:r>
            <a:r>
              <a:rPr lang="en-US" sz="4900" dirty="0"/>
              <a:t>("=== Iterating over a Queue using Java 8 </a:t>
            </a:r>
            <a:r>
              <a:rPr lang="en-US" sz="4900" dirty="0" err="1"/>
              <a:t>forEach</a:t>
            </a:r>
            <a:r>
              <a:rPr lang="en-US" sz="4900" dirty="0"/>
              <a:t>() ===");</a:t>
            </a:r>
          </a:p>
          <a:p>
            <a:pPr marL="0" indent="0" algn="just" fontAlgn="base">
              <a:lnSpc>
                <a:spcPct val="120000"/>
              </a:lnSpc>
              <a:spcBef>
                <a:spcPts val="0"/>
              </a:spcBef>
              <a:buNone/>
            </a:pPr>
            <a:r>
              <a:rPr lang="en-US" sz="4900" dirty="0"/>
              <a:t>        </a:t>
            </a:r>
            <a:r>
              <a:rPr lang="en-US" sz="4900" dirty="0" err="1"/>
              <a:t>waitingQueue.forEach</a:t>
            </a:r>
            <a:r>
              <a:rPr lang="en-US" sz="4900" dirty="0"/>
              <a:t>(name -&gt; {</a:t>
            </a:r>
          </a:p>
          <a:p>
            <a:pPr marL="0" indent="0" algn="just" fontAlgn="base">
              <a:lnSpc>
                <a:spcPct val="120000"/>
              </a:lnSpc>
              <a:spcBef>
                <a:spcPts val="0"/>
              </a:spcBef>
              <a:buNone/>
            </a:pPr>
            <a:r>
              <a:rPr lang="en-US" sz="4900" dirty="0"/>
              <a:t>            </a:t>
            </a:r>
            <a:r>
              <a:rPr lang="en-US" sz="4900" dirty="0" err="1"/>
              <a:t>System.out.println</a:t>
            </a:r>
            <a:r>
              <a:rPr lang="en-US" sz="4900" dirty="0"/>
              <a:t>(name);</a:t>
            </a:r>
          </a:p>
          <a:p>
            <a:pPr marL="0" indent="0" algn="just" fontAlgn="base">
              <a:lnSpc>
                <a:spcPct val="120000"/>
              </a:lnSpc>
              <a:spcBef>
                <a:spcPts val="0"/>
              </a:spcBef>
              <a:buNone/>
            </a:pPr>
            <a:r>
              <a:rPr lang="en-US" sz="4900" dirty="0"/>
              <a:t>        </a:t>
            </a:r>
            <a:r>
              <a:rPr lang="en-US" sz="4900" dirty="0" smtClean="0"/>
              <a:t>});</a:t>
            </a:r>
          </a:p>
          <a:p>
            <a:pPr marL="0" indent="0" algn="just" fontAlgn="base">
              <a:lnSpc>
                <a:spcPct val="120000"/>
              </a:lnSpc>
              <a:spcBef>
                <a:spcPts val="0"/>
              </a:spcBef>
              <a:buNone/>
            </a:pPr>
            <a:r>
              <a:rPr lang="en-US" sz="4900" dirty="0" smtClean="0"/>
              <a:t>        </a:t>
            </a:r>
            <a:r>
              <a:rPr lang="en-US" sz="4900" dirty="0" err="1" smtClean="0"/>
              <a:t>System.out.println</a:t>
            </a:r>
            <a:r>
              <a:rPr lang="en-US" sz="4900" dirty="0" smtClean="0"/>
              <a:t>("\n=== Iterating over a Queue using iterator() ===");</a:t>
            </a:r>
          </a:p>
          <a:p>
            <a:pPr marL="0" indent="0" algn="just" fontAlgn="base">
              <a:lnSpc>
                <a:spcPct val="120000"/>
              </a:lnSpc>
              <a:spcBef>
                <a:spcPts val="0"/>
              </a:spcBef>
              <a:buNone/>
            </a:pPr>
            <a:r>
              <a:rPr lang="en-US" sz="4900" dirty="0" smtClean="0"/>
              <a:t>        Iterator&lt;String&gt; </a:t>
            </a:r>
            <a:r>
              <a:rPr lang="en-US" sz="4900" dirty="0" err="1" smtClean="0"/>
              <a:t>waitingQueueIterator</a:t>
            </a:r>
            <a:r>
              <a:rPr lang="en-US" sz="4900" dirty="0" smtClean="0"/>
              <a:t> = </a:t>
            </a:r>
            <a:r>
              <a:rPr lang="en-US" sz="4900" dirty="0" err="1" smtClean="0"/>
              <a:t>waitingQueue.iterator</a:t>
            </a:r>
            <a:r>
              <a:rPr lang="en-US" sz="4900" dirty="0" smtClean="0"/>
              <a:t>();</a:t>
            </a:r>
          </a:p>
          <a:p>
            <a:pPr marL="0" indent="0" algn="just" fontAlgn="base">
              <a:lnSpc>
                <a:spcPct val="120000"/>
              </a:lnSpc>
              <a:spcBef>
                <a:spcPts val="0"/>
              </a:spcBef>
              <a:buNone/>
            </a:pPr>
            <a:r>
              <a:rPr lang="en-US" sz="4900" dirty="0" smtClean="0"/>
              <a:t>        while (</a:t>
            </a:r>
            <a:r>
              <a:rPr lang="en-US" sz="4900" dirty="0" err="1" smtClean="0"/>
              <a:t>waitingQueueIterator.hasNext</a:t>
            </a:r>
            <a:r>
              <a:rPr lang="en-US" sz="4900" dirty="0" smtClean="0"/>
              <a:t>()) {</a:t>
            </a:r>
          </a:p>
          <a:p>
            <a:pPr marL="0" indent="0" algn="just" fontAlgn="base">
              <a:lnSpc>
                <a:spcPct val="120000"/>
              </a:lnSpc>
              <a:spcBef>
                <a:spcPts val="0"/>
              </a:spcBef>
              <a:buNone/>
            </a:pPr>
            <a:r>
              <a:rPr lang="en-US" sz="4900" dirty="0" smtClean="0"/>
              <a:t>            String name = </a:t>
            </a:r>
            <a:r>
              <a:rPr lang="en-US" sz="4900" dirty="0" err="1" smtClean="0"/>
              <a:t>waitingQueueIterator.next</a:t>
            </a:r>
            <a:r>
              <a:rPr lang="en-US" sz="4900" dirty="0" smtClean="0"/>
              <a:t>();</a:t>
            </a:r>
          </a:p>
          <a:p>
            <a:pPr marL="0" indent="0" algn="just" fontAlgn="base">
              <a:lnSpc>
                <a:spcPct val="120000"/>
              </a:lnSpc>
              <a:spcBef>
                <a:spcPts val="0"/>
              </a:spcBef>
              <a:buNone/>
            </a:pPr>
            <a:r>
              <a:rPr lang="en-US" sz="4900" dirty="0" smtClean="0"/>
              <a:t>            </a:t>
            </a:r>
            <a:r>
              <a:rPr lang="en-US" sz="4900" dirty="0" err="1" smtClean="0"/>
              <a:t>System.out.println</a:t>
            </a:r>
            <a:r>
              <a:rPr lang="en-US" sz="4900" dirty="0" smtClean="0"/>
              <a:t>(name);</a:t>
            </a:r>
          </a:p>
          <a:p>
            <a:pPr marL="0" indent="0" algn="just" fontAlgn="base">
              <a:lnSpc>
                <a:spcPct val="120000"/>
              </a:lnSpc>
              <a:spcBef>
                <a:spcPts val="0"/>
              </a:spcBef>
              <a:buNone/>
            </a:pPr>
            <a:r>
              <a:rPr lang="en-US" sz="4900" dirty="0" smtClean="0"/>
              <a:t>        }</a:t>
            </a:r>
          </a:p>
          <a:p>
            <a:pPr marL="0" indent="0" algn="just" fontAlgn="base">
              <a:lnSpc>
                <a:spcPct val="120000"/>
              </a:lnSpc>
              <a:spcBef>
                <a:spcPts val="0"/>
              </a:spcBef>
              <a:buNone/>
            </a:pPr>
            <a:r>
              <a:rPr lang="en-US" sz="4900" dirty="0" smtClean="0"/>
              <a:t>    </a:t>
            </a:r>
            <a:r>
              <a:rPr lang="en-US" sz="4900" dirty="0"/>
              <a:t>}</a:t>
            </a:r>
          </a:p>
          <a:p>
            <a:pPr marL="0" indent="0" algn="just" fontAlgn="base">
              <a:lnSpc>
                <a:spcPct val="120000"/>
              </a:lnSpc>
              <a:spcBef>
                <a:spcPts val="0"/>
              </a:spcBef>
              <a:buNone/>
            </a:pPr>
            <a:r>
              <a:rPr lang="en-US" sz="4900" dirty="0"/>
              <a:t>}</a:t>
            </a:r>
            <a:endParaRPr lang="en-US" sz="49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29</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677807" y="2811613"/>
            <a:ext cx="4514193" cy="354724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 Iterating over a Queue using Java 8 </a:t>
            </a:r>
            <a:r>
              <a:rPr lang="en-US" sz="2000" dirty="0" err="1"/>
              <a:t>forEach</a:t>
            </a:r>
            <a:r>
              <a:rPr lang="en-US" sz="2000" dirty="0"/>
              <a:t>() ===</a:t>
            </a:r>
          </a:p>
          <a:p>
            <a:pPr marL="0" indent="0">
              <a:buNone/>
            </a:pPr>
            <a:r>
              <a:rPr lang="en-US" sz="2000" dirty="0"/>
              <a:t>John</a:t>
            </a:r>
          </a:p>
          <a:p>
            <a:pPr marL="0" indent="0">
              <a:buNone/>
            </a:pPr>
            <a:r>
              <a:rPr lang="en-US" sz="2000" dirty="0"/>
              <a:t>Brad</a:t>
            </a:r>
          </a:p>
          <a:p>
            <a:pPr marL="0" indent="0">
              <a:buNone/>
            </a:pPr>
            <a:r>
              <a:rPr lang="en-US" sz="2000" dirty="0"/>
              <a:t>Angelina</a:t>
            </a:r>
          </a:p>
          <a:p>
            <a:pPr marL="0" indent="0">
              <a:buNone/>
            </a:pPr>
            <a:r>
              <a:rPr lang="en-US" sz="2000" dirty="0" smtClean="0"/>
              <a:t>Julia</a:t>
            </a:r>
            <a:endParaRPr lang="en-US" sz="2000" dirty="0"/>
          </a:p>
          <a:p>
            <a:pPr marL="0" indent="0">
              <a:buNone/>
            </a:pPr>
            <a:r>
              <a:rPr lang="en-US" sz="2000" dirty="0"/>
              <a:t>=== Iterating over a Queue using iterator() ===</a:t>
            </a:r>
          </a:p>
          <a:p>
            <a:pPr marL="0" indent="0">
              <a:buNone/>
            </a:pPr>
            <a:r>
              <a:rPr lang="en-US" sz="2000" dirty="0"/>
              <a:t>John</a:t>
            </a:r>
          </a:p>
          <a:p>
            <a:pPr marL="0" indent="0">
              <a:buNone/>
            </a:pPr>
            <a:r>
              <a:rPr lang="en-US" sz="2000" dirty="0"/>
              <a:t>Brad</a:t>
            </a:r>
          </a:p>
          <a:p>
            <a:pPr marL="0" indent="0">
              <a:buNone/>
            </a:pPr>
            <a:r>
              <a:rPr lang="en-US" sz="2000" dirty="0"/>
              <a:t>Angelina</a:t>
            </a:r>
          </a:p>
          <a:p>
            <a:pPr marL="0" indent="0">
              <a:buNone/>
            </a:pPr>
            <a:r>
              <a:rPr lang="en-US" sz="2000" dirty="0"/>
              <a:t>Julia</a:t>
            </a:r>
          </a:p>
        </p:txBody>
      </p:sp>
    </p:spTree>
    <p:extLst>
      <p:ext uri="{BB962C8B-B14F-4D97-AF65-F5344CB8AC3E}">
        <p14:creationId xmlns:p14="http://schemas.microsoft.com/office/powerpoint/2010/main" val="3495476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a:t>
            </a:r>
            <a:r>
              <a:rPr lang="en-US" sz="3200" dirty="0" smtClean="0"/>
              <a:t>Queue</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783943"/>
          </a:xfrm>
        </p:spPr>
        <p:txBody>
          <a:bodyPr>
            <a:normAutofit fontScale="25000" lnSpcReduction="20000"/>
          </a:bodyPr>
          <a:lstStyle/>
          <a:p>
            <a:pPr algn="just" fontAlgn="base"/>
            <a:r>
              <a:rPr lang="en-US" sz="7200" b="1" dirty="0"/>
              <a:t>Other </a:t>
            </a:r>
            <a:r>
              <a:rPr lang="en-US" sz="7200" b="1" dirty="0" smtClean="0"/>
              <a:t>Queue Operations: Check </a:t>
            </a:r>
            <a:r>
              <a:rPr lang="en-US" sz="7200" b="1" dirty="0"/>
              <a:t>if the </a:t>
            </a:r>
            <a:r>
              <a:rPr lang="en-US" sz="7200" b="1" dirty="0" smtClean="0"/>
              <a:t>queue is empty, Find </a:t>
            </a:r>
            <a:r>
              <a:rPr lang="en-US" sz="7200" b="1" dirty="0"/>
              <a:t>the </a:t>
            </a:r>
            <a:r>
              <a:rPr lang="en-US" sz="7200" b="1" dirty="0" smtClean="0"/>
              <a:t>size, Search </a:t>
            </a:r>
            <a:r>
              <a:rPr lang="en-US" sz="7200" b="1" dirty="0"/>
              <a:t>for an element and </a:t>
            </a:r>
            <a:r>
              <a:rPr lang="en-US" sz="7200" b="1" dirty="0" smtClean="0"/>
              <a:t>get </a:t>
            </a:r>
            <a:r>
              <a:rPr lang="en-US" sz="7200" b="1" dirty="0"/>
              <a:t>the element at the front of the Queue without removing it.</a:t>
            </a:r>
            <a:endParaRPr lang="en-US" sz="7200" b="1" dirty="0" smtClean="0"/>
          </a:p>
          <a:p>
            <a:pPr marL="0" indent="0" algn="just" fontAlgn="base">
              <a:lnSpc>
                <a:spcPct val="120000"/>
              </a:lnSpc>
              <a:spcBef>
                <a:spcPts val="0"/>
              </a:spcBef>
              <a:buNone/>
            </a:pPr>
            <a:r>
              <a:rPr lang="en-US" sz="6400" dirty="0"/>
              <a:t>import </a:t>
            </a:r>
            <a:r>
              <a:rPr lang="en-US" sz="6400" dirty="0" err="1"/>
              <a:t>java.util.LinkedList</a:t>
            </a:r>
            <a:r>
              <a:rPr lang="en-US" sz="6400" dirty="0"/>
              <a:t>;</a:t>
            </a:r>
          </a:p>
          <a:p>
            <a:pPr marL="0" indent="0" algn="just" fontAlgn="base">
              <a:lnSpc>
                <a:spcPct val="120000"/>
              </a:lnSpc>
              <a:spcBef>
                <a:spcPts val="0"/>
              </a:spcBef>
              <a:buNone/>
            </a:pPr>
            <a:r>
              <a:rPr lang="en-US" sz="6400" dirty="0"/>
              <a:t>import </a:t>
            </a:r>
            <a:r>
              <a:rPr lang="en-US" sz="6400" dirty="0" err="1"/>
              <a:t>java.util.Queue</a:t>
            </a:r>
            <a:r>
              <a:rPr lang="en-US" sz="6400" dirty="0" smtClean="0"/>
              <a:t>;</a:t>
            </a:r>
            <a:endParaRPr lang="en-US" sz="6400" dirty="0"/>
          </a:p>
          <a:p>
            <a:pPr marL="0" indent="0" algn="just" fontAlgn="base">
              <a:lnSpc>
                <a:spcPct val="120000"/>
              </a:lnSpc>
              <a:spcBef>
                <a:spcPts val="0"/>
              </a:spcBef>
              <a:buNone/>
            </a:pPr>
            <a:r>
              <a:rPr lang="en-US" sz="6400" dirty="0"/>
              <a:t>public class </a:t>
            </a:r>
            <a:r>
              <a:rPr lang="en-US" sz="6400" dirty="0" err="1"/>
              <a:t>QueueSizeSearchFrontExample</a:t>
            </a:r>
            <a:r>
              <a:rPr lang="en-US" sz="6400" dirty="0"/>
              <a:t> {</a:t>
            </a:r>
          </a:p>
          <a:p>
            <a:pPr marL="0" indent="0" algn="just" fontAlgn="base">
              <a:lnSpc>
                <a:spcPct val="120000"/>
              </a:lnSpc>
              <a:spcBef>
                <a:spcPts val="0"/>
              </a:spcBef>
              <a:buNone/>
            </a:pPr>
            <a:r>
              <a:rPr lang="en-US" sz="6400" dirty="0"/>
              <a:t>    public static void main(String[] </a:t>
            </a:r>
            <a:r>
              <a:rPr lang="en-US" sz="6400" dirty="0" err="1"/>
              <a:t>args</a:t>
            </a:r>
            <a:r>
              <a:rPr lang="en-US" sz="6400" dirty="0"/>
              <a:t>) {</a:t>
            </a:r>
          </a:p>
          <a:p>
            <a:pPr marL="0" indent="0" algn="just" fontAlgn="base">
              <a:lnSpc>
                <a:spcPct val="120000"/>
              </a:lnSpc>
              <a:spcBef>
                <a:spcPts val="0"/>
              </a:spcBef>
              <a:buNone/>
            </a:pPr>
            <a:r>
              <a:rPr lang="en-US" sz="6400" dirty="0"/>
              <a:t>        Queue&lt;String&gt; </a:t>
            </a:r>
            <a:r>
              <a:rPr lang="en-US" sz="6400" dirty="0" err="1"/>
              <a:t>waitingQueue</a:t>
            </a:r>
            <a:r>
              <a:rPr lang="en-US" sz="6400" dirty="0"/>
              <a:t> = new </a:t>
            </a:r>
            <a:r>
              <a:rPr lang="en-US" sz="6400" dirty="0" err="1"/>
              <a:t>LinkedList</a:t>
            </a:r>
            <a:r>
              <a:rPr lang="en-US" sz="6400" dirty="0" smtClean="0"/>
              <a:t>&lt;&gt;();</a:t>
            </a:r>
            <a:endParaRPr lang="en-US" sz="6400" dirty="0"/>
          </a:p>
          <a:p>
            <a:pPr marL="0" indent="0" algn="just" fontAlgn="base">
              <a:lnSpc>
                <a:spcPct val="120000"/>
              </a:lnSpc>
              <a:spcBef>
                <a:spcPts val="0"/>
              </a:spcBef>
              <a:buNone/>
            </a:pPr>
            <a:r>
              <a:rPr lang="en-US" sz="6400" dirty="0"/>
              <a:t>        </a:t>
            </a:r>
            <a:r>
              <a:rPr lang="en-US" sz="6400" dirty="0" err="1"/>
              <a:t>waitingQueue.add</a:t>
            </a:r>
            <a:r>
              <a:rPr lang="en-US" sz="6400" dirty="0"/>
              <a:t>("Jennifer</a:t>
            </a:r>
            <a:r>
              <a:rPr lang="en-US" sz="6400" dirty="0" smtClean="0"/>
              <a:t>");        </a:t>
            </a:r>
            <a:r>
              <a:rPr lang="en-US" sz="6400" dirty="0" err="1"/>
              <a:t>waitingQueue.add</a:t>
            </a:r>
            <a:r>
              <a:rPr lang="en-US" sz="6400" dirty="0"/>
              <a:t>("Angelina");</a:t>
            </a:r>
          </a:p>
          <a:p>
            <a:pPr marL="0" indent="0" algn="just" fontAlgn="base">
              <a:lnSpc>
                <a:spcPct val="120000"/>
              </a:lnSpc>
              <a:spcBef>
                <a:spcPts val="0"/>
              </a:spcBef>
              <a:buNone/>
            </a:pPr>
            <a:r>
              <a:rPr lang="en-US" sz="6400" dirty="0"/>
              <a:t>        </a:t>
            </a:r>
            <a:r>
              <a:rPr lang="en-US" sz="6400" dirty="0" err="1"/>
              <a:t>waitingQueue.add</a:t>
            </a:r>
            <a:r>
              <a:rPr lang="en-US" sz="6400" dirty="0"/>
              <a:t>("Johnny</a:t>
            </a:r>
            <a:r>
              <a:rPr lang="en-US" sz="6400" dirty="0" smtClean="0"/>
              <a:t>");        </a:t>
            </a:r>
            <a:r>
              <a:rPr lang="en-US" sz="6400" dirty="0" err="1"/>
              <a:t>waitingQueue.add</a:t>
            </a:r>
            <a:r>
              <a:rPr lang="en-US" sz="6400" dirty="0"/>
              <a:t>("</a:t>
            </a:r>
            <a:r>
              <a:rPr lang="en-US" sz="6400" dirty="0" err="1"/>
              <a:t>Sachin</a:t>
            </a:r>
            <a:r>
              <a:rPr lang="en-US" sz="6400" dirty="0" smtClean="0"/>
              <a:t>");</a:t>
            </a:r>
            <a:endParaRPr lang="en-US" sz="6400" dirty="0"/>
          </a:p>
          <a:p>
            <a:pPr marL="0" indent="0" algn="just" fontAlgn="base">
              <a:lnSpc>
                <a:spcPct val="120000"/>
              </a:lnSpc>
              <a:spcBef>
                <a:spcPts val="0"/>
              </a:spcBef>
              <a:buNone/>
            </a:pPr>
            <a:r>
              <a:rPr lang="en-US" sz="6400" dirty="0"/>
              <a:t>        </a:t>
            </a:r>
            <a:r>
              <a:rPr lang="en-US" sz="6400" dirty="0" err="1"/>
              <a:t>System.out.println</a:t>
            </a:r>
            <a:r>
              <a:rPr lang="en-US" sz="6400" dirty="0"/>
              <a:t>("</a:t>
            </a:r>
            <a:r>
              <a:rPr lang="en-US" sz="6400" dirty="0" err="1"/>
              <a:t>WaitingQueue</a:t>
            </a:r>
            <a:r>
              <a:rPr lang="en-US" sz="6400" dirty="0"/>
              <a:t> : " + </a:t>
            </a:r>
            <a:r>
              <a:rPr lang="en-US" sz="6400" dirty="0" err="1"/>
              <a:t>waitingQueue</a:t>
            </a:r>
            <a:r>
              <a:rPr lang="en-US" sz="6400" dirty="0" smtClean="0"/>
              <a:t>);</a:t>
            </a:r>
            <a:endParaRPr lang="en-US" sz="6400" dirty="0"/>
          </a:p>
          <a:p>
            <a:pPr marL="0" indent="0" algn="just" fontAlgn="base">
              <a:lnSpc>
                <a:spcPct val="120000"/>
              </a:lnSpc>
              <a:spcBef>
                <a:spcPts val="0"/>
              </a:spcBef>
              <a:buNone/>
            </a:pPr>
            <a:r>
              <a:rPr lang="en-US" sz="6400" dirty="0" smtClean="0"/>
              <a:t>        </a:t>
            </a:r>
            <a:r>
              <a:rPr lang="en-US" sz="6400" dirty="0" err="1" smtClean="0"/>
              <a:t>System.out.println</a:t>
            </a:r>
            <a:r>
              <a:rPr lang="en-US" sz="6400" dirty="0"/>
              <a:t>("is </a:t>
            </a:r>
            <a:r>
              <a:rPr lang="en-US" sz="6400" dirty="0" err="1"/>
              <a:t>waitingQueue</a:t>
            </a:r>
            <a:r>
              <a:rPr lang="en-US" sz="6400" dirty="0"/>
              <a:t> empty? : " + </a:t>
            </a:r>
            <a:r>
              <a:rPr lang="en-US" sz="6400" dirty="0" err="1"/>
              <a:t>waitingQueue.isEmpty</a:t>
            </a:r>
            <a:r>
              <a:rPr lang="en-US" sz="6400" dirty="0" smtClean="0"/>
              <a:t>());</a:t>
            </a:r>
            <a:endParaRPr lang="en-US" sz="6400" dirty="0"/>
          </a:p>
          <a:p>
            <a:pPr marL="0" indent="0" algn="just" fontAlgn="base">
              <a:lnSpc>
                <a:spcPct val="120000"/>
              </a:lnSpc>
              <a:spcBef>
                <a:spcPts val="0"/>
              </a:spcBef>
              <a:buNone/>
            </a:pPr>
            <a:r>
              <a:rPr lang="en-US" sz="6400" dirty="0"/>
              <a:t>        </a:t>
            </a:r>
            <a:r>
              <a:rPr lang="en-US" sz="6400" dirty="0" err="1" smtClean="0"/>
              <a:t>System.out.println</a:t>
            </a:r>
            <a:r>
              <a:rPr lang="en-US" sz="6400" dirty="0"/>
              <a:t>("Size of </a:t>
            </a:r>
            <a:r>
              <a:rPr lang="en-US" sz="6400" dirty="0" err="1"/>
              <a:t>waitingQueue</a:t>
            </a:r>
            <a:r>
              <a:rPr lang="en-US" sz="6400" dirty="0"/>
              <a:t> : " + </a:t>
            </a:r>
            <a:r>
              <a:rPr lang="en-US" sz="6400" dirty="0" err="1"/>
              <a:t>waitingQueue.size</a:t>
            </a:r>
            <a:r>
              <a:rPr lang="en-US" sz="6400" dirty="0" smtClean="0"/>
              <a:t>());</a:t>
            </a:r>
            <a:endParaRPr lang="en-US" sz="6400" dirty="0"/>
          </a:p>
          <a:p>
            <a:pPr marL="0" indent="0" algn="just" fontAlgn="base">
              <a:lnSpc>
                <a:spcPct val="120000"/>
              </a:lnSpc>
              <a:spcBef>
                <a:spcPts val="0"/>
              </a:spcBef>
              <a:buNone/>
            </a:pPr>
            <a:r>
              <a:rPr lang="en-US" sz="6400" dirty="0" smtClean="0"/>
              <a:t>        String </a:t>
            </a:r>
            <a:r>
              <a:rPr lang="en-US" sz="6400" dirty="0"/>
              <a:t>name = "Johnny";</a:t>
            </a:r>
          </a:p>
          <a:p>
            <a:pPr marL="0" indent="0" algn="just" fontAlgn="base">
              <a:lnSpc>
                <a:spcPct val="120000"/>
              </a:lnSpc>
              <a:spcBef>
                <a:spcPts val="0"/>
              </a:spcBef>
              <a:buNone/>
            </a:pPr>
            <a:r>
              <a:rPr lang="en-US" sz="6400" dirty="0"/>
              <a:t>        if(</a:t>
            </a:r>
            <a:r>
              <a:rPr lang="en-US" sz="6400" dirty="0" err="1"/>
              <a:t>waitingQueue.contains</a:t>
            </a:r>
            <a:r>
              <a:rPr lang="en-US" sz="6400" dirty="0"/>
              <a:t>(name)) </a:t>
            </a:r>
            <a:r>
              <a:rPr lang="en-US" sz="6400" dirty="0" smtClean="0"/>
              <a:t>{     </a:t>
            </a:r>
            <a:r>
              <a:rPr lang="en-US" sz="6400" dirty="0" err="1"/>
              <a:t>System.out.println</a:t>
            </a:r>
            <a:r>
              <a:rPr lang="en-US" sz="6400" dirty="0"/>
              <a:t>("</a:t>
            </a:r>
            <a:r>
              <a:rPr lang="en-US" sz="6400" dirty="0" err="1"/>
              <a:t>WaitingQueue</a:t>
            </a:r>
            <a:r>
              <a:rPr lang="en-US" sz="6400" dirty="0"/>
              <a:t> contains " + name</a:t>
            </a:r>
            <a:r>
              <a:rPr lang="en-US" sz="6400" dirty="0" smtClean="0"/>
              <a:t>);      </a:t>
            </a:r>
            <a:r>
              <a:rPr lang="en-US" sz="6400" dirty="0"/>
              <a:t>} </a:t>
            </a:r>
            <a:endParaRPr lang="en-US" sz="6400" dirty="0" smtClean="0"/>
          </a:p>
          <a:p>
            <a:pPr marL="0" indent="0" algn="just" fontAlgn="base">
              <a:lnSpc>
                <a:spcPct val="120000"/>
              </a:lnSpc>
              <a:spcBef>
                <a:spcPts val="0"/>
              </a:spcBef>
              <a:buNone/>
            </a:pPr>
            <a:r>
              <a:rPr lang="en-US" sz="6400" dirty="0"/>
              <a:t> </a:t>
            </a:r>
            <a:r>
              <a:rPr lang="en-US" sz="6400" dirty="0" smtClean="0"/>
              <a:t>       else {   </a:t>
            </a:r>
            <a:r>
              <a:rPr lang="en-US" sz="6400" dirty="0" err="1"/>
              <a:t>System.out.println</a:t>
            </a:r>
            <a:r>
              <a:rPr lang="en-US" sz="6400" dirty="0"/>
              <a:t>("Waiting Queue doesn't contain " + name</a:t>
            </a:r>
            <a:r>
              <a:rPr lang="en-US" sz="6400" dirty="0" smtClean="0"/>
              <a:t>);   }</a:t>
            </a:r>
            <a:endParaRPr lang="en-US" sz="6400" dirty="0"/>
          </a:p>
          <a:p>
            <a:pPr marL="0" indent="0" algn="just" fontAlgn="base">
              <a:lnSpc>
                <a:spcPct val="120000"/>
              </a:lnSpc>
              <a:spcBef>
                <a:spcPts val="0"/>
              </a:spcBef>
              <a:buNone/>
            </a:pPr>
            <a:r>
              <a:rPr lang="en-US" sz="6400" dirty="0"/>
              <a:t>        // Get the element at the front of the Queue without removing it using element</a:t>
            </a:r>
            <a:r>
              <a:rPr lang="en-US" sz="6400" dirty="0" smtClean="0"/>
              <a:t>(), throws </a:t>
            </a:r>
            <a:r>
              <a:rPr lang="en-US" sz="6400" dirty="0" err="1"/>
              <a:t>NoSuchElementException</a:t>
            </a:r>
            <a:r>
              <a:rPr lang="en-US" sz="6400" dirty="0"/>
              <a:t> if the Queue is empty</a:t>
            </a:r>
          </a:p>
          <a:p>
            <a:pPr marL="0" indent="0" algn="just" fontAlgn="base">
              <a:lnSpc>
                <a:spcPct val="120000"/>
              </a:lnSpc>
              <a:spcBef>
                <a:spcPts val="0"/>
              </a:spcBef>
              <a:buNone/>
            </a:pPr>
            <a:r>
              <a:rPr lang="en-US" sz="6400" dirty="0"/>
              <a:t>        String </a:t>
            </a:r>
            <a:r>
              <a:rPr lang="en-US" sz="6400" dirty="0" err="1"/>
              <a:t>firstPersonInTheWaitingQueue</a:t>
            </a:r>
            <a:r>
              <a:rPr lang="en-US" sz="6400" dirty="0"/>
              <a:t> =  </a:t>
            </a:r>
            <a:r>
              <a:rPr lang="en-US" sz="6400" dirty="0" err="1"/>
              <a:t>waitingQueue.element</a:t>
            </a:r>
            <a:r>
              <a:rPr lang="en-US" sz="6400" dirty="0"/>
              <a:t>();</a:t>
            </a:r>
          </a:p>
          <a:p>
            <a:pPr marL="0" indent="0" algn="just" fontAlgn="base">
              <a:lnSpc>
                <a:spcPct val="120000"/>
              </a:lnSpc>
              <a:spcBef>
                <a:spcPts val="0"/>
              </a:spcBef>
              <a:buNone/>
            </a:pPr>
            <a:r>
              <a:rPr lang="en-US" sz="6400" dirty="0"/>
              <a:t>        </a:t>
            </a:r>
            <a:r>
              <a:rPr lang="en-US" sz="6400" dirty="0" err="1"/>
              <a:t>System.out.println</a:t>
            </a:r>
            <a:r>
              <a:rPr lang="en-US" sz="6400" dirty="0"/>
              <a:t>("First Person in the Waiting Queue (element()) : " + </a:t>
            </a:r>
            <a:r>
              <a:rPr lang="en-US" sz="6400" dirty="0" err="1"/>
              <a:t>firstPersonInTheWaitingQueue</a:t>
            </a:r>
            <a:r>
              <a:rPr lang="en-US" sz="6400" dirty="0" smtClean="0"/>
              <a:t>);</a:t>
            </a:r>
            <a:endParaRPr lang="en-US" sz="6400" dirty="0"/>
          </a:p>
          <a:p>
            <a:pPr marL="0" indent="0" algn="just" fontAlgn="base">
              <a:lnSpc>
                <a:spcPct val="120000"/>
              </a:lnSpc>
              <a:spcBef>
                <a:spcPts val="0"/>
              </a:spcBef>
              <a:buNone/>
            </a:pPr>
            <a:r>
              <a:rPr lang="en-US" sz="6400" dirty="0"/>
              <a:t>        // Get the element at the front of the Queue without removing it using peek</a:t>
            </a:r>
            <a:r>
              <a:rPr lang="en-US" sz="6400" dirty="0" smtClean="0"/>
              <a:t>(), </a:t>
            </a:r>
            <a:r>
              <a:rPr lang="en-US" sz="6400" dirty="0"/>
              <a:t>returns null if the Queue is empty</a:t>
            </a:r>
          </a:p>
          <a:p>
            <a:pPr marL="0" indent="0" algn="just" fontAlgn="base">
              <a:lnSpc>
                <a:spcPct val="120000"/>
              </a:lnSpc>
              <a:spcBef>
                <a:spcPts val="0"/>
              </a:spcBef>
              <a:buNone/>
            </a:pPr>
            <a:r>
              <a:rPr lang="en-US" sz="6400" dirty="0"/>
              <a:t>        </a:t>
            </a:r>
            <a:r>
              <a:rPr lang="en-US" sz="6400" dirty="0" err="1"/>
              <a:t>firstPersonInTheWaitingQueue</a:t>
            </a:r>
            <a:r>
              <a:rPr lang="en-US" sz="6400" dirty="0"/>
              <a:t> = </a:t>
            </a:r>
            <a:r>
              <a:rPr lang="en-US" sz="6400" dirty="0" err="1"/>
              <a:t>waitingQueue.peek</a:t>
            </a:r>
            <a:r>
              <a:rPr lang="en-US" sz="6400" dirty="0"/>
              <a:t>();</a:t>
            </a:r>
          </a:p>
          <a:p>
            <a:pPr marL="0" indent="0" algn="just" fontAlgn="base">
              <a:lnSpc>
                <a:spcPct val="120000"/>
              </a:lnSpc>
              <a:spcBef>
                <a:spcPts val="0"/>
              </a:spcBef>
              <a:buNone/>
            </a:pPr>
            <a:r>
              <a:rPr lang="en-US" sz="6400" dirty="0"/>
              <a:t>        </a:t>
            </a:r>
            <a:r>
              <a:rPr lang="en-US" sz="6400" dirty="0" err="1"/>
              <a:t>System.out.println</a:t>
            </a:r>
            <a:r>
              <a:rPr lang="en-US" sz="6400" dirty="0"/>
              <a:t>("First Person in the Waiting Queue : " + </a:t>
            </a:r>
            <a:r>
              <a:rPr lang="en-US" sz="6400" dirty="0" err="1"/>
              <a:t>firstPersonInTheWaitingQueue</a:t>
            </a:r>
            <a:r>
              <a:rPr lang="en-US" sz="6400" dirty="0" smtClean="0"/>
              <a:t>);</a:t>
            </a:r>
            <a:endParaRPr lang="en-US" sz="6400" dirty="0"/>
          </a:p>
          <a:p>
            <a:pPr marL="0" indent="0" algn="just" fontAlgn="base">
              <a:lnSpc>
                <a:spcPct val="120000"/>
              </a:lnSpc>
              <a:spcBef>
                <a:spcPts val="0"/>
              </a:spcBef>
              <a:buNone/>
            </a:pPr>
            <a:r>
              <a:rPr lang="en-US" sz="6400" dirty="0"/>
              <a:t>    }</a:t>
            </a:r>
          </a:p>
          <a:p>
            <a:pPr marL="0" indent="0" algn="just" fontAlgn="base">
              <a:lnSpc>
                <a:spcPct val="120000"/>
              </a:lnSpc>
              <a:spcBef>
                <a:spcPts val="0"/>
              </a:spcBef>
              <a:buNone/>
            </a:pPr>
            <a:r>
              <a:rPr lang="en-US" sz="6400" dirty="0"/>
              <a:t>}</a:t>
            </a:r>
            <a:endParaRPr lang="en-US" sz="64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30</a:t>
            </a:fld>
            <a:endParaRPr lang="en-US" dirty="0"/>
          </a:p>
        </p:txBody>
      </p:sp>
      <p:sp>
        <p:nvSpPr>
          <p:cNvPr id="7" name="Content Placeholder 2">
            <a:extLst>
              <a:ext uri="{FF2B5EF4-FFF2-40B4-BE49-F238E27FC236}">
                <a16:creationId xmlns:a16="http://schemas.microsoft.com/office/drawing/2014/main" xmlns="" id="{21309EEA-748E-1B4D-9BA2-2ADAA2FBB16C}"/>
              </a:ext>
            </a:extLst>
          </p:cNvPr>
          <p:cNvSpPr txBox="1">
            <a:spLocks/>
          </p:cNvSpPr>
          <p:nvPr/>
        </p:nvSpPr>
        <p:spPr>
          <a:xfrm>
            <a:off x="7677805" y="1466140"/>
            <a:ext cx="4514195" cy="2601363"/>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sz="1600" dirty="0"/>
              <a:t>Output</a:t>
            </a:r>
            <a:r>
              <a:rPr lang="en-US" sz="1600" dirty="0" smtClean="0"/>
              <a:t>:</a:t>
            </a:r>
            <a:endParaRPr lang="en-US" sz="1600" dirty="0"/>
          </a:p>
          <a:p>
            <a:pPr marL="0" indent="0">
              <a:buNone/>
            </a:pPr>
            <a:r>
              <a:rPr lang="en-US" sz="1600" dirty="0" err="1"/>
              <a:t>WaitingQueue</a:t>
            </a:r>
            <a:r>
              <a:rPr lang="en-US" sz="1600" dirty="0"/>
              <a:t> : [Jennifer, Angelina, Johnny, </a:t>
            </a:r>
            <a:r>
              <a:rPr lang="en-US" sz="1600" dirty="0" err="1"/>
              <a:t>Sachin</a:t>
            </a:r>
            <a:r>
              <a:rPr lang="en-US" sz="1600" dirty="0"/>
              <a:t>]</a:t>
            </a:r>
          </a:p>
          <a:p>
            <a:pPr marL="0" indent="0">
              <a:buNone/>
            </a:pPr>
            <a:r>
              <a:rPr lang="en-US" sz="1600" dirty="0"/>
              <a:t>is </a:t>
            </a:r>
            <a:r>
              <a:rPr lang="en-US" sz="1600" dirty="0" err="1"/>
              <a:t>waitingQueue</a:t>
            </a:r>
            <a:r>
              <a:rPr lang="en-US" sz="1600" dirty="0"/>
              <a:t> empty? : false</a:t>
            </a:r>
          </a:p>
          <a:p>
            <a:pPr marL="0" indent="0">
              <a:buNone/>
            </a:pPr>
            <a:r>
              <a:rPr lang="en-US" sz="1600" dirty="0"/>
              <a:t>Size of </a:t>
            </a:r>
            <a:r>
              <a:rPr lang="en-US" sz="1600" dirty="0" err="1"/>
              <a:t>waitingQueue</a:t>
            </a:r>
            <a:r>
              <a:rPr lang="en-US" sz="1600" dirty="0"/>
              <a:t> : 4</a:t>
            </a:r>
          </a:p>
          <a:p>
            <a:pPr marL="0" indent="0">
              <a:buNone/>
            </a:pPr>
            <a:r>
              <a:rPr lang="en-US" sz="1600" dirty="0" err="1"/>
              <a:t>WaitingQueue</a:t>
            </a:r>
            <a:r>
              <a:rPr lang="en-US" sz="1600" dirty="0"/>
              <a:t> contains Johnny</a:t>
            </a:r>
          </a:p>
          <a:p>
            <a:pPr marL="0" indent="0">
              <a:buNone/>
            </a:pPr>
            <a:r>
              <a:rPr lang="en-US" sz="1600" dirty="0"/>
              <a:t>First Person in the Waiting Queue (element()) : Jennifer</a:t>
            </a:r>
          </a:p>
          <a:p>
            <a:pPr marL="0" indent="0">
              <a:buNone/>
            </a:pPr>
            <a:r>
              <a:rPr lang="en-US" sz="1600" dirty="0"/>
              <a:t>First Person in the Waiting Queue : Jennifer</a:t>
            </a:r>
          </a:p>
        </p:txBody>
      </p:sp>
    </p:spTree>
    <p:extLst>
      <p:ext uri="{BB962C8B-B14F-4D97-AF65-F5344CB8AC3E}">
        <p14:creationId xmlns:p14="http://schemas.microsoft.com/office/powerpoint/2010/main" val="85409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lnSpcReduction="10000"/>
          </a:bodyPr>
          <a:lstStyle/>
          <a:p>
            <a:r>
              <a:rPr lang="en-US" dirty="0">
                <a:hlinkClick r:id="rId2"/>
              </a:rPr>
              <a:t>https://</a:t>
            </a:r>
            <a:r>
              <a:rPr lang="en-US" dirty="0" err="1" smtClean="0">
                <a:hlinkClick r:id="rId2"/>
              </a:rPr>
              <a:t>www.javatpoint.com</a:t>
            </a:r>
            <a:r>
              <a:rPr lang="en-US" dirty="0" smtClean="0">
                <a:hlinkClick r:id="rId2"/>
              </a:rPr>
              <a:t>/collections-in-java</a:t>
            </a:r>
            <a:endParaRPr lang="en-US" dirty="0" smtClean="0"/>
          </a:p>
          <a:p>
            <a:r>
              <a:rPr lang="en-US" dirty="0">
                <a:hlinkClick r:id="rId3"/>
              </a:rPr>
              <a:t>https://</a:t>
            </a:r>
            <a:r>
              <a:rPr lang="en-US" dirty="0" err="1" smtClean="0">
                <a:hlinkClick r:id="rId3"/>
              </a:rPr>
              <a:t>viettuts.vn</a:t>
            </a:r>
            <a:r>
              <a:rPr lang="en-US" dirty="0" smtClean="0">
                <a:hlinkClick r:id="rId3"/>
              </a:rPr>
              <a:t>/java-collection</a:t>
            </a:r>
            <a:endParaRPr lang="en-US" dirty="0" smtClean="0"/>
          </a:p>
          <a:p>
            <a:r>
              <a:rPr lang="en-US" dirty="0">
                <a:hlinkClick r:id="rId4"/>
              </a:rPr>
              <a:t>https://</a:t>
            </a:r>
            <a:r>
              <a:rPr lang="en-US" dirty="0" err="1">
                <a:hlinkClick r:id="rId4"/>
              </a:rPr>
              <a:t>www.geeksforgeeks.org</a:t>
            </a:r>
            <a:r>
              <a:rPr lang="en-US" dirty="0">
                <a:hlinkClick r:id="rId4"/>
              </a:rPr>
              <a:t>/collections-in-java-2</a:t>
            </a:r>
            <a:r>
              <a:rPr lang="en-US" dirty="0" smtClean="0">
                <a:hlinkClick r:id="rId4"/>
              </a:rPr>
              <a:t>/</a:t>
            </a:r>
            <a:endParaRPr lang="en-US" dirty="0" smtClean="0"/>
          </a:p>
          <a:p>
            <a:r>
              <a:rPr lang="en-US" dirty="0">
                <a:hlinkClick r:id="rId5"/>
              </a:rPr>
              <a:t>https://</a:t>
            </a:r>
            <a:r>
              <a:rPr lang="en-US" dirty="0" err="1">
                <a:hlinkClick r:id="rId5"/>
              </a:rPr>
              <a:t>howtodoinjava.com</a:t>
            </a:r>
            <a:r>
              <a:rPr lang="en-US" dirty="0">
                <a:hlinkClick r:id="rId5"/>
              </a:rPr>
              <a:t>/java-collections</a:t>
            </a:r>
            <a:r>
              <a:rPr lang="en-US" dirty="0" smtClean="0">
                <a:hlinkClick r:id="rId5"/>
              </a:rPr>
              <a:t>/</a:t>
            </a:r>
            <a:endParaRPr lang="en-US" dirty="0" smtClean="0"/>
          </a:p>
          <a:p>
            <a:r>
              <a:rPr lang="en-US" dirty="0">
                <a:hlinkClick r:id="rId6"/>
              </a:rPr>
              <a:t>https://</a:t>
            </a:r>
            <a:r>
              <a:rPr lang="en-US" dirty="0" err="1" smtClean="0">
                <a:hlinkClick r:id="rId6"/>
              </a:rPr>
              <a:t>viblo.asia</a:t>
            </a:r>
            <a:r>
              <a:rPr lang="en-US" dirty="0" smtClean="0">
                <a:hlinkClick r:id="rId6"/>
              </a:rPr>
              <a:t>/p/tong-</a:t>
            </a:r>
            <a:r>
              <a:rPr lang="en-US" dirty="0" err="1" smtClean="0">
                <a:hlinkClick r:id="rId6"/>
              </a:rPr>
              <a:t>quan</a:t>
            </a:r>
            <a:r>
              <a:rPr lang="en-US" dirty="0" smtClean="0">
                <a:hlinkClick r:id="rId6"/>
              </a:rPr>
              <a:t>-</a:t>
            </a:r>
            <a:r>
              <a:rPr lang="en-US" dirty="0" err="1" smtClean="0">
                <a:hlinkClick r:id="rId6"/>
              </a:rPr>
              <a:t>ve</a:t>
            </a:r>
            <a:r>
              <a:rPr lang="en-US" dirty="0" smtClean="0">
                <a:hlinkClick r:id="rId6"/>
              </a:rPr>
              <a:t>-collections-</a:t>
            </a:r>
            <a:r>
              <a:rPr lang="en-US" dirty="0" err="1" smtClean="0">
                <a:hlinkClick r:id="rId6"/>
              </a:rPr>
              <a:t>trong</a:t>
            </a:r>
            <a:r>
              <a:rPr lang="en-US" dirty="0" smtClean="0">
                <a:hlinkClick r:id="rId6"/>
              </a:rPr>
              <a:t>-java-</a:t>
            </a:r>
            <a:r>
              <a:rPr lang="en-US" dirty="0" err="1" smtClean="0">
                <a:hlinkClick r:id="rId6"/>
              </a:rPr>
              <a:t>maGK7E0Dlj2</a:t>
            </a:r>
            <a:endParaRPr lang="en-US" dirty="0" smtClean="0"/>
          </a:p>
          <a:p>
            <a:r>
              <a:rPr lang="en-US" dirty="0">
                <a:hlinkClick r:id="rId7"/>
              </a:rPr>
              <a:t>https://</a:t>
            </a:r>
            <a:r>
              <a:rPr lang="en-US" dirty="0" err="1" smtClean="0">
                <a:hlinkClick r:id="rId7"/>
              </a:rPr>
              <a:t>www.tutorialspoint.com</a:t>
            </a:r>
            <a:r>
              <a:rPr lang="en-US" dirty="0" smtClean="0">
                <a:hlinkClick r:id="rId7"/>
              </a:rPr>
              <a:t>/java/</a:t>
            </a:r>
            <a:r>
              <a:rPr lang="en-US" dirty="0" err="1" smtClean="0">
                <a:hlinkClick r:id="rId7"/>
              </a:rPr>
              <a:t>java_collections.htm</a:t>
            </a:r>
            <a:endParaRPr lang="en-US" dirty="0" smtClean="0"/>
          </a:p>
          <a:p>
            <a:r>
              <a:rPr lang="en-US" dirty="0">
                <a:hlinkClick r:id="rId8"/>
              </a:rPr>
              <a:t>https://</a:t>
            </a:r>
            <a:r>
              <a:rPr lang="en-US" dirty="0" err="1" smtClean="0">
                <a:hlinkClick r:id="rId8"/>
              </a:rPr>
              <a:t>www.journaldev.com</a:t>
            </a:r>
            <a:r>
              <a:rPr lang="en-US" dirty="0" smtClean="0">
                <a:hlinkClick r:id="rId8"/>
              </a:rPr>
              <a:t>/1260/collections-in-java-tutorial</a:t>
            </a:r>
            <a:endParaRPr lang="en-US" dirty="0" smtClean="0"/>
          </a:p>
          <a:p>
            <a:r>
              <a:rPr lang="en-US" dirty="0">
                <a:hlinkClick r:id="rId9"/>
              </a:rPr>
              <a:t>https://</a:t>
            </a:r>
            <a:r>
              <a:rPr lang="en-US" dirty="0" err="1">
                <a:hlinkClick r:id="rId9"/>
              </a:rPr>
              <a:t>www.callicoder.com</a:t>
            </a:r>
            <a:r>
              <a:rPr lang="en-US" dirty="0">
                <a:hlinkClick r:id="rId9"/>
              </a:rPr>
              <a:t>/java-</a:t>
            </a:r>
            <a:r>
              <a:rPr lang="en-US" dirty="0" err="1">
                <a:hlinkClick r:id="rId9"/>
              </a:rPr>
              <a:t>arraylist</a:t>
            </a:r>
            <a:r>
              <a:rPr lang="en-US" dirty="0" smtClean="0">
                <a:hlinkClick r:id="rId9"/>
              </a:rPr>
              <a:t>/</a:t>
            </a:r>
            <a:endParaRPr lang="en-US" dirty="0" smtClean="0"/>
          </a:p>
          <a:p>
            <a:r>
              <a:rPr lang="en-US" dirty="0">
                <a:hlinkClick r:id="rId10"/>
              </a:rPr>
              <a:t>https://</a:t>
            </a:r>
            <a:r>
              <a:rPr lang="en-US" dirty="0" err="1" smtClean="0">
                <a:hlinkClick r:id="rId10"/>
              </a:rPr>
              <a:t>www.callicoder.com</a:t>
            </a:r>
            <a:r>
              <a:rPr lang="en-US" dirty="0" smtClean="0">
                <a:hlinkClick r:id="rId10"/>
              </a:rPr>
              <a:t>/java-queue/</a:t>
            </a:r>
            <a:endParaRPr lang="en-US" dirty="0" smtClean="0"/>
          </a:p>
          <a:p>
            <a:r>
              <a:rPr lang="en-US" dirty="0">
                <a:hlinkClick r:id="rId9"/>
              </a:rPr>
              <a:t>https://</a:t>
            </a:r>
            <a:r>
              <a:rPr lang="en-US" dirty="0" err="1" smtClean="0">
                <a:hlinkClick r:id="rId9"/>
              </a:rPr>
              <a:t>www.callicoder.com</a:t>
            </a:r>
            <a:r>
              <a:rPr lang="en-US" dirty="0" smtClean="0">
                <a:hlinkClick r:id="rId9"/>
              </a:rPr>
              <a:t>/java-stack/</a:t>
            </a:r>
            <a:endParaRPr lang="en-US"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31</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8477</TotalTime>
  <Words>4364</Words>
  <Application>Microsoft Office PowerPoint</Application>
  <PresentationFormat>Custom</PresentationFormat>
  <Paragraphs>684</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VTCA-SlideTheme</vt:lpstr>
      <vt:lpstr>Introduction to Programming</vt:lpstr>
      <vt:lpstr>Objectives</vt:lpstr>
      <vt:lpstr>Java Collections</vt:lpstr>
      <vt:lpstr>Java Collections</vt:lpstr>
      <vt:lpstr>Hierarchy of Collection Framework</vt:lpstr>
      <vt:lpstr>Methods of Collection interface</vt:lpstr>
      <vt:lpstr>Methods of Collection interface</vt:lpstr>
      <vt:lpstr>Methods of Iterator interface</vt:lpstr>
      <vt:lpstr>Java ArrayList </vt:lpstr>
      <vt:lpstr>Java ArrayList </vt:lpstr>
      <vt:lpstr>Java ArrayList </vt:lpstr>
      <vt:lpstr>Java ArrayList </vt:lpstr>
      <vt:lpstr>Java ArrayList </vt:lpstr>
      <vt:lpstr>Java ArrayList </vt:lpstr>
      <vt:lpstr>Java ArrayList </vt:lpstr>
      <vt:lpstr>Java ArrayList </vt:lpstr>
      <vt:lpstr>Java ArrayList </vt:lpstr>
      <vt:lpstr>Java ArrayList </vt:lpstr>
      <vt:lpstr>What is a Stack?</vt:lpstr>
      <vt:lpstr>Java Stack</vt:lpstr>
      <vt:lpstr>Java Stack</vt:lpstr>
      <vt:lpstr>Java Stack</vt:lpstr>
      <vt:lpstr>Java Stack</vt:lpstr>
      <vt:lpstr>Java Stack</vt:lpstr>
      <vt:lpstr>What is a Queue?</vt:lpstr>
      <vt:lpstr>Java Queue</vt:lpstr>
      <vt:lpstr>Java Queue</vt:lpstr>
      <vt:lpstr>Java Queue</vt:lpstr>
      <vt:lpstr>Java Queue</vt:lpstr>
      <vt:lpstr>Java Queue</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849</cp:revision>
  <dcterms:created xsi:type="dcterms:W3CDTF">2019-05-17T12:57:33Z</dcterms:created>
  <dcterms:modified xsi:type="dcterms:W3CDTF">2019-12-01T10:17:46Z</dcterms:modified>
</cp:coreProperties>
</file>