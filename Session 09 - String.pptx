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1"/>
  </p:sldMasterIdLst>
  <p:notesMasterIdLst>
    <p:notesMasterId r:id="rId24"/>
  </p:notesMasterIdLst>
  <p:sldIdLst>
    <p:sldId id="282" r:id="rId2"/>
    <p:sldId id="285" r:id="rId3"/>
    <p:sldId id="297" r:id="rId4"/>
    <p:sldId id="358" r:id="rId5"/>
    <p:sldId id="359" r:id="rId6"/>
    <p:sldId id="360" r:id="rId7"/>
    <p:sldId id="321" r:id="rId8"/>
    <p:sldId id="325" r:id="rId9"/>
    <p:sldId id="361" r:id="rId10"/>
    <p:sldId id="362" r:id="rId11"/>
    <p:sldId id="363" r:id="rId12"/>
    <p:sldId id="337" r:id="rId13"/>
    <p:sldId id="364" r:id="rId14"/>
    <p:sldId id="365" r:id="rId15"/>
    <p:sldId id="366" r:id="rId16"/>
    <p:sldId id="367" r:id="rId17"/>
    <p:sldId id="368" r:id="rId18"/>
    <p:sldId id="369" r:id="rId19"/>
    <p:sldId id="370" r:id="rId20"/>
    <p:sldId id="371" r:id="rId21"/>
    <p:sldId id="294" r:id="rId22"/>
    <p:sldId id="26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E5DA"/>
    <a:srgbClr val="244478"/>
    <a:srgbClr val="2B62B9"/>
    <a:srgbClr val="EF5452"/>
    <a:srgbClr val="F8C528"/>
    <a:srgbClr val="C09A24"/>
    <a:srgbClr val="068A85"/>
    <a:srgbClr val="99C27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2514" autoAdjust="0"/>
  </p:normalViewPr>
  <p:slideViewPr>
    <p:cSldViewPr snapToGrid="0" snapToObjects="1">
      <p:cViewPr>
        <p:scale>
          <a:sx n="66" d="100"/>
          <a:sy n="66" d="100"/>
        </p:scale>
        <p:origin x="-888" y="-14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DC2CD-8613-D146-8518-AC99D946DF95}" type="datetimeFigureOut">
              <a:rPr lang="en-US" smtClean="0"/>
              <a:t>14/11/2019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C4CF9-69BC-034A-86DA-E1DADC6FAF10}" type="slidenum">
              <a:rPr lang="en-US" smtClean="0"/>
              <a:t>‹#›</a:t>
            </a:fld>
            <a:endParaRPr lang="en-US"/>
          </a:p>
        </p:txBody>
      </p:sp>
    </p:spTree>
    <p:extLst>
      <p:ext uri="{BB962C8B-B14F-4D97-AF65-F5344CB8AC3E}">
        <p14:creationId xmlns:p14="http://schemas.microsoft.com/office/powerpoint/2010/main" val="149881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gradFill flip="none" rotWithShape="1">
          <a:gsLst>
            <a:gs pos="0">
              <a:srgbClr val="002060"/>
            </a:gs>
            <a:gs pos="91000">
              <a:schemeClr val="accent1">
                <a:lumMod val="89000"/>
              </a:schemeClr>
            </a:gs>
            <a:gs pos="85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9C37A9-8C23-6B4F-88B3-AB73D61B7148}"/>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176775AE-BCE3-4B41-8ADB-E632DB8DE999}"/>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939092D3-1A80-C841-BE0C-FB3B2449ED61}"/>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xmlns="" id="{320948AB-0BEE-7E40-BCE4-2360F70E6140}"/>
              </a:ext>
            </a:extLst>
          </p:cNvPr>
          <p:cNvSpPr>
            <a:spLocks noGrp="1"/>
          </p:cNvSpPr>
          <p:nvPr>
            <p:ph type="ftr" sz="quarter" idx="11"/>
          </p:nvPr>
        </p:nvSpPr>
        <p:spPr/>
        <p:txBody>
          <a:bodyPr/>
          <a:lstStyle/>
          <a:p>
            <a:r>
              <a:rPr lang="en-US"/>
              <a:t>Subject Name</a:t>
            </a:r>
            <a:endParaRPr lang="en-US" dirty="0"/>
          </a:p>
        </p:txBody>
      </p:sp>
      <p:sp>
        <p:nvSpPr>
          <p:cNvPr id="6" name="Slide Number Placeholder 5">
            <a:extLst>
              <a:ext uri="{FF2B5EF4-FFF2-40B4-BE49-F238E27FC236}">
                <a16:creationId xmlns:a16="http://schemas.microsoft.com/office/drawing/2014/main" xmlns="" id="{9FD03C7E-8755-DA48-8510-BD952A82333E}"/>
              </a:ext>
            </a:extLst>
          </p:cNvPr>
          <p:cNvSpPr>
            <a:spLocks noGrp="1"/>
          </p:cNvSpPr>
          <p:nvPr>
            <p:ph type="sldNum" sz="quarter" idx="12"/>
          </p:nvPr>
        </p:nvSpPr>
        <p:spPr/>
        <p:txBody>
          <a:bodyPr/>
          <a:lstStyle/>
          <a:p>
            <a:fld id="{B9BA5F68-B450-774B-A94B-86322AF8B758}" type="slidenum">
              <a:rPr lang="en-US" smtClean="0"/>
              <a:t>‹#›</a:t>
            </a:fld>
            <a:endParaRPr lang="en-US"/>
          </a:p>
        </p:txBody>
      </p:sp>
      <p:pic>
        <p:nvPicPr>
          <p:cNvPr id="8" name="Picture 7">
            <a:extLst>
              <a:ext uri="{FF2B5EF4-FFF2-40B4-BE49-F238E27FC236}">
                <a16:creationId xmlns:a16="http://schemas.microsoft.com/office/drawing/2014/main" xmlns="" id="{338C6B40-493E-D545-8618-31916324F2BA}"/>
              </a:ext>
            </a:extLst>
          </p:cNvPr>
          <p:cNvPicPr>
            <a:picLocks noChangeAspect="1"/>
          </p:cNvPicPr>
          <p:nvPr/>
        </p:nvPicPr>
        <p:blipFill>
          <a:blip r:embed="rId2"/>
          <a:stretch>
            <a:fillRect/>
          </a:stretch>
        </p:blipFill>
        <p:spPr>
          <a:xfrm>
            <a:off x="414338" y="278924"/>
            <a:ext cx="4600575" cy="843439"/>
          </a:xfrm>
          <a:prstGeom prst="rect">
            <a:avLst/>
          </a:prstGeom>
        </p:spPr>
      </p:pic>
    </p:spTree>
    <p:extLst>
      <p:ext uri="{BB962C8B-B14F-4D97-AF65-F5344CB8AC3E}">
        <p14:creationId xmlns:p14="http://schemas.microsoft.com/office/powerpoint/2010/main" val="99570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4C2816-FC3E-3244-B2EB-CEB70C88E508}"/>
              </a:ext>
            </a:extLst>
          </p:cNvPr>
          <p:cNvSpPr>
            <a:spLocks noGrp="1"/>
          </p:cNvSpPr>
          <p:nvPr>
            <p:ph type="title"/>
          </p:nvPr>
        </p:nvSpPr>
        <p:spPr>
          <a:xfrm>
            <a:off x="838200" y="263301"/>
            <a:ext cx="10515600" cy="663575"/>
          </a:xfrm>
        </p:spPr>
        <p:txBody>
          <a:bodyPr>
            <a:normAutofit/>
          </a:bodyPr>
          <a:lstStyle>
            <a:lvl1pPr>
              <a:defRPr sz="280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B6358429-6D80-3644-9565-0A158FEB660D}"/>
              </a:ext>
            </a:extLst>
          </p:cNvPr>
          <p:cNvSpPr>
            <a:spLocks noGrp="1"/>
          </p:cNvSpPr>
          <p:nvPr>
            <p:ph idx="1"/>
          </p:nvPr>
        </p:nvSpPr>
        <p:spPr>
          <a:xfrm>
            <a:off x="838200" y="1074057"/>
            <a:ext cx="10515600" cy="512843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07A60295-D28D-5342-864C-DFD74E3BF4AC}"/>
              </a:ext>
            </a:extLst>
          </p:cNvPr>
          <p:cNvSpPr>
            <a:spLocks noGrp="1"/>
          </p:cNvSpPr>
          <p:nvPr>
            <p:ph type="dt" sz="half" idx="10"/>
          </p:nvPr>
        </p:nvSpPr>
        <p:spPr>
          <a:xfrm>
            <a:off x="838199" y="6356350"/>
            <a:ext cx="1382488" cy="365125"/>
          </a:xfrm>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20084FDE-39E1-CC43-ADEC-A2E40B807239}"/>
              </a:ext>
            </a:extLst>
          </p:cNvPr>
          <p:cNvSpPr>
            <a:spLocks noGrp="1"/>
          </p:cNvSpPr>
          <p:nvPr>
            <p:ph type="ftr" sz="quarter" idx="11"/>
          </p:nvPr>
        </p:nvSpPr>
        <p:spPr>
          <a:xfrm>
            <a:off x="2365514" y="6356350"/>
            <a:ext cx="7489686" cy="365125"/>
          </a:xfrm>
        </p:spPr>
        <p:txBody>
          <a:bodyPr/>
          <a:lstStyle/>
          <a:p>
            <a:r>
              <a:rPr lang="en-US"/>
              <a:t>Subject Name</a:t>
            </a:r>
          </a:p>
        </p:txBody>
      </p:sp>
      <p:sp>
        <p:nvSpPr>
          <p:cNvPr id="6" name="Slide Number Placeholder 5">
            <a:extLst>
              <a:ext uri="{FF2B5EF4-FFF2-40B4-BE49-F238E27FC236}">
                <a16:creationId xmlns:a16="http://schemas.microsoft.com/office/drawing/2014/main" xmlns="" id="{24CBCC03-BB7B-8F4A-BDC0-0497BB610957}"/>
              </a:ext>
            </a:extLst>
          </p:cNvPr>
          <p:cNvSpPr>
            <a:spLocks noGrp="1"/>
          </p:cNvSpPr>
          <p:nvPr>
            <p:ph type="sldNum" sz="quarter" idx="12"/>
          </p:nvPr>
        </p:nvSpPr>
        <p:spPr>
          <a:xfrm>
            <a:off x="10000340" y="6356350"/>
            <a:ext cx="1353459" cy="365125"/>
          </a:xfrm>
        </p:spPr>
        <p:txBody>
          <a:bodyPr/>
          <a:lstStyle/>
          <a:p>
            <a:fld id="{B9BA5F68-B450-774B-A94B-86322AF8B758}" type="slidenum">
              <a:rPr lang="en-US" smtClean="0"/>
              <a:t>‹#›</a:t>
            </a:fld>
            <a:endParaRPr lang="en-US" dirty="0"/>
          </a:p>
        </p:txBody>
      </p:sp>
    </p:spTree>
    <p:extLst>
      <p:ext uri="{BB962C8B-B14F-4D97-AF65-F5344CB8AC3E}">
        <p14:creationId xmlns:p14="http://schemas.microsoft.com/office/powerpoint/2010/main" val="253278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2987CA-DEB8-1246-A8A0-FC212DE453AF}"/>
              </a:ext>
            </a:extLst>
          </p:cNvPr>
          <p:cNvSpPr>
            <a:spLocks noGrp="1"/>
          </p:cNvSpPr>
          <p:nvPr>
            <p:ph type="title"/>
          </p:nvPr>
        </p:nvSpPr>
        <p:spPr>
          <a:xfrm>
            <a:off x="831850" y="1709738"/>
            <a:ext cx="10515600" cy="2852737"/>
          </a:xfrm>
        </p:spPr>
        <p:txBody>
          <a:bodyPr anchor="b"/>
          <a:lstStyle>
            <a:lvl1pPr>
              <a:defRPr sz="6000">
                <a:solidFill>
                  <a:srgbClr val="002060"/>
                </a:solidFill>
              </a:defRPr>
            </a:lvl1pPr>
          </a:lstStyle>
          <a:p>
            <a:r>
              <a:rPr lang="en-US"/>
              <a:t>Click to edit Master title style</a:t>
            </a:r>
          </a:p>
        </p:txBody>
      </p:sp>
      <p:sp>
        <p:nvSpPr>
          <p:cNvPr id="3" name="Text Placeholder 2">
            <a:extLst>
              <a:ext uri="{FF2B5EF4-FFF2-40B4-BE49-F238E27FC236}">
                <a16:creationId xmlns:a16="http://schemas.microsoft.com/office/drawing/2014/main" xmlns="" id="{EAA34C65-DEA5-8F4A-A14B-0DF1A1E68918}"/>
              </a:ext>
            </a:extLst>
          </p:cNvPr>
          <p:cNvSpPr>
            <a:spLocks noGrp="1"/>
          </p:cNvSpPr>
          <p:nvPr>
            <p:ph type="body" idx="1"/>
          </p:nvPr>
        </p:nvSpPr>
        <p:spPr>
          <a:xfrm>
            <a:off x="831850" y="4589463"/>
            <a:ext cx="10515600" cy="1500187"/>
          </a:xfrm>
        </p:spPr>
        <p:txBody>
          <a:bodyPr/>
          <a:lstStyle>
            <a:lvl1pPr marL="0" indent="0">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EFB5CC9-D24D-8D45-94E1-B8A6F082E35A}"/>
              </a:ext>
            </a:extLst>
          </p:cNvPr>
          <p:cNvSpPr>
            <a:spLocks noGrp="1"/>
          </p:cNvSpPr>
          <p:nvPr>
            <p:ph type="dt" sz="half" idx="10"/>
          </p:nvPr>
        </p:nvSpPr>
        <p:spPr>
          <a:xfrm>
            <a:off x="838200" y="6364028"/>
            <a:ext cx="1367971" cy="365125"/>
          </a:xfrm>
        </p:spPr>
        <p:txBody>
          <a:bodyPr/>
          <a:lstStyle/>
          <a:p>
            <a:r>
              <a:rPr lang="en-US"/>
              <a:t>© VTCA</a:t>
            </a:r>
          </a:p>
        </p:txBody>
      </p:sp>
      <p:sp>
        <p:nvSpPr>
          <p:cNvPr id="5" name="Footer Placeholder 4">
            <a:extLst>
              <a:ext uri="{FF2B5EF4-FFF2-40B4-BE49-F238E27FC236}">
                <a16:creationId xmlns:a16="http://schemas.microsoft.com/office/drawing/2014/main" xmlns="" id="{DBD43B7A-936C-F047-BD4A-CCBB3D41F0DF}"/>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xmlns="" id="{96EEEBFE-C4A6-0541-B16A-380D3EAAB96F}"/>
              </a:ext>
            </a:extLst>
          </p:cNvPr>
          <p:cNvSpPr>
            <a:spLocks noGrp="1"/>
          </p:cNvSpPr>
          <p:nvPr>
            <p:ph type="sldNum" sz="quarter" idx="12"/>
          </p:nvPr>
        </p:nvSpPr>
        <p:spPr>
          <a:xfrm>
            <a:off x="10014856" y="6356350"/>
            <a:ext cx="1338943" cy="365125"/>
          </a:xfrm>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4571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56102A-A1F7-3842-AAEA-F5C7311EA1B8}"/>
              </a:ext>
            </a:extLst>
          </p:cNvPr>
          <p:cNvSpPr>
            <a:spLocks noGrp="1"/>
          </p:cNvSpPr>
          <p:nvPr>
            <p:ph type="title"/>
          </p:nvPr>
        </p:nvSpPr>
        <p:spPr>
          <a:xfrm>
            <a:off x="838200" y="278042"/>
            <a:ext cx="10515600" cy="63500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F08251E2-F43C-F64D-B993-CE6609ED119D}"/>
              </a:ext>
            </a:extLst>
          </p:cNvPr>
          <p:cNvSpPr>
            <a:spLocks noGrp="1"/>
          </p:cNvSpPr>
          <p:nvPr>
            <p:ph sz="half" idx="1"/>
          </p:nvPr>
        </p:nvSpPr>
        <p:spPr>
          <a:xfrm>
            <a:off x="838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xmlns="" id="{8704EDDE-EE3F-8F4B-9C7A-83E0406455BE}"/>
              </a:ext>
            </a:extLst>
          </p:cNvPr>
          <p:cNvSpPr>
            <a:spLocks noGrp="1"/>
          </p:cNvSpPr>
          <p:nvPr>
            <p:ph sz="half" idx="2"/>
          </p:nvPr>
        </p:nvSpPr>
        <p:spPr>
          <a:xfrm>
            <a:off x="6172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xmlns="" id="{E9E15ADE-643D-314B-865E-D1A74E171C8E}"/>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7C066CD4-6B44-554D-8C3E-1CC265FA54D3}"/>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5905A39C-E79D-054D-AA55-AE55FBA281B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6874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1FA0EE-3CC4-5243-A94C-6FACDA7F8445}"/>
              </a:ext>
            </a:extLst>
          </p:cNvPr>
          <p:cNvSpPr>
            <a:spLocks noGrp="1"/>
          </p:cNvSpPr>
          <p:nvPr>
            <p:ph type="title"/>
          </p:nvPr>
        </p:nvSpPr>
        <p:spPr>
          <a:xfrm>
            <a:off x="839788" y="263527"/>
            <a:ext cx="10515600" cy="6635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40930389-7090-CD40-BEBF-0637D2031B24}"/>
              </a:ext>
            </a:extLst>
          </p:cNvPr>
          <p:cNvSpPr>
            <a:spLocks noGrp="1"/>
          </p:cNvSpPr>
          <p:nvPr>
            <p:ph type="body" idx="1"/>
          </p:nvPr>
        </p:nvSpPr>
        <p:spPr>
          <a:xfrm>
            <a:off x="836612" y="119788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8DBABA1-0B0C-5D41-BD03-AF3497DBF438}"/>
              </a:ext>
            </a:extLst>
          </p:cNvPr>
          <p:cNvSpPr>
            <a:spLocks noGrp="1"/>
          </p:cNvSpPr>
          <p:nvPr>
            <p:ph sz="half" idx="2"/>
          </p:nvPr>
        </p:nvSpPr>
        <p:spPr>
          <a:xfrm>
            <a:off x="839788" y="2021796"/>
            <a:ext cx="5157787"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7923744A-9292-8949-A87C-3B6979EA7CA4}"/>
              </a:ext>
            </a:extLst>
          </p:cNvPr>
          <p:cNvSpPr>
            <a:spLocks noGrp="1"/>
          </p:cNvSpPr>
          <p:nvPr>
            <p:ph type="body" sz="quarter" idx="3"/>
          </p:nvPr>
        </p:nvSpPr>
        <p:spPr>
          <a:xfrm>
            <a:off x="6194427" y="119788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xmlns="" id="{951ADD4A-DB10-FB4A-A9BA-9D3DB500D4B5}"/>
              </a:ext>
            </a:extLst>
          </p:cNvPr>
          <p:cNvSpPr>
            <a:spLocks noGrp="1"/>
          </p:cNvSpPr>
          <p:nvPr>
            <p:ph sz="quarter" idx="4"/>
          </p:nvPr>
        </p:nvSpPr>
        <p:spPr>
          <a:xfrm>
            <a:off x="6172200" y="2021796"/>
            <a:ext cx="5183188"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xmlns="" id="{57B58B35-25F2-6941-BC63-14140DB153E2}"/>
              </a:ext>
            </a:extLst>
          </p:cNvPr>
          <p:cNvSpPr>
            <a:spLocks noGrp="1"/>
          </p:cNvSpPr>
          <p:nvPr>
            <p:ph type="dt" sz="half" idx="10"/>
          </p:nvPr>
        </p:nvSpPr>
        <p:spPr/>
        <p:txBody>
          <a:bodyPr/>
          <a:lstStyle/>
          <a:p>
            <a:r>
              <a:rPr lang="en-US"/>
              <a:t>© VTCA</a:t>
            </a:r>
          </a:p>
        </p:txBody>
      </p:sp>
      <p:sp>
        <p:nvSpPr>
          <p:cNvPr id="8" name="Footer Placeholder 7">
            <a:extLst>
              <a:ext uri="{FF2B5EF4-FFF2-40B4-BE49-F238E27FC236}">
                <a16:creationId xmlns:a16="http://schemas.microsoft.com/office/drawing/2014/main" xmlns="" id="{7A4CB44E-6D22-DC48-8A79-8CC24323AB88}"/>
              </a:ext>
            </a:extLst>
          </p:cNvPr>
          <p:cNvSpPr>
            <a:spLocks noGrp="1"/>
          </p:cNvSpPr>
          <p:nvPr>
            <p:ph type="ftr" sz="quarter" idx="11"/>
          </p:nvPr>
        </p:nvSpPr>
        <p:spPr/>
        <p:txBody>
          <a:bodyPr/>
          <a:lstStyle/>
          <a:p>
            <a:r>
              <a:rPr lang="en-US"/>
              <a:t>Subject Name</a:t>
            </a:r>
          </a:p>
        </p:txBody>
      </p:sp>
      <p:sp>
        <p:nvSpPr>
          <p:cNvPr id="9" name="Slide Number Placeholder 8">
            <a:extLst>
              <a:ext uri="{FF2B5EF4-FFF2-40B4-BE49-F238E27FC236}">
                <a16:creationId xmlns:a16="http://schemas.microsoft.com/office/drawing/2014/main" xmlns="" id="{14AC1E52-5D18-5A4D-B7CC-7DB931B3D35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96089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E28F28-5514-3C4F-8F16-87F0D27BFC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6E8C3861-35A6-C04A-AF18-0494795E52DC}"/>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964A6BF7-1B35-7B45-8465-DA95BDF4F1F8}"/>
              </a:ext>
            </a:extLst>
          </p:cNvPr>
          <p:cNvSpPr>
            <a:spLocks noGrp="1"/>
          </p:cNvSpPr>
          <p:nvPr>
            <p:ph type="ftr" sz="quarter" idx="11"/>
          </p:nvPr>
        </p:nvSpPr>
        <p:spPr/>
        <p:txBody>
          <a:bodyPr/>
          <a:lstStyle/>
          <a:p>
            <a:r>
              <a:rPr lang="en-US"/>
              <a:t>Subject Name</a:t>
            </a:r>
          </a:p>
        </p:txBody>
      </p:sp>
      <p:sp>
        <p:nvSpPr>
          <p:cNvPr id="5" name="Slide Number Placeholder 4">
            <a:extLst>
              <a:ext uri="{FF2B5EF4-FFF2-40B4-BE49-F238E27FC236}">
                <a16:creationId xmlns:a16="http://schemas.microsoft.com/office/drawing/2014/main" xmlns="" id="{182ECE7A-5E3E-FA41-A2CF-2170043C16A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185209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012E6E-C79E-5B49-9FDF-F6705D37C5C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2D2BB082-60EA-F742-971F-16B6DC7F2F04}"/>
              </a:ext>
            </a:extLst>
          </p:cNvPr>
          <p:cNvSpPr>
            <a:spLocks noGrp="1"/>
          </p:cNvSpPr>
          <p:nvPr>
            <p:ph idx="1"/>
          </p:nvPr>
        </p:nvSpPr>
        <p:spPr>
          <a:xfrm>
            <a:off x="4943344" y="987425"/>
            <a:ext cx="6408867" cy="52101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xmlns="" id="{0D0DA2A8-A776-FA4A-A5B2-6088AA8A5EF7}"/>
              </a:ext>
            </a:extLst>
          </p:cNvPr>
          <p:cNvSpPr>
            <a:spLocks noGrp="1"/>
          </p:cNvSpPr>
          <p:nvPr>
            <p:ph type="body" sz="half" idx="2"/>
          </p:nvPr>
        </p:nvSpPr>
        <p:spPr>
          <a:xfrm>
            <a:off x="839788" y="2057400"/>
            <a:ext cx="3932237" cy="4140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F9C5211-987C-0E4C-8A65-096CAF941FE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A7EC83AD-025F-B541-9368-2FEDDC6B1D1D}"/>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D0C98FAB-9E39-4442-B432-009E972C220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8629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33CED7-2E22-7046-B671-644D9867C310}"/>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E4637231-3259-8148-A59B-BCA49EE18422}"/>
              </a:ext>
            </a:extLst>
          </p:cNvPr>
          <p:cNvSpPr>
            <a:spLocks noGrp="1"/>
          </p:cNvSpPr>
          <p:nvPr>
            <p:ph type="pic" idx="1"/>
          </p:nvPr>
        </p:nvSpPr>
        <p:spPr>
          <a:xfrm>
            <a:off x="5183188" y="987425"/>
            <a:ext cx="6172200" cy="52035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xmlns="" id="{51F3E8CD-A682-AC45-B9C3-5CB1873728F1}"/>
              </a:ext>
            </a:extLst>
          </p:cNvPr>
          <p:cNvSpPr>
            <a:spLocks noGrp="1"/>
          </p:cNvSpPr>
          <p:nvPr>
            <p:ph type="body" sz="half" idx="2"/>
          </p:nvPr>
        </p:nvSpPr>
        <p:spPr>
          <a:xfrm>
            <a:off x="839788" y="2057400"/>
            <a:ext cx="3932237" cy="41335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B6DDB3D-EBBA-E54E-957D-18F54AC5AE6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a16="http://schemas.microsoft.com/office/drawing/2014/main" xmlns="" id="{EE068683-9DAF-2949-BB77-A0BA807B4E8A}"/>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a16="http://schemas.microsoft.com/office/drawing/2014/main" xmlns="" id="{03031D61-53FD-B847-BC95-73B6763ADD6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7883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0BD9D8-CC86-7E4D-A036-7F666D5814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B41D8279-4EB5-1B4C-AC96-6DA0B332F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FF71BE1-3E91-AC49-9604-441E4DD3A9C7}"/>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a16="http://schemas.microsoft.com/office/drawing/2014/main" xmlns="" id="{7C5F1837-E4C0-A34F-B38C-CBF0D65B8F14}"/>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a16="http://schemas.microsoft.com/office/drawing/2014/main" xmlns="" id="{AE605FF2-DF89-7143-8050-5F1B7B5C51E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277591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xmlns=""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217324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a16="http://schemas.microsoft.com/office/drawing/2014/main" xmlns=""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a16="http://schemas.microsoft.com/office/drawing/2014/main" xmlns=""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150817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xmlns="" id="{A4C0672D-63A5-7F4F-996A-A49C94A186D4}"/>
              </a:ext>
            </a:extLst>
          </p:cNvPr>
          <p:cNvPicPr>
            <a:picLocks noChangeAspect="1"/>
          </p:cNvPicPr>
          <p:nvPr/>
        </p:nvPicPr>
        <p:blipFill>
          <a:blip r:embed="rId13"/>
          <a:stretch>
            <a:fillRect/>
          </a:stretch>
        </p:blipFill>
        <p:spPr>
          <a:xfrm>
            <a:off x="-17315" y="345287"/>
            <a:ext cx="12192000" cy="475488"/>
          </a:xfrm>
          <a:prstGeom prst="rect">
            <a:avLst/>
          </a:prstGeom>
        </p:spPr>
      </p:pic>
      <p:sp>
        <p:nvSpPr>
          <p:cNvPr id="2" name="Title Placeholder 1">
            <a:extLst>
              <a:ext uri="{FF2B5EF4-FFF2-40B4-BE49-F238E27FC236}">
                <a16:creationId xmlns:a16="http://schemas.microsoft.com/office/drawing/2014/main" xmlns="" id="{FDEC1233-5907-7143-8A9A-729AB9D49605}"/>
              </a:ext>
            </a:extLst>
          </p:cNvPr>
          <p:cNvSpPr>
            <a:spLocks noGrp="1"/>
          </p:cNvSpPr>
          <p:nvPr>
            <p:ph type="title"/>
          </p:nvPr>
        </p:nvSpPr>
        <p:spPr>
          <a:xfrm>
            <a:off x="838200" y="254955"/>
            <a:ext cx="10515600" cy="67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7C2E4728-1E09-A64F-9A06-2F96BC71F324}"/>
              </a:ext>
            </a:extLst>
          </p:cNvPr>
          <p:cNvSpPr>
            <a:spLocks noGrp="1"/>
          </p:cNvSpPr>
          <p:nvPr>
            <p:ph type="body" idx="1"/>
          </p:nvPr>
        </p:nvSpPr>
        <p:spPr>
          <a:xfrm>
            <a:off x="838200" y="1055881"/>
            <a:ext cx="10515600" cy="51417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D314233A-AE14-694A-BB8D-3E28E47EE53A}"/>
              </a:ext>
            </a:extLst>
          </p:cNvPr>
          <p:cNvSpPr>
            <a:spLocks noGrp="1"/>
          </p:cNvSpPr>
          <p:nvPr>
            <p:ph type="dt" sz="half" idx="2"/>
          </p:nvPr>
        </p:nvSpPr>
        <p:spPr>
          <a:xfrm>
            <a:off x="838201" y="6356350"/>
            <a:ext cx="1411514"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 VTC Academy</a:t>
            </a:r>
          </a:p>
        </p:txBody>
      </p:sp>
      <p:sp>
        <p:nvSpPr>
          <p:cNvPr id="5" name="Footer Placeholder 4">
            <a:extLst>
              <a:ext uri="{FF2B5EF4-FFF2-40B4-BE49-F238E27FC236}">
                <a16:creationId xmlns:a16="http://schemas.microsoft.com/office/drawing/2014/main" xmlns="" id="{85E08028-B976-7C44-A1F6-F7265A55443D}"/>
              </a:ext>
            </a:extLst>
          </p:cNvPr>
          <p:cNvSpPr>
            <a:spLocks noGrp="1"/>
          </p:cNvSpPr>
          <p:nvPr>
            <p:ph type="ftr" sz="quarter" idx="3"/>
          </p:nvPr>
        </p:nvSpPr>
        <p:spPr>
          <a:xfrm>
            <a:off x="2365828" y="6356350"/>
            <a:ext cx="748937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Introduction</a:t>
            </a:r>
          </a:p>
        </p:txBody>
      </p:sp>
      <p:sp>
        <p:nvSpPr>
          <p:cNvPr id="6" name="Slide Number Placeholder 5">
            <a:extLst>
              <a:ext uri="{FF2B5EF4-FFF2-40B4-BE49-F238E27FC236}">
                <a16:creationId xmlns:a16="http://schemas.microsoft.com/office/drawing/2014/main" xmlns="" id="{1836F93A-8372-7749-B2E4-1B714A6CCF1E}"/>
              </a:ext>
            </a:extLst>
          </p:cNvPr>
          <p:cNvSpPr>
            <a:spLocks noGrp="1"/>
          </p:cNvSpPr>
          <p:nvPr>
            <p:ph type="sldNum" sz="quarter" idx="4"/>
          </p:nvPr>
        </p:nvSpPr>
        <p:spPr>
          <a:xfrm>
            <a:off x="9985828" y="6356350"/>
            <a:ext cx="136797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BA5F68-B450-774B-A94B-86322AF8B758}" type="slidenum">
              <a:rPr lang="en-US" smtClean="0"/>
              <a:pPr/>
              <a:t>‹#›</a:t>
            </a:fld>
            <a:endParaRPr lang="en-US"/>
          </a:p>
        </p:txBody>
      </p:sp>
      <p:pic>
        <p:nvPicPr>
          <p:cNvPr id="12" name="Picture 11">
            <a:extLst>
              <a:ext uri="{FF2B5EF4-FFF2-40B4-BE49-F238E27FC236}">
                <a16:creationId xmlns:a16="http://schemas.microsoft.com/office/drawing/2014/main" xmlns="" id="{6402E568-18E6-9A43-8CDC-1DF38DFF6BB5}"/>
              </a:ext>
            </a:extLst>
          </p:cNvPr>
          <p:cNvPicPr>
            <a:picLocks noChangeAspect="1"/>
          </p:cNvPicPr>
          <p:nvPr/>
        </p:nvPicPr>
        <p:blipFill>
          <a:blip r:embed="rId14"/>
          <a:stretch>
            <a:fillRect/>
          </a:stretch>
        </p:blipFill>
        <p:spPr>
          <a:xfrm>
            <a:off x="9087694" y="306094"/>
            <a:ext cx="3116019" cy="571270"/>
          </a:xfrm>
          <a:prstGeom prst="rect">
            <a:avLst/>
          </a:prstGeom>
        </p:spPr>
      </p:pic>
    </p:spTree>
    <p:extLst>
      <p:ext uri="{BB962C8B-B14F-4D97-AF65-F5344CB8AC3E}">
        <p14:creationId xmlns:p14="http://schemas.microsoft.com/office/powerpoint/2010/main" val="17806034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javatpoint.com/java-string-length" TargetMode="External"/><Relationship Id="rId2" Type="http://schemas.openxmlformats.org/officeDocument/2006/relationships/hyperlink" Target="https://www.javatpoint.com/java-string-charat" TargetMode="External"/><Relationship Id="rId1" Type="http://schemas.openxmlformats.org/officeDocument/2006/relationships/slideLayout" Target="../slideLayouts/slideLayout2.xml"/><Relationship Id="rId6" Type="http://schemas.openxmlformats.org/officeDocument/2006/relationships/hyperlink" Target="https://www.javatpoint.com/java-string-contains" TargetMode="External"/><Relationship Id="rId5" Type="http://schemas.openxmlformats.org/officeDocument/2006/relationships/hyperlink" Target="https://www.javatpoint.com/java-string-substring" TargetMode="External"/><Relationship Id="rId4" Type="http://schemas.openxmlformats.org/officeDocument/2006/relationships/hyperlink" Target="https://www.javatpoint.com/java-string-format"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www.javatpoint.com/java-string-split" TargetMode="External"/><Relationship Id="rId3" Type="http://schemas.openxmlformats.org/officeDocument/2006/relationships/hyperlink" Target="https://www.javatpoint.com/java-string-equals" TargetMode="External"/><Relationship Id="rId7" Type="http://schemas.openxmlformats.org/officeDocument/2006/relationships/hyperlink" Target="https://www.javatpoint.com/java-string-equalsignorecase" TargetMode="External"/><Relationship Id="rId2" Type="http://schemas.openxmlformats.org/officeDocument/2006/relationships/hyperlink" Target="https://www.javatpoint.com/java-string-join" TargetMode="External"/><Relationship Id="rId1" Type="http://schemas.openxmlformats.org/officeDocument/2006/relationships/slideLayout" Target="../slideLayouts/slideLayout2.xml"/><Relationship Id="rId6" Type="http://schemas.openxmlformats.org/officeDocument/2006/relationships/hyperlink" Target="https://www.javatpoint.com/java-string-replace" TargetMode="External"/><Relationship Id="rId5" Type="http://schemas.openxmlformats.org/officeDocument/2006/relationships/hyperlink" Target="https://www.javatpoint.com/java-string-concat" TargetMode="External"/><Relationship Id="rId4" Type="http://schemas.openxmlformats.org/officeDocument/2006/relationships/hyperlink" Target="https://www.javatpoint.com/java-string-isempty"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javatpoint.com/java-string-tolowercase" TargetMode="External"/><Relationship Id="rId2" Type="http://schemas.openxmlformats.org/officeDocument/2006/relationships/hyperlink" Target="https://www.javatpoint.com/java-string-indexof" TargetMode="External"/><Relationship Id="rId1" Type="http://schemas.openxmlformats.org/officeDocument/2006/relationships/slideLayout" Target="../slideLayouts/slideLayout2.xml"/><Relationship Id="rId6" Type="http://schemas.openxmlformats.org/officeDocument/2006/relationships/hyperlink" Target="https://www.javatpoint.com/java-string-valueof" TargetMode="External"/><Relationship Id="rId5" Type="http://schemas.openxmlformats.org/officeDocument/2006/relationships/hyperlink" Target="https://www.javatpoint.com/java-string-trim" TargetMode="External"/><Relationship Id="rId4" Type="http://schemas.openxmlformats.org/officeDocument/2006/relationships/hyperlink" Target="https://www.javatpoint.com/java-string-touppercas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w3schools.com/java/java_strings.asp" TargetMode="External"/><Relationship Id="rId7" Type="http://schemas.openxmlformats.org/officeDocument/2006/relationships/hyperlink" Target="https://howtodoinjava.com/java-string/" TargetMode="External"/><Relationship Id="rId2" Type="http://schemas.openxmlformats.org/officeDocument/2006/relationships/hyperlink" Target="https://www.geeksforgeeks.org/strings-in-java/" TargetMode="External"/><Relationship Id="rId1" Type="http://schemas.openxmlformats.org/officeDocument/2006/relationships/slideLayout" Target="../slideLayouts/slideLayout2.xml"/><Relationship Id="rId6" Type="http://schemas.openxmlformats.org/officeDocument/2006/relationships/hyperlink" Target="https://www.journaldev.com/16928/java-string" TargetMode="External"/><Relationship Id="rId5" Type="http://schemas.openxmlformats.org/officeDocument/2006/relationships/hyperlink" Target="https://www.edureka.co/blog/java-string/" TargetMode="External"/><Relationship Id="rId4" Type="http://schemas.openxmlformats.org/officeDocument/2006/relationships/hyperlink" Target="https://www.javatpoint.com/java-string"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33D9EB45-1C59-C541-92E7-6FE421F29085}"/>
              </a:ext>
            </a:extLst>
          </p:cNvPr>
          <p:cNvSpPr>
            <a:spLocks noGrp="1"/>
          </p:cNvSpPr>
          <p:nvPr>
            <p:ph type="ctrTitle"/>
          </p:nvPr>
        </p:nvSpPr>
        <p:spPr/>
        <p:txBody>
          <a:bodyPr/>
          <a:lstStyle/>
          <a:p>
            <a:r>
              <a:rPr lang="en-US" dirty="0"/>
              <a:t>Introduction to Programming</a:t>
            </a:r>
          </a:p>
        </p:txBody>
      </p:sp>
      <p:sp>
        <p:nvSpPr>
          <p:cNvPr id="8" name="Subtitle 7">
            <a:extLst>
              <a:ext uri="{FF2B5EF4-FFF2-40B4-BE49-F238E27FC236}">
                <a16:creationId xmlns:a16="http://schemas.microsoft.com/office/drawing/2014/main" xmlns="" id="{DA0CEDCB-5CE2-1B41-9D8B-CA0EB9D3BBD7}"/>
              </a:ext>
            </a:extLst>
          </p:cNvPr>
          <p:cNvSpPr>
            <a:spLocks noGrp="1"/>
          </p:cNvSpPr>
          <p:nvPr>
            <p:ph type="subTitle" idx="1"/>
          </p:nvPr>
        </p:nvSpPr>
        <p:spPr/>
        <p:txBody>
          <a:bodyPr>
            <a:normAutofit/>
          </a:bodyPr>
          <a:lstStyle/>
          <a:p>
            <a:r>
              <a:rPr lang="en-US" sz="3600"/>
              <a:t>Session </a:t>
            </a:r>
            <a:r>
              <a:rPr lang="en-US" sz="3600" smtClean="0"/>
              <a:t>09</a:t>
            </a:r>
            <a:endParaRPr lang="en-US" sz="3600" dirty="0" smtClean="0"/>
          </a:p>
          <a:p>
            <a:r>
              <a:rPr lang="en-US" sz="3600" dirty="0" smtClean="0"/>
              <a:t>String in Java</a:t>
            </a:r>
            <a:endParaRPr lang="en-US" sz="3600" dirty="0"/>
          </a:p>
        </p:txBody>
      </p:sp>
    </p:spTree>
    <p:extLst>
      <p:ext uri="{BB962C8B-B14F-4D97-AF65-F5344CB8AC3E}">
        <p14:creationId xmlns:p14="http://schemas.microsoft.com/office/powerpoint/2010/main" val="2854215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Objectives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p:txBody>
          <a:bodyPr>
            <a:normAutofit/>
          </a:bodyPr>
          <a:lstStyle/>
          <a:p>
            <a:r>
              <a:rPr lang="en-US" sz="3200" dirty="0" smtClean="0"/>
              <a:t>Java String.</a:t>
            </a:r>
          </a:p>
          <a:p>
            <a:r>
              <a:rPr lang="en-US" sz="3200" dirty="0" smtClean="0"/>
              <a:t>Create a String object.</a:t>
            </a:r>
          </a:p>
          <a:p>
            <a:r>
              <a:rPr lang="en-US" sz="3200" dirty="0" smtClean="0"/>
              <a:t>Methods of String.</a:t>
            </a:r>
          </a:p>
          <a:p>
            <a:r>
              <a:rPr lang="en-US" sz="3200" dirty="0" smtClean="0"/>
              <a:t>Example.</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a:t>
            </a:fld>
            <a:endParaRPr lang="en-US" dirty="0"/>
          </a:p>
        </p:txBody>
      </p:sp>
    </p:spTree>
    <p:extLst>
      <p:ext uri="{BB962C8B-B14F-4D97-AF65-F5344CB8AC3E}">
        <p14:creationId xmlns:p14="http://schemas.microsoft.com/office/powerpoint/2010/main" val="308868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String</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282293"/>
          </a:xfrm>
        </p:spPr>
        <p:txBody>
          <a:bodyPr>
            <a:normAutofit/>
          </a:bodyPr>
          <a:lstStyle/>
          <a:p>
            <a:pPr algn="just" fontAlgn="base"/>
            <a:r>
              <a:rPr lang="en-US" sz="3200" dirty="0"/>
              <a:t>String is a sequence of characters. But in Java, a string is an object that represents a sequence of characters. </a:t>
            </a:r>
            <a:endParaRPr lang="en-US" sz="3200" dirty="0" smtClean="0"/>
          </a:p>
          <a:p>
            <a:pPr algn="just" fontAlgn="base"/>
            <a:r>
              <a:rPr lang="en-US" sz="3200" dirty="0" smtClean="0"/>
              <a:t>The </a:t>
            </a:r>
            <a:r>
              <a:rPr lang="en-US" sz="3200" dirty="0" err="1"/>
              <a:t>java.lang.String</a:t>
            </a:r>
            <a:r>
              <a:rPr lang="en-US" sz="3200" dirty="0"/>
              <a:t> class is used to create string object</a:t>
            </a:r>
            <a:r>
              <a:rPr lang="en-US" sz="3200" dirty="0" smtClean="0"/>
              <a:t>.</a:t>
            </a:r>
          </a:p>
          <a:p>
            <a:pPr algn="just" fontAlgn="base"/>
            <a:r>
              <a:rPr lang="en-US" sz="3200" dirty="0"/>
              <a:t>Java String class provides a lot of methods to perform operations on string such as compare(), </a:t>
            </a:r>
            <a:r>
              <a:rPr lang="en-US" sz="3200" dirty="0" err="1"/>
              <a:t>concat</a:t>
            </a:r>
            <a:r>
              <a:rPr lang="en-US" sz="3200" dirty="0"/>
              <a:t>(), equals(), split(), length(), replace(), </a:t>
            </a:r>
            <a:r>
              <a:rPr lang="en-US" sz="3200" dirty="0" err="1"/>
              <a:t>compareTo</a:t>
            </a:r>
            <a:r>
              <a:rPr lang="en-US" sz="3200" dirty="0"/>
              <a:t>(), intern(), substring</a:t>
            </a:r>
            <a:r>
              <a:rPr lang="en-US" sz="3200" dirty="0" smtClean="0"/>
              <a:t>(), …</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3</a:t>
            </a:fld>
            <a:endParaRPr lang="en-US" dirty="0"/>
          </a:p>
        </p:txBody>
      </p:sp>
    </p:spTree>
    <p:extLst>
      <p:ext uri="{BB962C8B-B14F-4D97-AF65-F5344CB8AC3E}">
        <p14:creationId xmlns:p14="http://schemas.microsoft.com/office/powerpoint/2010/main" val="84430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Create a String object</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3766075"/>
          </a:xfrm>
        </p:spPr>
        <p:txBody>
          <a:bodyPr>
            <a:normAutofit fontScale="92500" lnSpcReduction="20000"/>
          </a:bodyPr>
          <a:lstStyle/>
          <a:p>
            <a:pPr algn="just" fontAlgn="base"/>
            <a:r>
              <a:rPr lang="en-US" sz="3200" dirty="0"/>
              <a:t>There are two ways to create a String object</a:t>
            </a:r>
            <a:r>
              <a:rPr lang="en-US" sz="3200" dirty="0" smtClean="0"/>
              <a:t>:</a:t>
            </a:r>
            <a:endParaRPr lang="en-US" sz="3200" dirty="0"/>
          </a:p>
          <a:p>
            <a:pPr algn="just" fontAlgn="base"/>
            <a:r>
              <a:rPr lang="en-US" sz="3200" dirty="0"/>
              <a:t>By string literal : Java String literal is created by using double </a:t>
            </a:r>
            <a:r>
              <a:rPr lang="en-US" sz="3200" dirty="0" smtClean="0"/>
              <a:t>quotes.</a:t>
            </a:r>
          </a:p>
          <a:p>
            <a:pPr marL="0" indent="0" algn="just" fontAlgn="base">
              <a:buNone/>
            </a:pPr>
            <a:r>
              <a:rPr lang="en-US" sz="3200" dirty="0"/>
              <a:t>	</a:t>
            </a:r>
            <a:r>
              <a:rPr lang="en-US" sz="3200" b="1" dirty="0" smtClean="0"/>
              <a:t>String s=</a:t>
            </a:r>
            <a:r>
              <a:rPr lang="en-US" b="1" dirty="0"/>
              <a:t> </a:t>
            </a:r>
            <a:r>
              <a:rPr lang="en-US" b="1" dirty="0" smtClean="0"/>
              <a:t>"</a:t>
            </a:r>
            <a:r>
              <a:rPr lang="en-US" sz="3200" b="1" dirty="0" smtClean="0"/>
              <a:t>Welcome</a:t>
            </a:r>
            <a:r>
              <a:rPr lang="en-US" b="1" dirty="0" smtClean="0"/>
              <a:t>"</a:t>
            </a:r>
            <a:r>
              <a:rPr lang="en-US" sz="3200" b="1" dirty="0" smtClean="0"/>
              <a:t>;  </a:t>
            </a:r>
            <a:endParaRPr lang="en-US" sz="3200" b="1" dirty="0"/>
          </a:p>
          <a:p>
            <a:pPr algn="just" fontAlgn="base"/>
            <a:r>
              <a:rPr lang="en-US" sz="3200" dirty="0"/>
              <a:t>By new keyword : Java String is created by using a keyword </a:t>
            </a:r>
            <a:r>
              <a:rPr lang="en-US" sz="3200" b="1" dirty="0" smtClean="0"/>
              <a:t>new</a:t>
            </a:r>
            <a:r>
              <a:rPr lang="en-US" sz="3200" dirty="0" smtClean="0"/>
              <a:t>.</a:t>
            </a:r>
            <a:endParaRPr lang="en-US" sz="3200" dirty="0"/>
          </a:p>
          <a:p>
            <a:pPr marL="0" indent="0" algn="just" fontAlgn="base">
              <a:buNone/>
            </a:pPr>
            <a:r>
              <a:rPr lang="en-US" sz="3200" dirty="0" smtClean="0"/>
              <a:t>	</a:t>
            </a:r>
            <a:r>
              <a:rPr lang="en-US" sz="3200" b="1" dirty="0" smtClean="0"/>
              <a:t>String </a:t>
            </a:r>
            <a:r>
              <a:rPr lang="en-US" sz="3200" b="1" dirty="0"/>
              <a:t>s=new </a:t>
            </a:r>
            <a:r>
              <a:rPr lang="en-US" sz="3200" b="1" dirty="0" smtClean="0"/>
              <a:t>String(</a:t>
            </a:r>
            <a:r>
              <a:rPr lang="en-US" b="1" dirty="0" smtClean="0"/>
              <a:t>"</a:t>
            </a:r>
            <a:r>
              <a:rPr lang="en-US" sz="3200" b="1" dirty="0" smtClean="0"/>
              <a:t>Welcome</a:t>
            </a:r>
            <a:r>
              <a:rPr lang="en-US" b="1" dirty="0" smtClean="0"/>
              <a:t>"</a:t>
            </a:r>
            <a:r>
              <a:rPr lang="en-US" sz="3200" b="1" dirty="0" smtClean="0"/>
              <a:t>);  </a:t>
            </a:r>
            <a:endParaRPr lang="en-US" sz="3200" b="1" dirty="0"/>
          </a:p>
          <a:p>
            <a:pPr algn="just" fontAlgn="base"/>
            <a:r>
              <a:rPr lang="en-US" sz="3200" dirty="0"/>
              <a:t>It creates two objects (in </a:t>
            </a:r>
            <a:r>
              <a:rPr lang="en-US" sz="3200" b="1" dirty="0"/>
              <a:t>String pool </a:t>
            </a:r>
            <a:r>
              <a:rPr lang="en-US" sz="3200" dirty="0"/>
              <a:t>and in heap) and one </a:t>
            </a:r>
            <a:r>
              <a:rPr lang="en-US" sz="3200" b="1" dirty="0"/>
              <a:t>reference</a:t>
            </a:r>
            <a:r>
              <a:rPr lang="en-US" sz="3200" dirty="0"/>
              <a:t> variable where the variable ‘s’ will refer to the object in the heap.</a:t>
            </a:r>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4</a:t>
            </a:fld>
            <a:endParaRPr lang="en-US" dirty="0"/>
          </a:p>
        </p:txBody>
      </p:sp>
    </p:spTree>
    <p:extLst>
      <p:ext uri="{BB962C8B-B14F-4D97-AF65-F5344CB8AC3E}">
        <p14:creationId xmlns:p14="http://schemas.microsoft.com/office/powerpoint/2010/main" val="365502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Create a String object</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4648200" cy="5647418"/>
          </a:xfrm>
        </p:spPr>
        <p:txBody>
          <a:bodyPr>
            <a:normAutofit fontScale="85000" lnSpcReduction="20000"/>
          </a:bodyPr>
          <a:lstStyle/>
          <a:p>
            <a:pPr algn="just" fontAlgn="base"/>
            <a:r>
              <a:rPr lang="en-US" sz="3200" dirty="0" smtClean="0"/>
              <a:t>Java </a:t>
            </a:r>
            <a:r>
              <a:rPr lang="en-US" sz="3200" b="1" dirty="0"/>
              <a:t>String Pool</a:t>
            </a:r>
            <a:r>
              <a:rPr lang="en-US" sz="3200" dirty="0"/>
              <a:t>: Java String pool refers to collection of Strings which are stored in heap memory. </a:t>
            </a:r>
            <a:endParaRPr lang="en-US" sz="3200" dirty="0" smtClean="0"/>
          </a:p>
          <a:p>
            <a:pPr algn="just" fontAlgn="base"/>
            <a:r>
              <a:rPr lang="en-US" sz="3200" dirty="0" smtClean="0"/>
              <a:t>In </a:t>
            </a:r>
            <a:r>
              <a:rPr lang="en-US" sz="3200" dirty="0"/>
              <a:t>this, whenever a new object is created, String pool first checks whether the object is already present in the pool or not. If it is present, then same reference is returned to the variable else new object will be created in the String pool and the respective reference will be returned. Refer to the diagrammatic representation for better understanding:</a:t>
            </a:r>
            <a:endParaRPr lang="en-US"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5</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8980" y="1191759"/>
            <a:ext cx="6573019" cy="380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9158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Create a String object</a:t>
            </a:r>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199" y="1074058"/>
            <a:ext cx="10903858" cy="2485572"/>
          </a:xfrm>
        </p:spPr>
        <p:txBody>
          <a:bodyPr>
            <a:normAutofit/>
          </a:bodyPr>
          <a:lstStyle/>
          <a:p>
            <a:pPr algn="just" fontAlgn="base"/>
            <a:r>
              <a:rPr lang="en-US" sz="3200" b="1" dirty="0" smtClean="0"/>
              <a:t>Java reference</a:t>
            </a:r>
            <a:r>
              <a:rPr lang="en-US" sz="3200" dirty="0" smtClean="0"/>
              <a:t> </a:t>
            </a:r>
            <a:r>
              <a:rPr lang="en-US" sz="3200" dirty="0"/>
              <a:t>variable </a:t>
            </a:r>
            <a:r>
              <a:rPr lang="en-US" sz="3200" dirty="0" smtClean="0"/>
              <a:t>when Using </a:t>
            </a:r>
            <a:r>
              <a:rPr lang="en-US" sz="3200" dirty="0"/>
              <a:t>new keyword</a:t>
            </a:r>
          </a:p>
          <a:p>
            <a:pPr fontAlgn="base"/>
            <a:r>
              <a:rPr lang="en-US" sz="3200" dirty="0"/>
              <a:t>We can create String object using new operator, just like any normal java </a:t>
            </a:r>
            <a:r>
              <a:rPr lang="en-US" sz="3200" dirty="0" smtClean="0"/>
              <a:t>class</a:t>
            </a:r>
          </a:p>
          <a:p>
            <a:pPr fontAlgn="base"/>
            <a:r>
              <a:rPr lang="en-US" sz="3200" dirty="0"/>
              <a:t>String </a:t>
            </a:r>
            <a:r>
              <a:rPr lang="en-US" sz="3200" dirty="0" err="1"/>
              <a:t>str</a:t>
            </a:r>
            <a:r>
              <a:rPr lang="en-US" sz="3200" dirty="0"/>
              <a:t>  =  new String("</a:t>
            </a:r>
            <a:r>
              <a:rPr lang="en-US" sz="3200" dirty="0" err="1"/>
              <a:t>abc</a:t>
            </a:r>
            <a:r>
              <a:rPr lang="en-US" sz="3200" dirty="0"/>
              <a:t>");</a:t>
            </a:r>
            <a:endParaRPr lang="en-US" sz="3200"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6</a:t>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7778" y="3559630"/>
            <a:ext cx="59817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219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Example </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7</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600" cy="5128439"/>
          </a:xfrm>
        </p:spPr>
        <p:txBody>
          <a:bodyPr>
            <a:normAutofit/>
          </a:bodyPr>
          <a:lstStyle/>
          <a:p>
            <a:pPr marL="0" indent="0" algn="just">
              <a:buNone/>
            </a:pPr>
            <a:r>
              <a:rPr lang="en-US" sz="3200" dirty="0"/>
              <a:t>public class </a:t>
            </a:r>
            <a:r>
              <a:rPr lang="en-US" sz="3200" dirty="0" err="1"/>
              <a:t>StringExample</a:t>
            </a:r>
            <a:r>
              <a:rPr lang="en-US" sz="3200" dirty="0"/>
              <a:t>{  </a:t>
            </a:r>
          </a:p>
          <a:p>
            <a:pPr marL="457200" lvl="1" indent="0" algn="just">
              <a:buNone/>
            </a:pPr>
            <a:r>
              <a:rPr lang="en-US" sz="2800" dirty="0"/>
              <a:t>public static void main(String </a:t>
            </a:r>
            <a:r>
              <a:rPr lang="en-US" sz="2800" dirty="0" err="1"/>
              <a:t>args</a:t>
            </a:r>
            <a:r>
              <a:rPr lang="en-US" sz="2800" dirty="0"/>
              <a:t>[]){  </a:t>
            </a:r>
          </a:p>
          <a:p>
            <a:pPr marL="914400" lvl="2" indent="0" algn="just">
              <a:buNone/>
            </a:pPr>
            <a:r>
              <a:rPr lang="en-US" sz="2400" dirty="0"/>
              <a:t>String </a:t>
            </a:r>
            <a:r>
              <a:rPr lang="en-US" sz="2400" dirty="0" err="1"/>
              <a:t>s1</a:t>
            </a:r>
            <a:r>
              <a:rPr lang="en-US" sz="2400" dirty="0"/>
              <a:t>="java";//creating string by java string literal  </a:t>
            </a:r>
          </a:p>
          <a:p>
            <a:pPr marL="914400" lvl="2" indent="0" algn="just">
              <a:buNone/>
            </a:pPr>
            <a:r>
              <a:rPr lang="en-US" sz="2400" dirty="0"/>
              <a:t>char </a:t>
            </a:r>
            <a:r>
              <a:rPr lang="en-US" sz="2400" dirty="0" err="1"/>
              <a:t>ch</a:t>
            </a:r>
            <a:r>
              <a:rPr lang="en-US" sz="2400" dirty="0"/>
              <a:t>[]={'</a:t>
            </a:r>
            <a:r>
              <a:rPr lang="en-US" sz="2400" dirty="0" err="1"/>
              <a:t>s','t','r','i','n','g','s</a:t>
            </a:r>
            <a:r>
              <a:rPr lang="en-US" sz="2400" dirty="0"/>
              <a:t>'};  </a:t>
            </a:r>
          </a:p>
          <a:p>
            <a:pPr marL="914400" lvl="2" indent="0" algn="just">
              <a:buNone/>
            </a:pPr>
            <a:r>
              <a:rPr lang="en-US" sz="2400" dirty="0"/>
              <a:t>String </a:t>
            </a:r>
            <a:r>
              <a:rPr lang="en-US" sz="2400" dirty="0" err="1"/>
              <a:t>s2</a:t>
            </a:r>
            <a:r>
              <a:rPr lang="en-US" sz="2400" dirty="0"/>
              <a:t>=new String(</a:t>
            </a:r>
            <a:r>
              <a:rPr lang="en-US" sz="2400" dirty="0" err="1"/>
              <a:t>ch</a:t>
            </a:r>
            <a:r>
              <a:rPr lang="en-US" sz="2400" dirty="0"/>
              <a:t>);//converting char array to string  </a:t>
            </a:r>
          </a:p>
          <a:p>
            <a:pPr marL="914400" lvl="2" indent="0" algn="just">
              <a:buNone/>
            </a:pPr>
            <a:r>
              <a:rPr lang="en-US" sz="2400" dirty="0"/>
              <a:t>String </a:t>
            </a:r>
            <a:r>
              <a:rPr lang="en-US" sz="2400" dirty="0" err="1"/>
              <a:t>s3</a:t>
            </a:r>
            <a:r>
              <a:rPr lang="en-US" sz="2400" dirty="0"/>
              <a:t>=new String("example");//creating java string by new keyword  </a:t>
            </a:r>
          </a:p>
          <a:p>
            <a:pPr marL="914400" lvl="2" indent="0" algn="just">
              <a:buNone/>
            </a:pPr>
            <a:r>
              <a:rPr lang="en-US" sz="2400" dirty="0" err="1"/>
              <a:t>System.out.println</a:t>
            </a:r>
            <a:r>
              <a:rPr lang="en-US" sz="2400" dirty="0"/>
              <a:t>(</a:t>
            </a:r>
            <a:r>
              <a:rPr lang="en-US" sz="2400" dirty="0" err="1"/>
              <a:t>s1</a:t>
            </a:r>
            <a:r>
              <a:rPr lang="en-US" sz="2400" dirty="0"/>
              <a:t>);  </a:t>
            </a:r>
          </a:p>
          <a:p>
            <a:pPr marL="914400" lvl="2" indent="0" algn="just">
              <a:buNone/>
            </a:pPr>
            <a:r>
              <a:rPr lang="en-US" sz="2400" dirty="0" err="1"/>
              <a:t>System.out.println</a:t>
            </a:r>
            <a:r>
              <a:rPr lang="en-US" sz="2400" dirty="0"/>
              <a:t>(</a:t>
            </a:r>
            <a:r>
              <a:rPr lang="en-US" sz="2400" dirty="0" err="1"/>
              <a:t>s2</a:t>
            </a:r>
            <a:r>
              <a:rPr lang="en-US" sz="2400" dirty="0"/>
              <a:t>);  </a:t>
            </a:r>
          </a:p>
          <a:p>
            <a:pPr marL="914400" lvl="2" indent="0" algn="just">
              <a:buNone/>
            </a:pPr>
            <a:r>
              <a:rPr lang="en-US" sz="2400" dirty="0" err="1"/>
              <a:t>System.out.println</a:t>
            </a:r>
            <a:r>
              <a:rPr lang="en-US" sz="2400" dirty="0"/>
              <a:t>(</a:t>
            </a:r>
            <a:r>
              <a:rPr lang="en-US" sz="2400" dirty="0" err="1"/>
              <a:t>s3</a:t>
            </a:r>
            <a:r>
              <a:rPr lang="en-US" sz="2400" dirty="0"/>
              <a:t>);  </a:t>
            </a:r>
          </a:p>
          <a:p>
            <a:pPr marL="457200" lvl="1" indent="0" algn="just">
              <a:buNone/>
            </a:pPr>
            <a:r>
              <a:rPr lang="en-US" sz="2800" dirty="0" smtClean="0"/>
              <a:t>}</a:t>
            </a:r>
          </a:p>
          <a:p>
            <a:pPr marL="0" indent="0" algn="just">
              <a:buNone/>
            </a:pPr>
            <a:r>
              <a:rPr lang="en-US" sz="3200" dirty="0" smtClean="0"/>
              <a:t>} </a:t>
            </a:r>
            <a:endParaRPr lang="en-US" dirty="0" smtClean="0"/>
          </a:p>
        </p:txBody>
      </p:sp>
      <p:sp>
        <p:nvSpPr>
          <p:cNvPr id="8" name="Content Placeholder 2">
            <a:extLst>
              <a:ext uri="{FF2B5EF4-FFF2-40B4-BE49-F238E27FC236}">
                <a16:creationId xmlns:a16="http://schemas.microsoft.com/office/drawing/2014/main" xmlns="" id="{21309EEA-748E-1B4D-9BA2-2ADAA2FBB16C}"/>
              </a:ext>
            </a:extLst>
          </p:cNvPr>
          <p:cNvSpPr txBox="1">
            <a:spLocks/>
          </p:cNvSpPr>
          <p:nvPr/>
        </p:nvSpPr>
        <p:spPr>
          <a:xfrm>
            <a:off x="6545943" y="3747586"/>
            <a:ext cx="2873826" cy="20378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java</a:t>
            </a:r>
          </a:p>
          <a:p>
            <a:pPr marL="0" indent="0">
              <a:buNone/>
            </a:pPr>
            <a:r>
              <a:rPr lang="en-US" sz="2000" dirty="0"/>
              <a:t>strings</a:t>
            </a:r>
          </a:p>
          <a:p>
            <a:pPr marL="0" indent="0">
              <a:buNone/>
            </a:pPr>
            <a:r>
              <a:rPr lang="en-US" sz="2000" dirty="0"/>
              <a:t>example</a:t>
            </a:r>
          </a:p>
        </p:txBody>
      </p:sp>
    </p:spTree>
    <p:extLst>
      <p:ext uri="{BB962C8B-B14F-4D97-AF65-F5344CB8AC3E}">
        <p14:creationId xmlns:p14="http://schemas.microsoft.com/office/powerpoint/2010/main" val="978948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Methods of String</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8</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599" cy="5128439"/>
          </a:xfrm>
        </p:spPr>
        <p:txBody>
          <a:bodyPr>
            <a:normAutofit/>
          </a:bodyPr>
          <a:lstStyle/>
          <a:p>
            <a:pPr algn="just"/>
            <a:r>
              <a:rPr lang="en-US" sz="3200" dirty="0"/>
              <a:t>The </a:t>
            </a:r>
            <a:r>
              <a:rPr lang="en-US" sz="3200" dirty="0" err="1"/>
              <a:t>java.lang.String</a:t>
            </a:r>
            <a:r>
              <a:rPr lang="en-US" sz="3200" dirty="0"/>
              <a:t> class provides many useful methods to perform operations on sequence of char values.</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1218630100"/>
              </p:ext>
            </p:extLst>
          </p:nvPr>
        </p:nvGraphicFramePr>
        <p:xfrm>
          <a:off x="1240064" y="2115462"/>
          <a:ext cx="9863364" cy="4138943"/>
        </p:xfrm>
        <a:graphic>
          <a:graphicData uri="http://schemas.openxmlformats.org/drawingml/2006/table">
            <a:tbl>
              <a:tblPr>
                <a:tableStyleId>{5C22544A-7EE6-4342-B048-85BDC9FD1C3A}</a:tableStyleId>
              </a:tblPr>
              <a:tblGrid>
                <a:gridCol w="603021"/>
                <a:gridCol w="4618485"/>
                <a:gridCol w="4641858"/>
              </a:tblGrid>
              <a:tr h="393964">
                <a:tc>
                  <a:txBody>
                    <a:bodyPr/>
                    <a:lstStyle/>
                    <a:p>
                      <a:pPr algn="l" fontAlgn="ctr"/>
                      <a:r>
                        <a:rPr lang="en-US" sz="2000" u="none" strike="noStrike">
                          <a:effectLst/>
                        </a:rPr>
                        <a:t>No.</a:t>
                      </a:r>
                      <a:endParaRPr lang="en-US" sz="2000" b="1" i="0" u="none" strike="noStrike">
                        <a:solidFill>
                          <a:srgbClr val="000000"/>
                        </a:solidFill>
                        <a:effectLst/>
                        <a:latin typeface="Times New Roman"/>
                      </a:endParaRPr>
                    </a:p>
                  </a:txBody>
                  <a:tcPr marL="85725" marR="9525" marT="9525" marB="0" anchor="ctr"/>
                </a:tc>
                <a:tc>
                  <a:txBody>
                    <a:bodyPr/>
                    <a:lstStyle/>
                    <a:p>
                      <a:pPr algn="l" fontAlgn="ctr"/>
                      <a:r>
                        <a:rPr lang="en-US" sz="2000" u="none" strike="noStrike">
                          <a:effectLst/>
                        </a:rPr>
                        <a:t>Method</a:t>
                      </a:r>
                      <a:endParaRPr lang="en-US" sz="2000" b="1" i="0" u="none" strike="noStrike">
                        <a:solidFill>
                          <a:srgbClr val="000000"/>
                        </a:solidFill>
                        <a:effectLst/>
                        <a:latin typeface="Times New Roman"/>
                      </a:endParaRPr>
                    </a:p>
                  </a:txBody>
                  <a:tcPr marL="85725" marR="9525" marT="9525" marB="0" anchor="ctr"/>
                </a:tc>
                <a:tc>
                  <a:txBody>
                    <a:bodyPr/>
                    <a:lstStyle/>
                    <a:p>
                      <a:pPr algn="l" fontAlgn="ctr"/>
                      <a:r>
                        <a:rPr lang="en-US" sz="2000" u="none" strike="noStrike">
                          <a:effectLst/>
                        </a:rPr>
                        <a:t>Description</a:t>
                      </a:r>
                      <a:endParaRPr lang="en-US" sz="2000" b="1" i="0" u="none" strike="noStrike">
                        <a:solidFill>
                          <a:srgbClr val="000000"/>
                        </a:solidFill>
                        <a:effectLst/>
                        <a:latin typeface="Times New Roman"/>
                      </a:endParaRPr>
                    </a:p>
                  </a:txBody>
                  <a:tcPr marL="85725" marR="9525" marT="9525" marB="0" anchor="ctr"/>
                </a:tc>
              </a:tr>
              <a:tr h="548124">
                <a:tc>
                  <a:txBody>
                    <a:bodyPr/>
                    <a:lstStyle/>
                    <a:p>
                      <a:pPr algn="l" fontAlgn="ctr"/>
                      <a:r>
                        <a:rPr lang="en-US" sz="2000" u="none" strike="noStrike">
                          <a:effectLst/>
                        </a:rPr>
                        <a:t>1</a:t>
                      </a:r>
                      <a:endParaRPr lang="en-US" sz="2000" b="0" i="0" u="none" strike="noStrike">
                        <a:solidFill>
                          <a:srgbClr val="000000"/>
                        </a:solidFill>
                        <a:effectLst/>
                        <a:latin typeface="Verdana"/>
                      </a:endParaRPr>
                    </a:p>
                  </a:txBody>
                  <a:tcPr marL="171450" marR="9525" marT="76200" marB="76200" anchor="ctr"/>
                </a:tc>
                <a:tc>
                  <a:txBody>
                    <a:bodyPr/>
                    <a:lstStyle/>
                    <a:p>
                      <a:pPr algn="l" fontAlgn="ctr"/>
                      <a:r>
                        <a:rPr lang="en-US" sz="2000" u="sng" strike="noStrike" dirty="0">
                          <a:effectLst/>
                          <a:hlinkClick r:id="rId2"/>
                        </a:rPr>
                        <a:t>char </a:t>
                      </a:r>
                      <a:r>
                        <a:rPr lang="en-US" sz="2000" u="sng" strike="noStrike" dirty="0" err="1">
                          <a:effectLst/>
                          <a:hlinkClick r:id="rId2"/>
                        </a:rPr>
                        <a:t>charAt</a:t>
                      </a:r>
                      <a:r>
                        <a:rPr lang="en-US" sz="2000" u="sng" strike="noStrike" dirty="0">
                          <a:effectLst/>
                          <a:hlinkClick r:id="rId2"/>
                        </a:rPr>
                        <a:t>(</a:t>
                      </a:r>
                      <a:r>
                        <a:rPr lang="en-US" sz="2000" u="sng" strike="noStrike" dirty="0" err="1">
                          <a:effectLst/>
                          <a:hlinkClick r:id="rId2"/>
                        </a:rPr>
                        <a:t>int</a:t>
                      </a:r>
                      <a:r>
                        <a:rPr lang="en-US" sz="2000" u="sng" strike="noStrike" dirty="0">
                          <a:effectLst/>
                          <a:hlinkClick r:id="rId2"/>
                        </a:rPr>
                        <a:t> index)</a:t>
                      </a:r>
                      <a:endParaRPr lang="en-US" sz="2000" b="0" i="0" u="sng" strike="noStrike" dirty="0">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char value for the particular index</a:t>
                      </a:r>
                      <a:endParaRPr lang="en-US" sz="2000" b="0" i="0" u="none" strike="noStrike">
                        <a:solidFill>
                          <a:srgbClr val="000000"/>
                        </a:solidFill>
                        <a:effectLst/>
                        <a:latin typeface="Verdana"/>
                      </a:endParaRPr>
                    </a:p>
                  </a:txBody>
                  <a:tcPr marL="171450" marR="9525" marT="9525" marB="0" anchor="ctr"/>
                </a:tc>
              </a:tr>
              <a:tr h="359707">
                <a:tc>
                  <a:txBody>
                    <a:bodyPr/>
                    <a:lstStyle/>
                    <a:p>
                      <a:pPr algn="l" fontAlgn="ctr"/>
                      <a:r>
                        <a:rPr lang="en-US" sz="2000" u="none" strike="noStrike">
                          <a:effectLst/>
                        </a:rPr>
                        <a:t>2</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3"/>
                        </a:rPr>
                        <a:t>int length()</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string length</a:t>
                      </a:r>
                      <a:endParaRPr lang="en-US" sz="2000" b="0" i="0" u="none" strike="noStrike">
                        <a:solidFill>
                          <a:srgbClr val="000000"/>
                        </a:solidFill>
                        <a:effectLst/>
                        <a:latin typeface="Verdana"/>
                      </a:endParaRPr>
                    </a:p>
                  </a:txBody>
                  <a:tcPr marL="171450" marR="9525" marT="9525" marB="0" anchor="ctr"/>
                </a:tc>
              </a:tr>
              <a:tr h="359707">
                <a:tc>
                  <a:txBody>
                    <a:bodyPr/>
                    <a:lstStyle/>
                    <a:p>
                      <a:pPr algn="l" fontAlgn="ctr"/>
                      <a:r>
                        <a:rPr lang="en-US" sz="2000" u="none" strike="noStrike">
                          <a:effectLst/>
                        </a:rPr>
                        <a:t>3</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4"/>
                        </a:rPr>
                        <a:t>static String format(String format, Object... args)</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a formatted string.</a:t>
                      </a:r>
                      <a:endParaRPr lang="en-US" sz="2000" b="0" i="0" u="none" strike="noStrike">
                        <a:solidFill>
                          <a:srgbClr val="000000"/>
                        </a:solidFill>
                        <a:effectLst/>
                        <a:latin typeface="Verdana"/>
                      </a:endParaRPr>
                    </a:p>
                  </a:txBody>
                  <a:tcPr marL="171450" marR="9525" marT="9525" marB="0" anchor="ctr"/>
                </a:tc>
              </a:tr>
              <a:tr h="620066">
                <a:tc>
                  <a:txBody>
                    <a:bodyPr/>
                    <a:lstStyle/>
                    <a:p>
                      <a:pPr algn="l" fontAlgn="ctr"/>
                      <a:r>
                        <a:rPr lang="en-US" sz="2000" u="none" strike="noStrike">
                          <a:effectLst/>
                        </a:rPr>
                        <a:t>4</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4"/>
                        </a:rPr>
                        <a:t>static String format(Locale l, String format, Object... args)</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formatted string with given locale.</a:t>
                      </a:r>
                      <a:endParaRPr lang="en-US" sz="2000" b="0" i="0" u="none" strike="noStrike">
                        <a:solidFill>
                          <a:srgbClr val="000000"/>
                        </a:solidFill>
                        <a:effectLst/>
                        <a:latin typeface="Verdana"/>
                      </a:endParaRPr>
                    </a:p>
                  </a:txBody>
                  <a:tcPr marL="171450" marR="9525" marT="9525" marB="0" anchor="ctr"/>
                </a:tc>
              </a:tr>
              <a:tr h="359707">
                <a:tc>
                  <a:txBody>
                    <a:bodyPr/>
                    <a:lstStyle/>
                    <a:p>
                      <a:pPr algn="l" fontAlgn="ctr"/>
                      <a:r>
                        <a:rPr lang="en-US" sz="2000" u="none" strike="noStrike">
                          <a:effectLst/>
                        </a:rPr>
                        <a:t>5</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5"/>
                        </a:rPr>
                        <a:t>String substring(int beginIndex)</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substring for given begin index.</a:t>
                      </a:r>
                      <a:endParaRPr lang="en-US" sz="2000" b="0" i="0" u="none" strike="noStrike">
                        <a:solidFill>
                          <a:srgbClr val="000000"/>
                        </a:solidFill>
                        <a:effectLst/>
                        <a:latin typeface="Verdana"/>
                      </a:endParaRPr>
                    </a:p>
                  </a:txBody>
                  <a:tcPr marL="171450" marR="9525" marT="9525" marB="0" anchor="ctr"/>
                </a:tc>
              </a:tr>
              <a:tr h="599511">
                <a:tc>
                  <a:txBody>
                    <a:bodyPr/>
                    <a:lstStyle/>
                    <a:p>
                      <a:pPr algn="l" fontAlgn="ctr"/>
                      <a:r>
                        <a:rPr lang="en-US" sz="2000" u="none" strike="noStrike">
                          <a:effectLst/>
                        </a:rPr>
                        <a:t>6</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5"/>
                        </a:rPr>
                        <a:t>String substring(int beginIndex, int endIndex)</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substring for given begin index and end index.</a:t>
                      </a:r>
                      <a:endParaRPr lang="en-US" sz="2000" b="0" i="0" u="none" strike="noStrike">
                        <a:solidFill>
                          <a:srgbClr val="000000"/>
                        </a:solidFill>
                        <a:effectLst/>
                        <a:latin typeface="Verdana"/>
                      </a:endParaRPr>
                    </a:p>
                  </a:txBody>
                  <a:tcPr marL="171450" marR="9525" marT="9525" marB="0" anchor="ctr"/>
                </a:tc>
              </a:tr>
              <a:tr h="599511">
                <a:tc>
                  <a:txBody>
                    <a:bodyPr/>
                    <a:lstStyle/>
                    <a:p>
                      <a:pPr algn="l" fontAlgn="ctr"/>
                      <a:r>
                        <a:rPr lang="en-US" sz="2000" u="none" strike="noStrike">
                          <a:effectLst/>
                        </a:rPr>
                        <a:t>7</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6"/>
                        </a:rPr>
                        <a:t>boolean contains(CharSequence s)</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dirty="0">
                          <a:effectLst/>
                        </a:rPr>
                        <a:t>returns true or false after matching the sequence of char value.</a:t>
                      </a:r>
                      <a:endParaRPr lang="en-US" sz="2000" b="0" i="0" u="none" strike="noStrike" dirty="0">
                        <a:solidFill>
                          <a:srgbClr val="000000"/>
                        </a:solidFill>
                        <a:effectLst/>
                        <a:latin typeface="Verdana"/>
                      </a:endParaRPr>
                    </a:p>
                  </a:txBody>
                  <a:tcPr marL="171450" marR="9525" marT="9525" marB="0" anchor="ctr"/>
                </a:tc>
              </a:tr>
            </a:tbl>
          </a:graphicData>
        </a:graphic>
      </p:graphicFrame>
    </p:spTree>
    <p:extLst>
      <p:ext uri="{BB962C8B-B14F-4D97-AF65-F5344CB8AC3E}">
        <p14:creationId xmlns:p14="http://schemas.microsoft.com/office/powerpoint/2010/main" val="3145133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Methods of String</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9</a:t>
            </a:fld>
            <a:endParaRPr lang="en-US" dirty="0"/>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545102908"/>
              </p:ext>
            </p:extLst>
          </p:nvPr>
        </p:nvGraphicFramePr>
        <p:xfrm>
          <a:off x="783777" y="928921"/>
          <a:ext cx="11161479" cy="5328529"/>
        </p:xfrm>
        <a:graphic>
          <a:graphicData uri="http://schemas.openxmlformats.org/drawingml/2006/table">
            <a:tbl>
              <a:tblPr>
                <a:tableStyleId>{5C22544A-7EE6-4342-B048-85BDC9FD1C3A}</a:tableStyleId>
              </a:tblPr>
              <a:tblGrid>
                <a:gridCol w="682384"/>
                <a:gridCol w="5007210"/>
                <a:gridCol w="5471885"/>
              </a:tblGrid>
              <a:tr h="330235">
                <a:tc>
                  <a:txBody>
                    <a:bodyPr/>
                    <a:lstStyle/>
                    <a:p>
                      <a:pPr algn="l" fontAlgn="ctr"/>
                      <a:r>
                        <a:rPr lang="en-US" sz="2000" u="none" strike="noStrike">
                          <a:effectLst/>
                        </a:rPr>
                        <a:t>No.</a:t>
                      </a:r>
                      <a:endParaRPr lang="en-US" sz="2000" b="1" i="0" u="none" strike="noStrike">
                        <a:solidFill>
                          <a:srgbClr val="000000"/>
                        </a:solidFill>
                        <a:effectLst/>
                        <a:latin typeface="Times New Roman"/>
                      </a:endParaRPr>
                    </a:p>
                  </a:txBody>
                  <a:tcPr marL="85725" marR="9525" marT="9525" marB="0" anchor="ctr"/>
                </a:tc>
                <a:tc>
                  <a:txBody>
                    <a:bodyPr/>
                    <a:lstStyle/>
                    <a:p>
                      <a:pPr algn="l" fontAlgn="ctr"/>
                      <a:r>
                        <a:rPr lang="en-US" sz="2000" u="none" strike="noStrike">
                          <a:effectLst/>
                        </a:rPr>
                        <a:t>Method</a:t>
                      </a:r>
                      <a:endParaRPr lang="en-US" sz="2000" b="1" i="0" u="none" strike="noStrike">
                        <a:solidFill>
                          <a:srgbClr val="000000"/>
                        </a:solidFill>
                        <a:effectLst/>
                        <a:latin typeface="Times New Roman"/>
                      </a:endParaRPr>
                    </a:p>
                  </a:txBody>
                  <a:tcPr marL="85725" marR="9525" marT="9525" marB="0" anchor="ctr"/>
                </a:tc>
                <a:tc>
                  <a:txBody>
                    <a:bodyPr/>
                    <a:lstStyle/>
                    <a:p>
                      <a:pPr algn="l" fontAlgn="ctr"/>
                      <a:r>
                        <a:rPr lang="en-US" sz="2000" u="none" strike="noStrike">
                          <a:effectLst/>
                        </a:rPr>
                        <a:t>Description</a:t>
                      </a:r>
                      <a:endParaRPr lang="en-US" sz="2000" b="1" i="0" u="none" strike="noStrike">
                        <a:solidFill>
                          <a:srgbClr val="000000"/>
                        </a:solidFill>
                        <a:effectLst/>
                        <a:latin typeface="Times New Roman"/>
                      </a:endParaRPr>
                    </a:p>
                  </a:txBody>
                  <a:tcPr marL="85725" marR="9525" marT="9525" marB="0" anchor="ctr"/>
                </a:tc>
              </a:tr>
              <a:tr h="615437">
                <a:tc>
                  <a:txBody>
                    <a:bodyPr/>
                    <a:lstStyle/>
                    <a:p>
                      <a:pPr algn="l" fontAlgn="ctr"/>
                      <a:r>
                        <a:rPr lang="en-US" sz="2000" u="none" strike="noStrike">
                          <a:effectLst/>
                        </a:rPr>
                        <a:t>8</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2"/>
                        </a:rPr>
                        <a:t>static String join(CharSequence delimiter, CharSequence... elements)</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a joined string.</a:t>
                      </a:r>
                      <a:endParaRPr lang="en-US" sz="2000" b="0" i="0" u="none" strike="noStrike">
                        <a:solidFill>
                          <a:srgbClr val="000000"/>
                        </a:solidFill>
                        <a:effectLst/>
                        <a:latin typeface="Verdana"/>
                      </a:endParaRPr>
                    </a:p>
                  </a:txBody>
                  <a:tcPr marL="171450" marR="9525" marT="9525" marB="0" anchor="ctr"/>
                </a:tc>
              </a:tr>
              <a:tr h="615437">
                <a:tc>
                  <a:txBody>
                    <a:bodyPr/>
                    <a:lstStyle/>
                    <a:p>
                      <a:pPr algn="l" fontAlgn="ctr"/>
                      <a:r>
                        <a:rPr lang="en-US" sz="2000" u="none" strike="noStrike">
                          <a:effectLst/>
                        </a:rPr>
                        <a:t>9</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2"/>
                        </a:rPr>
                        <a:t>static String join(CharSequence delimiter, Iterable&lt;? extends CharSequence&gt; elements)</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a joined string.</a:t>
                      </a:r>
                      <a:endParaRPr lang="en-US" sz="2000" b="0" i="0" u="none" strike="noStrike">
                        <a:solidFill>
                          <a:srgbClr val="000000"/>
                        </a:solidFill>
                        <a:effectLst/>
                        <a:latin typeface="Verdana"/>
                      </a:endParaRPr>
                    </a:p>
                  </a:txBody>
                  <a:tcPr marL="171450" marR="9525" marT="9525" marB="0" anchor="ctr"/>
                </a:tc>
              </a:tr>
              <a:tr h="525373">
                <a:tc>
                  <a:txBody>
                    <a:bodyPr/>
                    <a:lstStyle/>
                    <a:p>
                      <a:pPr algn="l" fontAlgn="ctr"/>
                      <a:r>
                        <a:rPr lang="en-US" sz="2000" u="none" strike="noStrike">
                          <a:effectLst/>
                        </a:rPr>
                        <a:t>10</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3"/>
                        </a:rPr>
                        <a:t>boolean equals(Object another)</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checks the equality of string with the given object.</a:t>
                      </a:r>
                      <a:endParaRPr lang="en-US" sz="2000" b="0" i="0" u="none" strike="noStrike">
                        <a:solidFill>
                          <a:srgbClr val="000000"/>
                        </a:solidFill>
                        <a:effectLst/>
                        <a:latin typeface="Verdana"/>
                      </a:endParaRPr>
                    </a:p>
                  </a:txBody>
                  <a:tcPr marL="171450" marR="9525" marT="9525" marB="0" anchor="ctr"/>
                </a:tc>
              </a:tr>
              <a:tr h="315225">
                <a:tc>
                  <a:txBody>
                    <a:bodyPr/>
                    <a:lstStyle/>
                    <a:p>
                      <a:pPr algn="l" fontAlgn="ctr"/>
                      <a:r>
                        <a:rPr lang="en-US" sz="2000" u="none" strike="noStrike">
                          <a:effectLst/>
                        </a:rPr>
                        <a:t>11</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4"/>
                        </a:rPr>
                        <a:t>boolean isEmpty()</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checks if string is empty.</a:t>
                      </a:r>
                      <a:endParaRPr lang="en-US" sz="2000" b="0" i="0" u="none" strike="noStrike">
                        <a:solidFill>
                          <a:srgbClr val="000000"/>
                        </a:solidFill>
                        <a:effectLst/>
                        <a:latin typeface="Verdana"/>
                      </a:endParaRPr>
                    </a:p>
                  </a:txBody>
                  <a:tcPr marL="171450" marR="9525" marT="9525" marB="0" anchor="ctr"/>
                </a:tc>
              </a:tr>
              <a:tr h="315225">
                <a:tc>
                  <a:txBody>
                    <a:bodyPr/>
                    <a:lstStyle/>
                    <a:p>
                      <a:pPr algn="l" fontAlgn="ctr"/>
                      <a:r>
                        <a:rPr lang="en-US" sz="2000" u="none" strike="noStrike">
                          <a:effectLst/>
                        </a:rPr>
                        <a:t>12</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5"/>
                        </a:rPr>
                        <a:t>String concat(String str)</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concatenates the specified string.</a:t>
                      </a:r>
                      <a:endParaRPr lang="en-US" sz="2000" b="0" i="0" u="none" strike="noStrike">
                        <a:solidFill>
                          <a:srgbClr val="000000"/>
                        </a:solidFill>
                        <a:effectLst/>
                        <a:latin typeface="Verdana"/>
                      </a:endParaRPr>
                    </a:p>
                  </a:txBody>
                  <a:tcPr marL="171450" marR="9525" marT="9525" marB="0" anchor="ctr"/>
                </a:tc>
              </a:tr>
              <a:tr h="525373">
                <a:tc>
                  <a:txBody>
                    <a:bodyPr/>
                    <a:lstStyle/>
                    <a:p>
                      <a:pPr algn="l" fontAlgn="ctr"/>
                      <a:r>
                        <a:rPr lang="en-US" sz="2000" u="none" strike="noStrike">
                          <a:effectLst/>
                        </a:rPr>
                        <a:t>13</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6"/>
                        </a:rPr>
                        <a:t>String replace(char old, char new)</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replaces all occurrences of the specified char value.</a:t>
                      </a:r>
                      <a:endParaRPr lang="en-US" sz="2000" b="0" i="0" u="none" strike="noStrike">
                        <a:solidFill>
                          <a:srgbClr val="000000"/>
                        </a:solidFill>
                        <a:effectLst/>
                        <a:latin typeface="Verdana"/>
                      </a:endParaRPr>
                    </a:p>
                  </a:txBody>
                  <a:tcPr marL="171450" marR="9525" marT="9525" marB="0" anchor="ctr"/>
                </a:tc>
              </a:tr>
              <a:tr h="543386">
                <a:tc>
                  <a:txBody>
                    <a:bodyPr/>
                    <a:lstStyle/>
                    <a:p>
                      <a:pPr algn="l" fontAlgn="ctr"/>
                      <a:r>
                        <a:rPr lang="en-US" sz="2000" u="none" strike="noStrike">
                          <a:effectLst/>
                        </a:rPr>
                        <a:t>14</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6"/>
                        </a:rPr>
                        <a:t>String replace(CharSequence old, CharSequence new)</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replaces all occurrences of the specified CharSequence.</a:t>
                      </a:r>
                      <a:endParaRPr lang="en-US" sz="2000" b="0" i="0" u="none" strike="noStrike">
                        <a:solidFill>
                          <a:srgbClr val="000000"/>
                        </a:solidFill>
                        <a:effectLst/>
                        <a:latin typeface="Verdana"/>
                      </a:endParaRPr>
                    </a:p>
                  </a:txBody>
                  <a:tcPr marL="171450" marR="9525" marT="9525" marB="0" anchor="ctr"/>
                </a:tc>
              </a:tr>
              <a:tr h="525373">
                <a:tc>
                  <a:txBody>
                    <a:bodyPr/>
                    <a:lstStyle/>
                    <a:p>
                      <a:pPr algn="l" fontAlgn="ctr"/>
                      <a:r>
                        <a:rPr lang="en-US" sz="2000" u="none" strike="noStrike">
                          <a:effectLst/>
                        </a:rPr>
                        <a:t>15</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7"/>
                        </a:rPr>
                        <a:t>static String equalsIgnoreCase(String another)</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compares another string. It doesn't check case.</a:t>
                      </a:r>
                      <a:endParaRPr lang="en-US" sz="2000" b="0" i="0" u="none" strike="noStrike">
                        <a:solidFill>
                          <a:srgbClr val="000000"/>
                        </a:solidFill>
                        <a:effectLst/>
                        <a:latin typeface="Verdana"/>
                      </a:endParaRPr>
                    </a:p>
                  </a:txBody>
                  <a:tcPr marL="171450" marR="9525" marT="9525" marB="0" anchor="ctr"/>
                </a:tc>
              </a:tr>
              <a:tr h="315225">
                <a:tc>
                  <a:txBody>
                    <a:bodyPr/>
                    <a:lstStyle/>
                    <a:p>
                      <a:pPr algn="l" fontAlgn="ctr"/>
                      <a:r>
                        <a:rPr lang="en-US" sz="2000" u="none" strike="noStrike">
                          <a:effectLst/>
                        </a:rPr>
                        <a:t>16</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8"/>
                        </a:rPr>
                        <a:t>String[] split(String regex)</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a split string matching regex.</a:t>
                      </a:r>
                      <a:endParaRPr lang="en-US" sz="2000" b="0" i="0" u="none" strike="noStrike">
                        <a:solidFill>
                          <a:srgbClr val="000000"/>
                        </a:solidFill>
                        <a:effectLst/>
                        <a:latin typeface="Verdana"/>
                      </a:endParaRPr>
                    </a:p>
                  </a:txBody>
                  <a:tcPr marL="171450" marR="9525" marT="9525" marB="0" anchor="ctr"/>
                </a:tc>
              </a:tr>
              <a:tr h="525373">
                <a:tc>
                  <a:txBody>
                    <a:bodyPr/>
                    <a:lstStyle/>
                    <a:p>
                      <a:pPr algn="l" fontAlgn="ctr"/>
                      <a:r>
                        <a:rPr lang="en-US" sz="2000" u="none" strike="noStrike">
                          <a:effectLst/>
                        </a:rPr>
                        <a:t>17</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8"/>
                        </a:rPr>
                        <a:t>String[] split(String regex, int limit)</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dirty="0">
                          <a:effectLst/>
                        </a:rPr>
                        <a:t>returns a split string matching regex and limit.</a:t>
                      </a:r>
                      <a:endParaRPr lang="en-US" sz="2000" b="0" i="0" u="none" strike="noStrike" dirty="0">
                        <a:solidFill>
                          <a:srgbClr val="000000"/>
                        </a:solidFill>
                        <a:effectLst/>
                        <a:latin typeface="Verdana"/>
                      </a:endParaRPr>
                    </a:p>
                  </a:txBody>
                  <a:tcPr marL="171450" marR="9525" marT="9525" marB="0" anchor="ctr"/>
                </a:tc>
              </a:tr>
            </a:tbl>
          </a:graphicData>
        </a:graphic>
      </p:graphicFrame>
    </p:spTree>
    <p:extLst>
      <p:ext uri="{BB962C8B-B14F-4D97-AF65-F5344CB8AC3E}">
        <p14:creationId xmlns:p14="http://schemas.microsoft.com/office/powerpoint/2010/main" val="976002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Methods of String</a:t>
            </a:r>
            <a:endParaRPr lang="en-US" sz="3200" dirty="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10</a:t>
            </a:fld>
            <a:endParaRPr lang="en-US" dirty="0"/>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172624009"/>
              </p:ext>
            </p:extLst>
          </p:nvPr>
        </p:nvGraphicFramePr>
        <p:xfrm>
          <a:off x="838199" y="1074055"/>
          <a:ext cx="10816771" cy="5278476"/>
        </p:xfrm>
        <a:graphic>
          <a:graphicData uri="http://schemas.openxmlformats.org/drawingml/2006/table">
            <a:tbl>
              <a:tblPr>
                <a:tableStyleId>{5C22544A-7EE6-4342-B048-85BDC9FD1C3A}</a:tableStyleId>
              </a:tblPr>
              <a:tblGrid>
                <a:gridCol w="661310"/>
                <a:gridCol w="3916035"/>
                <a:gridCol w="6239426"/>
              </a:tblGrid>
              <a:tr h="356702">
                <a:tc>
                  <a:txBody>
                    <a:bodyPr/>
                    <a:lstStyle/>
                    <a:p>
                      <a:pPr algn="l" fontAlgn="ctr"/>
                      <a:r>
                        <a:rPr lang="en-US" sz="2000" u="none" strike="noStrike">
                          <a:effectLst/>
                        </a:rPr>
                        <a:t>No.</a:t>
                      </a:r>
                      <a:endParaRPr lang="en-US" sz="2000" b="1" i="0" u="none" strike="noStrike">
                        <a:solidFill>
                          <a:srgbClr val="000000"/>
                        </a:solidFill>
                        <a:effectLst/>
                        <a:latin typeface="Times New Roman"/>
                      </a:endParaRPr>
                    </a:p>
                  </a:txBody>
                  <a:tcPr marL="85725" marR="9525" marT="9525" marB="0" anchor="ctr"/>
                </a:tc>
                <a:tc>
                  <a:txBody>
                    <a:bodyPr/>
                    <a:lstStyle/>
                    <a:p>
                      <a:pPr algn="l" fontAlgn="ctr"/>
                      <a:r>
                        <a:rPr lang="en-US" sz="2000" u="none" strike="noStrike">
                          <a:effectLst/>
                        </a:rPr>
                        <a:t>Method</a:t>
                      </a:r>
                      <a:endParaRPr lang="en-US" sz="2000" b="1" i="0" u="none" strike="noStrike">
                        <a:solidFill>
                          <a:srgbClr val="000000"/>
                        </a:solidFill>
                        <a:effectLst/>
                        <a:latin typeface="Times New Roman"/>
                      </a:endParaRPr>
                    </a:p>
                  </a:txBody>
                  <a:tcPr marL="85725" marR="9525" marT="9525" marB="0" anchor="ctr"/>
                </a:tc>
                <a:tc>
                  <a:txBody>
                    <a:bodyPr/>
                    <a:lstStyle/>
                    <a:p>
                      <a:pPr algn="l" fontAlgn="ctr"/>
                      <a:r>
                        <a:rPr lang="en-US" sz="2000" u="none" strike="noStrike">
                          <a:effectLst/>
                        </a:rPr>
                        <a:t>Description</a:t>
                      </a:r>
                      <a:endParaRPr lang="en-US" sz="2000" b="1" i="0" u="none" strike="noStrike">
                        <a:solidFill>
                          <a:srgbClr val="000000"/>
                        </a:solidFill>
                        <a:effectLst/>
                        <a:latin typeface="Times New Roman"/>
                      </a:endParaRPr>
                    </a:p>
                  </a:txBody>
                  <a:tcPr marL="85725" marR="9525" marT="9525" marB="0" anchor="ctr"/>
                </a:tc>
              </a:tr>
              <a:tr h="340489">
                <a:tc>
                  <a:txBody>
                    <a:bodyPr/>
                    <a:lstStyle/>
                    <a:p>
                      <a:pPr algn="l" fontAlgn="ctr"/>
                      <a:r>
                        <a:rPr lang="en-US" sz="2000" u="none" strike="noStrike">
                          <a:effectLst/>
                        </a:rPr>
                        <a:t>19</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2"/>
                        </a:rPr>
                        <a:t>int indexOf(int ch)</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the specified char value index.</a:t>
                      </a:r>
                      <a:endParaRPr lang="en-US" sz="2000" b="0" i="0" u="none" strike="noStrike">
                        <a:solidFill>
                          <a:srgbClr val="000000"/>
                        </a:solidFill>
                        <a:effectLst/>
                        <a:latin typeface="Verdana"/>
                      </a:endParaRPr>
                    </a:p>
                  </a:txBody>
                  <a:tcPr marL="171450" marR="9525" marT="9525" marB="0" anchor="ctr"/>
                </a:tc>
              </a:tr>
              <a:tr h="567481">
                <a:tc>
                  <a:txBody>
                    <a:bodyPr/>
                    <a:lstStyle/>
                    <a:p>
                      <a:pPr algn="l" fontAlgn="ctr"/>
                      <a:r>
                        <a:rPr lang="en-US" sz="2000" u="none" strike="noStrike">
                          <a:effectLst/>
                        </a:rPr>
                        <a:t>20</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2"/>
                        </a:rPr>
                        <a:t>int indexOf(int ch, int fromIndex)</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the specified char value index starting with given index.</a:t>
                      </a:r>
                      <a:endParaRPr lang="en-US" sz="2000" b="0" i="0" u="none" strike="noStrike">
                        <a:solidFill>
                          <a:srgbClr val="000000"/>
                        </a:solidFill>
                        <a:effectLst/>
                        <a:latin typeface="Verdana"/>
                      </a:endParaRPr>
                    </a:p>
                  </a:txBody>
                  <a:tcPr marL="171450" marR="9525" marT="9525" marB="0" anchor="ctr"/>
                </a:tc>
              </a:tr>
              <a:tr h="340489">
                <a:tc>
                  <a:txBody>
                    <a:bodyPr/>
                    <a:lstStyle/>
                    <a:p>
                      <a:pPr algn="l" fontAlgn="ctr"/>
                      <a:r>
                        <a:rPr lang="en-US" sz="2000" u="none" strike="noStrike">
                          <a:effectLst/>
                        </a:rPr>
                        <a:t>21</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2"/>
                        </a:rPr>
                        <a:t>int indexOf(String substring)</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the specified substring index.</a:t>
                      </a:r>
                      <a:endParaRPr lang="en-US" sz="2000" b="0" i="0" u="none" strike="noStrike">
                        <a:solidFill>
                          <a:srgbClr val="000000"/>
                        </a:solidFill>
                        <a:effectLst/>
                        <a:latin typeface="Verdana"/>
                      </a:endParaRPr>
                    </a:p>
                  </a:txBody>
                  <a:tcPr marL="171450" marR="9525" marT="9525" marB="0" anchor="ctr"/>
                </a:tc>
              </a:tr>
              <a:tr h="567481">
                <a:tc>
                  <a:txBody>
                    <a:bodyPr/>
                    <a:lstStyle/>
                    <a:p>
                      <a:pPr algn="l" fontAlgn="ctr"/>
                      <a:r>
                        <a:rPr lang="en-US" sz="2000" u="none" strike="noStrike">
                          <a:effectLst/>
                        </a:rPr>
                        <a:t>22</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dirty="0" err="1">
                          <a:effectLst/>
                          <a:hlinkClick r:id="rId2"/>
                        </a:rPr>
                        <a:t>int</a:t>
                      </a:r>
                      <a:r>
                        <a:rPr lang="en-US" sz="2000" u="sng" strike="noStrike" dirty="0">
                          <a:effectLst/>
                          <a:hlinkClick r:id="rId2"/>
                        </a:rPr>
                        <a:t> </a:t>
                      </a:r>
                      <a:r>
                        <a:rPr lang="en-US" sz="2000" u="sng" strike="noStrike" dirty="0" err="1">
                          <a:effectLst/>
                          <a:hlinkClick r:id="rId2"/>
                        </a:rPr>
                        <a:t>indexOf</a:t>
                      </a:r>
                      <a:r>
                        <a:rPr lang="en-US" sz="2000" u="sng" strike="noStrike" dirty="0">
                          <a:effectLst/>
                          <a:hlinkClick r:id="rId2"/>
                        </a:rPr>
                        <a:t>(String substring, </a:t>
                      </a:r>
                      <a:r>
                        <a:rPr lang="en-US" sz="2000" u="sng" strike="noStrike" dirty="0" err="1">
                          <a:effectLst/>
                          <a:hlinkClick r:id="rId2"/>
                        </a:rPr>
                        <a:t>int</a:t>
                      </a:r>
                      <a:r>
                        <a:rPr lang="en-US" sz="2000" u="sng" strike="noStrike" dirty="0">
                          <a:effectLst/>
                          <a:hlinkClick r:id="rId2"/>
                        </a:rPr>
                        <a:t> </a:t>
                      </a:r>
                      <a:r>
                        <a:rPr lang="en-US" sz="2000" u="sng" strike="noStrike" dirty="0" err="1">
                          <a:effectLst/>
                          <a:hlinkClick r:id="rId2"/>
                        </a:rPr>
                        <a:t>fromIndex</a:t>
                      </a:r>
                      <a:r>
                        <a:rPr lang="en-US" sz="2000" u="sng" strike="noStrike" dirty="0">
                          <a:effectLst/>
                          <a:hlinkClick r:id="rId2"/>
                        </a:rPr>
                        <a:t>)</a:t>
                      </a:r>
                      <a:endParaRPr lang="en-US" sz="2000" b="0" i="0" u="sng" strike="noStrike" dirty="0">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the specified substring index starting with given index.</a:t>
                      </a:r>
                      <a:endParaRPr lang="en-US" sz="2000" b="0" i="0" u="none" strike="noStrike">
                        <a:solidFill>
                          <a:srgbClr val="000000"/>
                        </a:solidFill>
                        <a:effectLst/>
                        <a:latin typeface="Verdana"/>
                      </a:endParaRPr>
                    </a:p>
                  </a:txBody>
                  <a:tcPr marL="171450" marR="9525" marT="9525" marB="0" anchor="ctr"/>
                </a:tc>
              </a:tr>
              <a:tr h="340489">
                <a:tc>
                  <a:txBody>
                    <a:bodyPr/>
                    <a:lstStyle/>
                    <a:p>
                      <a:pPr algn="l" fontAlgn="ctr"/>
                      <a:r>
                        <a:rPr lang="en-US" sz="2000" u="none" strike="noStrike">
                          <a:effectLst/>
                        </a:rPr>
                        <a:t>23</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3"/>
                        </a:rPr>
                        <a:t>String toLowerCase()</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a string in lowercase.</a:t>
                      </a:r>
                      <a:endParaRPr lang="en-US" sz="2000" b="0" i="0" u="none" strike="noStrike">
                        <a:solidFill>
                          <a:srgbClr val="000000"/>
                        </a:solidFill>
                        <a:effectLst/>
                        <a:latin typeface="Verdana"/>
                      </a:endParaRPr>
                    </a:p>
                  </a:txBody>
                  <a:tcPr marL="171450" marR="9525" marT="9525" marB="0" anchor="ctr"/>
                </a:tc>
              </a:tr>
              <a:tr h="567481">
                <a:tc>
                  <a:txBody>
                    <a:bodyPr/>
                    <a:lstStyle/>
                    <a:p>
                      <a:pPr algn="l" fontAlgn="ctr"/>
                      <a:r>
                        <a:rPr lang="en-US" sz="2000" u="none" strike="noStrike">
                          <a:effectLst/>
                        </a:rPr>
                        <a:t>24</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3"/>
                        </a:rPr>
                        <a:t>String toLowerCase(Locale l)</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dirty="0">
                          <a:effectLst/>
                        </a:rPr>
                        <a:t>returns a string in lowercase using specified locale.</a:t>
                      </a:r>
                      <a:endParaRPr lang="en-US" sz="2000" b="0" i="0" u="none" strike="noStrike" dirty="0">
                        <a:solidFill>
                          <a:srgbClr val="000000"/>
                        </a:solidFill>
                        <a:effectLst/>
                        <a:latin typeface="Verdana"/>
                      </a:endParaRPr>
                    </a:p>
                  </a:txBody>
                  <a:tcPr marL="171450" marR="9525" marT="9525" marB="0" anchor="ctr"/>
                </a:tc>
              </a:tr>
              <a:tr h="340489">
                <a:tc>
                  <a:txBody>
                    <a:bodyPr/>
                    <a:lstStyle/>
                    <a:p>
                      <a:pPr algn="l" fontAlgn="ctr"/>
                      <a:r>
                        <a:rPr lang="en-US" sz="2000" u="none" strike="noStrike">
                          <a:effectLst/>
                        </a:rPr>
                        <a:t>25</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4"/>
                        </a:rPr>
                        <a:t>String toUpperCase()</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a string in uppercase.</a:t>
                      </a:r>
                      <a:endParaRPr lang="en-US" sz="2000" b="0" i="0" u="none" strike="noStrike">
                        <a:solidFill>
                          <a:srgbClr val="000000"/>
                        </a:solidFill>
                        <a:effectLst/>
                        <a:latin typeface="Verdana"/>
                      </a:endParaRPr>
                    </a:p>
                  </a:txBody>
                  <a:tcPr marL="171450" marR="9525" marT="9525" marB="0" anchor="ctr"/>
                </a:tc>
              </a:tr>
              <a:tr h="567481">
                <a:tc>
                  <a:txBody>
                    <a:bodyPr/>
                    <a:lstStyle/>
                    <a:p>
                      <a:pPr algn="l" fontAlgn="ctr"/>
                      <a:r>
                        <a:rPr lang="en-US" sz="2000" u="none" strike="noStrike">
                          <a:effectLst/>
                        </a:rPr>
                        <a:t>26</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4"/>
                        </a:rPr>
                        <a:t>String toUpperCase(Locale l)</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returns a string in uppercase using specified locale.</a:t>
                      </a:r>
                      <a:endParaRPr lang="en-US" sz="2000" b="0" i="0" u="none" strike="noStrike">
                        <a:solidFill>
                          <a:srgbClr val="000000"/>
                        </a:solidFill>
                        <a:effectLst/>
                        <a:latin typeface="Verdana"/>
                      </a:endParaRPr>
                    </a:p>
                  </a:txBody>
                  <a:tcPr marL="171450" marR="9525" marT="9525" marB="0" anchor="ctr"/>
                </a:tc>
              </a:tr>
              <a:tr h="567481">
                <a:tc>
                  <a:txBody>
                    <a:bodyPr/>
                    <a:lstStyle/>
                    <a:p>
                      <a:pPr algn="l" fontAlgn="ctr"/>
                      <a:r>
                        <a:rPr lang="en-US" sz="2000" u="none" strike="noStrike">
                          <a:effectLst/>
                        </a:rPr>
                        <a:t>27</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5"/>
                        </a:rPr>
                        <a:t>String trim()</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a:effectLst/>
                        </a:rPr>
                        <a:t>removes beginning and ending spaces of this string.</a:t>
                      </a:r>
                      <a:endParaRPr lang="en-US" sz="2000" b="0" i="0" u="none" strike="noStrike">
                        <a:solidFill>
                          <a:srgbClr val="000000"/>
                        </a:solidFill>
                        <a:effectLst/>
                        <a:latin typeface="Verdana"/>
                      </a:endParaRPr>
                    </a:p>
                  </a:txBody>
                  <a:tcPr marL="171450" marR="9525" marT="9525" marB="0" anchor="ctr"/>
                </a:tc>
              </a:tr>
              <a:tr h="567481">
                <a:tc>
                  <a:txBody>
                    <a:bodyPr/>
                    <a:lstStyle/>
                    <a:p>
                      <a:pPr algn="l" fontAlgn="ctr"/>
                      <a:r>
                        <a:rPr lang="en-US" sz="2000" u="none" strike="noStrike">
                          <a:effectLst/>
                        </a:rPr>
                        <a:t>28</a:t>
                      </a:r>
                      <a:endParaRPr lang="en-US" sz="2000" b="0" i="0" u="none" strike="noStrike">
                        <a:solidFill>
                          <a:srgbClr val="000000"/>
                        </a:solidFill>
                        <a:effectLst/>
                        <a:latin typeface="Verdana"/>
                      </a:endParaRPr>
                    </a:p>
                  </a:txBody>
                  <a:tcPr marL="171450" marR="9525" marT="9525" marB="0" anchor="ctr"/>
                </a:tc>
                <a:tc>
                  <a:txBody>
                    <a:bodyPr/>
                    <a:lstStyle/>
                    <a:p>
                      <a:pPr algn="l" fontAlgn="ctr"/>
                      <a:r>
                        <a:rPr lang="en-US" sz="2000" u="sng" strike="noStrike">
                          <a:effectLst/>
                          <a:hlinkClick r:id="rId6"/>
                        </a:rPr>
                        <a:t>static String valueOf(int value)</a:t>
                      </a:r>
                      <a:endParaRPr lang="en-US" sz="2000" b="0" i="0" u="sng" strike="noStrike">
                        <a:solidFill>
                          <a:srgbClr val="0000FF"/>
                        </a:solidFill>
                        <a:effectLst/>
                        <a:latin typeface="Calibri"/>
                      </a:endParaRPr>
                    </a:p>
                  </a:txBody>
                  <a:tcPr marL="171450" marR="9525" marT="9525" marB="0" anchor="ctr"/>
                </a:tc>
                <a:tc>
                  <a:txBody>
                    <a:bodyPr/>
                    <a:lstStyle/>
                    <a:p>
                      <a:pPr algn="l" fontAlgn="ctr"/>
                      <a:r>
                        <a:rPr lang="en-US" sz="2000" u="none" strike="noStrike" dirty="0">
                          <a:effectLst/>
                        </a:rPr>
                        <a:t>converts given type into string. It is an overloaded method.</a:t>
                      </a:r>
                      <a:endParaRPr lang="en-US" sz="2000" b="0" i="0" u="none" strike="noStrike" dirty="0">
                        <a:solidFill>
                          <a:srgbClr val="000000"/>
                        </a:solidFill>
                        <a:effectLst/>
                        <a:latin typeface="Verdana"/>
                      </a:endParaRPr>
                    </a:p>
                  </a:txBody>
                  <a:tcPr marL="171450" marR="9525" marT="9525" marB="0" anchor="ctr"/>
                </a:tc>
              </a:tr>
            </a:tbl>
          </a:graphicData>
        </a:graphic>
      </p:graphicFrame>
    </p:spTree>
    <p:extLst>
      <p:ext uri="{BB962C8B-B14F-4D97-AF65-F5344CB8AC3E}">
        <p14:creationId xmlns:p14="http://schemas.microsoft.com/office/powerpoint/2010/main" val="578270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String Methods</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11</a:t>
            </a:fld>
            <a:endParaRPr lang="en-US" dirty="0"/>
          </a:p>
        </p:txBody>
      </p:sp>
      <p:sp>
        <p:nvSpPr>
          <p:cNvPr id="9" name="Content Placeholder 2">
            <a:extLst>
              <a:ext uri="{FF2B5EF4-FFF2-40B4-BE49-F238E27FC236}">
                <a16:creationId xmlns:a16="http://schemas.microsoft.com/office/drawing/2014/main" xmlns="" id="{21309EEA-748E-1B4D-9BA2-2ADAA2FBB16C}"/>
              </a:ext>
            </a:extLst>
          </p:cNvPr>
          <p:cNvSpPr>
            <a:spLocks noGrp="1"/>
          </p:cNvSpPr>
          <p:nvPr>
            <p:ph idx="1"/>
          </p:nvPr>
        </p:nvSpPr>
        <p:spPr>
          <a:xfrm>
            <a:off x="838200" y="1074057"/>
            <a:ext cx="10515599" cy="5128439"/>
          </a:xfrm>
        </p:spPr>
        <p:txBody>
          <a:bodyPr>
            <a:normAutofit fontScale="85000" lnSpcReduction="20000"/>
          </a:bodyPr>
          <a:lstStyle/>
          <a:p>
            <a:r>
              <a:rPr lang="en-US" sz="3200" b="1" dirty="0"/>
              <a:t>char </a:t>
            </a:r>
            <a:r>
              <a:rPr lang="en-US" sz="3200" b="1" dirty="0" err="1"/>
              <a:t>charAt</a:t>
            </a:r>
            <a:r>
              <a:rPr lang="en-US" sz="3200" b="1" dirty="0"/>
              <a:t>(</a:t>
            </a:r>
            <a:r>
              <a:rPr lang="en-US" sz="3200" b="1" dirty="0" err="1"/>
              <a:t>int</a:t>
            </a:r>
            <a:r>
              <a:rPr lang="en-US" sz="3200" b="1" dirty="0"/>
              <a:t> index): </a:t>
            </a:r>
            <a:r>
              <a:rPr lang="en-US" sz="3200" dirty="0"/>
              <a:t>Returns the character at the specified index. Specified index value should be between '0' to 'length() -1' both inclusive. It throws </a:t>
            </a:r>
            <a:r>
              <a:rPr lang="en-US" sz="3200" dirty="0" err="1"/>
              <a:t>IndexOutOfBoundsException</a:t>
            </a:r>
            <a:r>
              <a:rPr lang="en-US" sz="3200" dirty="0"/>
              <a:t> if index is invalid/ out of range. </a:t>
            </a:r>
            <a:endParaRPr lang="en-US" sz="3200" dirty="0" smtClean="0"/>
          </a:p>
          <a:p>
            <a:pPr marL="457200" lvl="1" indent="0">
              <a:buNone/>
            </a:pPr>
            <a:r>
              <a:rPr lang="en-US" dirty="0" smtClean="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a:t>char c = </a:t>
            </a:r>
            <a:r>
              <a:rPr lang="en-US" dirty="0" err="1"/>
              <a:t>blogName.charAt</a:t>
            </a:r>
            <a:r>
              <a:rPr lang="en-US" dirty="0"/>
              <a:t>(5);    //'d'</a:t>
            </a:r>
          </a:p>
          <a:p>
            <a:r>
              <a:rPr lang="en-US" sz="3200" b="1" dirty="0" err="1"/>
              <a:t>boolean</a:t>
            </a:r>
            <a:r>
              <a:rPr lang="en-US" sz="3200" b="1" dirty="0"/>
              <a:t> equals(Object </a:t>
            </a:r>
            <a:r>
              <a:rPr lang="en-US" sz="3200" b="1" dirty="0" err="1"/>
              <a:t>obj</a:t>
            </a:r>
            <a:r>
              <a:rPr lang="en-US" sz="3200" b="1" dirty="0"/>
              <a:t>): </a:t>
            </a:r>
            <a:r>
              <a:rPr lang="en-US" sz="3200" dirty="0" smtClean="0"/>
              <a:t>Compares </a:t>
            </a:r>
            <a:r>
              <a:rPr lang="en-US" sz="3200" dirty="0"/>
              <a:t>the string with the specified string and returns true if both matches else false.</a:t>
            </a:r>
            <a:endParaRPr lang="en-US" sz="3200" dirty="0" smtClean="0"/>
          </a:p>
          <a:p>
            <a:pPr marL="457200" lvl="1" indent="0">
              <a:buNone/>
            </a:pPr>
            <a:r>
              <a:rPr lang="en-US" dirty="0" smtClean="0"/>
              <a:t>String </a:t>
            </a:r>
            <a:r>
              <a:rPr lang="en-US" dirty="0" err="1" smtClean="0"/>
              <a:t>blogName</a:t>
            </a:r>
            <a:r>
              <a:rPr lang="en-US" dirty="0" smtClean="0"/>
              <a:t> = "</a:t>
            </a:r>
            <a:r>
              <a:rPr lang="en-US" dirty="0" err="1" smtClean="0"/>
              <a:t>howtodoinjava.com</a:t>
            </a:r>
            <a:r>
              <a:rPr lang="en-US" dirty="0" smtClean="0"/>
              <a:t>";</a:t>
            </a:r>
          </a:p>
          <a:p>
            <a:pPr marL="457200" lvl="1" indent="0">
              <a:buNone/>
            </a:pPr>
            <a:r>
              <a:rPr lang="en-US" dirty="0" err="1" smtClean="0"/>
              <a:t>blogName.equals</a:t>
            </a:r>
            <a:r>
              <a:rPr lang="en-US" dirty="0"/>
              <a:t>( "</a:t>
            </a:r>
            <a:r>
              <a:rPr lang="en-US" dirty="0" err="1"/>
              <a:t>howtodoinjava.com</a:t>
            </a:r>
            <a:r>
              <a:rPr lang="en-US" dirty="0"/>
              <a:t>" );     //true</a:t>
            </a:r>
          </a:p>
          <a:p>
            <a:pPr marL="457200" lvl="1" indent="0">
              <a:buNone/>
            </a:pPr>
            <a:r>
              <a:rPr lang="en-US" dirty="0" err="1"/>
              <a:t>blogName.equals</a:t>
            </a:r>
            <a:r>
              <a:rPr lang="en-US" dirty="0"/>
              <a:t>( "</a:t>
            </a:r>
            <a:r>
              <a:rPr lang="en-US" dirty="0" err="1"/>
              <a:t>example.com</a:t>
            </a:r>
            <a:r>
              <a:rPr lang="en-US" dirty="0"/>
              <a:t>" );           //false</a:t>
            </a:r>
          </a:p>
          <a:p>
            <a:r>
              <a:rPr lang="en-US" sz="3200" b="1" dirty="0" err="1"/>
              <a:t>boolean</a:t>
            </a:r>
            <a:r>
              <a:rPr lang="en-US" sz="3200" b="1" dirty="0"/>
              <a:t> </a:t>
            </a:r>
            <a:r>
              <a:rPr lang="en-US" sz="3200" b="1" dirty="0" err="1"/>
              <a:t>equalsIgnoreCase</a:t>
            </a:r>
            <a:r>
              <a:rPr lang="en-US" sz="3200" b="1" dirty="0"/>
              <a:t>(String string): </a:t>
            </a:r>
            <a:r>
              <a:rPr lang="en-US" sz="3200" dirty="0"/>
              <a:t>Compares same as equals method but in case insensitive way.</a:t>
            </a:r>
          </a:p>
          <a:p>
            <a:pPr marL="457200" lvl="1" indent="0">
              <a:buNone/>
            </a:pPr>
            <a:r>
              <a:rPr lang="en-US" dirty="0"/>
              <a:t>String </a:t>
            </a:r>
            <a:r>
              <a:rPr lang="en-US" dirty="0" err="1"/>
              <a:t>blogName</a:t>
            </a:r>
            <a:r>
              <a:rPr lang="en-US" dirty="0"/>
              <a:t> = "</a:t>
            </a:r>
            <a:r>
              <a:rPr lang="en-US" dirty="0" err="1"/>
              <a:t>howtodoinjava.com</a:t>
            </a:r>
            <a:r>
              <a:rPr lang="en-US" dirty="0" smtClean="0"/>
              <a:t>";</a:t>
            </a:r>
          </a:p>
          <a:p>
            <a:pPr marL="457200" lvl="1" indent="0">
              <a:buNone/>
            </a:pPr>
            <a:r>
              <a:rPr lang="en-US" dirty="0" err="1" smtClean="0"/>
              <a:t>blogName.equalsIgnoreCase</a:t>
            </a:r>
            <a:r>
              <a:rPr lang="en-US" dirty="0"/>
              <a:t>( "</a:t>
            </a:r>
            <a:r>
              <a:rPr lang="en-US" dirty="0" err="1"/>
              <a:t>howtodoinjava.com</a:t>
            </a:r>
            <a:r>
              <a:rPr lang="en-US" dirty="0"/>
              <a:t>" );       //true</a:t>
            </a:r>
          </a:p>
          <a:p>
            <a:pPr marL="457200" lvl="1" indent="0">
              <a:buNone/>
            </a:pPr>
            <a:r>
              <a:rPr lang="en-US" dirty="0" err="1"/>
              <a:t>blogName.equalsIgnoreCase</a:t>
            </a:r>
            <a:r>
              <a:rPr lang="en-US" dirty="0"/>
              <a:t>( "</a:t>
            </a:r>
            <a:r>
              <a:rPr lang="en-US" dirty="0" err="1"/>
              <a:t>HowToDoInJava.com</a:t>
            </a:r>
            <a:r>
              <a:rPr lang="en-US" dirty="0"/>
              <a:t>" );       //</a:t>
            </a:r>
            <a:r>
              <a:rPr lang="en-US" dirty="0" smtClean="0"/>
              <a:t>true</a:t>
            </a:r>
            <a:endParaRPr lang="en-US" dirty="0"/>
          </a:p>
        </p:txBody>
      </p:sp>
    </p:spTree>
    <p:extLst>
      <p:ext uri="{BB962C8B-B14F-4D97-AF65-F5344CB8AC3E}">
        <p14:creationId xmlns:p14="http://schemas.microsoft.com/office/powerpoint/2010/main" val="2013788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String Methods</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12</a:t>
            </a:fld>
            <a:endParaRPr lang="en-US" dirty="0"/>
          </a:p>
        </p:txBody>
      </p:sp>
      <p:sp>
        <p:nvSpPr>
          <p:cNvPr id="10" name="Content Placeholder 2">
            <a:extLst>
              <a:ext uri="{FF2B5EF4-FFF2-40B4-BE49-F238E27FC236}">
                <a16:creationId xmlns:a16="http://schemas.microsoft.com/office/drawing/2014/main" xmlns="" id="{21309EEA-748E-1B4D-9BA2-2ADAA2FBB16C}"/>
              </a:ext>
            </a:extLst>
          </p:cNvPr>
          <p:cNvSpPr txBox="1">
            <a:spLocks/>
          </p:cNvSpPr>
          <p:nvPr/>
        </p:nvSpPr>
        <p:spPr>
          <a:xfrm>
            <a:off x="609601" y="1030514"/>
            <a:ext cx="11248570" cy="531712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err="1" smtClean="0"/>
              <a:t>int</a:t>
            </a:r>
            <a:r>
              <a:rPr lang="en-US" sz="3200" b="1" dirty="0" smtClean="0"/>
              <a:t> </a:t>
            </a:r>
            <a:r>
              <a:rPr lang="en-US" sz="3200" b="1" dirty="0" err="1" smtClean="0"/>
              <a:t>compareTo</a:t>
            </a:r>
            <a:r>
              <a:rPr lang="en-US" sz="3200" b="1" dirty="0" smtClean="0"/>
              <a:t>(String string): </a:t>
            </a:r>
            <a:r>
              <a:rPr lang="en-US" sz="3200" dirty="0"/>
              <a:t>Compares the two strings lexicographically based on the Unicode value of each character in the strings. </a:t>
            </a:r>
            <a:endParaRPr lang="en-US" sz="3200" dirty="0" smtClean="0"/>
          </a:p>
          <a:p>
            <a:pPr lvl="1"/>
            <a:r>
              <a:rPr lang="en-US" dirty="0" smtClean="0"/>
              <a:t>return 0 </a:t>
            </a:r>
            <a:r>
              <a:rPr lang="en-US" dirty="0"/>
              <a:t>if the argument string is equal to this string</a:t>
            </a:r>
            <a:r>
              <a:rPr lang="en-US" dirty="0" smtClean="0"/>
              <a:t>;</a:t>
            </a:r>
          </a:p>
          <a:p>
            <a:pPr lvl="1"/>
            <a:r>
              <a:rPr lang="en-US" dirty="0"/>
              <a:t>r</a:t>
            </a:r>
            <a:r>
              <a:rPr lang="en-US" dirty="0" smtClean="0"/>
              <a:t>eturn  &lt;0 </a:t>
            </a:r>
            <a:r>
              <a:rPr lang="en-US" dirty="0"/>
              <a:t>if this string is lexicographically less than the string argument; </a:t>
            </a:r>
            <a:endParaRPr lang="en-US" dirty="0" smtClean="0"/>
          </a:p>
          <a:p>
            <a:pPr lvl="1"/>
            <a:r>
              <a:rPr lang="en-US" dirty="0"/>
              <a:t>r</a:t>
            </a:r>
            <a:r>
              <a:rPr lang="en-US" dirty="0" smtClean="0"/>
              <a:t>eturn &gt;0 </a:t>
            </a:r>
            <a:r>
              <a:rPr lang="en-US" dirty="0"/>
              <a:t>if this string is lexicographically greater than the string argument</a:t>
            </a:r>
            <a:r>
              <a:rPr lang="en-US" dirty="0" smtClean="0"/>
              <a:t>.</a:t>
            </a:r>
            <a:r>
              <a:rPr lang="en-US" b="1" dirty="0" smtClean="0"/>
              <a:t> </a:t>
            </a:r>
          </a:p>
          <a:p>
            <a:pPr marL="457200" lvl="1" indent="0" algn="just">
              <a:buFont typeface="Arial" panose="020B0604020202020204" pitchFamily="34" charset="0"/>
              <a:buNone/>
            </a:pPr>
            <a:r>
              <a:rPr lang="en-US" dirty="0" smtClean="0"/>
              <a:t>String </a:t>
            </a:r>
            <a:r>
              <a:rPr lang="en-US" dirty="0" err="1" smtClean="0"/>
              <a:t>blogName</a:t>
            </a:r>
            <a:r>
              <a:rPr lang="en-US" dirty="0" smtClean="0"/>
              <a:t> = "</a:t>
            </a:r>
            <a:r>
              <a:rPr lang="en-US" dirty="0" err="1" smtClean="0"/>
              <a:t>howtodoinjava.com</a:t>
            </a:r>
            <a:r>
              <a:rPr lang="en-US" dirty="0" smtClean="0"/>
              <a:t>";       </a:t>
            </a:r>
          </a:p>
          <a:p>
            <a:pPr marL="457200" lvl="1" indent="0" algn="just">
              <a:buFont typeface="Arial" panose="020B0604020202020204" pitchFamily="34" charset="0"/>
              <a:buNone/>
            </a:pPr>
            <a:r>
              <a:rPr lang="en-US" dirty="0" err="1" smtClean="0"/>
              <a:t>blogName.compareTo</a:t>
            </a:r>
            <a:r>
              <a:rPr lang="en-US" dirty="0" smtClean="0"/>
              <a:t>( "</a:t>
            </a:r>
            <a:r>
              <a:rPr lang="en-US" dirty="0" err="1" smtClean="0"/>
              <a:t>HowToDoInJava.com</a:t>
            </a:r>
            <a:r>
              <a:rPr lang="en-US" dirty="0" smtClean="0"/>
              <a:t>" );      //32</a:t>
            </a:r>
          </a:p>
          <a:p>
            <a:pPr marL="457200" lvl="1" indent="0" algn="just">
              <a:buFont typeface="Arial" panose="020B0604020202020204" pitchFamily="34" charset="0"/>
              <a:buNone/>
            </a:pPr>
            <a:r>
              <a:rPr lang="en-US" dirty="0" err="1" smtClean="0"/>
              <a:t>blogName.compareTo</a:t>
            </a:r>
            <a:r>
              <a:rPr lang="en-US" dirty="0" smtClean="0"/>
              <a:t>( "</a:t>
            </a:r>
            <a:r>
              <a:rPr lang="en-US" dirty="0" err="1" smtClean="0"/>
              <a:t>example.com</a:t>
            </a:r>
            <a:r>
              <a:rPr lang="en-US" dirty="0" smtClean="0"/>
              <a:t>" );            //3</a:t>
            </a:r>
          </a:p>
          <a:p>
            <a:pPr algn="just"/>
            <a:r>
              <a:rPr lang="en-US" sz="3200" b="1" dirty="0" err="1" smtClean="0"/>
              <a:t>int</a:t>
            </a:r>
            <a:r>
              <a:rPr lang="en-US" sz="3200" b="1" dirty="0" smtClean="0"/>
              <a:t> </a:t>
            </a:r>
            <a:r>
              <a:rPr lang="en-US" sz="3200" b="1" dirty="0" err="1" smtClean="0"/>
              <a:t>compareToIgnoreCase</a:t>
            </a:r>
            <a:r>
              <a:rPr lang="en-US" sz="3200" b="1" dirty="0" smtClean="0"/>
              <a:t>(String string): </a:t>
            </a:r>
            <a:r>
              <a:rPr lang="en-US" sz="3200" dirty="0" smtClean="0"/>
              <a:t>Same </a:t>
            </a:r>
            <a:r>
              <a:rPr lang="en-US" sz="3200" dirty="0"/>
              <a:t>as </a:t>
            </a:r>
            <a:r>
              <a:rPr lang="en-US" sz="3200" dirty="0" err="1"/>
              <a:t>CompareTo</a:t>
            </a:r>
            <a:r>
              <a:rPr lang="en-US" sz="3200" dirty="0"/>
              <a:t> method however it ignores the case during comparison.</a:t>
            </a:r>
            <a:endParaRPr lang="en-US" sz="3200" b="1" dirty="0" smtClean="0"/>
          </a:p>
          <a:p>
            <a:pPr marL="457200" lvl="1" indent="0" algn="just">
              <a:buFont typeface="Arial" panose="020B0604020202020204" pitchFamily="34" charset="0"/>
              <a:buNone/>
            </a:pPr>
            <a:r>
              <a:rPr lang="en-US" dirty="0" smtClean="0"/>
              <a:t>String </a:t>
            </a:r>
            <a:r>
              <a:rPr lang="en-US" dirty="0" err="1" smtClean="0"/>
              <a:t>blogName</a:t>
            </a:r>
            <a:r>
              <a:rPr lang="en-US" dirty="0" smtClean="0"/>
              <a:t> = "</a:t>
            </a:r>
            <a:r>
              <a:rPr lang="en-US" dirty="0" err="1" smtClean="0"/>
              <a:t>howtodoinjava.com</a:t>
            </a:r>
            <a:r>
              <a:rPr lang="en-US" dirty="0" smtClean="0"/>
              <a:t>";         </a:t>
            </a:r>
          </a:p>
          <a:p>
            <a:pPr marL="457200" lvl="1" indent="0" algn="just">
              <a:buFont typeface="Arial" panose="020B0604020202020204" pitchFamily="34" charset="0"/>
              <a:buNone/>
            </a:pPr>
            <a:r>
              <a:rPr lang="en-US" dirty="0" err="1" smtClean="0"/>
              <a:t>blogName.compareToIgnoreCase</a:t>
            </a:r>
            <a:r>
              <a:rPr lang="en-US" dirty="0" smtClean="0"/>
              <a:t>( "</a:t>
            </a:r>
            <a:r>
              <a:rPr lang="en-US" dirty="0" err="1" smtClean="0"/>
              <a:t>HowToDoInJava.com</a:t>
            </a:r>
            <a:r>
              <a:rPr lang="en-US" dirty="0" smtClean="0"/>
              <a:t>" );        //0</a:t>
            </a:r>
          </a:p>
          <a:p>
            <a:pPr marL="457200" lvl="1" indent="0" algn="just">
              <a:buFont typeface="Arial" panose="020B0604020202020204" pitchFamily="34" charset="0"/>
              <a:buNone/>
            </a:pPr>
            <a:r>
              <a:rPr lang="en-US" dirty="0" err="1" smtClean="0"/>
              <a:t>blogName.compareToIgnoreCase</a:t>
            </a:r>
            <a:r>
              <a:rPr lang="en-US" dirty="0" smtClean="0"/>
              <a:t>( "</a:t>
            </a:r>
            <a:r>
              <a:rPr lang="en-US" dirty="0" err="1" smtClean="0"/>
              <a:t>example.com</a:t>
            </a:r>
            <a:r>
              <a:rPr lang="en-US" dirty="0" smtClean="0"/>
              <a:t>" );              //3</a:t>
            </a:r>
            <a:endParaRPr lang="en-US" dirty="0"/>
          </a:p>
        </p:txBody>
      </p:sp>
    </p:spTree>
    <p:extLst>
      <p:ext uri="{BB962C8B-B14F-4D97-AF65-F5344CB8AC3E}">
        <p14:creationId xmlns:p14="http://schemas.microsoft.com/office/powerpoint/2010/main" val="826430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String Methods</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13</a:t>
            </a:fld>
            <a:endParaRPr lang="en-US" dirty="0"/>
          </a:p>
        </p:txBody>
      </p:sp>
      <p:sp>
        <p:nvSpPr>
          <p:cNvPr id="10" name="Content Placeholder 2">
            <a:extLst>
              <a:ext uri="{FF2B5EF4-FFF2-40B4-BE49-F238E27FC236}">
                <a16:creationId xmlns:a16="http://schemas.microsoft.com/office/drawing/2014/main" xmlns="" id="{21309EEA-748E-1B4D-9BA2-2ADAA2FBB16C}"/>
              </a:ext>
            </a:extLst>
          </p:cNvPr>
          <p:cNvSpPr txBox="1">
            <a:spLocks/>
          </p:cNvSpPr>
          <p:nvPr/>
        </p:nvSpPr>
        <p:spPr>
          <a:xfrm>
            <a:off x="609601" y="1030514"/>
            <a:ext cx="11248570" cy="531712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err="1"/>
              <a:t>boolean</a:t>
            </a:r>
            <a:r>
              <a:rPr lang="en-US" sz="3200" b="1" dirty="0"/>
              <a:t> </a:t>
            </a:r>
            <a:r>
              <a:rPr lang="en-US" sz="3200" b="1" dirty="0" err="1"/>
              <a:t>startsWith</a:t>
            </a:r>
            <a:r>
              <a:rPr lang="en-US" sz="3200" b="1" dirty="0"/>
              <a:t>(String prefix, </a:t>
            </a:r>
            <a:r>
              <a:rPr lang="en-US" sz="3200" b="1" dirty="0" err="1"/>
              <a:t>int</a:t>
            </a:r>
            <a:r>
              <a:rPr lang="en-US" sz="3200" b="1" dirty="0"/>
              <a:t> offset) </a:t>
            </a:r>
            <a:r>
              <a:rPr lang="en-US" sz="3200" dirty="0"/>
              <a:t>– Checks whether the String is having the specified prefix or not – starting from the specified offset index.</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blogName.startsWith</a:t>
            </a:r>
            <a:r>
              <a:rPr lang="en-US" dirty="0"/>
              <a:t>( "d", 5 );      //true</a:t>
            </a:r>
          </a:p>
          <a:p>
            <a:pPr marL="457200" lvl="1" indent="0">
              <a:buNone/>
            </a:pPr>
            <a:r>
              <a:rPr lang="en-US" dirty="0" err="1"/>
              <a:t>blogName.startsWith</a:t>
            </a:r>
            <a:r>
              <a:rPr lang="en-US" dirty="0"/>
              <a:t>( "e", 5 );      //false</a:t>
            </a:r>
          </a:p>
          <a:p>
            <a:r>
              <a:rPr lang="en-US" sz="3200" b="1" dirty="0" err="1"/>
              <a:t>boolean</a:t>
            </a:r>
            <a:r>
              <a:rPr lang="en-US" sz="3200" b="1" dirty="0"/>
              <a:t> </a:t>
            </a:r>
            <a:r>
              <a:rPr lang="en-US" sz="3200" b="1" dirty="0" err="1"/>
              <a:t>startsWith</a:t>
            </a:r>
            <a:r>
              <a:rPr lang="en-US" sz="3200" b="1" dirty="0"/>
              <a:t>(String prefix) </a:t>
            </a:r>
            <a:r>
              <a:rPr lang="en-US" sz="3200" dirty="0"/>
              <a:t>– Tests whether the string is having specified prefix, if yes then it returns true else false. The offset index value is 0 in this overloaded method.</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blogName.startsWith</a:t>
            </a:r>
            <a:r>
              <a:rPr lang="en-US" dirty="0"/>
              <a:t>( "h" );     //true</a:t>
            </a:r>
          </a:p>
          <a:p>
            <a:pPr marL="457200" lvl="1" indent="0">
              <a:buNone/>
            </a:pPr>
            <a:r>
              <a:rPr lang="en-US" dirty="0" err="1"/>
              <a:t>blogName.startsWith</a:t>
            </a:r>
            <a:r>
              <a:rPr lang="en-US" dirty="0"/>
              <a:t>( "e" );     //false</a:t>
            </a:r>
          </a:p>
          <a:p>
            <a:r>
              <a:rPr lang="en-US" sz="3200" b="1" dirty="0" err="1"/>
              <a:t>boolean</a:t>
            </a:r>
            <a:r>
              <a:rPr lang="en-US" sz="3200" b="1" dirty="0"/>
              <a:t> </a:t>
            </a:r>
            <a:r>
              <a:rPr lang="en-US" sz="3200" b="1" dirty="0" err="1"/>
              <a:t>endsWith</a:t>
            </a:r>
            <a:r>
              <a:rPr lang="en-US" sz="3200" b="1" dirty="0"/>
              <a:t>(String suffix)</a:t>
            </a:r>
            <a:r>
              <a:rPr lang="en-US" sz="3200" dirty="0"/>
              <a:t> – Checks whether the string ends with the specified suffix.</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blogName.endsWith</a:t>
            </a:r>
            <a:r>
              <a:rPr lang="en-US" dirty="0"/>
              <a:t>( "com" );         //true</a:t>
            </a:r>
          </a:p>
          <a:p>
            <a:pPr marL="457200" lvl="1" indent="0">
              <a:buNone/>
            </a:pPr>
            <a:r>
              <a:rPr lang="en-US" dirty="0" err="1"/>
              <a:t>blogName.endsWith</a:t>
            </a:r>
            <a:r>
              <a:rPr lang="en-US" dirty="0"/>
              <a:t>( "java" );        //false</a:t>
            </a:r>
          </a:p>
        </p:txBody>
      </p:sp>
    </p:spTree>
    <p:extLst>
      <p:ext uri="{BB962C8B-B14F-4D97-AF65-F5344CB8AC3E}">
        <p14:creationId xmlns:p14="http://schemas.microsoft.com/office/powerpoint/2010/main" val="243502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String Methods</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14</a:t>
            </a:fld>
            <a:endParaRPr lang="en-US" dirty="0"/>
          </a:p>
        </p:txBody>
      </p:sp>
      <p:sp>
        <p:nvSpPr>
          <p:cNvPr id="10" name="Content Placeholder 2">
            <a:extLst>
              <a:ext uri="{FF2B5EF4-FFF2-40B4-BE49-F238E27FC236}">
                <a16:creationId xmlns:a16="http://schemas.microsoft.com/office/drawing/2014/main" xmlns="" id="{21309EEA-748E-1B4D-9BA2-2ADAA2FBB16C}"/>
              </a:ext>
            </a:extLst>
          </p:cNvPr>
          <p:cNvSpPr txBox="1">
            <a:spLocks/>
          </p:cNvSpPr>
          <p:nvPr/>
        </p:nvSpPr>
        <p:spPr>
          <a:xfrm>
            <a:off x="609601" y="1030514"/>
            <a:ext cx="11248570" cy="5317125"/>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err="1"/>
              <a:t>int</a:t>
            </a:r>
            <a:r>
              <a:rPr lang="en-US" sz="3200" b="1" dirty="0"/>
              <a:t> </a:t>
            </a:r>
            <a:r>
              <a:rPr lang="en-US" sz="3200" b="1" dirty="0" err="1"/>
              <a:t>indexOf</a:t>
            </a:r>
            <a:r>
              <a:rPr lang="en-US" sz="3200" b="1" dirty="0"/>
              <a:t>(</a:t>
            </a:r>
            <a:r>
              <a:rPr lang="en-US" sz="3200" b="1" dirty="0" err="1"/>
              <a:t>int</a:t>
            </a:r>
            <a:r>
              <a:rPr lang="en-US" sz="3200" b="1" dirty="0"/>
              <a:t> </a:t>
            </a:r>
            <a:r>
              <a:rPr lang="en-US" sz="3200" b="1" dirty="0" err="1"/>
              <a:t>ch</a:t>
            </a:r>
            <a:r>
              <a:rPr lang="en-US" sz="3200" b="1" dirty="0"/>
              <a:t>) </a:t>
            </a:r>
            <a:r>
              <a:rPr lang="en-US" sz="3200" dirty="0"/>
              <a:t>– Returns the index of first occurrence of the specified character argument in the string.</a:t>
            </a:r>
          </a:p>
          <a:p>
            <a:pPr marL="457200" lvl="1" indent="0">
              <a:buNone/>
            </a:pPr>
            <a:r>
              <a:rPr lang="en-US" dirty="0"/>
              <a:t>String </a:t>
            </a:r>
            <a:r>
              <a:rPr lang="en-US" dirty="0" err="1"/>
              <a:t>blogName</a:t>
            </a:r>
            <a:r>
              <a:rPr lang="en-US" dirty="0"/>
              <a:t> = "</a:t>
            </a:r>
            <a:r>
              <a:rPr lang="en-US" dirty="0" err="1"/>
              <a:t>howtodoinjava.com</a:t>
            </a:r>
            <a:r>
              <a:rPr lang="en-US" dirty="0" smtClean="0"/>
              <a:t>";</a:t>
            </a:r>
          </a:p>
          <a:p>
            <a:pPr marL="457200" lvl="1" indent="0">
              <a:buNone/>
            </a:pPr>
            <a:r>
              <a:rPr lang="en-US" dirty="0" err="1" smtClean="0"/>
              <a:t>blogName.indexOf</a:t>
            </a:r>
            <a:r>
              <a:rPr lang="en-US" dirty="0"/>
              <a:t>( 'o' );            //1</a:t>
            </a:r>
          </a:p>
          <a:p>
            <a:r>
              <a:rPr lang="en-US" sz="3200" b="1" dirty="0" err="1"/>
              <a:t>int</a:t>
            </a:r>
            <a:r>
              <a:rPr lang="en-US" sz="3200" b="1" dirty="0"/>
              <a:t> </a:t>
            </a:r>
            <a:r>
              <a:rPr lang="en-US" sz="3200" b="1" dirty="0" err="1"/>
              <a:t>indexOf</a:t>
            </a:r>
            <a:r>
              <a:rPr lang="en-US" sz="3200" b="1" dirty="0"/>
              <a:t>(</a:t>
            </a:r>
            <a:r>
              <a:rPr lang="en-US" sz="3200" b="1" dirty="0" err="1"/>
              <a:t>int</a:t>
            </a:r>
            <a:r>
              <a:rPr lang="en-US" sz="3200" b="1" dirty="0"/>
              <a:t> </a:t>
            </a:r>
            <a:r>
              <a:rPr lang="en-US" sz="3200" b="1" dirty="0" err="1"/>
              <a:t>ch</a:t>
            </a:r>
            <a:r>
              <a:rPr lang="en-US" sz="3200" b="1" dirty="0"/>
              <a:t>, </a:t>
            </a:r>
            <a:r>
              <a:rPr lang="en-US" sz="3200" b="1" dirty="0" err="1"/>
              <a:t>int</a:t>
            </a:r>
            <a:r>
              <a:rPr lang="en-US" sz="3200" b="1" dirty="0"/>
              <a:t> </a:t>
            </a:r>
            <a:r>
              <a:rPr lang="en-US" sz="3200" b="1" dirty="0" err="1"/>
              <a:t>fromIndex</a:t>
            </a:r>
            <a:r>
              <a:rPr lang="en-US" sz="3200" b="1" dirty="0"/>
              <a:t>)</a:t>
            </a:r>
            <a:r>
              <a:rPr lang="en-US" sz="3200" dirty="0"/>
              <a:t> – Overloaded version of </a:t>
            </a:r>
            <a:r>
              <a:rPr lang="en-US" sz="3200" dirty="0" err="1"/>
              <a:t>indexOf</a:t>
            </a:r>
            <a:r>
              <a:rPr lang="en-US" sz="3200" dirty="0"/>
              <a:t>(char </a:t>
            </a:r>
            <a:r>
              <a:rPr lang="en-US" sz="3200" dirty="0" err="1"/>
              <a:t>ch</a:t>
            </a:r>
            <a:r>
              <a:rPr lang="en-US" sz="3200" dirty="0"/>
              <a:t>) method however it starts searching in the string from the specified </a:t>
            </a:r>
            <a:r>
              <a:rPr lang="en-US" sz="3200" dirty="0" err="1"/>
              <a:t>fromIndex</a:t>
            </a:r>
            <a:r>
              <a:rPr lang="en-US" sz="3200" dirty="0"/>
              <a:t>.</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blogName.indexOf</a:t>
            </a:r>
            <a:r>
              <a:rPr lang="en-US" dirty="0"/>
              <a:t>( 'o', 5 );     //6</a:t>
            </a:r>
          </a:p>
          <a:p>
            <a:r>
              <a:rPr lang="en-US" sz="3200" b="1" dirty="0" err="1"/>
              <a:t>int</a:t>
            </a:r>
            <a:r>
              <a:rPr lang="en-US" sz="3200" b="1" dirty="0"/>
              <a:t> </a:t>
            </a:r>
            <a:r>
              <a:rPr lang="en-US" sz="3200" b="1" dirty="0" err="1"/>
              <a:t>indexOf</a:t>
            </a:r>
            <a:r>
              <a:rPr lang="en-US" sz="3200" b="1" dirty="0"/>
              <a:t>(String </a:t>
            </a:r>
            <a:r>
              <a:rPr lang="en-US" sz="3200" b="1" dirty="0" err="1"/>
              <a:t>str</a:t>
            </a:r>
            <a:r>
              <a:rPr lang="en-US" sz="3200" b="1" dirty="0"/>
              <a:t>) </a:t>
            </a:r>
            <a:r>
              <a:rPr lang="en-US" sz="3200" dirty="0"/>
              <a:t>– Returns the index of first occurrence of specified substring '</a:t>
            </a:r>
            <a:r>
              <a:rPr lang="en-US" sz="3200" dirty="0" err="1"/>
              <a:t>str</a:t>
            </a:r>
            <a:r>
              <a:rPr lang="en-US" sz="3200" dirty="0"/>
              <a:t>'.</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blogName.indexOf</a:t>
            </a:r>
            <a:r>
              <a:rPr lang="en-US" dirty="0"/>
              <a:t>( "java" );         //9</a:t>
            </a:r>
          </a:p>
          <a:p>
            <a:r>
              <a:rPr lang="en-US" sz="3200" b="1" dirty="0" err="1"/>
              <a:t>int</a:t>
            </a:r>
            <a:r>
              <a:rPr lang="en-US" sz="3200" b="1" dirty="0"/>
              <a:t> </a:t>
            </a:r>
            <a:r>
              <a:rPr lang="en-US" sz="3200" b="1" dirty="0" err="1"/>
              <a:t>indexOf</a:t>
            </a:r>
            <a:r>
              <a:rPr lang="en-US" sz="3200" b="1" dirty="0"/>
              <a:t>(String </a:t>
            </a:r>
            <a:r>
              <a:rPr lang="en-US" sz="3200" b="1" dirty="0" err="1"/>
              <a:t>str</a:t>
            </a:r>
            <a:r>
              <a:rPr lang="en-US" sz="3200" b="1" dirty="0"/>
              <a:t>, </a:t>
            </a:r>
            <a:r>
              <a:rPr lang="en-US" sz="3200" b="1" dirty="0" err="1"/>
              <a:t>int</a:t>
            </a:r>
            <a:r>
              <a:rPr lang="en-US" sz="3200" b="1" dirty="0"/>
              <a:t> </a:t>
            </a:r>
            <a:r>
              <a:rPr lang="en-US" sz="3200" b="1" dirty="0" err="1"/>
              <a:t>fromIndex</a:t>
            </a:r>
            <a:r>
              <a:rPr lang="en-US" sz="3200" b="1" dirty="0"/>
              <a:t>) </a:t>
            </a:r>
            <a:r>
              <a:rPr lang="en-US" sz="3200" dirty="0"/>
              <a:t>– Overloaded version of </a:t>
            </a:r>
            <a:r>
              <a:rPr lang="en-US" sz="3200" dirty="0" err="1"/>
              <a:t>indexOf</a:t>
            </a:r>
            <a:r>
              <a:rPr lang="en-US" sz="3200" dirty="0"/>
              <a:t>(String </a:t>
            </a:r>
            <a:r>
              <a:rPr lang="en-US" sz="3200" dirty="0" err="1"/>
              <a:t>str</a:t>
            </a:r>
            <a:r>
              <a:rPr lang="en-US" sz="3200" dirty="0"/>
              <a:t>) method however it starts searching in the string from the specified </a:t>
            </a:r>
            <a:r>
              <a:rPr lang="en-US" sz="3200" dirty="0" err="1"/>
              <a:t>fromIndex</a:t>
            </a:r>
            <a:r>
              <a:rPr lang="en-US" sz="3200" dirty="0"/>
              <a:t>.</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blogName.indexOf</a:t>
            </a:r>
            <a:r>
              <a:rPr lang="en-US" dirty="0"/>
              <a:t>( "java" , 5);          //9</a:t>
            </a:r>
          </a:p>
        </p:txBody>
      </p:sp>
    </p:spTree>
    <p:extLst>
      <p:ext uri="{BB962C8B-B14F-4D97-AF65-F5344CB8AC3E}">
        <p14:creationId xmlns:p14="http://schemas.microsoft.com/office/powerpoint/2010/main" val="555206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String Methods</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15</a:t>
            </a:fld>
            <a:endParaRPr lang="en-US" dirty="0"/>
          </a:p>
        </p:txBody>
      </p:sp>
      <p:sp>
        <p:nvSpPr>
          <p:cNvPr id="10" name="Content Placeholder 2">
            <a:extLst>
              <a:ext uri="{FF2B5EF4-FFF2-40B4-BE49-F238E27FC236}">
                <a16:creationId xmlns:a16="http://schemas.microsoft.com/office/drawing/2014/main" xmlns="" id="{21309EEA-748E-1B4D-9BA2-2ADAA2FBB16C}"/>
              </a:ext>
            </a:extLst>
          </p:cNvPr>
          <p:cNvSpPr txBox="1">
            <a:spLocks/>
          </p:cNvSpPr>
          <p:nvPr/>
        </p:nvSpPr>
        <p:spPr>
          <a:xfrm>
            <a:off x="609601" y="1030514"/>
            <a:ext cx="11248570" cy="531712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err="1"/>
              <a:t>int</a:t>
            </a:r>
            <a:r>
              <a:rPr lang="en-US" sz="3200" b="1" dirty="0"/>
              <a:t> </a:t>
            </a:r>
            <a:r>
              <a:rPr lang="en-US" sz="3200" b="1" dirty="0" err="1"/>
              <a:t>lastIndexOf</a:t>
            </a:r>
            <a:r>
              <a:rPr lang="en-US" sz="3200" b="1" dirty="0"/>
              <a:t>(</a:t>
            </a:r>
            <a:r>
              <a:rPr lang="en-US" sz="3200" b="1" dirty="0" err="1"/>
              <a:t>int</a:t>
            </a:r>
            <a:r>
              <a:rPr lang="en-US" sz="3200" b="1" dirty="0"/>
              <a:t> </a:t>
            </a:r>
            <a:r>
              <a:rPr lang="en-US" sz="3200" b="1" dirty="0" err="1"/>
              <a:t>ch</a:t>
            </a:r>
            <a:r>
              <a:rPr lang="en-US" sz="3200" b="1" dirty="0"/>
              <a:t>) </a:t>
            </a:r>
            <a:r>
              <a:rPr lang="en-US" sz="3200" dirty="0"/>
              <a:t>– Returns the last occurrence of the character '</a:t>
            </a:r>
            <a:r>
              <a:rPr lang="en-US" sz="3200" dirty="0" err="1"/>
              <a:t>ch</a:t>
            </a:r>
            <a:r>
              <a:rPr lang="en-US" sz="3200" dirty="0"/>
              <a:t>' in the string.</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blogName.lastIndexOf</a:t>
            </a:r>
            <a:r>
              <a:rPr lang="en-US" dirty="0"/>
              <a:t>( 'o' );            //15</a:t>
            </a:r>
          </a:p>
          <a:p>
            <a:r>
              <a:rPr lang="en-US" sz="3200" b="1" dirty="0" err="1"/>
              <a:t>int</a:t>
            </a:r>
            <a:r>
              <a:rPr lang="en-US" sz="3200" b="1" dirty="0"/>
              <a:t> </a:t>
            </a:r>
            <a:r>
              <a:rPr lang="en-US" sz="3200" b="1" dirty="0" err="1"/>
              <a:t>lastIndexOf</a:t>
            </a:r>
            <a:r>
              <a:rPr lang="en-US" sz="3200" b="1" dirty="0"/>
              <a:t>(</a:t>
            </a:r>
            <a:r>
              <a:rPr lang="en-US" sz="3200" b="1" dirty="0" err="1"/>
              <a:t>int</a:t>
            </a:r>
            <a:r>
              <a:rPr lang="en-US" sz="3200" b="1" dirty="0"/>
              <a:t> </a:t>
            </a:r>
            <a:r>
              <a:rPr lang="en-US" sz="3200" b="1" dirty="0" err="1"/>
              <a:t>ch</a:t>
            </a:r>
            <a:r>
              <a:rPr lang="en-US" sz="3200" b="1" dirty="0"/>
              <a:t>, </a:t>
            </a:r>
            <a:r>
              <a:rPr lang="en-US" sz="3200" b="1" dirty="0" err="1"/>
              <a:t>int</a:t>
            </a:r>
            <a:r>
              <a:rPr lang="en-US" sz="3200" b="1" dirty="0"/>
              <a:t> </a:t>
            </a:r>
            <a:r>
              <a:rPr lang="en-US" sz="3200" b="1" dirty="0" err="1"/>
              <a:t>fromIndex</a:t>
            </a:r>
            <a:r>
              <a:rPr lang="en-US" sz="3200" b="1" dirty="0"/>
              <a:t>)</a:t>
            </a:r>
            <a:r>
              <a:rPr lang="en-US" sz="3200" dirty="0"/>
              <a:t> – Overloaded version of </a:t>
            </a:r>
            <a:r>
              <a:rPr lang="en-US" sz="3200" dirty="0" err="1"/>
              <a:t>lastIndexOf</a:t>
            </a:r>
            <a:r>
              <a:rPr lang="en-US" sz="3200" dirty="0"/>
              <a:t>(</a:t>
            </a:r>
            <a:r>
              <a:rPr lang="en-US" sz="3200" dirty="0" err="1"/>
              <a:t>int</a:t>
            </a:r>
            <a:r>
              <a:rPr lang="en-US" sz="3200" dirty="0"/>
              <a:t> </a:t>
            </a:r>
            <a:r>
              <a:rPr lang="en-US" sz="3200" dirty="0" err="1"/>
              <a:t>ch</a:t>
            </a:r>
            <a:r>
              <a:rPr lang="en-US" sz="3200" dirty="0"/>
              <a:t>) method. It starts searching backward starting at the </a:t>
            </a:r>
            <a:r>
              <a:rPr lang="en-US" sz="3200" dirty="0" err="1"/>
              <a:t>fromIndex</a:t>
            </a:r>
            <a:r>
              <a:rPr lang="en-US" sz="3200" dirty="0"/>
              <a:t>.</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blogName.lastIndexOf</a:t>
            </a:r>
            <a:r>
              <a:rPr lang="en-US" dirty="0"/>
              <a:t>( 'o', 5 );         //4</a:t>
            </a:r>
          </a:p>
          <a:p>
            <a:r>
              <a:rPr lang="en-US" sz="3200" b="1" dirty="0" err="1"/>
              <a:t>int</a:t>
            </a:r>
            <a:r>
              <a:rPr lang="en-US" sz="3200" b="1" dirty="0"/>
              <a:t> </a:t>
            </a:r>
            <a:r>
              <a:rPr lang="en-US" sz="3200" b="1" dirty="0" err="1"/>
              <a:t>lastIndexOf</a:t>
            </a:r>
            <a:r>
              <a:rPr lang="en-US" sz="3200" b="1" dirty="0"/>
              <a:t>(String </a:t>
            </a:r>
            <a:r>
              <a:rPr lang="en-US" sz="3200" b="1" dirty="0" err="1"/>
              <a:t>str</a:t>
            </a:r>
            <a:r>
              <a:rPr lang="en-US" sz="3200" b="1" dirty="0"/>
              <a:t>) </a:t>
            </a:r>
            <a:r>
              <a:rPr lang="en-US" sz="3200" dirty="0"/>
              <a:t>– Returns the index of last occurrence of string '</a:t>
            </a:r>
            <a:r>
              <a:rPr lang="en-US" sz="3200" dirty="0" err="1"/>
              <a:t>str</a:t>
            </a:r>
            <a:r>
              <a:rPr lang="en-US" sz="3200" dirty="0"/>
              <a:t>'. It is similar to </a:t>
            </a:r>
            <a:r>
              <a:rPr lang="en-US" sz="3200" dirty="0" err="1"/>
              <a:t>lastIndexOf</a:t>
            </a:r>
            <a:r>
              <a:rPr lang="en-US" sz="3200" dirty="0"/>
              <a:t>(</a:t>
            </a:r>
            <a:r>
              <a:rPr lang="en-US" sz="3200" dirty="0" err="1"/>
              <a:t>int</a:t>
            </a:r>
            <a:r>
              <a:rPr lang="en-US" sz="3200" dirty="0"/>
              <a:t> </a:t>
            </a:r>
            <a:r>
              <a:rPr lang="en-US" sz="3200" dirty="0" err="1"/>
              <a:t>ch</a:t>
            </a:r>
            <a:r>
              <a:rPr lang="en-US" sz="3200" dirty="0"/>
              <a:t>).</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blogName.lastIndexOf</a:t>
            </a:r>
            <a:r>
              <a:rPr lang="en-US" dirty="0"/>
              <a:t>( "java" );         //9</a:t>
            </a:r>
          </a:p>
          <a:p>
            <a:r>
              <a:rPr lang="en-US" sz="3200" b="1" dirty="0" err="1"/>
              <a:t>int</a:t>
            </a:r>
            <a:r>
              <a:rPr lang="en-US" sz="3200" b="1" dirty="0"/>
              <a:t> </a:t>
            </a:r>
            <a:r>
              <a:rPr lang="en-US" sz="3200" b="1" dirty="0" err="1"/>
              <a:t>lastIndexOf</a:t>
            </a:r>
            <a:r>
              <a:rPr lang="en-US" sz="3200" b="1" dirty="0"/>
              <a:t>(String </a:t>
            </a:r>
            <a:r>
              <a:rPr lang="en-US" sz="3200" b="1" dirty="0" err="1"/>
              <a:t>str</a:t>
            </a:r>
            <a:r>
              <a:rPr lang="en-US" sz="3200" b="1" dirty="0"/>
              <a:t>, </a:t>
            </a:r>
            <a:r>
              <a:rPr lang="en-US" sz="3200" b="1" dirty="0" err="1"/>
              <a:t>int</a:t>
            </a:r>
            <a:r>
              <a:rPr lang="en-US" sz="3200" b="1" dirty="0"/>
              <a:t> </a:t>
            </a:r>
            <a:r>
              <a:rPr lang="en-US" sz="3200" b="1" dirty="0" err="1"/>
              <a:t>fromIndex</a:t>
            </a:r>
            <a:r>
              <a:rPr lang="en-US" sz="3200" b="1" dirty="0"/>
              <a:t>) </a:t>
            </a:r>
            <a:r>
              <a:rPr lang="en-US" sz="3200" dirty="0"/>
              <a:t>– Overloaded version of </a:t>
            </a:r>
            <a:r>
              <a:rPr lang="en-US" sz="3200" dirty="0" err="1"/>
              <a:t>lastIndexOf</a:t>
            </a:r>
            <a:r>
              <a:rPr lang="en-US" sz="3200" dirty="0"/>
              <a:t>(String </a:t>
            </a:r>
            <a:r>
              <a:rPr lang="en-US" sz="3200" dirty="0" err="1"/>
              <a:t>str</a:t>
            </a:r>
            <a:r>
              <a:rPr lang="en-US" sz="3200" dirty="0"/>
              <a:t>) method. It starts searching backward starting at the </a:t>
            </a:r>
            <a:r>
              <a:rPr lang="en-US" sz="3200" dirty="0" err="1"/>
              <a:t>fromIndex</a:t>
            </a:r>
            <a:r>
              <a:rPr lang="en-US" sz="3200" dirty="0"/>
              <a:t>.</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blogName.lastIndexOf</a:t>
            </a:r>
            <a:r>
              <a:rPr lang="en-US" dirty="0"/>
              <a:t>( "java", 6 );          //9</a:t>
            </a:r>
          </a:p>
        </p:txBody>
      </p:sp>
    </p:spTree>
    <p:extLst>
      <p:ext uri="{BB962C8B-B14F-4D97-AF65-F5344CB8AC3E}">
        <p14:creationId xmlns:p14="http://schemas.microsoft.com/office/powerpoint/2010/main" val="1967704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String Methods</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16</a:t>
            </a:fld>
            <a:endParaRPr lang="en-US" dirty="0"/>
          </a:p>
        </p:txBody>
      </p:sp>
      <p:sp>
        <p:nvSpPr>
          <p:cNvPr id="10" name="Content Placeholder 2">
            <a:extLst>
              <a:ext uri="{FF2B5EF4-FFF2-40B4-BE49-F238E27FC236}">
                <a16:creationId xmlns:a16="http://schemas.microsoft.com/office/drawing/2014/main" xmlns="" id="{21309EEA-748E-1B4D-9BA2-2ADAA2FBB16C}"/>
              </a:ext>
            </a:extLst>
          </p:cNvPr>
          <p:cNvSpPr txBox="1">
            <a:spLocks/>
          </p:cNvSpPr>
          <p:nvPr/>
        </p:nvSpPr>
        <p:spPr>
          <a:xfrm>
            <a:off x="609601" y="1030514"/>
            <a:ext cx="11248570" cy="531712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t>String substring(</a:t>
            </a:r>
            <a:r>
              <a:rPr lang="en-US" sz="3200" b="1" dirty="0" err="1"/>
              <a:t>int</a:t>
            </a:r>
            <a:r>
              <a:rPr lang="en-US" sz="3200" b="1" dirty="0"/>
              <a:t> </a:t>
            </a:r>
            <a:r>
              <a:rPr lang="en-US" sz="3200" b="1" dirty="0" err="1"/>
              <a:t>beginIndex</a:t>
            </a:r>
            <a:r>
              <a:rPr lang="en-US" sz="3200" b="1" dirty="0"/>
              <a:t>)</a:t>
            </a:r>
            <a:r>
              <a:rPr lang="en-US" sz="3200" dirty="0"/>
              <a:t> – Returns the substring of the string. The substring starts with the character at the specified index.</a:t>
            </a:r>
          </a:p>
          <a:p>
            <a:pPr marL="457200" lvl="1" indent="0">
              <a:buNone/>
            </a:pPr>
            <a:r>
              <a:rPr lang="en-US" dirty="0"/>
              <a:t>String </a:t>
            </a:r>
            <a:r>
              <a:rPr lang="en-US" dirty="0" err="1"/>
              <a:t>blogName</a:t>
            </a:r>
            <a:r>
              <a:rPr lang="en-US" dirty="0"/>
              <a:t> = "</a:t>
            </a:r>
            <a:r>
              <a:rPr lang="en-US" dirty="0" err="1"/>
              <a:t>howtodoinjava.com</a:t>
            </a:r>
            <a:r>
              <a:rPr lang="en-US" dirty="0"/>
              <a:t>";</a:t>
            </a:r>
          </a:p>
          <a:p>
            <a:pPr marL="457200" lvl="1" indent="0">
              <a:buNone/>
            </a:pPr>
            <a:r>
              <a:rPr lang="en-US" dirty="0" err="1" smtClean="0"/>
              <a:t>blogName.substring</a:t>
            </a:r>
            <a:r>
              <a:rPr lang="en-US" dirty="0"/>
              <a:t>( 7 );        //</a:t>
            </a:r>
            <a:r>
              <a:rPr lang="en-US" dirty="0" err="1"/>
              <a:t>injava.com</a:t>
            </a:r>
            <a:endParaRPr lang="en-US" dirty="0"/>
          </a:p>
          <a:p>
            <a:r>
              <a:rPr lang="en-US" sz="3200" b="1" dirty="0"/>
              <a:t>String substring(</a:t>
            </a:r>
            <a:r>
              <a:rPr lang="en-US" sz="3200" b="1" dirty="0" err="1"/>
              <a:t>int</a:t>
            </a:r>
            <a:r>
              <a:rPr lang="en-US" sz="3200" b="1" dirty="0"/>
              <a:t> </a:t>
            </a:r>
            <a:r>
              <a:rPr lang="en-US" sz="3200" b="1" dirty="0" err="1"/>
              <a:t>beginIndex</a:t>
            </a:r>
            <a:r>
              <a:rPr lang="en-US" sz="3200" b="1" dirty="0"/>
              <a:t>, </a:t>
            </a:r>
            <a:r>
              <a:rPr lang="en-US" sz="3200" b="1" dirty="0" err="1"/>
              <a:t>int</a:t>
            </a:r>
            <a:r>
              <a:rPr lang="en-US" sz="3200" b="1" dirty="0"/>
              <a:t> </a:t>
            </a:r>
            <a:r>
              <a:rPr lang="en-US" sz="3200" b="1" dirty="0" err="1"/>
              <a:t>endIndex</a:t>
            </a:r>
            <a:r>
              <a:rPr lang="en-US" sz="3200" b="1" dirty="0"/>
              <a:t>)</a:t>
            </a:r>
            <a:r>
              <a:rPr lang="en-US" sz="3200" dirty="0"/>
              <a:t> – Returns the substring. The substring starts with character at </a:t>
            </a:r>
            <a:r>
              <a:rPr lang="en-US" sz="3200" dirty="0" err="1"/>
              <a:t>beginIndex</a:t>
            </a:r>
            <a:r>
              <a:rPr lang="en-US" sz="3200" dirty="0"/>
              <a:t> and ends with the character at </a:t>
            </a:r>
            <a:r>
              <a:rPr lang="en-US" sz="3200" dirty="0" err="1"/>
              <a:t>endIndex</a:t>
            </a:r>
            <a:r>
              <a:rPr lang="en-US" sz="3200" dirty="0"/>
              <a:t>.</a:t>
            </a:r>
          </a:p>
          <a:p>
            <a:pPr marL="457200" lvl="1" indent="0">
              <a:buNone/>
            </a:pPr>
            <a:r>
              <a:rPr lang="en-US" dirty="0"/>
              <a:t>String </a:t>
            </a:r>
            <a:r>
              <a:rPr lang="en-US" dirty="0" err="1"/>
              <a:t>blogName</a:t>
            </a:r>
            <a:r>
              <a:rPr lang="en-US" dirty="0"/>
              <a:t> = "</a:t>
            </a:r>
            <a:r>
              <a:rPr lang="en-US" dirty="0" err="1"/>
              <a:t>howtodoinjava.com</a:t>
            </a:r>
            <a:r>
              <a:rPr lang="en-US" dirty="0" smtClean="0"/>
              <a:t>"; </a:t>
            </a:r>
            <a:endParaRPr lang="en-US" dirty="0"/>
          </a:p>
          <a:p>
            <a:pPr marL="457200" lvl="1" indent="0">
              <a:buNone/>
            </a:pPr>
            <a:r>
              <a:rPr lang="en-US" dirty="0" err="1"/>
              <a:t>blogName.substring</a:t>
            </a:r>
            <a:r>
              <a:rPr lang="en-US" dirty="0"/>
              <a:t>( 7, 9 );     //in</a:t>
            </a:r>
          </a:p>
          <a:p>
            <a:r>
              <a:rPr lang="en-US" sz="3200" b="1" dirty="0"/>
              <a:t>String </a:t>
            </a:r>
            <a:r>
              <a:rPr lang="en-US" sz="3200" b="1" dirty="0" err="1"/>
              <a:t>concat</a:t>
            </a:r>
            <a:r>
              <a:rPr lang="en-US" sz="3200" b="1" dirty="0"/>
              <a:t>(String </a:t>
            </a:r>
            <a:r>
              <a:rPr lang="en-US" sz="3200" b="1" dirty="0" err="1"/>
              <a:t>str</a:t>
            </a:r>
            <a:r>
              <a:rPr lang="en-US" sz="3200" b="1" dirty="0"/>
              <a:t>)</a:t>
            </a:r>
            <a:r>
              <a:rPr lang="en-US" sz="3200" dirty="0"/>
              <a:t> – Concatenates the specified string argument at the end of the string.</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blogName.concat</a:t>
            </a:r>
            <a:r>
              <a:rPr lang="en-US" dirty="0"/>
              <a:t>( " Hello Visitor !!" );     //</a:t>
            </a:r>
            <a:r>
              <a:rPr lang="en-US" dirty="0" err="1"/>
              <a:t>howtodoinjava.com</a:t>
            </a:r>
            <a:r>
              <a:rPr lang="en-US" dirty="0"/>
              <a:t> Hello Visitor !!</a:t>
            </a:r>
          </a:p>
        </p:txBody>
      </p:sp>
    </p:spTree>
    <p:extLst>
      <p:ext uri="{BB962C8B-B14F-4D97-AF65-F5344CB8AC3E}">
        <p14:creationId xmlns:p14="http://schemas.microsoft.com/office/powerpoint/2010/main" val="2521989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String Methods</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17</a:t>
            </a:fld>
            <a:endParaRPr lang="en-US" dirty="0"/>
          </a:p>
        </p:txBody>
      </p:sp>
      <p:sp>
        <p:nvSpPr>
          <p:cNvPr id="10" name="Content Placeholder 2">
            <a:extLst>
              <a:ext uri="{FF2B5EF4-FFF2-40B4-BE49-F238E27FC236}">
                <a16:creationId xmlns:a16="http://schemas.microsoft.com/office/drawing/2014/main" xmlns="" id="{21309EEA-748E-1B4D-9BA2-2ADAA2FBB16C}"/>
              </a:ext>
            </a:extLst>
          </p:cNvPr>
          <p:cNvSpPr txBox="1">
            <a:spLocks/>
          </p:cNvSpPr>
          <p:nvPr/>
        </p:nvSpPr>
        <p:spPr>
          <a:xfrm>
            <a:off x="609601" y="1030514"/>
            <a:ext cx="11248570" cy="531712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t>String replace(char </a:t>
            </a:r>
            <a:r>
              <a:rPr lang="en-US" sz="3200" b="1" dirty="0" err="1"/>
              <a:t>oldChar</a:t>
            </a:r>
            <a:r>
              <a:rPr lang="en-US" sz="3200" b="1" dirty="0"/>
              <a:t>, char </a:t>
            </a:r>
            <a:r>
              <a:rPr lang="en-US" sz="3200" b="1" dirty="0" err="1"/>
              <a:t>newChar</a:t>
            </a:r>
            <a:r>
              <a:rPr lang="en-US" sz="3200" b="1" dirty="0"/>
              <a:t>)</a:t>
            </a:r>
            <a:r>
              <a:rPr lang="en-US" sz="3200" dirty="0"/>
              <a:t> – Returns the new updated string after changing all the occurrences of </a:t>
            </a:r>
            <a:r>
              <a:rPr lang="en-US" sz="3200" dirty="0" err="1"/>
              <a:t>oldChar</a:t>
            </a:r>
            <a:r>
              <a:rPr lang="en-US" sz="3200" dirty="0"/>
              <a:t> with the </a:t>
            </a:r>
            <a:r>
              <a:rPr lang="en-US" sz="3200" dirty="0" err="1"/>
              <a:t>newChar</a:t>
            </a:r>
            <a:r>
              <a:rPr lang="en-US" sz="3200" dirty="0"/>
              <a:t> arguments.</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blogName.replace</a:t>
            </a:r>
            <a:r>
              <a:rPr lang="en-US" dirty="0"/>
              <a:t>( 'o', 'O' );       //</a:t>
            </a:r>
            <a:r>
              <a:rPr lang="en-US" dirty="0" err="1"/>
              <a:t>hOwtOdOinjava.cOm</a:t>
            </a:r>
            <a:endParaRPr lang="en-US" dirty="0"/>
          </a:p>
          <a:p>
            <a:r>
              <a:rPr lang="en-US" sz="3200" b="1" dirty="0"/>
              <a:t>String replace(String target, String replacement) </a:t>
            </a:r>
            <a:r>
              <a:rPr lang="en-US" sz="3200" dirty="0"/>
              <a:t>– Returns the new updated string after changing all the occurrences of target with the replacement argument.</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blogName.replace</a:t>
            </a:r>
            <a:r>
              <a:rPr lang="en-US" dirty="0"/>
              <a:t>( "com", "COM" );       //</a:t>
            </a:r>
            <a:r>
              <a:rPr lang="en-US" dirty="0" err="1"/>
              <a:t>howtodoinjava.COM</a:t>
            </a:r>
            <a:endParaRPr lang="en-US" dirty="0"/>
          </a:p>
          <a:p>
            <a:r>
              <a:rPr lang="en-US" sz="3200" b="1" dirty="0"/>
              <a:t>String </a:t>
            </a:r>
            <a:r>
              <a:rPr lang="en-US" sz="3200" b="1" dirty="0" err="1"/>
              <a:t>replaceFirst</a:t>
            </a:r>
            <a:r>
              <a:rPr lang="en-US" sz="3200" b="1" dirty="0"/>
              <a:t>(String regex, String replacement) </a:t>
            </a:r>
            <a:r>
              <a:rPr lang="en-US" sz="3200" dirty="0"/>
              <a:t>– Replaces the first occurrence of substring that matches the given regular expression argument with the specified replacement string.</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blogName.replaceFirst</a:t>
            </a:r>
            <a:r>
              <a:rPr lang="en-US" dirty="0"/>
              <a:t>("how", "HOW");        //</a:t>
            </a:r>
            <a:r>
              <a:rPr lang="en-US" dirty="0" err="1"/>
              <a:t>HOWtodoinjava.com</a:t>
            </a:r>
            <a:endParaRPr lang="en-US" dirty="0"/>
          </a:p>
          <a:p>
            <a:r>
              <a:rPr lang="en-US" sz="3200" b="1" dirty="0"/>
              <a:t>String </a:t>
            </a:r>
            <a:r>
              <a:rPr lang="en-US" sz="3200" b="1" dirty="0" err="1"/>
              <a:t>replaceAll</a:t>
            </a:r>
            <a:r>
              <a:rPr lang="en-US" sz="3200" b="1" dirty="0"/>
              <a:t>(String regex, String replacement) </a:t>
            </a:r>
            <a:r>
              <a:rPr lang="en-US" sz="3200" dirty="0"/>
              <a:t>– Replaces all the occurrences of substrings that matches the regular expression argument with the replacement string.</a:t>
            </a:r>
            <a:endParaRPr lang="en-US" dirty="0"/>
          </a:p>
        </p:txBody>
      </p:sp>
    </p:spTree>
    <p:extLst>
      <p:ext uri="{BB962C8B-B14F-4D97-AF65-F5344CB8AC3E}">
        <p14:creationId xmlns:p14="http://schemas.microsoft.com/office/powerpoint/2010/main" val="1546652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String Methods</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18</a:t>
            </a:fld>
            <a:endParaRPr lang="en-US" dirty="0"/>
          </a:p>
        </p:txBody>
      </p:sp>
      <p:sp>
        <p:nvSpPr>
          <p:cNvPr id="10" name="Content Placeholder 2">
            <a:extLst>
              <a:ext uri="{FF2B5EF4-FFF2-40B4-BE49-F238E27FC236}">
                <a16:creationId xmlns:a16="http://schemas.microsoft.com/office/drawing/2014/main" xmlns="" id="{21309EEA-748E-1B4D-9BA2-2ADAA2FBB16C}"/>
              </a:ext>
            </a:extLst>
          </p:cNvPr>
          <p:cNvSpPr txBox="1">
            <a:spLocks/>
          </p:cNvSpPr>
          <p:nvPr/>
        </p:nvSpPr>
        <p:spPr>
          <a:xfrm>
            <a:off x="609601" y="1030514"/>
            <a:ext cx="11248570" cy="531712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t>String[] split(String regex, </a:t>
            </a:r>
            <a:r>
              <a:rPr lang="en-US" sz="3200" b="1" dirty="0" err="1"/>
              <a:t>int</a:t>
            </a:r>
            <a:r>
              <a:rPr lang="en-US" sz="3200" b="1" dirty="0"/>
              <a:t> limit)</a:t>
            </a:r>
            <a:r>
              <a:rPr lang="en-US" sz="3200" dirty="0"/>
              <a:t> – Splits the string and returns the array of sub-strings that matches the given regular expression. 'limit' is a maximum number of elements in array.</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blogName.split</a:t>
            </a:r>
            <a:r>
              <a:rPr lang="en-US" dirty="0"/>
              <a:t>("o", 3);     //[h, </a:t>
            </a:r>
            <a:r>
              <a:rPr lang="en-US" dirty="0" err="1"/>
              <a:t>wt</a:t>
            </a:r>
            <a:r>
              <a:rPr lang="en-US" dirty="0"/>
              <a:t>, </a:t>
            </a:r>
            <a:r>
              <a:rPr lang="en-US" dirty="0" err="1"/>
              <a:t>doinjava.com</a:t>
            </a:r>
            <a:r>
              <a:rPr lang="en-US" dirty="0"/>
              <a:t>]</a:t>
            </a:r>
          </a:p>
          <a:p>
            <a:r>
              <a:rPr lang="en-US" sz="3200" b="1" dirty="0"/>
              <a:t>String[] split(String regex) </a:t>
            </a:r>
            <a:r>
              <a:rPr lang="en-US" sz="3200" dirty="0"/>
              <a:t>– Overload of previous method without any threshold limit.</a:t>
            </a:r>
          </a:p>
          <a:p>
            <a:r>
              <a:rPr lang="en-US" sz="3200" b="1" dirty="0" err="1"/>
              <a:t>boolean</a:t>
            </a:r>
            <a:r>
              <a:rPr lang="en-US" sz="3200" b="1" dirty="0"/>
              <a:t> contains(</a:t>
            </a:r>
            <a:r>
              <a:rPr lang="en-US" sz="3200" b="1" dirty="0" err="1"/>
              <a:t>CharSequence</a:t>
            </a:r>
            <a:r>
              <a:rPr lang="en-US" sz="3200" b="1" dirty="0"/>
              <a:t> s)</a:t>
            </a:r>
            <a:r>
              <a:rPr lang="en-US" sz="3200" dirty="0"/>
              <a:t> – Checks whether the string contains the specified sequence of char values. If yes then it returns true else false. It throws </a:t>
            </a:r>
            <a:r>
              <a:rPr lang="en-US" sz="3200" dirty="0" err="1"/>
              <a:t>NullPointerException</a:t>
            </a:r>
            <a:r>
              <a:rPr lang="en-US" sz="3200" dirty="0"/>
              <a:t> if argument is null.</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blogName.contains</a:t>
            </a:r>
            <a:r>
              <a:rPr lang="en-US" dirty="0"/>
              <a:t>( "java" );        //true</a:t>
            </a:r>
          </a:p>
          <a:p>
            <a:pPr marL="457200" lvl="1" indent="0">
              <a:buNone/>
            </a:pPr>
            <a:r>
              <a:rPr lang="en-US" dirty="0" err="1"/>
              <a:t>blogName.contains</a:t>
            </a:r>
            <a:r>
              <a:rPr lang="en-US" dirty="0"/>
              <a:t>( "python" );      //false</a:t>
            </a:r>
          </a:p>
        </p:txBody>
      </p:sp>
    </p:spTree>
    <p:extLst>
      <p:ext uri="{BB962C8B-B14F-4D97-AF65-F5344CB8AC3E}">
        <p14:creationId xmlns:p14="http://schemas.microsoft.com/office/powerpoint/2010/main" val="1839641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String Methods</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19</a:t>
            </a:fld>
            <a:endParaRPr lang="en-US" dirty="0"/>
          </a:p>
        </p:txBody>
      </p:sp>
      <p:sp>
        <p:nvSpPr>
          <p:cNvPr id="10" name="Content Placeholder 2">
            <a:extLst>
              <a:ext uri="{FF2B5EF4-FFF2-40B4-BE49-F238E27FC236}">
                <a16:creationId xmlns:a16="http://schemas.microsoft.com/office/drawing/2014/main" xmlns="" id="{21309EEA-748E-1B4D-9BA2-2ADAA2FBB16C}"/>
              </a:ext>
            </a:extLst>
          </p:cNvPr>
          <p:cNvSpPr txBox="1">
            <a:spLocks/>
          </p:cNvSpPr>
          <p:nvPr/>
        </p:nvSpPr>
        <p:spPr>
          <a:xfrm>
            <a:off x="609601" y="1030514"/>
            <a:ext cx="11248570" cy="5317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t>String </a:t>
            </a:r>
            <a:r>
              <a:rPr lang="en-US" sz="3200" b="1" dirty="0" err="1"/>
              <a:t>toUpperCase</a:t>
            </a:r>
            <a:r>
              <a:rPr lang="en-US" sz="3200" b="1" dirty="0"/>
              <a:t>(Locale locale) </a:t>
            </a:r>
            <a:r>
              <a:rPr lang="en-US" sz="3200" dirty="0"/>
              <a:t>– Converts the string to upper case string using the rules defined by specified locale.</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blogName.toUpperCase</a:t>
            </a:r>
            <a:r>
              <a:rPr lang="en-US" dirty="0"/>
              <a:t>( </a:t>
            </a:r>
            <a:r>
              <a:rPr lang="en-US" dirty="0" err="1"/>
              <a:t>Locale.getDefault</a:t>
            </a:r>
            <a:r>
              <a:rPr lang="en-US" dirty="0"/>
              <a:t>() );        //</a:t>
            </a:r>
            <a:r>
              <a:rPr lang="en-US" dirty="0" err="1"/>
              <a:t>HOWTODOINJAVA.COM</a:t>
            </a:r>
            <a:endParaRPr lang="en-US" dirty="0"/>
          </a:p>
          <a:p>
            <a:r>
              <a:rPr lang="en-US" sz="3200" b="1" dirty="0"/>
              <a:t>String </a:t>
            </a:r>
            <a:r>
              <a:rPr lang="en-US" sz="3200" b="1" dirty="0" err="1"/>
              <a:t>toUpperCase</a:t>
            </a:r>
            <a:r>
              <a:rPr lang="en-US" sz="3200" b="1" dirty="0"/>
              <a:t>()</a:t>
            </a:r>
            <a:r>
              <a:rPr lang="en-US" sz="3200" dirty="0"/>
              <a:t> – Overloaded version of previous </a:t>
            </a:r>
            <a:r>
              <a:rPr lang="en-US" sz="3200" dirty="0" err="1"/>
              <a:t>toUpperCase</a:t>
            </a:r>
            <a:r>
              <a:rPr lang="en-US" sz="3200" dirty="0"/>
              <a:t>() method with default locale.</a:t>
            </a:r>
          </a:p>
          <a:p>
            <a:r>
              <a:rPr lang="en-US" sz="3200" b="1" dirty="0"/>
              <a:t>String </a:t>
            </a:r>
            <a:r>
              <a:rPr lang="en-US" sz="3200" b="1" dirty="0" err="1"/>
              <a:t>toLowerCase</a:t>
            </a:r>
            <a:r>
              <a:rPr lang="en-US" sz="3200" b="1" dirty="0"/>
              <a:t>(Locale locale) </a:t>
            </a:r>
            <a:r>
              <a:rPr lang="en-US" sz="3200" dirty="0"/>
              <a:t>– Converts the string to lower case string using the rules defined by given locale.</a:t>
            </a:r>
          </a:p>
          <a:p>
            <a:r>
              <a:rPr lang="en-US" sz="3200" b="1" dirty="0"/>
              <a:t>String </a:t>
            </a:r>
            <a:r>
              <a:rPr lang="en-US" sz="3200" b="1" dirty="0" err="1"/>
              <a:t>toLowerCase</a:t>
            </a:r>
            <a:r>
              <a:rPr lang="en-US" sz="3200" b="1" dirty="0"/>
              <a:t>() </a:t>
            </a:r>
            <a:r>
              <a:rPr lang="en-US" sz="3200" dirty="0"/>
              <a:t>– Overloaded version of previous method with default locale</a:t>
            </a:r>
            <a:r>
              <a:rPr lang="en-US" sz="3200" dirty="0" smtClean="0"/>
              <a:t>.</a:t>
            </a:r>
            <a:endParaRPr lang="en-US" sz="3200" dirty="0"/>
          </a:p>
        </p:txBody>
      </p:sp>
    </p:spTree>
    <p:extLst>
      <p:ext uri="{BB962C8B-B14F-4D97-AF65-F5344CB8AC3E}">
        <p14:creationId xmlns:p14="http://schemas.microsoft.com/office/powerpoint/2010/main" val="1833442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a:t>Java String Methods</a:t>
            </a:r>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20</a:t>
            </a:fld>
            <a:endParaRPr lang="en-US" dirty="0"/>
          </a:p>
        </p:txBody>
      </p:sp>
      <p:sp>
        <p:nvSpPr>
          <p:cNvPr id="10" name="Content Placeholder 2">
            <a:extLst>
              <a:ext uri="{FF2B5EF4-FFF2-40B4-BE49-F238E27FC236}">
                <a16:creationId xmlns:a16="http://schemas.microsoft.com/office/drawing/2014/main" xmlns="" id="{21309EEA-748E-1B4D-9BA2-2ADAA2FBB16C}"/>
              </a:ext>
            </a:extLst>
          </p:cNvPr>
          <p:cNvSpPr txBox="1">
            <a:spLocks/>
          </p:cNvSpPr>
          <p:nvPr/>
        </p:nvSpPr>
        <p:spPr>
          <a:xfrm>
            <a:off x="609601" y="1030514"/>
            <a:ext cx="11248570" cy="531712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err="1"/>
              <a:t>boolean</a:t>
            </a:r>
            <a:r>
              <a:rPr lang="en-US" sz="3200" b="1" dirty="0"/>
              <a:t> </a:t>
            </a:r>
            <a:r>
              <a:rPr lang="en-US" sz="3200" b="1" dirty="0" err="1"/>
              <a:t>isEmpty</a:t>
            </a:r>
            <a:r>
              <a:rPr lang="en-US" sz="3200" b="1" dirty="0"/>
              <a:t>()</a:t>
            </a:r>
            <a:r>
              <a:rPr lang="en-US" sz="3200" dirty="0"/>
              <a:t> – Returns true if the given string has 0 length else returns false.</a:t>
            </a:r>
          </a:p>
          <a:p>
            <a:pPr marL="457200" lvl="1" indent="0">
              <a:buNone/>
            </a:pPr>
            <a:r>
              <a:rPr lang="en-US" dirty="0"/>
              <a:t>String </a:t>
            </a:r>
            <a:r>
              <a:rPr lang="en-US" dirty="0" err="1"/>
              <a:t>blogName</a:t>
            </a:r>
            <a:r>
              <a:rPr lang="en-US" dirty="0"/>
              <a:t> = "</a:t>
            </a:r>
            <a:r>
              <a:rPr lang="en-US" dirty="0" err="1"/>
              <a:t>howtodoinjava.com</a:t>
            </a:r>
            <a:r>
              <a:rPr lang="en-US" dirty="0" smtClean="0"/>
              <a:t>";</a:t>
            </a:r>
            <a:endParaRPr lang="en-US" dirty="0"/>
          </a:p>
          <a:p>
            <a:pPr marL="457200" lvl="1" indent="0">
              <a:buNone/>
            </a:pPr>
            <a:r>
              <a:rPr lang="en-US" dirty="0" err="1"/>
              <a:t>blogName.isEmpty</a:t>
            </a:r>
            <a:r>
              <a:rPr lang="en-US" dirty="0"/>
              <a:t>();     //false</a:t>
            </a:r>
          </a:p>
          <a:p>
            <a:pPr marL="457200" lvl="1" indent="0">
              <a:buNone/>
            </a:pPr>
            <a:r>
              <a:rPr lang="en-US" dirty="0"/>
              <a:t>"".</a:t>
            </a:r>
            <a:r>
              <a:rPr lang="en-US" dirty="0" err="1"/>
              <a:t>isEmpty</a:t>
            </a:r>
            <a:r>
              <a:rPr lang="en-US" dirty="0"/>
              <a:t>();           //true</a:t>
            </a:r>
          </a:p>
          <a:p>
            <a:r>
              <a:rPr lang="en-US" sz="3200" b="1" dirty="0"/>
              <a:t>static String join() </a:t>
            </a:r>
            <a:r>
              <a:rPr lang="en-US" sz="3200" dirty="0"/>
              <a:t>– Joins the given strings using the specified delimiter and returns the concatenated Java String literal.</a:t>
            </a:r>
          </a:p>
          <a:p>
            <a:pPr marL="457200" lvl="1" indent="0">
              <a:buNone/>
            </a:pPr>
            <a:r>
              <a:rPr lang="en-US" dirty="0" err="1"/>
              <a:t>String.join</a:t>
            </a:r>
            <a:r>
              <a:rPr lang="en-US" dirty="0"/>
              <a:t>("-", "</a:t>
            </a:r>
            <a:r>
              <a:rPr lang="en-US" dirty="0" err="1"/>
              <a:t>how","to</a:t>
            </a:r>
            <a:r>
              <a:rPr lang="en-US" dirty="0"/>
              <a:t>", "do", "in", "java")        //how-to-do-in-java</a:t>
            </a:r>
          </a:p>
          <a:p>
            <a:r>
              <a:rPr lang="en-US" sz="3200" b="1" dirty="0" smtClean="0"/>
              <a:t>String </a:t>
            </a:r>
            <a:r>
              <a:rPr lang="en-US" sz="3200" b="1" dirty="0"/>
              <a:t>trim()</a:t>
            </a:r>
            <a:r>
              <a:rPr lang="en-US" sz="3200" dirty="0"/>
              <a:t> – Removes leading and trailing white spaces from the Java string.</a:t>
            </a:r>
          </a:p>
          <a:p>
            <a:r>
              <a:rPr lang="en-US" sz="3200" b="1" dirty="0"/>
              <a:t>char[] </a:t>
            </a:r>
            <a:r>
              <a:rPr lang="en-US" sz="3200" b="1" dirty="0" err="1"/>
              <a:t>toCharArray</a:t>
            </a:r>
            <a:r>
              <a:rPr lang="en-US" sz="3200" b="1" dirty="0"/>
              <a:t>() </a:t>
            </a:r>
            <a:r>
              <a:rPr lang="en-US" sz="3200" dirty="0"/>
              <a:t>– Converts the string to a character array.</a:t>
            </a:r>
          </a:p>
          <a:p>
            <a:r>
              <a:rPr lang="en-US" sz="3200" b="1" dirty="0"/>
              <a:t>static String </a:t>
            </a:r>
            <a:r>
              <a:rPr lang="en-US" sz="3200" b="1" dirty="0" err="1"/>
              <a:t>copyValueOf</a:t>
            </a:r>
            <a:r>
              <a:rPr lang="en-US" sz="3200" b="1" dirty="0"/>
              <a:t>(char[] data)</a:t>
            </a:r>
            <a:r>
              <a:rPr lang="en-US" sz="3200" dirty="0"/>
              <a:t> – Returns a string that contains the characters of the specified character array.</a:t>
            </a:r>
          </a:p>
          <a:p>
            <a:pPr marL="457200" lvl="1" indent="0">
              <a:buNone/>
            </a:pPr>
            <a:r>
              <a:rPr lang="en-US" dirty="0"/>
              <a:t>char[] chars = new char[] {'</a:t>
            </a:r>
            <a:r>
              <a:rPr lang="en-US" dirty="0" err="1"/>
              <a:t>h','o','w</a:t>
            </a:r>
            <a:r>
              <a:rPr lang="en-US" dirty="0" smtClean="0"/>
              <a:t>'};</a:t>
            </a:r>
            <a:endParaRPr lang="en-US" dirty="0"/>
          </a:p>
          <a:p>
            <a:pPr marL="457200" lvl="1" indent="0">
              <a:buNone/>
            </a:pPr>
            <a:r>
              <a:rPr lang="en-US" dirty="0" err="1"/>
              <a:t>String.copyValueOf</a:t>
            </a:r>
            <a:r>
              <a:rPr lang="en-US" dirty="0"/>
              <a:t>(chars);      //how</a:t>
            </a:r>
          </a:p>
        </p:txBody>
      </p:sp>
    </p:spTree>
    <p:extLst>
      <p:ext uri="{BB962C8B-B14F-4D97-AF65-F5344CB8AC3E}">
        <p14:creationId xmlns:p14="http://schemas.microsoft.com/office/powerpoint/2010/main" val="2135053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26F5C-4F30-CE40-A40F-5A13C8C2C1EF}"/>
              </a:ext>
            </a:extLst>
          </p:cNvPr>
          <p:cNvSpPr>
            <a:spLocks noGrp="1"/>
          </p:cNvSpPr>
          <p:nvPr>
            <p:ph type="title"/>
          </p:nvPr>
        </p:nvSpPr>
        <p:spPr/>
        <p:txBody>
          <a:bodyPr>
            <a:normAutofit/>
          </a:bodyPr>
          <a:lstStyle/>
          <a:p>
            <a:r>
              <a:rPr lang="en-US" sz="3200" dirty="0" smtClean="0"/>
              <a:t>References</a:t>
            </a:r>
            <a:endParaRPr lang="en-US" sz="3200" dirty="0"/>
          </a:p>
        </p:txBody>
      </p:sp>
      <p:sp>
        <p:nvSpPr>
          <p:cNvPr id="3" name="Content Placeholder 2">
            <a:extLst>
              <a:ext uri="{FF2B5EF4-FFF2-40B4-BE49-F238E27FC236}">
                <a16:creationId xmlns:a16="http://schemas.microsoft.com/office/drawing/2014/main" xmlns="" id="{21309EEA-748E-1B4D-9BA2-2ADAA2FBB16C}"/>
              </a:ext>
            </a:extLst>
          </p:cNvPr>
          <p:cNvSpPr>
            <a:spLocks noGrp="1"/>
          </p:cNvSpPr>
          <p:nvPr>
            <p:ph idx="1"/>
          </p:nvPr>
        </p:nvSpPr>
        <p:spPr/>
        <p:txBody>
          <a:bodyPr>
            <a:normAutofit/>
          </a:bodyPr>
          <a:lstStyle/>
          <a:p>
            <a:r>
              <a:rPr lang="en-US" dirty="0">
                <a:hlinkClick r:id="rId2"/>
              </a:rPr>
              <a:t>https://</a:t>
            </a:r>
            <a:r>
              <a:rPr lang="en-US" dirty="0" err="1">
                <a:hlinkClick r:id="rId2"/>
              </a:rPr>
              <a:t>www.geeksforgeeks.org</a:t>
            </a:r>
            <a:r>
              <a:rPr lang="en-US" dirty="0">
                <a:hlinkClick r:id="rId2"/>
              </a:rPr>
              <a:t>/strings-in-java</a:t>
            </a:r>
            <a:r>
              <a:rPr lang="en-US" dirty="0" smtClean="0">
                <a:hlinkClick r:id="rId2"/>
              </a:rPr>
              <a:t>/</a:t>
            </a:r>
            <a:endParaRPr lang="en-US" dirty="0" smtClean="0"/>
          </a:p>
          <a:p>
            <a:r>
              <a:rPr lang="en-US" dirty="0">
                <a:hlinkClick r:id="rId3"/>
              </a:rPr>
              <a:t>https://</a:t>
            </a:r>
            <a:r>
              <a:rPr lang="en-US" dirty="0" err="1" smtClean="0">
                <a:hlinkClick r:id="rId3"/>
              </a:rPr>
              <a:t>www.w3schools.com</a:t>
            </a:r>
            <a:r>
              <a:rPr lang="en-US" dirty="0" smtClean="0">
                <a:hlinkClick r:id="rId3"/>
              </a:rPr>
              <a:t>/java/</a:t>
            </a:r>
            <a:r>
              <a:rPr lang="en-US" dirty="0" err="1" smtClean="0">
                <a:hlinkClick r:id="rId3"/>
              </a:rPr>
              <a:t>java_strings.asp</a:t>
            </a:r>
            <a:endParaRPr lang="en-US" dirty="0" smtClean="0"/>
          </a:p>
          <a:p>
            <a:r>
              <a:rPr lang="en-US" dirty="0">
                <a:hlinkClick r:id="rId4"/>
              </a:rPr>
              <a:t>https://</a:t>
            </a:r>
            <a:r>
              <a:rPr lang="en-US" dirty="0" err="1" smtClean="0">
                <a:hlinkClick r:id="rId4"/>
              </a:rPr>
              <a:t>www.javatpoint.com</a:t>
            </a:r>
            <a:r>
              <a:rPr lang="en-US" dirty="0" smtClean="0">
                <a:hlinkClick r:id="rId4"/>
              </a:rPr>
              <a:t>/java-string</a:t>
            </a:r>
            <a:endParaRPr lang="en-US" dirty="0" smtClean="0"/>
          </a:p>
          <a:p>
            <a:r>
              <a:rPr lang="en-US" dirty="0">
                <a:hlinkClick r:id="rId5"/>
              </a:rPr>
              <a:t>https://</a:t>
            </a:r>
            <a:r>
              <a:rPr lang="en-US" dirty="0" err="1">
                <a:hlinkClick r:id="rId5"/>
              </a:rPr>
              <a:t>www.edureka.co</a:t>
            </a:r>
            <a:r>
              <a:rPr lang="en-US" dirty="0">
                <a:hlinkClick r:id="rId5"/>
              </a:rPr>
              <a:t>/blog/java-string</a:t>
            </a:r>
            <a:r>
              <a:rPr lang="en-US" dirty="0" smtClean="0">
                <a:hlinkClick r:id="rId5"/>
              </a:rPr>
              <a:t>/</a:t>
            </a:r>
            <a:endParaRPr lang="en-US" dirty="0" smtClean="0"/>
          </a:p>
          <a:p>
            <a:r>
              <a:rPr lang="en-US" dirty="0">
                <a:hlinkClick r:id="rId6"/>
              </a:rPr>
              <a:t>https://</a:t>
            </a:r>
            <a:r>
              <a:rPr lang="en-US" dirty="0" err="1" smtClean="0">
                <a:hlinkClick r:id="rId6"/>
              </a:rPr>
              <a:t>www.journaldev.com</a:t>
            </a:r>
            <a:r>
              <a:rPr lang="en-US" dirty="0" smtClean="0">
                <a:hlinkClick r:id="rId6"/>
              </a:rPr>
              <a:t>/16928/java-string</a:t>
            </a:r>
            <a:endParaRPr lang="en-US" dirty="0" smtClean="0"/>
          </a:p>
          <a:p>
            <a:r>
              <a:rPr lang="en-US" dirty="0">
                <a:hlinkClick r:id="rId7"/>
              </a:rPr>
              <a:t>https://</a:t>
            </a:r>
            <a:r>
              <a:rPr lang="en-US" dirty="0" err="1">
                <a:hlinkClick r:id="rId7"/>
              </a:rPr>
              <a:t>howtodoinjava.com</a:t>
            </a:r>
            <a:r>
              <a:rPr lang="en-US" dirty="0">
                <a:hlinkClick r:id="rId7"/>
              </a:rPr>
              <a:t>/java-string/</a:t>
            </a:r>
            <a:endParaRPr lang="en-US" dirty="0" smtClean="0"/>
          </a:p>
        </p:txBody>
      </p:sp>
      <p:sp>
        <p:nvSpPr>
          <p:cNvPr id="4" name="Date Placeholder 3">
            <a:extLst>
              <a:ext uri="{FF2B5EF4-FFF2-40B4-BE49-F238E27FC236}">
                <a16:creationId xmlns:a16="http://schemas.microsoft.com/office/drawing/2014/main" xmlns=""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a16="http://schemas.microsoft.com/office/drawing/2014/main" xmlns=""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a16="http://schemas.microsoft.com/office/drawing/2014/main" xmlns="" id="{1CC4D354-512F-CC4A-B39A-EDEC6E17F71C}"/>
              </a:ext>
            </a:extLst>
          </p:cNvPr>
          <p:cNvSpPr>
            <a:spLocks noGrp="1"/>
          </p:cNvSpPr>
          <p:nvPr>
            <p:ph type="sldNum" sz="quarter" idx="12"/>
          </p:nvPr>
        </p:nvSpPr>
        <p:spPr/>
        <p:txBody>
          <a:bodyPr/>
          <a:lstStyle/>
          <a:p>
            <a:fld id="{B9BA5F68-B450-774B-A94B-86322AF8B758}" type="slidenum">
              <a:rPr lang="en-US" smtClean="0"/>
              <a:t>21</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37BB8C-BA62-BC4F-B0F8-D5F9321E2E79}"/>
              </a:ext>
            </a:extLst>
          </p:cNvPr>
          <p:cNvPicPr>
            <a:picLocks noChangeAspect="1"/>
          </p:cNvPicPr>
          <p:nvPr/>
        </p:nvPicPr>
        <p:blipFill>
          <a:blip r:embed="rId2"/>
          <a:stretch>
            <a:fillRect/>
          </a:stretch>
        </p:blipFill>
        <p:spPr>
          <a:xfrm>
            <a:off x="4440837" y="1888320"/>
            <a:ext cx="3310326" cy="3528808"/>
          </a:xfrm>
          <a:prstGeom prst="rect">
            <a:avLst/>
          </a:prstGeom>
        </p:spPr>
      </p:pic>
    </p:spTree>
    <p:extLst>
      <p:ext uri="{BB962C8B-B14F-4D97-AF65-F5344CB8AC3E}">
        <p14:creationId xmlns:p14="http://schemas.microsoft.com/office/powerpoint/2010/main" val="47562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VTCA-Slide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VTCA-SlideTheme" id="{5A24C4A4-58B6-8948-A62B-40090020C92E}" vid="{BD9F6502-1B8F-D14C-8309-CDC4C42FFF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7896</TotalTime>
  <Words>2144</Words>
  <Application>Microsoft Office PowerPoint</Application>
  <PresentationFormat>Custom</PresentationFormat>
  <Paragraphs>315</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VTCA-SlideTheme</vt:lpstr>
      <vt:lpstr>Introduction to Programming</vt:lpstr>
      <vt:lpstr>Objectives</vt:lpstr>
      <vt:lpstr>Java String</vt:lpstr>
      <vt:lpstr>Create a String object</vt:lpstr>
      <vt:lpstr>Create a String object</vt:lpstr>
      <vt:lpstr>Create a String object</vt:lpstr>
      <vt:lpstr>Example </vt:lpstr>
      <vt:lpstr>Methods of String</vt:lpstr>
      <vt:lpstr>Methods of String</vt:lpstr>
      <vt:lpstr>Methods of String</vt:lpstr>
      <vt:lpstr>Java String Methods</vt:lpstr>
      <vt:lpstr>Java String Methods</vt:lpstr>
      <vt:lpstr>Java String Methods</vt:lpstr>
      <vt:lpstr>Java String Methods</vt:lpstr>
      <vt:lpstr>Java String Methods</vt:lpstr>
      <vt:lpstr>Java String Methods</vt:lpstr>
      <vt:lpstr>Java String Methods</vt:lpstr>
      <vt:lpstr>Java String Methods</vt:lpstr>
      <vt:lpstr>Java String Methods</vt:lpstr>
      <vt:lpstr>Java String Methods</vt:lpstr>
      <vt:lpstr>References</vt:lpstr>
      <vt:lpstr>PowerPoint Presentation</vt:lpstr>
    </vt:vector>
  </TitlesOfParts>
  <Company>VTC Academy</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 hình đào tạo đáp ứng nhu cầu doanh nghiệp</dc:title>
  <dc:creator>hieutd@vtc.edu.vn</dc:creator>
  <cp:lastModifiedBy>Vitinh TT2</cp:lastModifiedBy>
  <cp:revision>704</cp:revision>
  <dcterms:created xsi:type="dcterms:W3CDTF">2019-05-17T12:57:33Z</dcterms:created>
  <dcterms:modified xsi:type="dcterms:W3CDTF">2019-11-14T11:43:31Z</dcterms:modified>
</cp:coreProperties>
</file>