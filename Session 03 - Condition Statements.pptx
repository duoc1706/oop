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7" r:id="rId1"/>
  </p:sldMasterIdLst>
  <p:notesMasterIdLst>
    <p:notesMasterId r:id="rId31"/>
  </p:notesMasterIdLst>
  <p:sldIdLst>
    <p:sldId id="282" r:id="rId2"/>
    <p:sldId id="285" r:id="rId3"/>
    <p:sldId id="289" r:id="rId4"/>
    <p:sldId id="297" r:id="rId5"/>
    <p:sldId id="298" r:id="rId6"/>
    <p:sldId id="299" r:id="rId7"/>
    <p:sldId id="300" r:id="rId8"/>
    <p:sldId id="301" r:id="rId9"/>
    <p:sldId id="302" r:id="rId10"/>
    <p:sldId id="306" r:id="rId11"/>
    <p:sldId id="303" r:id="rId12"/>
    <p:sldId id="304" r:id="rId13"/>
    <p:sldId id="305" r:id="rId14"/>
    <p:sldId id="308" r:id="rId15"/>
    <p:sldId id="307" r:id="rId16"/>
    <p:sldId id="310" r:id="rId17"/>
    <p:sldId id="309" r:id="rId18"/>
    <p:sldId id="311" r:id="rId19"/>
    <p:sldId id="315" r:id="rId20"/>
    <p:sldId id="313" r:id="rId21"/>
    <p:sldId id="317" r:id="rId22"/>
    <p:sldId id="316" r:id="rId23"/>
    <p:sldId id="318" r:id="rId24"/>
    <p:sldId id="320" r:id="rId25"/>
    <p:sldId id="319" r:id="rId26"/>
    <p:sldId id="321" r:id="rId27"/>
    <p:sldId id="323" r:id="rId28"/>
    <p:sldId id="294" r:id="rId29"/>
    <p:sldId id="26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E5DA"/>
    <a:srgbClr val="244478"/>
    <a:srgbClr val="2B62B9"/>
    <a:srgbClr val="EF5452"/>
    <a:srgbClr val="F8C528"/>
    <a:srgbClr val="C09A24"/>
    <a:srgbClr val="068A85"/>
    <a:srgbClr val="99C272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92514" autoAdjust="0"/>
  </p:normalViewPr>
  <p:slideViewPr>
    <p:cSldViewPr snapToGrid="0" snapToObjects="1">
      <p:cViewPr varScale="1">
        <p:scale>
          <a:sx n="68" d="100"/>
          <a:sy n="68" d="100"/>
        </p:scale>
        <p:origin x="43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CDC2CD-8613-D146-8518-AC99D946DF95}" type="datetimeFigureOut">
              <a:rPr lang="en-US" smtClean="0"/>
              <a:t>1/5/2021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EC4CF9-69BC-034A-86DA-E1DADC6FA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815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">
    <p:bg>
      <p:bgPr>
        <a:gradFill flip="none" rotWithShape="1">
          <a:gsLst>
            <a:gs pos="0">
              <a:srgbClr val="002060"/>
            </a:gs>
            <a:gs pos="91000">
              <a:schemeClr val="accent1">
                <a:lumMod val="89000"/>
              </a:schemeClr>
            </a:gs>
            <a:gs pos="85000">
              <a:schemeClr val="accent1">
                <a:lumMod val="75000"/>
              </a:schemeClr>
            </a:gs>
            <a:gs pos="97000">
              <a:schemeClr val="accent1">
                <a:lumMod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C37A9-8C23-6B4F-88B3-AB73D61B7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6775AE-BCE3-4B41-8ADB-E632DB8DE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092D3-1A80-C841-BE0C-FB3B2449E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948AB-0BEE-7E40-BCE4-2360F70E6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Subject Name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03C7E-8755-DA48-8510-BD952A823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8C6B40-493E-D545-8618-31916324F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278924"/>
            <a:ext cx="4600575" cy="84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701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2816-FC3E-3244-B2EB-CEB70C88E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301"/>
            <a:ext cx="10515600" cy="663575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58429-6D80-3644-9565-0A158FEB6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4057"/>
            <a:ext cx="10515600" cy="5128439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60295-D28D-5342-864C-DFD74E3BF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1382488" cy="365125"/>
          </a:xfrm>
        </p:spPr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84FDE-39E1-CC43-ADEC-A2E40B807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65514" y="6356350"/>
            <a:ext cx="7489686" cy="365125"/>
          </a:xfrm>
        </p:spPr>
        <p:txBody>
          <a:bodyPr/>
          <a:lstStyle/>
          <a:p>
            <a:r>
              <a:rPr lang="en-US"/>
              <a:t>Subject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BCC03-BB7B-8F4A-BDC0-0497BB610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00340" y="6356350"/>
            <a:ext cx="1353459" cy="365125"/>
          </a:xfrm>
        </p:spPr>
        <p:txBody>
          <a:bodyPr/>
          <a:lstStyle/>
          <a:p>
            <a:fld id="{B9BA5F68-B450-774B-A94B-86322AF8B7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785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987CA-DEB8-1246-A8A0-FC212DE45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34C65-DEA5-8F4A-A14B-0DF1A1E68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00206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B5CC9-D24D-8D45-94E1-B8A6F082E3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64028"/>
            <a:ext cx="1367971" cy="365125"/>
          </a:xfrm>
        </p:spPr>
        <p:txBody>
          <a:bodyPr/>
          <a:lstStyle/>
          <a:p>
            <a:r>
              <a:rPr lang="en-US"/>
              <a:t>© VTCA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43B7A-936C-F047-BD4A-CCBB3D41F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Subject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EEBFE-C4A6-0541-B16A-380D3EAAB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14856" y="6356350"/>
            <a:ext cx="1338943" cy="365125"/>
          </a:xfrm>
        </p:spPr>
        <p:txBody>
          <a:bodyPr/>
          <a:lstStyle/>
          <a:p>
            <a:fld id="{B9BA5F68-B450-774B-A94B-86322AF8B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714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6102A-A1F7-3842-AAEA-F5C7311EA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8042"/>
            <a:ext cx="10515600" cy="635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251E2-F43C-F64D-B993-CE6609ED11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92429"/>
            <a:ext cx="5181600" cy="5084534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4EDDE-EE3F-8F4B-9C7A-83E0406455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92429"/>
            <a:ext cx="5181600" cy="5084534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15ADE-643D-314B-865E-D1A74E171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66CD4-6B44-554D-8C3E-1CC265FA5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Subject Name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5A39C-E79D-054D-AA55-AE55FBA28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40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FA0EE-3CC4-5243-A94C-6FACDA7F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63527"/>
            <a:ext cx="10515600" cy="6635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930389-7090-CD40-BEBF-0637D2031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19788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BABA1-0B0C-5D41-BD03-AF3497DBF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21796"/>
            <a:ext cx="5157787" cy="41678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23744A-9292-8949-A87C-3B6979EA7C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7" y="119788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1ADD4A-DB10-FB4A-A9BA-9D3DB500D4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21796"/>
            <a:ext cx="5183188" cy="41678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B58B35-25F2-6941-BC63-14140DB15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4CB44E-6D22-DC48-8A79-8CC24323A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Subject Name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AC1E52-5D18-5A4D-B7CC-7DB931B3D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89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28F28-5514-3C4F-8F16-87F0D27BF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8C3861-35A6-C04A-AF18-0494795E5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4A6BF7-1B35-7B45-8465-DA95BDF4F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Subject Name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ECE7A-5E3E-FA41-A2CF-2170043C1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098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12E6E-C79E-5B49-9FDF-F6705D37C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BB082-60EA-F742-971F-16B6DC7F2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3344" y="987425"/>
            <a:ext cx="6408867" cy="52101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0DA2A8-A776-FA4A-A5B2-6088AA8A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140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C5211-987C-0E4C-8A65-096CAF941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C83AD-025F-B541-9368-2FEDDC6B1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Subject Name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98FAB-9E39-4442-B432-009E972C2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978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3CED7-2E22-7046-B671-644D9867C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637231-3259-8148-A59B-BCA49EE184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52035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3E8CD-A682-AC45-B9C3-5CB1873728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1335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DDB3D-EBBA-E54E-957D-18F54AC5A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68683-9DAF-2949-BB77-A0BA807B4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Subject Name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031D61-53FD-B847-BC95-73B6763AD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833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BD9D8-CC86-7E4D-A036-7F666D581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1D8279-4EB5-1B4C-AC96-6DA0B332F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71BE1-3E91-AC49-9604-441E4DD3A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F1837-E4C0-A34F-B38C-CBF0D65B8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Subject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05FF2-DF89-7143-8050-5F1B7B5C5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914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76845-31B4-A14F-BE09-5BC746846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453081-AC87-8048-8BE9-CB8C3F24F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587348-DA5D-AE48-989D-AC1F04AC6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Subject Name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6211B5-930B-3C46-87F0-174D78E04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248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76845-31B4-A14F-BE09-5BC746846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453081-AC87-8048-8BE9-CB8C3F24F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587348-DA5D-AE48-989D-AC1F04AC6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Subject Name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6211B5-930B-3C46-87F0-174D78E04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70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4C0672D-63A5-7F4F-996A-A49C94A186D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17315" y="345287"/>
            <a:ext cx="12192000" cy="475488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EC1233-5907-7143-8A9A-729AB9D49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955"/>
            <a:ext cx="10515600" cy="6778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E4728-1E09-A64F-9A06-2F96BC71F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55881"/>
            <a:ext cx="10515600" cy="51417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4233A-AE14-694A-BB8D-3E28E47EE5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0"/>
            <a:ext cx="14115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VTC Academy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08028-B976-7C44-A1F6-F7265A5544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65828" y="6356350"/>
            <a:ext cx="74893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Course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6F93A-8372-7749-B2E4-1B714A6CCF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5828" y="6356350"/>
            <a:ext cx="13679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A5F68-B450-774B-A94B-86322AF8B75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02E568-18E6-9A43-8CDC-1DF38DFF6BB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87694" y="306094"/>
            <a:ext cx="3116019" cy="57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603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206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206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206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206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206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javatpoint.com/java-switch" TargetMode="External"/><Relationship Id="rId3" Type="http://schemas.openxmlformats.org/officeDocument/2006/relationships/hyperlink" Target="https://www.tutorialspoint.com/java/java_basic_operators.htm" TargetMode="External"/><Relationship Id="rId7" Type="http://schemas.openxmlformats.org/officeDocument/2006/relationships/hyperlink" Target="https://www.javatpoint.com/java-if-else" TargetMode="External"/><Relationship Id="rId2" Type="http://schemas.openxmlformats.org/officeDocument/2006/relationships/hyperlink" Target="https://www.javatpoint.com/operators-in-jav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yntaxdb.com/ref/java/type-cast" TargetMode="External"/><Relationship Id="rId5" Type="http://schemas.openxmlformats.org/officeDocument/2006/relationships/hyperlink" Target="https://www.geeksforgeeks.org/type-conversion-java-examples/" TargetMode="External"/><Relationship Id="rId10" Type="http://schemas.openxmlformats.org/officeDocument/2006/relationships/hyperlink" Target="https://beginnersbook.com/2017/08/java-switch-case/" TargetMode="External"/><Relationship Id="rId4" Type="http://schemas.openxmlformats.org/officeDocument/2006/relationships/hyperlink" Target="https://www.journaldev.com/29007/type-casting-in-java" TargetMode="External"/><Relationship Id="rId9" Type="http://schemas.openxmlformats.org/officeDocument/2006/relationships/hyperlink" Target="https://www.w3schools.com/java/java_switch.asp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3D9EB45-1C59-C541-92E7-6FE421F290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A0CEDCB-5CE2-1B41-9D8B-CA0EB9D3BB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Session </a:t>
            </a:r>
            <a:r>
              <a:rPr lang="en-US" sz="3600" dirty="0" smtClean="0"/>
              <a:t>03</a:t>
            </a:r>
          </a:p>
          <a:p>
            <a:r>
              <a:rPr lang="en-US" sz="3600" dirty="0"/>
              <a:t>Condition Statements</a:t>
            </a:r>
          </a:p>
        </p:txBody>
      </p:sp>
    </p:spTree>
    <p:extLst>
      <p:ext uri="{BB962C8B-B14F-4D97-AF65-F5344CB8AC3E}">
        <p14:creationId xmlns:p14="http://schemas.microsoft.com/office/powerpoint/2010/main" val="2854215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Objectives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Expressions</a:t>
            </a:r>
          </a:p>
          <a:p>
            <a:r>
              <a:rPr lang="en-US" sz="3200" dirty="0" smtClean="0"/>
              <a:t>Operators</a:t>
            </a:r>
          </a:p>
          <a:p>
            <a:r>
              <a:rPr lang="en-US" sz="3200" dirty="0" smtClean="0"/>
              <a:t>Type Casting</a:t>
            </a:r>
          </a:p>
          <a:p>
            <a:r>
              <a:rPr lang="en-US" sz="3200" dirty="0" smtClean="0"/>
              <a:t>If statement</a:t>
            </a:r>
          </a:p>
          <a:p>
            <a:r>
              <a:rPr lang="en-US" sz="3200" dirty="0" smtClean="0"/>
              <a:t>If-else statement</a:t>
            </a:r>
          </a:p>
          <a:p>
            <a:r>
              <a:rPr lang="en-US" sz="3200" dirty="0"/>
              <a:t>if-else-if ladder</a:t>
            </a:r>
          </a:p>
          <a:p>
            <a:r>
              <a:rPr lang="en-US" sz="3200" dirty="0"/>
              <a:t>nested if </a:t>
            </a:r>
            <a:r>
              <a:rPr lang="en-US" sz="3200" dirty="0" smtClean="0"/>
              <a:t>statement</a:t>
            </a:r>
          </a:p>
          <a:p>
            <a:r>
              <a:rPr lang="en-US" sz="3200" dirty="0" smtClean="0"/>
              <a:t>Switch statement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684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Expressions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 smtClean="0"/>
              <a:t>Expression is a combination of operators and operands</a:t>
            </a:r>
          </a:p>
          <a:p>
            <a:pPr algn="just"/>
            <a:r>
              <a:rPr lang="en-US" sz="3200" dirty="0" smtClean="0"/>
              <a:t>Example:</a:t>
            </a:r>
          </a:p>
          <a:p>
            <a:pPr algn="just"/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3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882" y="2542683"/>
            <a:ext cx="5656650" cy="3022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2622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Operator in java is a symbol that is used to perform operations. There are many types of operators in java which are given below:</a:t>
            </a:r>
          </a:p>
          <a:p>
            <a:pPr lvl="1"/>
            <a:r>
              <a:rPr lang="en-US" dirty="0"/>
              <a:t>Unary Operator,</a:t>
            </a:r>
          </a:p>
          <a:p>
            <a:pPr lvl="1"/>
            <a:r>
              <a:rPr lang="en-US" dirty="0"/>
              <a:t>Arithmetic Operator,</a:t>
            </a:r>
          </a:p>
          <a:p>
            <a:pPr lvl="1"/>
            <a:r>
              <a:rPr lang="en-US" dirty="0"/>
              <a:t>Shift Operator,</a:t>
            </a:r>
          </a:p>
          <a:p>
            <a:pPr lvl="1"/>
            <a:r>
              <a:rPr lang="en-US" dirty="0"/>
              <a:t>Relational Operator,</a:t>
            </a:r>
          </a:p>
          <a:p>
            <a:pPr lvl="1"/>
            <a:r>
              <a:rPr lang="en-US" dirty="0"/>
              <a:t>Bitwise Operator,</a:t>
            </a:r>
          </a:p>
          <a:p>
            <a:pPr lvl="1"/>
            <a:r>
              <a:rPr lang="en-US" dirty="0"/>
              <a:t>Logical Operator,</a:t>
            </a:r>
          </a:p>
          <a:p>
            <a:pPr lvl="1"/>
            <a:r>
              <a:rPr lang="en-US" dirty="0"/>
              <a:t>Ternary Operator and</a:t>
            </a:r>
          </a:p>
          <a:p>
            <a:pPr lvl="1"/>
            <a:r>
              <a:rPr lang="en-US" dirty="0"/>
              <a:t>Assignment Operator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30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5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804041"/>
            <a:ext cx="10515601" cy="5552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2765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Operator in java is a symbol that is used to perform operations. There are many types of operators in java which are given below:</a:t>
            </a:r>
          </a:p>
          <a:p>
            <a:pPr lvl="1"/>
            <a:r>
              <a:rPr lang="en-US" dirty="0"/>
              <a:t>Unary Operator,</a:t>
            </a:r>
          </a:p>
          <a:p>
            <a:pPr lvl="1"/>
            <a:r>
              <a:rPr lang="en-US" dirty="0"/>
              <a:t>Arithmetic Operator,</a:t>
            </a:r>
          </a:p>
          <a:p>
            <a:pPr lvl="1"/>
            <a:r>
              <a:rPr lang="en-US" dirty="0"/>
              <a:t>Shift Operator,</a:t>
            </a:r>
          </a:p>
          <a:p>
            <a:pPr lvl="1"/>
            <a:r>
              <a:rPr lang="en-US" dirty="0"/>
              <a:t>Relational Operator,</a:t>
            </a:r>
          </a:p>
          <a:p>
            <a:pPr lvl="1"/>
            <a:r>
              <a:rPr lang="en-US" dirty="0"/>
              <a:t>Bitwise Operator,</a:t>
            </a:r>
          </a:p>
          <a:p>
            <a:pPr lvl="1"/>
            <a:r>
              <a:rPr lang="en-US" dirty="0"/>
              <a:t>Logical Operator,</a:t>
            </a:r>
          </a:p>
          <a:p>
            <a:pPr lvl="1"/>
            <a:r>
              <a:rPr lang="en-US" dirty="0"/>
              <a:t>Ternary Operator and</a:t>
            </a:r>
          </a:p>
          <a:p>
            <a:pPr lvl="1"/>
            <a:r>
              <a:rPr lang="en-US" dirty="0"/>
              <a:t>Assignment Operator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765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Java Unary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sz="3200" dirty="0"/>
              <a:t>The Java unary operators require only one operand. Unary operators are used to perform various </a:t>
            </a:r>
            <a:r>
              <a:rPr lang="en-US" sz="3200" dirty="0" smtClean="0"/>
              <a:t>operations: </a:t>
            </a:r>
            <a:endParaRPr lang="en-US" sz="3200" dirty="0"/>
          </a:p>
          <a:p>
            <a:pPr lvl="1" algn="just"/>
            <a:r>
              <a:rPr lang="en-US" dirty="0"/>
              <a:t>incrementing/decrementing a value by one</a:t>
            </a:r>
          </a:p>
          <a:p>
            <a:pPr lvl="1" algn="just"/>
            <a:r>
              <a:rPr lang="en-US" dirty="0"/>
              <a:t>negating an expression</a:t>
            </a:r>
          </a:p>
          <a:p>
            <a:pPr lvl="1" algn="just"/>
            <a:r>
              <a:rPr lang="en-US" dirty="0"/>
              <a:t>inverting the value of a </a:t>
            </a:r>
            <a:r>
              <a:rPr lang="en-US" dirty="0" err="1"/>
              <a:t>boolean</a:t>
            </a:r>
            <a:endParaRPr lang="en-US" dirty="0"/>
          </a:p>
          <a:p>
            <a:pPr algn="just"/>
            <a:r>
              <a:rPr lang="en-US" sz="3200" dirty="0"/>
              <a:t>Java Unary Operator Example: ++ and </a:t>
            </a:r>
            <a:r>
              <a:rPr lang="en-US" sz="3200" dirty="0" smtClean="0"/>
              <a:t>–</a:t>
            </a:r>
          </a:p>
          <a:p>
            <a:pPr algn="just"/>
            <a:r>
              <a:rPr lang="en-US" sz="3200" dirty="0" smtClean="0"/>
              <a:t>Example:</a:t>
            </a:r>
          </a:p>
          <a:p>
            <a:pPr marL="914400" lvl="2" indent="0">
              <a:buNone/>
            </a:pPr>
            <a:r>
              <a:rPr lang="en-US" b="1" dirty="0"/>
              <a:t>class</a:t>
            </a:r>
            <a:r>
              <a:rPr lang="en-US" dirty="0"/>
              <a:t> </a:t>
            </a:r>
            <a:r>
              <a:rPr lang="en-US" dirty="0" err="1"/>
              <a:t>OperatorExample</a:t>
            </a:r>
            <a:r>
              <a:rPr lang="en-US" dirty="0"/>
              <a:t>{  </a:t>
            </a:r>
          </a:p>
          <a:p>
            <a:pPr marL="1371600" lvl="3" indent="0">
              <a:buNone/>
            </a:pPr>
            <a:r>
              <a:rPr lang="en-US" b="1" dirty="0"/>
              <a:t>public</a:t>
            </a:r>
            <a:r>
              <a:rPr lang="en-US" dirty="0"/>
              <a:t> </a:t>
            </a:r>
            <a:r>
              <a:rPr lang="en-US" b="1" dirty="0"/>
              <a:t>static</a:t>
            </a:r>
            <a:r>
              <a:rPr lang="en-US" dirty="0"/>
              <a:t> </a:t>
            </a:r>
            <a:r>
              <a:rPr lang="en-US" b="1" dirty="0"/>
              <a:t>void</a:t>
            </a:r>
            <a:r>
              <a:rPr lang="en-US" dirty="0"/>
              <a:t> main(String </a:t>
            </a:r>
            <a:r>
              <a:rPr lang="en-US" dirty="0" err="1"/>
              <a:t>args</a:t>
            </a:r>
            <a:r>
              <a:rPr lang="en-US" dirty="0"/>
              <a:t>[]){  </a:t>
            </a:r>
          </a:p>
          <a:p>
            <a:pPr marL="1828800" lvl="4" indent="0">
              <a:buNone/>
            </a:pPr>
            <a:r>
              <a:rPr lang="en-US" b="1" dirty="0" err="1"/>
              <a:t>int</a:t>
            </a:r>
            <a:r>
              <a:rPr lang="en-US" dirty="0"/>
              <a:t> x=10;  </a:t>
            </a:r>
          </a:p>
          <a:p>
            <a:pPr marL="1828800" lvl="4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(x++);//10 (11)  </a:t>
            </a:r>
          </a:p>
          <a:p>
            <a:pPr marL="1828800" lvl="4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(++x);//12  </a:t>
            </a:r>
          </a:p>
          <a:p>
            <a:pPr marL="1828800" lvl="4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(x--);//12 (11)  </a:t>
            </a:r>
          </a:p>
          <a:p>
            <a:pPr marL="1828800" lvl="4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(--x);//10  </a:t>
            </a:r>
          </a:p>
          <a:p>
            <a:pPr marL="1371600" lvl="3" indent="0">
              <a:buNone/>
            </a:pPr>
            <a:r>
              <a:rPr lang="en-US" dirty="0" smtClean="0"/>
              <a:t>}</a:t>
            </a:r>
          </a:p>
          <a:p>
            <a:pPr marL="914400" lvl="2" indent="0">
              <a:buNone/>
            </a:pPr>
            <a:r>
              <a:rPr lang="en-US" dirty="0" smtClean="0"/>
              <a:t>}</a:t>
            </a:r>
            <a:r>
              <a:rPr lang="en-US" dirty="0"/>
              <a:t>  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311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Java Arithmetic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3200" dirty="0"/>
              <a:t>Java </a:t>
            </a:r>
            <a:r>
              <a:rPr lang="en-US" sz="3200" dirty="0" err="1"/>
              <a:t>arithmatic</a:t>
            </a:r>
            <a:r>
              <a:rPr lang="en-US" sz="3200" dirty="0"/>
              <a:t> operators are used to perform addition, subtraction, multiplication, and division. They act as basic mathematical operations</a:t>
            </a:r>
            <a:r>
              <a:rPr lang="en-US" sz="3200" dirty="0" smtClean="0"/>
              <a:t>.</a:t>
            </a:r>
          </a:p>
          <a:p>
            <a:pPr algn="just"/>
            <a:r>
              <a:rPr lang="en-US" sz="3200" dirty="0" smtClean="0"/>
              <a:t>Example:</a:t>
            </a:r>
          </a:p>
          <a:p>
            <a:pPr marL="457200" lvl="1" indent="0">
              <a:buNone/>
            </a:pPr>
            <a:r>
              <a:rPr lang="en-US" b="1" dirty="0"/>
              <a:t>class</a:t>
            </a:r>
            <a:r>
              <a:rPr lang="en-US" dirty="0"/>
              <a:t> </a:t>
            </a:r>
            <a:r>
              <a:rPr lang="en-US" dirty="0" err="1"/>
              <a:t>OperatorExample</a:t>
            </a:r>
            <a:r>
              <a:rPr lang="en-US" dirty="0"/>
              <a:t>{  </a:t>
            </a:r>
          </a:p>
          <a:p>
            <a:pPr marL="914400" lvl="2" indent="0">
              <a:buNone/>
            </a:pPr>
            <a:r>
              <a:rPr lang="en-US" b="1" dirty="0"/>
              <a:t>public</a:t>
            </a:r>
            <a:r>
              <a:rPr lang="en-US" dirty="0"/>
              <a:t> </a:t>
            </a:r>
            <a:r>
              <a:rPr lang="en-US" b="1" dirty="0"/>
              <a:t>static</a:t>
            </a:r>
            <a:r>
              <a:rPr lang="en-US" dirty="0"/>
              <a:t> </a:t>
            </a:r>
            <a:r>
              <a:rPr lang="en-US" b="1" dirty="0"/>
              <a:t>void</a:t>
            </a:r>
            <a:r>
              <a:rPr lang="en-US" dirty="0"/>
              <a:t> main(String </a:t>
            </a:r>
            <a:r>
              <a:rPr lang="en-US" dirty="0" err="1"/>
              <a:t>args</a:t>
            </a:r>
            <a:r>
              <a:rPr lang="en-US" dirty="0"/>
              <a:t>[]){  </a:t>
            </a:r>
          </a:p>
          <a:p>
            <a:pPr marL="1371600" lvl="3" indent="0">
              <a:buNone/>
            </a:pPr>
            <a:r>
              <a:rPr lang="en-US" b="1" dirty="0" err="1"/>
              <a:t>int</a:t>
            </a:r>
            <a:r>
              <a:rPr lang="en-US" dirty="0"/>
              <a:t> a=10;  </a:t>
            </a:r>
          </a:p>
          <a:p>
            <a:pPr marL="1371600" lvl="3" indent="0">
              <a:buNone/>
            </a:pPr>
            <a:r>
              <a:rPr lang="en-US" b="1" dirty="0" err="1"/>
              <a:t>int</a:t>
            </a:r>
            <a:r>
              <a:rPr lang="en-US" dirty="0"/>
              <a:t> b=5;  </a:t>
            </a:r>
          </a:p>
          <a:p>
            <a:pPr marL="1371600" lvl="3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a+b</a:t>
            </a:r>
            <a:r>
              <a:rPr lang="en-US" dirty="0"/>
              <a:t>);//15  </a:t>
            </a:r>
          </a:p>
          <a:p>
            <a:pPr marL="1371600" lvl="3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(a-b);//5  </a:t>
            </a:r>
          </a:p>
          <a:p>
            <a:pPr marL="1371600" lvl="3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(a*b);//50  </a:t>
            </a:r>
          </a:p>
          <a:p>
            <a:pPr marL="1371600" lvl="3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(a/b);//2  </a:t>
            </a:r>
          </a:p>
          <a:p>
            <a:pPr marL="1371600" lvl="3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a%b</a:t>
            </a:r>
            <a:r>
              <a:rPr lang="en-US" dirty="0"/>
              <a:t>);//0  </a:t>
            </a:r>
          </a:p>
          <a:p>
            <a:pPr marL="914400" lvl="2" indent="0">
              <a:buNone/>
            </a:pPr>
            <a:r>
              <a:rPr lang="en-US" dirty="0" smtClean="0"/>
              <a:t>}</a:t>
            </a:r>
          </a:p>
          <a:p>
            <a:pPr marL="457200" lvl="1" indent="0">
              <a:buNone/>
            </a:pPr>
            <a:r>
              <a:rPr lang="en-US" dirty="0" smtClean="0"/>
              <a:t>}</a:t>
            </a:r>
            <a:r>
              <a:rPr lang="en-US" dirty="0"/>
              <a:t>  </a:t>
            </a:r>
          </a:p>
          <a:p>
            <a:pPr algn="just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062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Java Logical Operators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sz="3200" dirty="0" smtClean="0"/>
              <a:t>Logical </a:t>
            </a:r>
            <a:r>
              <a:rPr lang="en-US" sz="3200" dirty="0"/>
              <a:t>&amp;&amp; and Bitwise &amp;</a:t>
            </a:r>
          </a:p>
          <a:p>
            <a:pPr lvl="1" algn="just"/>
            <a:r>
              <a:rPr lang="en-US" dirty="0"/>
              <a:t>The logical &amp;&amp; operator doesn't check second condition if first condition is false. It checks second condition only if first one is true</a:t>
            </a:r>
            <a:r>
              <a:rPr lang="en-US" dirty="0" smtClean="0"/>
              <a:t>.</a:t>
            </a:r>
            <a:endParaRPr lang="en-US" dirty="0"/>
          </a:p>
          <a:p>
            <a:pPr lvl="1" algn="just"/>
            <a:r>
              <a:rPr lang="en-US" dirty="0"/>
              <a:t>The bitwise &amp; operator always checks both conditions whether first condition is true or false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Example:</a:t>
            </a:r>
          </a:p>
          <a:p>
            <a:pPr marL="457200" lvl="1" indent="0" algn="just">
              <a:buNone/>
            </a:pPr>
            <a:r>
              <a:rPr lang="en-US" dirty="0"/>
              <a:t>class </a:t>
            </a:r>
            <a:r>
              <a:rPr lang="en-US" dirty="0" err="1"/>
              <a:t>OperatorExample</a:t>
            </a:r>
            <a:r>
              <a:rPr lang="en-US" dirty="0"/>
              <a:t>{  </a:t>
            </a:r>
          </a:p>
          <a:p>
            <a:pPr marL="914400" lvl="2" indent="0" algn="just">
              <a:buNone/>
            </a:pPr>
            <a:r>
              <a:rPr lang="en-US" dirty="0"/>
              <a:t>public static void main(String </a:t>
            </a:r>
            <a:r>
              <a:rPr lang="en-US" dirty="0" err="1"/>
              <a:t>args</a:t>
            </a:r>
            <a:r>
              <a:rPr lang="en-US" dirty="0"/>
              <a:t>[]){  </a:t>
            </a:r>
          </a:p>
          <a:p>
            <a:pPr marL="1371600" lvl="3" indent="0" algn="just">
              <a:buNone/>
            </a:pPr>
            <a:r>
              <a:rPr lang="en-US" dirty="0" err="1"/>
              <a:t>int</a:t>
            </a:r>
            <a:r>
              <a:rPr lang="en-US" dirty="0"/>
              <a:t> a=10;  </a:t>
            </a:r>
          </a:p>
          <a:p>
            <a:pPr marL="1371600" lvl="3" indent="0" algn="just">
              <a:buNone/>
            </a:pPr>
            <a:r>
              <a:rPr lang="en-US" dirty="0" err="1"/>
              <a:t>int</a:t>
            </a:r>
            <a:r>
              <a:rPr lang="en-US" dirty="0"/>
              <a:t> b=5;  </a:t>
            </a:r>
          </a:p>
          <a:p>
            <a:pPr marL="1371600" lvl="3" indent="0" algn="just">
              <a:buNone/>
            </a:pPr>
            <a:r>
              <a:rPr lang="en-US" dirty="0" err="1"/>
              <a:t>int</a:t>
            </a:r>
            <a:r>
              <a:rPr lang="en-US" dirty="0"/>
              <a:t> c=20;  </a:t>
            </a:r>
          </a:p>
          <a:p>
            <a:pPr marL="1371600" lvl="3" indent="0" algn="just">
              <a:buNone/>
            </a:pPr>
            <a:r>
              <a:rPr lang="en-US" dirty="0" err="1"/>
              <a:t>System.out.println</a:t>
            </a:r>
            <a:r>
              <a:rPr lang="en-US" dirty="0"/>
              <a:t>(a&lt;b&amp;&amp;a++&lt;c);//false &amp;&amp; true = false  </a:t>
            </a:r>
          </a:p>
          <a:p>
            <a:pPr marL="1371600" lvl="3" indent="0" algn="just">
              <a:buNone/>
            </a:pPr>
            <a:r>
              <a:rPr lang="en-US" dirty="0" err="1"/>
              <a:t>System.out.println</a:t>
            </a:r>
            <a:r>
              <a:rPr lang="en-US" dirty="0"/>
              <a:t>(a);//10 because second condition is not checked  </a:t>
            </a:r>
          </a:p>
          <a:p>
            <a:pPr marL="1371600" lvl="3" indent="0" algn="just">
              <a:buNone/>
            </a:pPr>
            <a:r>
              <a:rPr lang="en-US" dirty="0" err="1"/>
              <a:t>System.out.println</a:t>
            </a:r>
            <a:r>
              <a:rPr lang="en-US" dirty="0"/>
              <a:t>(a&lt;</a:t>
            </a:r>
            <a:r>
              <a:rPr lang="en-US" dirty="0" err="1"/>
              <a:t>b&amp;a</a:t>
            </a:r>
            <a:r>
              <a:rPr lang="en-US" dirty="0"/>
              <a:t>++&lt;c);//false &amp;&amp; true = false  </a:t>
            </a:r>
          </a:p>
          <a:p>
            <a:pPr marL="1371600" lvl="3" indent="0" algn="just">
              <a:buNone/>
            </a:pPr>
            <a:r>
              <a:rPr lang="en-US" dirty="0" err="1"/>
              <a:t>System.out.println</a:t>
            </a:r>
            <a:r>
              <a:rPr lang="en-US" dirty="0"/>
              <a:t>(a);//11 because second condition is checked  </a:t>
            </a:r>
          </a:p>
          <a:p>
            <a:pPr marL="457200" lvl="1" indent="0" algn="just">
              <a:buNone/>
            </a:pPr>
            <a:r>
              <a:rPr lang="en-US" dirty="0" smtClean="0"/>
              <a:t>	}</a:t>
            </a:r>
          </a:p>
          <a:p>
            <a:pPr marL="457200" lvl="1" indent="0" algn="just">
              <a:buNone/>
            </a:pPr>
            <a:r>
              <a:rPr lang="en-US" dirty="0" smtClean="0"/>
              <a:t>}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303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Java Logical Operators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Logical || and Bitwise |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logical || operator doesn't check second condition if first condition is true. It checks second condition only if first one is false.</a:t>
            </a:r>
          </a:p>
          <a:p>
            <a:pPr lvl="1"/>
            <a:r>
              <a:rPr lang="en-US" dirty="0"/>
              <a:t>The bitwise | operator always checks both conditions whether first condition is true or false</a:t>
            </a:r>
            <a:r>
              <a:rPr lang="en-US" dirty="0" smtClean="0"/>
              <a:t>.</a:t>
            </a:r>
          </a:p>
          <a:p>
            <a:r>
              <a:rPr lang="en-US" dirty="0" smtClean="0"/>
              <a:t>Example:</a:t>
            </a:r>
          </a:p>
          <a:p>
            <a:pPr marL="0" indent="0">
              <a:buNone/>
            </a:pPr>
            <a:r>
              <a:rPr lang="en-US" b="1" dirty="0" smtClean="0"/>
              <a:t>class</a:t>
            </a:r>
            <a:r>
              <a:rPr lang="en-US" dirty="0"/>
              <a:t> </a:t>
            </a:r>
            <a:r>
              <a:rPr lang="en-US" dirty="0" err="1"/>
              <a:t>OperatorExample</a:t>
            </a:r>
            <a:r>
              <a:rPr lang="en-US" dirty="0"/>
              <a:t>{  </a:t>
            </a:r>
          </a:p>
          <a:p>
            <a:pPr marL="457200" lvl="1" indent="0">
              <a:buNone/>
            </a:pPr>
            <a:r>
              <a:rPr lang="en-US" b="1" dirty="0"/>
              <a:t>public</a:t>
            </a:r>
            <a:r>
              <a:rPr lang="en-US" dirty="0"/>
              <a:t> </a:t>
            </a:r>
            <a:r>
              <a:rPr lang="en-US" b="1" dirty="0"/>
              <a:t>static</a:t>
            </a:r>
            <a:r>
              <a:rPr lang="en-US" dirty="0"/>
              <a:t> </a:t>
            </a:r>
            <a:r>
              <a:rPr lang="en-US" b="1" dirty="0"/>
              <a:t>void</a:t>
            </a:r>
            <a:r>
              <a:rPr lang="en-US" dirty="0"/>
              <a:t> main(String </a:t>
            </a:r>
            <a:r>
              <a:rPr lang="en-US" dirty="0" err="1"/>
              <a:t>args</a:t>
            </a:r>
            <a:r>
              <a:rPr lang="en-US" dirty="0"/>
              <a:t>[]){  </a:t>
            </a:r>
          </a:p>
          <a:p>
            <a:pPr marL="914400" lvl="2" indent="0">
              <a:buNone/>
            </a:pPr>
            <a:r>
              <a:rPr lang="en-US" b="1" dirty="0" err="1"/>
              <a:t>int</a:t>
            </a:r>
            <a:r>
              <a:rPr lang="en-US" dirty="0"/>
              <a:t> a=10;  </a:t>
            </a:r>
          </a:p>
          <a:p>
            <a:pPr marL="914400" lvl="2" indent="0">
              <a:buNone/>
            </a:pPr>
            <a:r>
              <a:rPr lang="en-US" b="1" dirty="0" err="1"/>
              <a:t>int</a:t>
            </a:r>
            <a:r>
              <a:rPr lang="en-US" dirty="0"/>
              <a:t> b=5;  </a:t>
            </a:r>
          </a:p>
          <a:p>
            <a:pPr marL="914400" lvl="2" indent="0">
              <a:buNone/>
            </a:pPr>
            <a:r>
              <a:rPr lang="en-US" b="1" dirty="0" err="1"/>
              <a:t>int</a:t>
            </a:r>
            <a:r>
              <a:rPr lang="en-US" dirty="0"/>
              <a:t> c=20;  </a:t>
            </a:r>
          </a:p>
          <a:p>
            <a:pPr marL="914400" lvl="2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(a&gt;b||a&lt;c);//true || true = true  </a:t>
            </a:r>
          </a:p>
          <a:p>
            <a:pPr marL="914400" lvl="2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(a&gt;</a:t>
            </a:r>
            <a:r>
              <a:rPr lang="en-US" dirty="0" err="1"/>
              <a:t>b|a</a:t>
            </a:r>
            <a:r>
              <a:rPr lang="en-US" dirty="0"/>
              <a:t>&lt;c);//true | true = true  </a:t>
            </a:r>
          </a:p>
          <a:p>
            <a:pPr marL="914400" lvl="2" indent="0">
              <a:buNone/>
            </a:pPr>
            <a:r>
              <a:rPr lang="en-US" dirty="0"/>
              <a:t>//|| </a:t>
            </a:r>
            <a:r>
              <a:rPr lang="en-US" dirty="0" err="1"/>
              <a:t>vs</a:t>
            </a:r>
            <a:r>
              <a:rPr lang="en-US" dirty="0"/>
              <a:t> |  </a:t>
            </a:r>
          </a:p>
          <a:p>
            <a:pPr marL="914400" lvl="2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(a&gt;b||a++&lt;c);//true || true = true  </a:t>
            </a:r>
          </a:p>
          <a:p>
            <a:pPr marL="914400" lvl="2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(a);//10 because second condition is not checked  </a:t>
            </a:r>
          </a:p>
          <a:p>
            <a:pPr marL="914400" lvl="2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(a&gt;</a:t>
            </a:r>
            <a:r>
              <a:rPr lang="en-US" dirty="0" err="1"/>
              <a:t>b|a</a:t>
            </a:r>
            <a:r>
              <a:rPr lang="en-US" dirty="0"/>
              <a:t>++&lt;c);//true | true = true  </a:t>
            </a:r>
          </a:p>
          <a:p>
            <a:pPr marL="914400" lvl="2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(a);//11 because second condition is checked  </a:t>
            </a:r>
          </a:p>
          <a:p>
            <a:pPr marL="457200" lvl="1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r>
              <a:rPr lang="en-US" dirty="0"/>
              <a:t>  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06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Java Ternary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J</a:t>
            </a:r>
            <a:r>
              <a:rPr lang="en-US" dirty="0"/>
              <a:t>ava Ternary operator is used as one liner replacement for if-then-else statement and used a lot in java programming. it is the only conditional operator which takes three operands.</a:t>
            </a:r>
          </a:p>
          <a:p>
            <a:r>
              <a:rPr lang="en-US" dirty="0" smtClean="0"/>
              <a:t>Example:</a:t>
            </a:r>
          </a:p>
          <a:p>
            <a:pPr marL="457200" lvl="1" indent="0">
              <a:buNone/>
            </a:pPr>
            <a:r>
              <a:rPr lang="en-US" b="1" dirty="0"/>
              <a:t>class</a:t>
            </a:r>
            <a:r>
              <a:rPr lang="en-US" dirty="0"/>
              <a:t> </a:t>
            </a:r>
            <a:r>
              <a:rPr lang="en-US" dirty="0" err="1"/>
              <a:t>OperatorExample</a:t>
            </a:r>
            <a:r>
              <a:rPr lang="en-US" dirty="0"/>
              <a:t>{  </a:t>
            </a:r>
          </a:p>
          <a:p>
            <a:pPr marL="914400" lvl="2" indent="0">
              <a:buNone/>
            </a:pPr>
            <a:r>
              <a:rPr lang="en-US" b="1" dirty="0"/>
              <a:t>public</a:t>
            </a:r>
            <a:r>
              <a:rPr lang="en-US" dirty="0"/>
              <a:t> </a:t>
            </a:r>
            <a:r>
              <a:rPr lang="en-US" b="1" dirty="0"/>
              <a:t>static</a:t>
            </a:r>
            <a:r>
              <a:rPr lang="en-US" dirty="0"/>
              <a:t> </a:t>
            </a:r>
            <a:r>
              <a:rPr lang="en-US" b="1" dirty="0"/>
              <a:t>void</a:t>
            </a:r>
            <a:r>
              <a:rPr lang="en-US" dirty="0"/>
              <a:t> main(String </a:t>
            </a:r>
            <a:r>
              <a:rPr lang="en-US" dirty="0" err="1"/>
              <a:t>args</a:t>
            </a:r>
            <a:r>
              <a:rPr lang="en-US" dirty="0"/>
              <a:t>[]){  </a:t>
            </a:r>
          </a:p>
          <a:p>
            <a:pPr marL="1371600" lvl="3" indent="0">
              <a:buNone/>
            </a:pPr>
            <a:r>
              <a:rPr lang="en-US" b="1" dirty="0" err="1"/>
              <a:t>int</a:t>
            </a:r>
            <a:r>
              <a:rPr lang="en-US" dirty="0"/>
              <a:t> a=2;  </a:t>
            </a:r>
          </a:p>
          <a:p>
            <a:pPr marL="1371600" lvl="3" indent="0">
              <a:buNone/>
            </a:pPr>
            <a:r>
              <a:rPr lang="en-US" b="1" dirty="0" err="1"/>
              <a:t>int</a:t>
            </a:r>
            <a:r>
              <a:rPr lang="en-US" dirty="0"/>
              <a:t> b=5;  </a:t>
            </a:r>
          </a:p>
          <a:p>
            <a:pPr marL="1371600" lvl="3" indent="0">
              <a:buNone/>
            </a:pPr>
            <a:r>
              <a:rPr lang="en-US" b="1" dirty="0" err="1"/>
              <a:t>int</a:t>
            </a:r>
            <a:r>
              <a:rPr lang="en-US" dirty="0"/>
              <a:t> min=(a&lt;b)?</a:t>
            </a:r>
            <a:r>
              <a:rPr lang="en-US" dirty="0" err="1"/>
              <a:t>a:b</a:t>
            </a:r>
            <a:r>
              <a:rPr lang="en-US" dirty="0"/>
              <a:t>;  </a:t>
            </a:r>
          </a:p>
          <a:p>
            <a:pPr marL="1371600" lvl="3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(min);  </a:t>
            </a:r>
            <a:r>
              <a:rPr lang="en-US" dirty="0" smtClean="0"/>
              <a:t>//2</a:t>
            </a:r>
            <a:endParaRPr lang="en-US" dirty="0"/>
          </a:p>
          <a:p>
            <a:pPr marL="914400" lvl="2" indent="0">
              <a:buNone/>
            </a:pPr>
            <a:r>
              <a:rPr lang="en-US" dirty="0" smtClean="0"/>
              <a:t>}</a:t>
            </a:r>
          </a:p>
          <a:p>
            <a:pPr marL="457200" lvl="1" indent="0">
              <a:buNone/>
            </a:pPr>
            <a:r>
              <a:rPr lang="en-US" dirty="0" smtClean="0"/>
              <a:t>}</a:t>
            </a:r>
            <a:r>
              <a:rPr lang="en-US" dirty="0"/>
              <a:t>  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486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J</a:t>
            </a:r>
            <a:r>
              <a:rPr lang="en-US" sz="3200" dirty="0"/>
              <a:t>ava Assignment </a:t>
            </a:r>
            <a:r>
              <a:rPr lang="en-US" sz="3200" dirty="0" smtClean="0"/>
              <a:t>Operator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3200" dirty="0" smtClean="0"/>
              <a:t>Java </a:t>
            </a:r>
            <a:r>
              <a:rPr lang="en-US" sz="3200" dirty="0"/>
              <a:t>assignment operator is one of the most common operator. It is used to assign the value on its right to the operand on its left</a:t>
            </a:r>
            <a:r>
              <a:rPr lang="en-US" sz="3200" dirty="0" smtClean="0"/>
              <a:t>.</a:t>
            </a:r>
            <a:endParaRPr lang="en-US" sz="3200" dirty="0"/>
          </a:p>
          <a:p>
            <a:pPr algn="just"/>
            <a:r>
              <a:rPr lang="en-US" sz="3200" dirty="0" smtClean="0"/>
              <a:t>Example</a:t>
            </a:r>
            <a:endParaRPr lang="en-US" sz="3200" dirty="0"/>
          </a:p>
          <a:p>
            <a:pPr marL="457200" lvl="1" indent="0" algn="just">
              <a:buNone/>
            </a:pPr>
            <a:r>
              <a:rPr lang="en-US" dirty="0"/>
              <a:t>class </a:t>
            </a:r>
            <a:r>
              <a:rPr lang="en-US" dirty="0" err="1"/>
              <a:t>OperatorExample</a:t>
            </a:r>
            <a:r>
              <a:rPr lang="en-US" dirty="0"/>
              <a:t>{  </a:t>
            </a:r>
          </a:p>
          <a:p>
            <a:pPr marL="914400" lvl="2" indent="0" algn="just">
              <a:buNone/>
            </a:pPr>
            <a:r>
              <a:rPr lang="en-US" dirty="0"/>
              <a:t>public static void main(String </a:t>
            </a:r>
            <a:r>
              <a:rPr lang="en-US" dirty="0" err="1"/>
              <a:t>args</a:t>
            </a:r>
            <a:r>
              <a:rPr lang="en-US" dirty="0"/>
              <a:t>[]){  </a:t>
            </a:r>
          </a:p>
          <a:p>
            <a:pPr marL="1371600" lvl="3" indent="0" algn="just">
              <a:buNone/>
            </a:pPr>
            <a:r>
              <a:rPr lang="en-US" dirty="0" err="1"/>
              <a:t>int</a:t>
            </a:r>
            <a:r>
              <a:rPr lang="en-US" dirty="0"/>
              <a:t> a=10;  </a:t>
            </a:r>
          </a:p>
          <a:p>
            <a:pPr marL="1371600" lvl="3" indent="0" algn="just">
              <a:buNone/>
            </a:pPr>
            <a:r>
              <a:rPr lang="en-US" dirty="0" err="1"/>
              <a:t>int</a:t>
            </a:r>
            <a:r>
              <a:rPr lang="en-US" dirty="0"/>
              <a:t> b=20;  </a:t>
            </a:r>
          </a:p>
          <a:p>
            <a:pPr marL="1371600" lvl="3" indent="0" algn="just">
              <a:buNone/>
            </a:pPr>
            <a:r>
              <a:rPr lang="en-US" dirty="0"/>
              <a:t>a+=4;//a=</a:t>
            </a:r>
            <a:r>
              <a:rPr lang="en-US" dirty="0" err="1"/>
              <a:t>a+4</a:t>
            </a:r>
            <a:r>
              <a:rPr lang="en-US" dirty="0"/>
              <a:t> (a=10+4)  </a:t>
            </a:r>
          </a:p>
          <a:p>
            <a:pPr marL="1371600" lvl="3" indent="0" algn="just">
              <a:buNone/>
            </a:pPr>
            <a:r>
              <a:rPr lang="en-US" dirty="0"/>
              <a:t>b-=4;//b=b-4 (b=20-4)  </a:t>
            </a:r>
          </a:p>
          <a:p>
            <a:pPr marL="1371600" lvl="3" indent="0" algn="just">
              <a:buNone/>
            </a:pPr>
            <a:r>
              <a:rPr lang="en-US" dirty="0" err="1"/>
              <a:t>System.out.println</a:t>
            </a:r>
            <a:r>
              <a:rPr lang="en-US" dirty="0"/>
              <a:t>(a);  </a:t>
            </a:r>
            <a:r>
              <a:rPr lang="en-US" dirty="0" smtClean="0"/>
              <a:t>//14</a:t>
            </a:r>
            <a:endParaRPr lang="en-US" dirty="0"/>
          </a:p>
          <a:p>
            <a:pPr marL="1371600" lvl="3" indent="0" algn="just">
              <a:buNone/>
            </a:pPr>
            <a:r>
              <a:rPr lang="en-US" dirty="0" err="1"/>
              <a:t>System.out.println</a:t>
            </a:r>
            <a:r>
              <a:rPr lang="en-US" dirty="0"/>
              <a:t>(b);  </a:t>
            </a:r>
            <a:r>
              <a:rPr lang="en-US" dirty="0" smtClean="0"/>
              <a:t>//16</a:t>
            </a:r>
            <a:endParaRPr lang="en-US" dirty="0"/>
          </a:p>
          <a:p>
            <a:pPr marL="914400" lvl="2" indent="0" algn="just">
              <a:buNone/>
            </a:pPr>
            <a:r>
              <a:rPr lang="en-US" dirty="0" smtClean="0"/>
              <a:t>}</a:t>
            </a:r>
          </a:p>
          <a:p>
            <a:pPr marL="457200" lvl="1" indent="0" algn="just">
              <a:buNone/>
            </a:pPr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486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Precedence of Java Operators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13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687" y="1074057"/>
            <a:ext cx="7280675" cy="5921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5486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Java Type 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Type casting is used to convert an object or variable of one type into another. </a:t>
            </a:r>
            <a:r>
              <a:rPr lang="en-US" sz="3200" dirty="0" smtClean="0"/>
              <a:t>Syntax:</a:t>
            </a:r>
          </a:p>
          <a:p>
            <a:pPr marL="914400" lvl="2" indent="0" algn="just">
              <a:buNone/>
            </a:pPr>
            <a:r>
              <a:rPr lang="en-US" sz="2400" dirty="0" err="1" smtClean="0"/>
              <a:t>dataType</a:t>
            </a:r>
            <a:r>
              <a:rPr lang="en-US" sz="2400" dirty="0" smtClean="0"/>
              <a:t> </a:t>
            </a:r>
            <a:r>
              <a:rPr lang="en-US" sz="2400" dirty="0" err="1"/>
              <a:t>variableName</a:t>
            </a:r>
            <a:r>
              <a:rPr lang="en-US" sz="2400" dirty="0"/>
              <a:t> = (</a:t>
            </a:r>
            <a:r>
              <a:rPr lang="en-US" sz="2400" dirty="0" err="1"/>
              <a:t>dataType</a:t>
            </a:r>
            <a:r>
              <a:rPr lang="en-US" sz="2400" dirty="0"/>
              <a:t>) </a:t>
            </a:r>
            <a:r>
              <a:rPr lang="en-US" sz="2400" dirty="0" err="1"/>
              <a:t>variableToConvert</a:t>
            </a:r>
            <a:r>
              <a:rPr lang="en-US" sz="2400" dirty="0"/>
              <a:t>;</a:t>
            </a:r>
          </a:p>
          <a:p>
            <a:pPr algn="just"/>
            <a:r>
              <a:rPr lang="en-US" sz="3200" dirty="0"/>
              <a:t>There are two casting directions: narrowing (larger to smaller type) and widening (smaller to larger type</a:t>
            </a:r>
            <a:r>
              <a:rPr lang="en-US" sz="3200" dirty="0" smtClean="0"/>
              <a:t>).</a:t>
            </a:r>
          </a:p>
          <a:p>
            <a:pPr lvl="1" algn="just"/>
            <a:r>
              <a:rPr lang="en-US" sz="2800" dirty="0"/>
              <a:t>Widening Casting (automatically) </a:t>
            </a:r>
            <a:endParaRPr lang="en-US" sz="2800" dirty="0" smtClean="0"/>
          </a:p>
          <a:p>
            <a:pPr marL="914400" lvl="2" indent="0" algn="just">
              <a:buNone/>
            </a:pPr>
            <a:r>
              <a:rPr lang="en-US" sz="2400" dirty="0" smtClean="0"/>
              <a:t>byte </a:t>
            </a:r>
            <a:r>
              <a:rPr lang="en-US" sz="2400" dirty="0"/>
              <a:t>-&gt; short -&gt; char -&gt; </a:t>
            </a:r>
            <a:r>
              <a:rPr lang="en-US" sz="2400" dirty="0" err="1"/>
              <a:t>int</a:t>
            </a:r>
            <a:r>
              <a:rPr lang="en-US" sz="2400" dirty="0"/>
              <a:t> -&gt; long -&gt; float -&gt; double</a:t>
            </a:r>
          </a:p>
          <a:p>
            <a:pPr lvl="1" algn="just"/>
            <a:r>
              <a:rPr lang="en-US" sz="2800" dirty="0" smtClean="0"/>
              <a:t>Narrowing </a:t>
            </a:r>
            <a:r>
              <a:rPr lang="en-US" sz="2800" dirty="0"/>
              <a:t>Casting (manually</a:t>
            </a:r>
            <a:r>
              <a:rPr lang="en-US" sz="2800" dirty="0" smtClean="0"/>
              <a:t>)</a:t>
            </a:r>
            <a:endParaRPr lang="en-US" sz="2800" dirty="0"/>
          </a:p>
          <a:p>
            <a:pPr marL="914400" lvl="2" indent="0" algn="just">
              <a:buNone/>
            </a:pPr>
            <a:r>
              <a:rPr lang="en-US" sz="2400" dirty="0"/>
              <a:t>double -&gt; float -&gt; long -&gt; </a:t>
            </a:r>
            <a:r>
              <a:rPr lang="en-US" sz="2400" dirty="0" err="1"/>
              <a:t>int</a:t>
            </a:r>
            <a:r>
              <a:rPr lang="en-US" sz="2400" dirty="0"/>
              <a:t> -&gt; char -&gt; short -&gt; </a:t>
            </a:r>
            <a:r>
              <a:rPr lang="en-US" sz="2400" dirty="0" smtClean="0"/>
              <a:t>byte</a:t>
            </a: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114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Java Type 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Widening </a:t>
            </a:r>
            <a:r>
              <a:rPr lang="en-US" sz="3200" dirty="0" smtClean="0"/>
              <a:t>Casting: is </a:t>
            </a:r>
            <a:r>
              <a:rPr lang="en-US" sz="3200" dirty="0"/>
              <a:t>done automatically when passing a smaller size </a:t>
            </a:r>
            <a:r>
              <a:rPr lang="en-US" sz="3200" dirty="0" smtClean="0"/>
              <a:t>type </a:t>
            </a:r>
            <a:r>
              <a:rPr lang="en-US" sz="3200" dirty="0"/>
              <a:t>to a larger size type</a:t>
            </a:r>
            <a:r>
              <a:rPr lang="en-US" sz="3200" dirty="0" smtClean="0"/>
              <a:t>:</a:t>
            </a:r>
          </a:p>
          <a:p>
            <a:pPr marL="457200" lvl="1" indent="0" algn="just">
              <a:buNone/>
            </a:pPr>
            <a:r>
              <a:rPr lang="en-US" dirty="0"/>
              <a:t>public class </a:t>
            </a:r>
            <a:r>
              <a:rPr lang="en-US" dirty="0" err="1"/>
              <a:t>MyClass</a:t>
            </a:r>
            <a:r>
              <a:rPr lang="en-US" dirty="0"/>
              <a:t> {</a:t>
            </a:r>
          </a:p>
          <a:p>
            <a:pPr marL="914400" lvl="2" indent="0" algn="just">
              <a:buNone/>
            </a:pPr>
            <a:r>
              <a:rPr lang="en-US" dirty="0" smtClean="0"/>
              <a:t>public </a:t>
            </a:r>
            <a:r>
              <a:rPr lang="en-US" dirty="0"/>
              <a:t>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1371600" lvl="3" indent="0" algn="just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/>
              <a:t>myInt</a:t>
            </a:r>
            <a:r>
              <a:rPr lang="en-US" dirty="0"/>
              <a:t> = 9;</a:t>
            </a:r>
          </a:p>
          <a:p>
            <a:pPr marL="1371600" lvl="3" indent="0" algn="just">
              <a:buNone/>
            </a:pPr>
            <a:r>
              <a:rPr lang="en-US" dirty="0" smtClean="0"/>
              <a:t>double </a:t>
            </a:r>
            <a:r>
              <a:rPr lang="en-US" dirty="0" err="1"/>
              <a:t>myDouble</a:t>
            </a:r>
            <a:r>
              <a:rPr lang="en-US" dirty="0"/>
              <a:t> = </a:t>
            </a:r>
            <a:r>
              <a:rPr lang="en-US" dirty="0" err="1"/>
              <a:t>myInt</a:t>
            </a:r>
            <a:r>
              <a:rPr lang="en-US" dirty="0"/>
              <a:t>; // Automatic casting: </a:t>
            </a:r>
            <a:r>
              <a:rPr lang="en-US" dirty="0" err="1"/>
              <a:t>int</a:t>
            </a:r>
            <a:r>
              <a:rPr lang="en-US" dirty="0"/>
              <a:t> to double</a:t>
            </a:r>
          </a:p>
          <a:p>
            <a:pPr marL="1371600" lvl="3" indent="0" algn="just">
              <a:buNone/>
            </a:pPr>
            <a:r>
              <a:rPr lang="en-US" dirty="0" err="1" smtClean="0"/>
              <a:t>System.out.println</a:t>
            </a:r>
            <a:r>
              <a:rPr lang="en-US" dirty="0" smtClean="0"/>
              <a:t>(</a:t>
            </a:r>
            <a:r>
              <a:rPr lang="en-US" dirty="0" err="1" smtClean="0"/>
              <a:t>myInt</a:t>
            </a:r>
            <a:r>
              <a:rPr lang="en-US" dirty="0"/>
              <a:t>);      // Outputs 9</a:t>
            </a:r>
          </a:p>
          <a:p>
            <a:pPr marL="1371600" lvl="3" indent="0" algn="just">
              <a:buNone/>
            </a:pPr>
            <a:r>
              <a:rPr lang="en-US" dirty="0" err="1" smtClean="0"/>
              <a:t>System.out.println</a:t>
            </a:r>
            <a:r>
              <a:rPr lang="en-US" dirty="0" smtClean="0"/>
              <a:t>(</a:t>
            </a:r>
            <a:r>
              <a:rPr lang="en-US" dirty="0" err="1" smtClean="0"/>
              <a:t>myDouble</a:t>
            </a:r>
            <a:r>
              <a:rPr lang="en-US" dirty="0"/>
              <a:t>);   // Outputs 9.0</a:t>
            </a:r>
          </a:p>
          <a:p>
            <a:pPr marL="914400" lvl="2" indent="0" algn="just">
              <a:buNone/>
            </a:pPr>
            <a:r>
              <a:rPr lang="en-US" dirty="0" smtClean="0"/>
              <a:t>}</a:t>
            </a:r>
            <a:endParaRPr lang="en-US" dirty="0"/>
          </a:p>
          <a:p>
            <a:pPr marL="457200" lvl="1" indent="0" algn="just">
              <a:buNone/>
            </a:pPr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45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Java Type 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Narrowing </a:t>
            </a:r>
            <a:r>
              <a:rPr lang="en-US" sz="3200" dirty="0" smtClean="0"/>
              <a:t>Casting</a:t>
            </a:r>
            <a:r>
              <a:rPr lang="en-US" sz="3200" dirty="0"/>
              <a:t>: must be done manually by placing the type in parentheses in front of the value:</a:t>
            </a:r>
            <a:endParaRPr lang="en-US" sz="3200" dirty="0" smtClean="0"/>
          </a:p>
          <a:p>
            <a:pPr marL="457200" lvl="1" indent="0" algn="just">
              <a:buNone/>
            </a:pPr>
            <a:r>
              <a:rPr lang="en-US" dirty="0"/>
              <a:t>public class </a:t>
            </a:r>
            <a:r>
              <a:rPr lang="en-US" dirty="0" err="1"/>
              <a:t>MyClass</a:t>
            </a:r>
            <a:r>
              <a:rPr lang="en-US" dirty="0"/>
              <a:t> {</a:t>
            </a:r>
          </a:p>
          <a:p>
            <a:pPr marL="914400" lvl="2" indent="0" algn="just">
              <a:buNone/>
            </a:pPr>
            <a:r>
              <a:rPr lang="en-US" dirty="0" smtClean="0"/>
              <a:t>public </a:t>
            </a:r>
            <a:r>
              <a:rPr lang="en-US" dirty="0"/>
              <a:t>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1371600" lvl="3" indent="0" algn="just">
              <a:buNone/>
            </a:pPr>
            <a:r>
              <a:rPr lang="en-US" dirty="0" smtClean="0"/>
              <a:t>double </a:t>
            </a:r>
            <a:r>
              <a:rPr lang="en-US" dirty="0" err="1"/>
              <a:t>myDouble</a:t>
            </a:r>
            <a:r>
              <a:rPr lang="en-US" dirty="0"/>
              <a:t> = 9.78;</a:t>
            </a:r>
          </a:p>
          <a:p>
            <a:pPr marL="1371600" lvl="3" indent="0" algn="just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/>
              <a:t>myInt</a:t>
            </a:r>
            <a:r>
              <a:rPr lang="en-US" dirty="0"/>
              <a:t> = (</a:t>
            </a:r>
            <a:r>
              <a:rPr lang="en-US" dirty="0" err="1"/>
              <a:t>int</a:t>
            </a:r>
            <a:r>
              <a:rPr lang="en-US" dirty="0"/>
              <a:t>) </a:t>
            </a:r>
            <a:r>
              <a:rPr lang="en-US" dirty="0" err="1"/>
              <a:t>myDouble</a:t>
            </a:r>
            <a:r>
              <a:rPr lang="en-US" dirty="0"/>
              <a:t>; // Manual casting: double to </a:t>
            </a:r>
            <a:r>
              <a:rPr lang="en-US" dirty="0" err="1"/>
              <a:t>int</a:t>
            </a:r>
            <a:endParaRPr lang="en-US" dirty="0"/>
          </a:p>
          <a:p>
            <a:pPr marL="1371600" lvl="3" indent="0" algn="just">
              <a:buNone/>
            </a:pPr>
            <a:r>
              <a:rPr lang="en-US" dirty="0" err="1" smtClean="0"/>
              <a:t>System.out.println</a:t>
            </a:r>
            <a:r>
              <a:rPr lang="en-US" dirty="0" smtClean="0"/>
              <a:t>(</a:t>
            </a:r>
            <a:r>
              <a:rPr lang="en-US" dirty="0" err="1" smtClean="0"/>
              <a:t>myDouble</a:t>
            </a:r>
            <a:r>
              <a:rPr lang="en-US" dirty="0"/>
              <a:t>);   // Outputs 9.78</a:t>
            </a:r>
          </a:p>
          <a:p>
            <a:pPr marL="1371600" lvl="3" indent="0" algn="just">
              <a:buNone/>
            </a:pPr>
            <a:r>
              <a:rPr lang="en-US" dirty="0" err="1" smtClean="0"/>
              <a:t>System.out.println</a:t>
            </a:r>
            <a:r>
              <a:rPr lang="en-US" dirty="0" smtClean="0"/>
              <a:t>(</a:t>
            </a:r>
            <a:r>
              <a:rPr lang="en-US" dirty="0" err="1" smtClean="0"/>
              <a:t>myInt</a:t>
            </a:r>
            <a:r>
              <a:rPr lang="en-US" dirty="0"/>
              <a:t>);      // Outputs 9</a:t>
            </a:r>
          </a:p>
          <a:p>
            <a:pPr marL="914400" lvl="2" indent="0" algn="just">
              <a:buNone/>
            </a:pPr>
            <a:r>
              <a:rPr lang="en-US" dirty="0" smtClean="0"/>
              <a:t>}</a:t>
            </a:r>
            <a:endParaRPr lang="en-US" dirty="0"/>
          </a:p>
          <a:p>
            <a:pPr marL="457200" lvl="1" indent="0" algn="just">
              <a:buNone/>
            </a:pPr>
            <a:r>
              <a:rPr lang="en-US" dirty="0"/>
              <a:t>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378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Java If statement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The Java if statement is used to test the condition. It checks </a:t>
            </a:r>
            <a:r>
              <a:rPr lang="en-US" sz="3200" dirty="0" err="1"/>
              <a:t>boolean</a:t>
            </a:r>
            <a:r>
              <a:rPr lang="en-US" sz="3200" dirty="0"/>
              <a:t> condition: true or false. </a:t>
            </a:r>
            <a:endParaRPr lang="en-US" sz="3200" dirty="0" smtClean="0"/>
          </a:p>
          <a:p>
            <a:pPr algn="just"/>
            <a:r>
              <a:rPr lang="en-US" sz="3200" dirty="0" smtClean="0"/>
              <a:t>There </a:t>
            </a:r>
            <a:r>
              <a:rPr lang="en-US" sz="3200" dirty="0"/>
              <a:t>are various types of if statement in </a:t>
            </a:r>
            <a:r>
              <a:rPr lang="en-US" sz="3200" dirty="0" smtClean="0"/>
              <a:t>java</a:t>
            </a:r>
            <a:r>
              <a:rPr lang="en-US" sz="3200" dirty="0"/>
              <a:t>:</a:t>
            </a:r>
          </a:p>
          <a:p>
            <a:pPr lvl="1" algn="just"/>
            <a:r>
              <a:rPr lang="en-US" dirty="0"/>
              <a:t>if statement</a:t>
            </a:r>
          </a:p>
          <a:p>
            <a:pPr lvl="1" algn="just"/>
            <a:r>
              <a:rPr lang="en-US" dirty="0"/>
              <a:t>if-else statement</a:t>
            </a:r>
          </a:p>
          <a:p>
            <a:pPr lvl="1" algn="just"/>
            <a:r>
              <a:rPr lang="en-US" dirty="0"/>
              <a:t>if-else-if ladder</a:t>
            </a:r>
          </a:p>
          <a:p>
            <a:pPr lvl="1" algn="just"/>
            <a:r>
              <a:rPr lang="en-US" dirty="0"/>
              <a:t>nested if statement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422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If statement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3200" dirty="0"/>
              <a:t>The Java if statement tests the condition. It executes the if block if condition is </a:t>
            </a:r>
            <a:r>
              <a:rPr lang="en-US" sz="3200" dirty="0" smtClean="0"/>
              <a:t>true. Syntax</a:t>
            </a:r>
            <a:r>
              <a:rPr lang="en-US" sz="3200" dirty="0"/>
              <a:t>:</a:t>
            </a:r>
          </a:p>
          <a:p>
            <a:pPr marL="457200" lvl="1" indent="0" algn="just">
              <a:buNone/>
            </a:pPr>
            <a:r>
              <a:rPr lang="en-US" b="1" dirty="0" smtClean="0"/>
              <a:t>if(condition</a:t>
            </a:r>
            <a:r>
              <a:rPr lang="en-US" b="1" dirty="0"/>
              <a:t>){  </a:t>
            </a:r>
          </a:p>
          <a:p>
            <a:pPr marL="457200" lvl="1" indent="0" algn="just">
              <a:buNone/>
            </a:pPr>
            <a:r>
              <a:rPr lang="en-US" b="1" dirty="0" smtClean="0"/>
              <a:t>	//</a:t>
            </a:r>
            <a:r>
              <a:rPr lang="en-US" b="1" dirty="0"/>
              <a:t>code to be executed  </a:t>
            </a:r>
          </a:p>
          <a:p>
            <a:pPr marL="457200" lvl="1" indent="0" algn="just">
              <a:buNone/>
            </a:pPr>
            <a:r>
              <a:rPr lang="en-US" b="1" dirty="0"/>
              <a:t>} </a:t>
            </a:r>
            <a:endParaRPr lang="en-US" b="1" dirty="0" smtClean="0"/>
          </a:p>
          <a:p>
            <a:pPr algn="just"/>
            <a:r>
              <a:rPr lang="en-US" dirty="0" smtClean="0"/>
              <a:t>Example:</a:t>
            </a:r>
          </a:p>
          <a:p>
            <a:pPr marL="457200" lvl="1" indent="0" algn="just">
              <a:buNone/>
            </a:pPr>
            <a:r>
              <a:rPr lang="en-US" dirty="0"/>
              <a:t>public class </a:t>
            </a:r>
            <a:r>
              <a:rPr lang="en-US" dirty="0" err="1"/>
              <a:t>IfExample</a:t>
            </a:r>
            <a:r>
              <a:rPr lang="en-US" dirty="0"/>
              <a:t> {  </a:t>
            </a:r>
          </a:p>
          <a:p>
            <a:pPr marL="914400" lvl="2" indent="0" algn="just">
              <a:buNone/>
            </a:pPr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{  </a:t>
            </a:r>
          </a:p>
          <a:p>
            <a:pPr marL="1371600" lvl="3" indent="0" algn="just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age=20;  </a:t>
            </a:r>
          </a:p>
          <a:p>
            <a:pPr marL="1371600" lvl="3" indent="0" algn="just">
              <a:buNone/>
            </a:pPr>
            <a:r>
              <a:rPr lang="en-US" dirty="0" smtClean="0"/>
              <a:t>if(age&gt;18</a:t>
            </a:r>
            <a:r>
              <a:rPr lang="en-US" dirty="0"/>
              <a:t>){  </a:t>
            </a:r>
          </a:p>
          <a:p>
            <a:pPr marL="1371600" lvl="3" indent="0" algn="just">
              <a:buNone/>
            </a:pPr>
            <a:r>
              <a:rPr lang="en-US" dirty="0" smtClean="0"/>
              <a:t>	</a:t>
            </a:r>
            <a:r>
              <a:rPr lang="en-US" dirty="0" err="1" smtClean="0"/>
              <a:t>System.out.print</a:t>
            </a:r>
            <a:r>
              <a:rPr lang="en-US" dirty="0"/>
              <a:t>("Age is greater than 18");  </a:t>
            </a:r>
          </a:p>
          <a:p>
            <a:pPr marL="1371600" lvl="3" indent="0" algn="just">
              <a:buNone/>
            </a:pPr>
            <a:r>
              <a:rPr lang="en-US" dirty="0" smtClean="0"/>
              <a:t>}  </a:t>
            </a:r>
            <a:endParaRPr lang="en-US" dirty="0"/>
          </a:p>
          <a:p>
            <a:pPr marL="914400" lvl="2" indent="0" algn="just">
              <a:buNone/>
            </a:pPr>
            <a:r>
              <a:rPr lang="en-US" dirty="0"/>
              <a:t>}  </a:t>
            </a:r>
          </a:p>
          <a:p>
            <a:pPr marL="457200" lvl="1" indent="0" algn="just">
              <a:buNone/>
            </a:pPr>
            <a:r>
              <a:rPr lang="en-US" dirty="0"/>
              <a:t>}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18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4931" y="1687566"/>
            <a:ext cx="2286000" cy="392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9182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If-else statement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sz="3200" dirty="0"/>
              <a:t>The Java if statement tests the condition. It executes the if block if condition is </a:t>
            </a:r>
            <a:r>
              <a:rPr lang="en-US" sz="3200" dirty="0" smtClean="0"/>
              <a:t>true. Syntax</a:t>
            </a:r>
            <a:r>
              <a:rPr lang="en-US" sz="3200" dirty="0"/>
              <a:t>:</a:t>
            </a:r>
          </a:p>
          <a:p>
            <a:pPr marL="457200" lvl="1" indent="0" algn="just">
              <a:buNone/>
            </a:pPr>
            <a:r>
              <a:rPr lang="en-US" b="1" dirty="0"/>
              <a:t>if(condition){  </a:t>
            </a:r>
          </a:p>
          <a:p>
            <a:pPr marL="457200" lvl="1" indent="0" algn="just">
              <a:buNone/>
            </a:pPr>
            <a:r>
              <a:rPr lang="en-US" b="1" dirty="0" smtClean="0"/>
              <a:t>	//</a:t>
            </a:r>
            <a:r>
              <a:rPr lang="en-US" b="1" dirty="0"/>
              <a:t>code if condition is true  </a:t>
            </a:r>
          </a:p>
          <a:p>
            <a:pPr marL="457200" lvl="1" indent="0" algn="just">
              <a:buNone/>
            </a:pPr>
            <a:r>
              <a:rPr lang="en-US" b="1" dirty="0"/>
              <a:t>}else{  </a:t>
            </a:r>
          </a:p>
          <a:p>
            <a:pPr marL="457200" lvl="1" indent="0" algn="just">
              <a:buNone/>
            </a:pPr>
            <a:r>
              <a:rPr lang="en-US" b="1" dirty="0" smtClean="0"/>
              <a:t>	//</a:t>
            </a:r>
            <a:r>
              <a:rPr lang="en-US" b="1" dirty="0"/>
              <a:t>code if condition is false  </a:t>
            </a:r>
          </a:p>
          <a:p>
            <a:pPr marL="457200" lvl="1" indent="0" algn="just">
              <a:buNone/>
            </a:pPr>
            <a:r>
              <a:rPr lang="en-US" b="1" dirty="0"/>
              <a:t>} </a:t>
            </a:r>
          </a:p>
          <a:p>
            <a:pPr algn="just"/>
            <a:r>
              <a:rPr lang="en-US" dirty="0" smtClean="0"/>
              <a:t>Example:</a:t>
            </a:r>
          </a:p>
          <a:p>
            <a:pPr marL="457200" lvl="1" indent="0" algn="just">
              <a:buNone/>
            </a:pPr>
            <a:r>
              <a:rPr lang="en-US" dirty="0"/>
              <a:t>public class </a:t>
            </a:r>
            <a:r>
              <a:rPr lang="en-US" dirty="0" err="1"/>
              <a:t>IfExample</a:t>
            </a:r>
            <a:r>
              <a:rPr lang="en-US" dirty="0"/>
              <a:t> {  </a:t>
            </a:r>
          </a:p>
          <a:p>
            <a:pPr marL="914400" lvl="2" indent="0" algn="just">
              <a:buNone/>
            </a:pPr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{  </a:t>
            </a:r>
          </a:p>
          <a:p>
            <a:pPr marL="1371600" lvl="3" indent="0" algn="just">
              <a:buNone/>
            </a:pP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 year=2020;    </a:t>
            </a:r>
          </a:p>
          <a:p>
            <a:pPr marL="1371600" lvl="3" indent="0" algn="just">
              <a:buNone/>
            </a:pPr>
            <a:r>
              <a:rPr lang="en-US" dirty="0"/>
              <a:t>    if(((year % 4 ==0) &amp;&amp; (year % 100 !=0)) || (year % 400==0)){  </a:t>
            </a:r>
          </a:p>
          <a:p>
            <a:pPr marL="1371600" lvl="3" indent="0" algn="just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("LEAP YEAR");  </a:t>
            </a:r>
          </a:p>
          <a:p>
            <a:pPr marL="1371600" lvl="3" indent="0" algn="just">
              <a:buNone/>
            </a:pPr>
            <a:r>
              <a:rPr lang="en-US" dirty="0"/>
              <a:t>    }  </a:t>
            </a:r>
          </a:p>
          <a:p>
            <a:pPr marL="1371600" lvl="3" indent="0" algn="just">
              <a:buNone/>
            </a:pPr>
            <a:r>
              <a:rPr lang="en-US" dirty="0"/>
              <a:t>    else{  </a:t>
            </a:r>
          </a:p>
          <a:p>
            <a:pPr marL="1371600" lvl="3" indent="0" algn="just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("COMMON YEAR");  </a:t>
            </a:r>
          </a:p>
          <a:p>
            <a:pPr marL="1371600" lvl="3" indent="0" algn="just">
              <a:buNone/>
            </a:pPr>
            <a:r>
              <a:rPr lang="en-US" dirty="0"/>
              <a:t>    } </a:t>
            </a:r>
            <a:endParaRPr lang="en-US" dirty="0" smtClean="0"/>
          </a:p>
          <a:p>
            <a:pPr marL="914400" lvl="2" indent="0" algn="just">
              <a:buNone/>
            </a:pPr>
            <a:r>
              <a:rPr lang="en-US" dirty="0" smtClean="0"/>
              <a:t>}  </a:t>
            </a:r>
            <a:endParaRPr lang="en-US" dirty="0"/>
          </a:p>
          <a:p>
            <a:pPr marL="457200" lvl="1" indent="0" algn="just">
              <a:buNone/>
            </a:pPr>
            <a:r>
              <a:rPr lang="en-US" dirty="0"/>
              <a:t>}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19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6993" y="1517433"/>
            <a:ext cx="3250324" cy="4539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742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If-else-if ladder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The if-else-if ladder statement executes one condition from multiple </a:t>
            </a:r>
            <a:r>
              <a:rPr lang="en-US" sz="3200" dirty="0" smtClean="0"/>
              <a:t>statements. Syntax</a:t>
            </a:r>
            <a:r>
              <a:rPr lang="en-US" sz="3200" dirty="0"/>
              <a:t>:</a:t>
            </a:r>
          </a:p>
          <a:p>
            <a:pPr marL="0" indent="0" algn="just">
              <a:buNone/>
            </a:pPr>
            <a:r>
              <a:rPr lang="en-US" sz="2000" b="1" dirty="0" smtClean="0"/>
              <a:t>if(</a:t>
            </a:r>
            <a:r>
              <a:rPr lang="en-US" sz="2000" b="1" dirty="0" err="1" smtClean="0"/>
              <a:t>condition1</a:t>
            </a:r>
            <a:r>
              <a:rPr lang="en-US" sz="2000" b="1" dirty="0"/>
              <a:t>){  </a:t>
            </a:r>
          </a:p>
          <a:p>
            <a:pPr marL="0" indent="0" algn="just">
              <a:buNone/>
            </a:pPr>
            <a:r>
              <a:rPr lang="en-US" sz="2000" b="1" dirty="0" smtClean="0"/>
              <a:t>	//</a:t>
            </a:r>
            <a:r>
              <a:rPr lang="en-US" sz="2000" b="1" dirty="0"/>
              <a:t>code to be executed if </a:t>
            </a:r>
            <a:r>
              <a:rPr lang="en-US" sz="2000" b="1" dirty="0" err="1"/>
              <a:t>condition1</a:t>
            </a:r>
            <a:r>
              <a:rPr lang="en-US" sz="2000" b="1" dirty="0"/>
              <a:t> is true  </a:t>
            </a:r>
          </a:p>
          <a:p>
            <a:pPr marL="0" indent="0" algn="just">
              <a:buNone/>
            </a:pPr>
            <a:r>
              <a:rPr lang="en-US" sz="2000" b="1" dirty="0"/>
              <a:t>}else if(</a:t>
            </a:r>
            <a:r>
              <a:rPr lang="en-US" sz="2000" b="1" dirty="0" err="1"/>
              <a:t>condition2</a:t>
            </a:r>
            <a:r>
              <a:rPr lang="en-US" sz="2000" b="1" dirty="0"/>
              <a:t>){  </a:t>
            </a:r>
          </a:p>
          <a:p>
            <a:pPr marL="0" indent="0" algn="just">
              <a:buNone/>
            </a:pPr>
            <a:r>
              <a:rPr lang="en-US" sz="2000" b="1" dirty="0" smtClean="0"/>
              <a:t>	//</a:t>
            </a:r>
            <a:r>
              <a:rPr lang="en-US" sz="2000" b="1" dirty="0"/>
              <a:t>code to be executed if </a:t>
            </a:r>
            <a:r>
              <a:rPr lang="en-US" sz="2000" b="1" dirty="0" err="1"/>
              <a:t>condition2</a:t>
            </a:r>
            <a:r>
              <a:rPr lang="en-US" sz="2000" b="1" dirty="0"/>
              <a:t> is true  </a:t>
            </a:r>
          </a:p>
          <a:p>
            <a:pPr marL="0" indent="0" algn="just">
              <a:buNone/>
            </a:pPr>
            <a:r>
              <a:rPr lang="en-US" sz="2000" b="1" dirty="0"/>
              <a:t>}  </a:t>
            </a:r>
          </a:p>
          <a:p>
            <a:pPr marL="0" indent="0" algn="just">
              <a:buNone/>
            </a:pPr>
            <a:r>
              <a:rPr lang="en-US" sz="2000" b="1" dirty="0" smtClean="0"/>
              <a:t>...  </a:t>
            </a:r>
            <a:endParaRPr lang="en-US" sz="2000" b="1" dirty="0"/>
          </a:p>
          <a:p>
            <a:pPr marL="0" indent="0" algn="just">
              <a:buNone/>
            </a:pPr>
            <a:r>
              <a:rPr lang="en-US" sz="2000" b="1" dirty="0"/>
              <a:t>else{  </a:t>
            </a:r>
          </a:p>
          <a:p>
            <a:pPr marL="0" indent="0" algn="just">
              <a:buNone/>
            </a:pPr>
            <a:r>
              <a:rPr lang="en-US" sz="2000" b="1" dirty="0" smtClean="0"/>
              <a:t>	//</a:t>
            </a:r>
            <a:r>
              <a:rPr lang="en-US" sz="2000" b="1" dirty="0"/>
              <a:t>code to be executed if all the conditions are false  </a:t>
            </a:r>
          </a:p>
          <a:p>
            <a:pPr marL="0" indent="0" algn="just">
              <a:buNone/>
            </a:pPr>
            <a:r>
              <a:rPr lang="en-US" sz="2000" b="1" dirty="0"/>
              <a:t>} </a:t>
            </a:r>
            <a:endParaRPr lang="en-US" sz="2000" b="1" dirty="0" smtClean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20</a:t>
            </a:fld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160" y="1703662"/>
            <a:ext cx="5172075" cy="382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742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If-else-if ladder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200" dirty="0"/>
              <a:t>public class </a:t>
            </a:r>
            <a:r>
              <a:rPr lang="en-US" sz="3200" dirty="0" err="1"/>
              <a:t>IfElseIfExample</a:t>
            </a:r>
            <a:r>
              <a:rPr lang="en-US" sz="3200" dirty="0"/>
              <a:t> {  </a:t>
            </a:r>
            <a:endParaRPr lang="en-US" sz="3200" dirty="0" smtClean="0"/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200" dirty="0"/>
              <a:t>	</a:t>
            </a:r>
            <a:r>
              <a:rPr lang="en-US" dirty="0" smtClean="0"/>
              <a:t>public </a:t>
            </a:r>
            <a:r>
              <a:rPr lang="en-US" dirty="0"/>
              <a:t>static void main(String[] </a:t>
            </a:r>
            <a:r>
              <a:rPr lang="en-US" dirty="0" err="1"/>
              <a:t>args</a:t>
            </a:r>
            <a:r>
              <a:rPr lang="en-US" dirty="0"/>
              <a:t>) {  </a:t>
            </a:r>
          </a:p>
          <a:p>
            <a:pPr marL="1371600" lvl="3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 err="1" smtClean="0"/>
              <a:t>int</a:t>
            </a:r>
            <a:r>
              <a:rPr lang="en-US" sz="2400" dirty="0" smtClean="0"/>
              <a:t> </a:t>
            </a:r>
            <a:r>
              <a:rPr lang="en-US" sz="2400" dirty="0"/>
              <a:t>marks=65;  </a:t>
            </a:r>
          </a:p>
          <a:p>
            <a:pPr marL="1371600" lvl="3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 smtClean="0"/>
              <a:t>if(marks&lt;50){ </a:t>
            </a:r>
            <a:r>
              <a:rPr lang="en-US" sz="2400" dirty="0" err="1" smtClean="0"/>
              <a:t>System.out.println</a:t>
            </a:r>
            <a:r>
              <a:rPr lang="en-US" sz="2400" dirty="0"/>
              <a:t>("fail");  </a:t>
            </a:r>
            <a:r>
              <a:rPr lang="en-US" sz="2400" dirty="0" smtClean="0"/>
              <a:t>}  </a:t>
            </a:r>
            <a:endParaRPr lang="en-US" sz="2400" dirty="0"/>
          </a:p>
          <a:p>
            <a:pPr marL="1371600" lvl="3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 smtClean="0"/>
              <a:t>else if(marks&lt;60</a:t>
            </a:r>
            <a:r>
              <a:rPr lang="en-US" sz="2400" dirty="0"/>
              <a:t>){ </a:t>
            </a:r>
            <a:r>
              <a:rPr lang="en-US" sz="2400" dirty="0" smtClean="0"/>
              <a:t> </a:t>
            </a:r>
            <a:r>
              <a:rPr lang="en-US" sz="2400" dirty="0" err="1"/>
              <a:t>System.out.println</a:t>
            </a:r>
            <a:r>
              <a:rPr lang="en-US" sz="2400" dirty="0"/>
              <a:t>("D grade");  </a:t>
            </a:r>
            <a:r>
              <a:rPr lang="en-US" sz="2400" dirty="0" smtClean="0"/>
              <a:t>}  </a:t>
            </a:r>
            <a:endParaRPr lang="en-US" sz="2400" dirty="0"/>
          </a:p>
          <a:p>
            <a:pPr marL="1371600" lvl="3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 smtClean="0"/>
              <a:t>else if(marks&lt;70</a:t>
            </a:r>
            <a:r>
              <a:rPr lang="en-US" sz="2400" dirty="0"/>
              <a:t>){  </a:t>
            </a:r>
            <a:r>
              <a:rPr lang="en-US" sz="2400" dirty="0" err="1" smtClean="0"/>
              <a:t>System.out.println</a:t>
            </a:r>
            <a:r>
              <a:rPr lang="en-US" sz="2400" dirty="0"/>
              <a:t>("C grade");  </a:t>
            </a:r>
            <a:r>
              <a:rPr lang="en-US" sz="2400" dirty="0" smtClean="0"/>
              <a:t>}  </a:t>
            </a:r>
            <a:endParaRPr lang="en-US" sz="2400" dirty="0"/>
          </a:p>
          <a:p>
            <a:pPr marL="1371600" lvl="3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 smtClean="0"/>
              <a:t>else if(marks&lt;80</a:t>
            </a:r>
            <a:r>
              <a:rPr lang="en-US" sz="2400" dirty="0"/>
              <a:t>){  </a:t>
            </a:r>
            <a:r>
              <a:rPr lang="en-US" sz="2400" dirty="0" err="1" smtClean="0"/>
              <a:t>System.out.println</a:t>
            </a:r>
            <a:r>
              <a:rPr lang="en-US" sz="2400" dirty="0"/>
              <a:t>("B grade");  </a:t>
            </a:r>
            <a:r>
              <a:rPr lang="en-US" sz="2400" dirty="0" smtClean="0"/>
              <a:t>}  </a:t>
            </a:r>
            <a:endParaRPr lang="en-US" sz="2400" dirty="0"/>
          </a:p>
          <a:p>
            <a:pPr marL="1371600" lvl="3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 smtClean="0"/>
              <a:t>else </a:t>
            </a:r>
            <a:r>
              <a:rPr lang="en-US" sz="2400" dirty="0"/>
              <a:t>if(marks&gt;=80 &amp;&amp; marks&lt;90){  </a:t>
            </a:r>
            <a:r>
              <a:rPr lang="en-US" sz="2400" dirty="0" err="1" smtClean="0"/>
              <a:t>System.out.println</a:t>
            </a:r>
            <a:r>
              <a:rPr lang="en-US" sz="2400" dirty="0"/>
              <a:t>("A grade");  </a:t>
            </a:r>
            <a:r>
              <a:rPr lang="en-US" sz="2400" dirty="0" smtClean="0"/>
              <a:t>}</a:t>
            </a:r>
          </a:p>
          <a:p>
            <a:pPr marL="1371600" lvl="3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 smtClean="0"/>
              <a:t>else </a:t>
            </a:r>
            <a:r>
              <a:rPr lang="en-US" sz="2400" dirty="0"/>
              <a:t>if(marks&gt;=90 &amp;&amp; marks&lt;100</a:t>
            </a:r>
            <a:r>
              <a:rPr lang="en-US" sz="2400" dirty="0" smtClean="0"/>
              <a:t>){  </a:t>
            </a:r>
            <a:r>
              <a:rPr lang="en-US" sz="2400" dirty="0" err="1"/>
              <a:t>System.out.println</a:t>
            </a:r>
            <a:r>
              <a:rPr lang="en-US" sz="2400" dirty="0"/>
              <a:t>("A+ grade");  }</a:t>
            </a:r>
            <a:endParaRPr lang="en-US" sz="2400" dirty="0" smtClean="0"/>
          </a:p>
          <a:p>
            <a:pPr marL="1371600" lvl="3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 smtClean="0"/>
              <a:t>else</a:t>
            </a:r>
            <a:r>
              <a:rPr lang="en-US" sz="2400" dirty="0"/>
              <a:t>{  </a:t>
            </a:r>
            <a:r>
              <a:rPr lang="en-US" sz="2400" dirty="0" err="1" smtClean="0"/>
              <a:t>System.out.println</a:t>
            </a:r>
            <a:r>
              <a:rPr lang="en-US" sz="2400" dirty="0"/>
              <a:t>("Invalid!");  </a:t>
            </a:r>
            <a:r>
              <a:rPr lang="en-US" sz="2400" dirty="0" smtClean="0"/>
              <a:t>} </a:t>
            </a:r>
            <a:r>
              <a:rPr lang="en-US" dirty="0" smtClean="0"/>
              <a:t> </a:t>
            </a:r>
            <a:endParaRPr lang="en-US" dirty="0"/>
          </a:p>
          <a:p>
            <a:pPr marL="457200" lvl="1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}  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200" dirty="0"/>
              <a:t>} </a:t>
            </a:r>
            <a:endParaRPr lang="en-US" sz="2000" b="1" dirty="0" smtClean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524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Nested </a:t>
            </a:r>
            <a:r>
              <a:rPr lang="en-US" sz="3200" dirty="0"/>
              <a:t>if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4057"/>
            <a:ext cx="7012864" cy="5128439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The nested if statement represents the if block within another if </a:t>
            </a:r>
            <a:r>
              <a:rPr lang="en-US" sz="3200" dirty="0" err="1" smtClean="0"/>
              <a:t>block.Syntax</a:t>
            </a:r>
            <a:r>
              <a:rPr lang="en-US" sz="3200" dirty="0"/>
              <a:t>:</a:t>
            </a:r>
          </a:p>
          <a:p>
            <a:pPr marL="457200" lvl="1" indent="0" algn="just">
              <a:buNone/>
            </a:pPr>
            <a:r>
              <a:rPr lang="en-US" b="1" dirty="0" smtClean="0"/>
              <a:t>if(condition</a:t>
            </a:r>
            <a:r>
              <a:rPr lang="en-US" b="1" dirty="0"/>
              <a:t>){    </a:t>
            </a:r>
          </a:p>
          <a:p>
            <a:pPr marL="457200" lvl="1" indent="0" algn="just">
              <a:buNone/>
            </a:pPr>
            <a:r>
              <a:rPr lang="en-US" b="1" dirty="0"/>
              <a:t>     //code to be executed    </a:t>
            </a:r>
          </a:p>
          <a:p>
            <a:pPr marL="457200" lvl="1" indent="0" algn="just">
              <a:buNone/>
            </a:pPr>
            <a:r>
              <a:rPr lang="en-US" b="1" dirty="0"/>
              <a:t>          if(condition){  </a:t>
            </a:r>
          </a:p>
          <a:p>
            <a:pPr marL="457200" lvl="1" indent="0" algn="just">
              <a:buNone/>
            </a:pPr>
            <a:r>
              <a:rPr lang="en-US" b="1" dirty="0"/>
              <a:t>             //code to be executed    </a:t>
            </a:r>
          </a:p>
          <a:p>
            <a:pPr marL="457200" lvl="1" indent="0" algn="just">
              <a:buNone/>
            </a:pPr>
            <a:r>
              <a:rPr lang="en-US" b="1" dirty="0"/>
              <a:t>    }    </a:t>
            </a:r>
          </a:p>
          <a:p>
            <a:pPr marL="457200" lvl="1" indent="0" algn="just">
              <a:buNone/>
            </a:pPr>
            <a:r>
              <a:rPr lang="en-US" b="1" dirty="0"/>
              <a:t>}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22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920" y="926876"/>
            <a:ext cx="1724025" cy="536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2040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Nested </a:t>
            </a:r>
            <a:r>
              <a:rPr lang="en-US" sz="3200" dirty="0"/>
              <a:t>if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4057"/>
            <a:ext cx="10515600" cy="564741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3200" dirty="0"/>
              <a:t>public class </a:t>
            </a:r>
            <a:r>
              <a:rPr lang="en-US" sz="3200" dirty="0" err="1" smtClean="0"/>
              <a:t>JavaNestedIfExample</a:t>
            </a:r>
            <a:r>
              <a:rPr lang="en-US" sz="3200" dirty="0" smtClean="0"/>
              <a:t>{      </a:t>
            </a:r>
            <a:endParaRPr lang="en-US" sz="3200" dirty="0"/>
          </a:p>
          <a:p>
            <a:pPr marL="457200" lvl="1" indent="0" algn="just">
              <a:buNone/>
            </a:pPr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{      </a:t>
            </a:r>
          </a:p>
          <a:p>
            <a:pPr marL="914400" lvl="2" indent="0" algn="just">
              <a:buNone/>
            </a:pPr>
            <a:r>
              <a:rPr lang="en-US" dirty="0" smtClean="0"/>
              <a:t>//Creating two variables for age and weight</a:t>
            </a:r>
          </a:p>
          <a:p>
            <a:pPr marL="914400" lvl="2" indent="0" algn="just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age=25, weight=48;  </a:t>
            </a:r>
            <a:endParaRPr lang="en-US" dirty="0"/>
          </a:p>
          <a:p>
            <a:pPr marL="914400" lvl="2" indent="0" algn="just">
              <a:buNone/>
            </a:pPr>
            <a:r>
              <a:rPr lang="en-US" dirty="0" smtClean="0"/>
              <a:t>//</a:t>
            </a:r>
            <a:r>
              <a:rPr lang="en-US" dirty="0"/>
              <a:t>applying condition on age and </a:t>
            </a:r>
            <a:r>
              <a:rPr lang="en-US" dirty="0" smtClean="0"/>
              <a:t>weight</a:t>
            </a:r>
            <a:endParaRPr lang="en-US" dirty="0"/>
          </a:p>
          <a:p>
            <a:pPr marL="914400" lvl="2" indent="0" algn="just">
              <a:buNone/>
            </a:pPr>
            <a:r>
              <a:rPr lang="en-US" dirty="0" smtClean="0"/>
              <a:t>if(age</a:t>
            </a:r>
            <a:r>
              <a:rPr lang="en-US" dirty="0"/>
              <a:t>&gt;=18</a:t>
            </a:r>
            <a:r>
              <a:rPr lang="en-US" dirty="0" smtClean="0"/>
              <a:t>){  </a:t>
            </a:r>
            <a:endParaRPr lang="en-US" dirty="0"/>
          </a:p>
          <a:p>
            <a:pPr marL="1371600" lvl="3" indent="0" algn="just">
              <a:buNone/>
            </a:pPr>
            <a:r>
              <a:rPr lang="en-US" dirty="0" smtClean="0"/>
              <a:t>if(weight&gt;50){</a:t>
            </a:r>
            <a:endParaRPr lang="en-US" dirty="0"/>
          </a:p>
          <a:p>
            <a:pPr marL="1371600" lvl="3" indent="0" algn="just">
              <a:buNone/>
            </a:pPr>
            <a:r>
              <a:rPr lang="en-US" dirty="0" smtClean="0"/>
              <a:t>	</a:t>
            </a:r>
            <a:r>
              <a:rPr lang="en-US" dirty="0" err="1" smtClean="0"/>
              <a:t>System.out.println</a:t>
            </a:r>
            <a:r>
              <a:rPr lang="en-US" dirty="0"/>
              <a:t>("You are eligible to donate blood</a:t>
            </a:r>
            <a:r>
              <a:rPr lang="en-US" dirty="0" smtClean="0"/>
              <a:t>");</a:t>
            </a:r>
            <a:endParaRPr lang="en-US" dirty="0"/>
          </a:p>
          <a:p>
            <a:pPr marL="1371600" lvl="3" indent="0" algn="just">
              <a:buNone/>
            </a:pPr>
            <a:r>
              <a:rPr lang="en-US" dirty="0" smtClean="0"/>
              <a:t>} </a:t>
            </a:r>
            <a:r>
              <a:rPr lang="en-US" dirty="0"/>
              <a:t>else{  </a:t>
            </a:r>
          </a:p>
          <a:p>
            <a:pPr marL="1371600" lvl="3" indent="0" algn="just">
              <a:buNone/>
            </a:pPr>
            <a:r>
              <a:rPr lang="en-US" dirty="0" smtClean="0"/>
              <a:t>	</a:t>
            </a:r>
            <a:r>
              <a:rPr lang="en-US" dirty="0" err="1" smtClean="0"/>
              <a:t>System.out.println</a:t>
            </a:r>
            <a:r>
              <a:rPr lang="en-US" dirty="0"/>
              <a:t>("You are not eligible to donate blood</a:t>
            </a:r>
            <a:r>
              <a:rPr lang="en-US" dirty="0" smtClean="0"/>
              <a:t>");</a:t>
            </a:r>
            <a:endParaRPr lang="en-US" dirty="0"/>
          </a:p>
          <a:p>
            <a:pPr marL="1371600" lvl="3" indent="0" algn="just">
              <a:buNone/>
            </a:pPr>
            <a:r>
              <a:rPr lang="en-US" dirty="0" smtClean="0"/>
              <a:t>}  </a:t>
            </a:r>
            <a:endParaRPr lang="en-US" dirty="0"/>
          </a:p>
          <a:p>
            <a:pPr marL="914400" lvl="2" indent="0" algn="just">
              <a:buNone/>
            </a:pPr>
            <a:r>
              <a:rPr lang="en-US" dirty="0" smtClean="0"/>
              <a:t>} </a:t>
            </a:r>
            <a:r>
              <a:rPr lang="en-US" dirty="0"/>
              <a:t>else{  </a:t>
            </a:r>
          </a:p>
          <a:p>
            <a:pPr marL="914400" lvl="2" indent="0" algn="just">
              <a:buNone/>
            </a:pPr>
            <a:r>
              <a:rPr lang="en-US" dirty="0"/>
              <a:t> </a:t>
            </a:r>
            <a:r>
              <a:rPr lang="en-US" dirty="0" smtClean="0"/>
              <a:t>       </a:t>
            </a:r>
            <a:r>
              <a:rPr lang="en-US" dirty="0" err="1" smtClean="0"/>
              <a:t>System.out.println</a:t>
            </a:r>
            <a:r>
              <a:rPr lang="en-US" dirty="0"/>
              <a:t>("Age must be greater than 18");  </a:t>
            </a:r>
          </a:p>
          <a:p>
            <a:pPr marL="914400" lvl="2" indent="0" algn="just">
              <a:buNone/>
            </a:pPr>
            <a:r>
              <a:rPr lang="en-US" dirty="0" smtClean="0"/>
              <a:t>}  </a:t>
            </a:r>
            <a:endParaRPr lang="en-US" dirty="0"/>
          </a:p>
          <a:p>
            <a:pPr marL="457200" lvl="1" indent="0" algn="just">
              <a:buNone/>
            </a:pPr>
            <a:r>
              <a:rPr lang="en-US" dirty="0"/>
              <a:t>} 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}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37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Java Switch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4057"/>
            <a:ext cx="10515600" cy="56474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sz="3200" dirty="0"/>
              <a:t>The Java switch statement executes one statement from multiple conditions. It is like if-else-if ladder statement. The switch statement works with byte, short, </a:t>
            </a:r>
            <a:r>
              <a:rPr lang="en-US" sz="3200" dirty="0" err="1"/>
              <a:t>int</a:t>
            </a:r>
            <a:r>
              <a:rPr lang="en-US" sz="3200" dirty="0"/>
              <a:t>, long, </a:t>
            </a:r>
            <a:r>
              <a:rPr lang="en-US" sz="3200" dirty="0" err="1"/>
              <a:t>enum</a:t>
            </a:r>
            <a:r>
              <a:rPr lang="en-US" sz="3200" dirty="0"/>
              <a:t> types, String and some wrapper types like Byte, Short, </a:t>
            </a:r>
            <a:r>
              <a:rPr lang="en-US" sz="3200" dirty="0" err="1"/>
              <a:t>Int</a:t>
            </a:r>
            <a:r>
              <a:rPr lang="en-US" sz="3200" dirty="0"/>
              <a:t>, and Long. Since Java 7, you can use strings in the switch statement</a:t>
            </a:r>
            <a:r>
              <a:rPr lang="en-US" sz="3200" dirty="0" smtClean="0"/>
              <a:t>.</a:t>
            </a:r>
            <a:endParaRPr lang="en-US" sz="3200" dirty="0"/>
          </a:p>
          <a:p>
            <a:pPr algn="just"/>
            <a:r>
              <a:rPr lang="en-US" sz="3200" dirty="0"/>
              <a:t>In other words, the switch statement tests the equality of a variable against multiple values</a:t>
            </a:r>
            <a:r>
              <a:rPr lang="en-US" sz="3200" dirty="0" smtClean="0"/>
              <a:t>.</a:t>
            </a:r>
            <a:endParaRPr lang="en-US" sz="3200" dirty="0"/>
          </a:p>
          <a:p>
            <a:pPr algn="just"/>
            <a:r>
              <a:rPr lang="en-US" sz="3200" dirty="0"/>
              <a:t>Points to Remember</a:t>
            </a:r>
          </a:p>
          <a:p>
            <a:pPr lvl="1" algn="just"/>
            <a:r>
              <a:rPr lang="en-US" dirty="0"/>
              <a:t>There can be one or N number of case values for a switch expression.</a:t>
            </a:r>
          </a:p>
          <a:p>
            <a:pPr lvl="1" algn="just"/>
            <a:r>
              <a:rPr lang="en-US" dirty="0"/>
              <a:t>The case value must be of switch expression type only. The case value must be literal or constant. It doesn't allow variables.</a:t>
            </a:r>
          </a:p>
          <a:p>
            <a:pPr lvl="1" algn="just"/>
            <a:r>
              <a:rPr lang="en-US" dirty="0"/>
              <a:t>The case values must be unique. In case of duplicate value, it renders compile-time error.</a:t>
            </a:r>
          </a:p>
          <a:p>
            <a:pPr lvl="1" algn="just"/>
            <a:r>
              <a:rPr lang="en-US" dirty="0"/>
              <a:t>The Java switch expression must be of byte, short, </a:t>
            </a:r>
            <a:r>
              <a:rPr lang="en-US" dirty="0" err="1"/>
              <a:t>int</a:t>
            </a:r>
            <a:r>
              <a:rPr lang="en-US" dirty="0"/>
              <a:t>, long (with its Wrapper type), </a:t>
            </a:r>
            <a:r>
              <a:rPr lang="en-US" dirty="0" err="1"/>
              <a:t>enums</a:t>
            </a:r>
            <a:r>
              <a:rPr lang="en-US" dirty="0"/>
              <a:t> and string.</a:t>
            </a:r>
          </a:p>
          <a:p>
            <a:pPr lvl="1" algn="just"/>
            <a:r>
              <a:rPr lang="en-US" dirty="0"/>
              <a:t>Each case statement can have a break statement which is optional. When control reaches to the break statement, it jumps the control after the switch expression. If a break statement is not found, it executes the next case.</a:t>
            </a:r>
          </a:p>
          <a:p>
            <a:pPr lvl="1" algn="just"/>
            <a:r>
              <a:rPr lang="en-US" dirty="0"/>
              <a:t>The case value can have a default label which is optional.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153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Switch </a:t>
            </a:r>
            <a:r>
              <a:rPr lang="en-US" sz="3200" dirty="0"/>
              <a:t>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4057"/>
            <a:ext cx="5073869" cy="5647418"/>
          </a:xfrm>
        </p:spPr>
        <p:txBody>
          <a:bodyPr>
            <a:normAutofit/>
          </a:bodyPr>
          <a:lstStyle/>
          <a:p>
            <a:pPr algn="just"/>
            <a:r>
              <a:rPr lang="en-US" sz="3200" dirty="0" smtClean="0"/>
              <a:t>Syntax:</a:t>
            </a:r>
          </a:p>
          <a:p>
            <a:pPr marL="457200" lvl="1" indent="0" algn="just">
              <a:buNone/>
            </a:pPr>
            <a:r>
              <a:rPr lang="en-US" b="1" dirty="0" smtClean="0"/>
              <a:t>switch(expression</a:t>
            </a:r>
            <a:r>
              <a:rPr lang="en-US" b="1" dirty="0"/>
              <a:t>){    </a:t>
            </a:r>
          </a:p>
          <a:p>
            <a:pPr marL="914400" lvl="2" indent="0" algn="just">
              <a:buNone/>
            </a:pPr>
            <a:r>
              <a:rPr lang="en-US" b="1" dirty="0" smtClean="0"/>
              <a:t>case </a:t>
            </a:r>
            <a:r>
              <a:rPr lang="en-US" b="1" dirty="0" err="1"/>
              <a:t>value1</a:t>
            </a:r>
            <a:r>
              <a:rPr lang="en-US" b="1" dirty="0"/>
              <a:t>:    </a:t>
            </a:r>
          </a:p>
          <a:p>
            <a:pPr marL="1371600" lvl="3" indent="0" algn="just">
              <a:buNone/>
            </a:pPr>
            <a:r>
              <a:rPr lang="en-US" b="1" dirty="0"/>
              <a:t> //code to be executed;    </a:t>
            </a:r>
          </a:p>
          <a:p>
            <a:pPr marL="1371600" lvl="3" indent="0" algn="just">
              <a:buNone/>
            </a:pPr>
            <a:r>
              <a:rPr lang="en-US" b="1" dirty="0"/>
              <a:t> break;  //optional  </a:t>
            </a:r>
          </a:p>
          <a:p>
            <a:pPr marL="914400" lvl="2" indent="0" algn="just">
              <a:buNone/>
            </a:pPr>
            <a:r>
              <a:rPr lang="en-US" b="1" dirty="0"/>
              <a:t>case </a:t>
            </a:r>
            <a:r>
              <a:rPr lang="en-US" b="1" dirty="0" err="1"/>
              <a:t>value2</a:t>
            </a:r>
            <a:r>
              <a:rPr lang="en-US" b="1" dirty="0"/>
              <a:t>:    </a:t>
            </a:r>
          </a:p>
          <a:p>
            <a:pPr marL="1371600" lvl="3" indent="0" algn="just">
              <a:buNone/>
            </a:pPr>
            <a:r>
              <a:rPr lang="en-US" b="1" dirty="0"/>
              <a:t> //code to be executed;    </a:t>
            </a:r>
          </a:p>
          <a:p>
            <a:pPr marL="1371600" lvl="3" indent="0" algn="just">
              <a:buNone/>
            </a:pPr>
            <a:r>
              <a:rPr lang="en-US" b="1" dirty="0"/>
              <a:t> break;  //optional  </a:t>
            </a:r>
            <a:endParaRPr lang="en-US" b="1" dirty="0" smtClean="0"/>
          </a:p>
          <a:p>
            <a:pPr marL="914400" lvl="2" indent="0" algn="just">
              <a:buNone/>
            </a:pPr>
            <a:r>
              <a:rPr lang="en-US" b="1" dirty="0" smtClean="0"/>
              <a:t>......      </a:t>
            </a:r>
            <a:endParaRPr lang="en-US" b="1" dirty="0"/>
          </a:p>
          <a:p>
            <a:pPr marL="914400" lvl="2" indent="0" algn="just">
              <a:buNone/>
            </a:pPr>
            <a:r>
              <a:rPr lang="en-US" b="1" dirty="0"/>
              <a:t>[</a:t>
            </a:r>
            <a:r>
              <a:rPr lang="en-US" b="1" dirty="0" smtClean="0"/>
              <a:t>default:</a:t>
            </a:r>
          </a:p>
          <a:p>
            <a:pPr marL="914400" lvl="2" indent="0" algn="just">
              <a:buNone/>
            </a:pPr>
            <a:r>
              <a:rPr lang="en-US" b="1" dirty="0"/>
              <a:t> </a:t>
            </a:r>
            <a:r>
              <a:rPr lang="en-US" b="1" dirty="0" smtClean="0"/>
              <a:t>      //code </a:t>
            </a:r>
            <a:r>
              <a:rPr lang="en-US" b="1" dirty="0"/>
              <a:t>to be executed if all cases are not matched; </a:t>
            </a:r>
            <a:endParaRPr lang="en-US" b="1" dirty="0" smtClean="0"/>
          </a:p>
          <a:p>
            <a:pPr marL="914400" lvl="2" indent="0" algn="just">
              <a:buNone/>
            </a:pPr>
            <a:r>
              <a:rPr lang="en-US" b="1" dirty="0" smtClean="0"/>
              <a:t>]</a:t>
            </a:r>
            <a:endParaRPr lang="en-US" b="1" dirty="0"/>
          </a:p>
          <a:p>
            <a:pPr marL="457200" lvl="1" indent="0" algn="just">
              <a:buNone/>
            </a:pPr>
            <a:r>
              <a:rPr lang="en-US" b="1" dirty="0"/>
              <a:t>}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25</a:t>
            </a:fld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2198" y="863812"/>
            <a:ext cx="5499702" cy="5590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431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Switch </a:t>
            </a:r>
            <a:r>
              <a:rPr lang="en-US" sz="3200" dirty="0"/>
              <a:t>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4057"/>
            <a:ext cx="10515600" cy="5647418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200" dirty="0"/>
              <a:t>public class </a:t>
            </a:r>
            <a:r>
              <a:rPr lang="en-US" sz="3200" dirty="0" err="1"/>
              <a:t>SwitchMonthExample</a:t>
            </a:r>
            <a:r>
              <a:rPr lang="en-US" sz="3200" dirty="0"/>
              <a:t> {    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public static void main(String[] </a:t>
            </a:r>
            <a:r>
              <a:rPr lang="en-US" dirty="0" err="1"/>
              <a:t>args</a:t>
            </a:r>
            <a:r>
              <a:rPr lang="en-US" dirty="0"/>
              <a:t>) {    </a:t>
            </a:r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  </a:t>
            </a:r>
            <a:r>
              <a:rPr lang="en-US" sz="2400" dirty="0"/>
              <a:t>  </a:t>
            </a:r>
            <a:r>
              <a:rPr lang="en-US" sz="2400" dirty="0" err="1"/>
              <a:t>int</a:t>
            </a:r>
            <a:r>
              <a:rPr lang="en-US" sz="2400" dirty="0"/>
              <a:t> month=7;    </a:t>
            </a:r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/>
              <a:t>    String </a:t>
            </a:r>
            <a:r>
              <a:rPr lang="en-US" sz="2400" dirty="0" err="1"/>
              <a:t>monthString</a:t>
            </a:r>
            <a:r>
              <a:rPr lang="en-US" sz="2400" dirty="0"/>
              <a:t>="";  </a:t>
            </a:r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/>
              <a:t>    switch(month){    </a:t>
            </a:r>
          </a:p>
          <a:p>
            <a:pPr marL="1371600" lvl="3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/>
              <a:t>    case 1: </a:t>
            </a:r>
            <a:r>
              <a:rPr lang="en-US" sz="2400" dirty="0" err="1"/>
              <a:t>monthString</a:t>
            </a:r>
            <a:r>
              <a:rPr lang="en-US" sz="2400" dirty="0"/>
              <a:t>="1 - January";  </a:t>
            </a:r>
            <a:r>
              <a:rPr lang="en-US" sz="2400" dirty="0" smtClean="0"/>
              <a:t>break</a:t>
            </a:r>
            <a:r>
              <a:rPr lang="en-US" sz="2400" dirty="0"/>
              <a:t>;    </a:t>
            </a:r>
          </a:p>
          <a:p>
            <a:pPr marL="1371600" lvl="3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/>
              <a:t>    case 2: </a:t>
            </a:r>
            <a:r>
              <a:rPr lang="en-US" sz="2400" dirty="0" err="1"/>
              <a:t>monthString</a:t>
            </a:r>
            <a:r>
              <a:rPr lang="en-US" sz="2400" dirty="0"/>
              <a:t>="2 - February";  break;    </a:t>
            </a:r>
          </a:p>
          <a:p>
            <a:pPr marL="1371600" lvl="3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/>
              <a:t>    case 3: </a:t>
            </a:r>
            <a:r>
              <a:rPr lang="en-US" sz="2400" dirty="0" err="1"/>
              <a:t>monthString</a:t>
            </a:r>
            <a:r>
              <a:rPr lang="en-US" sz="2400" dirty="0"/>
              <a:t>="3 - March";   break;    </a:t>
            </a:r>
          </a:p>
          <a:p>
            <a:pPr marL="1371600" lvl="3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/>
              <a:t>    case 4: </a:t>
            </a:r>
            <a:r>
              <a:rPr lang="en-US" sz="2400" dirty="0" err="1"/>
              <a:t>monthString</a:t>
            </a:r>
            <a:r>
              <a:rPr lang="en-US" sz="2400" dirty="0"/>
              <a:t>="4 - April";   break;    </a:t>
            </a:r>
          </a:p>
          <a:p>
            <a:pPr marL="1371600" lvl="3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/>
              <a:t>    case 5: </a:t>
            </a:r>
            <a:r>
              <a:rPr lang="en-US" sz="2400" dirty="0" err="1"/>
              <a:t>monthString</a:t>
            </a:r>
            <a:r>
              <a:rPr lang="en-US" sz="2400" dirty="0"/>
              <a:t>="5 - May</a:t>
            </a:r>
            <a:r>
              <a:rPr lang="en-US" sz="2400" dirty="0" smtClean="0"/>
              <a:t>"; </a:t>
            </a:r>
            <a:r>
              <a:rPr lang="en-US" sz="2400" dirty="0"/>
              <a:t> break;    </a:t>
            </a:r>
          </a:p>
          <a:p>
            <a:pPr marL="1371600" lvl="3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/>
              <a:t>    case 6: </a:t>
            </a:r>
            <a:r>
              <a:rPr lang="en-US" sz="2400" dirty="0" err="1"/>
              <a:t>monthString</a:t>
            </a:r>
            <a:r>
              <a:rPr lang="en-US" sz="2400" dirty="0"/>
              <a:t>="6 - June"; </a:t>
            </a:r>
            <a:r>
              <a:rPr lang="en-US" sz="2400" dirty="0" smtClean="0"/>
              <a:t> break</a:t>
            </a:r>
            <a:r>
              <a:rPr lang="en-US" sz="2400" dirty="0"/>
              <a:t>;    </a:t>
            </a:r>
          </a:p>
          <a:p>
            <a:pPr marL="1371600" lvl="3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/>
              <a:t>    case 7: </a:t>
            </a:r>
            <a:r>
              <a:rPr lang="en-US" sz="2400" dirty="0" err="1"/>
              <a:t>monthString</a:t>
            </a:r>
            <a:r>
              <a:rPr lang="en-US" sz="2400" dirty="0"/>
              <a:t>="7 - July";  </a:t>
            </a:r>
            <a:r>
              <a:rPr lang="en-US" sz="2400" dirty="0" smtClean="0"/>
              <a:t>break</a:t>
            </a:r>
            <a:r>
              <a:rPr lang="en-US" sz="2400" dirty="0"/>
              <a:t>;    </a:t>
            </a:r>
          </a:p>
          <a:p>
            <a:pPr marL="1371600" lvl="3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/>
              <a:t>    case 8: </a:t>
            </a:r>
            <a:r>
              <a:rPr lang="en-US" sz="2400" dirty="0" err="1"/>
              <a:t>monthString</a:t>
            </a:r>
            <a:r>
              <a:rPr lang="en-US" sz="2400" dirty="0"/>
              <a:t>="8 - August</a:t>
            </a:r>
            <a:r>
              <a:rPr lang="en-US" sz="2400" dirty="0" smtClean="0"/>
              <a:t>";</a:t>
            </a:r>
            <a:r>
              <a:rPr lang="en-US" sz="2400" dirty="0"/>
              <a:t> break;    </a:t>
            </a:r>
          </a:p>
          <a:p>
            <a:pPr marL="1371600" lvl="3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/>
              <a:t>    case 9: </a:t>
            </a:r>
            <a:r>
              <a:rPr lang="en-US" sz="2400" dirty="0" err="1"/>
              <a:t>monthString</a:t>
            </a:r>
            <a:r>
              <a:rPr lang="en-US" sz="2400" dirty="0"/>
              <a:t>="9 - September"; </a:t>
            </a:r>
            <a:r>
              <a:rPr lang="en-US" sz="2400" dirty="0" smtClean="0"/>
              <a:t>break</a:t>
            </a:r>
            <a:r>
              <a:rPr lang="en-US" sz="2400" dirty="0"/>
              <a:t>;    </a:t>
            </a:r>
          </a:p>
          <a:p>
            <a:pPr marL="1371600" lvl="3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/>
              <a:t>    case 10: </a:t>
            </a:r>
            <a:r>
              <a:rPr lang="en-US" sz="2400" dirty="0" err="1"/>
              <a:t>monthString</a:t>
            </a:r>
            <a:r>
              <a:rPr lang="en-US" sz="2400" dirty="0"/>
              <a:t>="10 - October"; </a:t>
            </a:r>
            <a:r>
              <a:rPr lang="en-US" sz="2400" dirty="0" smtClean="0"/>
              <a:t>break</a:t>
            </a:r>
            <a:r>
              <a:rPr lang="en-US" sz="2400" dirty="0"/>
              <a:t>;    </a:t>
            </a:r>
          </a:p>
          <a:p>
            <a:pPr marL="1371600" lvl="3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/>
              <a:t>    case 11: </a:t>
            </a:r>
            <a:r>
              <a:rPr lang="en-US" sz="2400" dirty="0" err="1"/>
              <a:t>monthString</a:t>
            </a:r>
            <a:r>
              <a:rPr lang="en-US" sz="2400" dirty="0"/>
              <a:t>="11 - November</a:t>
            </a:r>
            <a:r>
              <a:rPr lang="en-US" sz="2400" dirty="0" smtClean="0"/>
              <a:t>";</a:t>
            </a:r>
            <a:r>
              <a:rPr lang="en-US" sz="2400" dirty="0"/>
              <a:t>  break;    </a:t>
            </a:r>
          </a:p>
          <a:p>
            <a:pPr marL="1371600" lvl="3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/>
              <a:t>    case 12: </a:t>
            </a:r>
            <a:r>
              <a:rPr lang="en-US" sz="2400" dirty="0" err="1"/>
              <a:t>monthString</a:t>
            </a:r>
            <a:r>
              <a:rPr lang="en-US" sz="2400" dirty="0"/>
              <a:t>="12 - December"; </a:t>
            </a:r>
            <a:r>
              <a:rPr lang="en-US" sz="2400" dirty="0" smtClean="0"/>
              <a:t>break</a:t>
            </a:r>
            <a:r>
              <a:rPr lang="en-US" sz="2400" dirty="0"/>
              <a:t>;    </a:t>
            </a:r>
          </a:p>
          <a:p>
            <a:pPr marL="1371600" lvl="3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/>
              <a:t>    </a:t>
            </a:r>
            <a:r>
              <a:rPr lang="en-US" sz="2400" dirty="0" err="1"/>
              <a:t>default:System.out.println</a:t>
            </a:r>
            <a:r>
              <a:rPr lang="en-US" sz="2400" dirty="0"/>
              <a:t>("Invalid Month!");    </a:t>
            </a:r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/>
              <a:t>    }    </a:t>
            </a:r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/>
              <a:t>    </a:t>
            </a:r>
            <a:r>
              <a:rPr lang="en-US" sz="2400" dirty="0" err="1"/>
              <a:t>System.out.println</a:t>
            </a:r>
            <a:r>
              <a:rPr lang="en-US" sz="2400" dirty="0"/>
              <a:t>(</a:t>
            </a:r>
            <a:r>
              <a:rPr lang="en-US" sz="2400" dirty="0" err="1"/>
              <a:t>monthString</a:t>
            </a:r>
            <a:r>
              <a:rPr lang="en-US" sz="2400" dirty="0"/>
              <a:t>);  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}    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200" dirty="0"/>
              <a:t>}   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948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Switch </a:t>
            </a:r>
            <a:r>
              <a:rPr lang="en-US" sz="3200" dirty="0"/>
              <a:t>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4057"/>
            <a:ext cx="10515600" cy="5647418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200" dirty="0"/>
              <a:t>public class </a:t>
            </a:r>
            <a:r>
              <a:rPr lang="en-US" sz="3200" dirty="0" err="1"/>
              <a:t>SwitchVowelExample</a:t>
            </a:r>
            <a:r>
              <a:rPr lang="en-US" sz="3200" dirty="0"/>
              <a:t> {   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{    </a:t>
            </a:r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char </a:t>
            </a:r>
            <a:r>
              <a:rPr lang="en-US" dirty="0" err="1"/>
              <a:t>ch</a:t>
            </a:r>
            <a:r>
              <a:rPr lang="en-US" dirty="0"/>
              <a:t>='O';    </a:t>
            </a:r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switch(</a:t>
            </a:r>
            <a:r>
              <a:rPr lang="en-US" dirty="0" err="1"/>
              <a:t>ch</a:t>
            </a:r>
            <a:r>
              <a:rPr lang="en-US" dirty="0"/>
              <a:t>)  </a:t>
            </a:r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{  </a:t>
            </a:r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    case 'a':   </a:t>
            </a:r>
            <a:r>
              <a:rPr lang="en-US" dirty="0" smtClean="0"/>
              <a:t> </a:t>
            </a:r>
            <a:r>
              <a:rPr lang="en-US" dirty="0" err="1"/>
              <a:t>System.out.println</a:t>
            </a:r>
            <a:r>
              <a:rPr lang="en-US" dirty="0"/>
              <a:t>("Vowel");  </a:t>
            </a:r>
            <a:r>
              <a:rPr lang="en-US" dirty="0" smtClean="0"/>
              <a:t> </a:t>
            </a:r>
            <a:r>
              <a:rPr lang="en-US" dirty="0"/>
              <a:t>break;  </a:t>
            </a:r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    case 'e':   </a:t>
            </a:r>
            <a:r>
              <a:rPr lang="en-US" dirty="0" smtClean="0"/>
              <a:t> </a:t>
            </a:r>
            <a:r>
              <a:rPr lang="en-US" dirty="0" err="1"/>
              <a:t>System.out.println</a:t>
            </a:r>
            <a:r>
              <a:rPr lang="en-US" dirty="0"/>
              <a:t>("Vowel");  </a:t>
            </a:r>
            <a:r>
              <a:rPr lang="en-US" dirty="0" smtClean="0"/>
              <a:t> break</a:t>
            </a:r>
            <a:r>
              <a:rPr lang="en-US" dirty="0"/>
              <a:t>;  </a:t>
            </a:r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    case 'i':   </a:t>
            </a:r>
            <a:r>
              <a:rPr lang="en-US" dirty="0" smtClean="0"/>
              <a:t>  </a:t>
            </a:r>
            <a:r>
              <a:rPr lang="en-US" dirty="0" err="1"/>
              <a:t>System.out.println</a:t>
            </a:r>
            <a:r>
              <a:rPr lang="en-US" dirty="0"/>
              <a:t>("Vowel");  </a:t>
            </a:r>
            <a:r>
              <a:rPr lang="en-US" dirty="0" smtClean="0"/>
              <a:t> </a:t>
            </a:r>
            <a:r>
              <a:rPr lang="en-US" dirty="0"/>
              <a:t>break;  </a:t>
            </a:r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    case 'o':   </a:t>
            </a:r>
            <a:r>
              <a:rPr lang="en-US" dirty="0" smtClean="0"/>
              <a:t> </a:t>
            </a:r>
            <a:r>
              <a:rPr lang="en-US" dirty="0" err="1"/>
              <a:t>System.out.println</a:t>
            </a:r>
            <a:r>
              <a:rPr lang="en-US" dirty="0"/>
              <a:t>("Vowel");  </a:t>
            </a:r>
            <a:r>
              <a:rPr lang="en-US" dirty="0" smtClean="0"/>
              <a:t>break</a:t>
            </a:r>
            <a:r>
              <a:rPr lang="en-US" dirty="0"/>
              <a:t>;  </a:t>
            </a:r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    case 'u':   </a:t>
            </a:r>
            <a:r>
              <a:rPr lang="en-US" dirty="0" smtClean="0"/>
              <a:t> </a:t>
            </a:r>
            <a:r>
              <a:rPr lang="en-US" dirty="0" err="1"/>
              <a:t>System.out.println</a:t>
            </a:r>
            <a:r>
              <a:rPr lang="en-US" dirty="0"/>
              <a:t>("Vowel");  </a:t>
            </a:r>
            <a:r>
              <a:rPr lang="en-US" dirty="0" smtClean="0"/>
              <a:t>break</a:t>
            </a:r>
            <a:r>
              <a:rPr lang="en-US" dirty="0"/>
              <a:t>;  </a:t>
            </a:r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    case 'A':   </a:t>
            </a:r>
            <a:r>
              <a:rPr lang="en-US" dirty="0" smtClean="0"/>
              <a:t> </a:t>
            </a:r>
            <a:r>
              <a:rPr lang="en-US" dirty="0" err="1"/>
              <a:t>System.out.println</a:t>
            </a:r>
            <a:r>
              <a:rPr lang="en-US" dirty="0"/>
              <a:t>("Vowel"); </a:t>
            </a:r>
            <a:r>
              <a:rPr lang="en-US" dirty="0" smtClean="0"/>
              <a:t>break</a:t>
            </a:r>
            <a:r>
              <a:rPr lang="en-US" dirty="0"/>
              <a:t>;  </a:t>
            </a:r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    case 'E':   </a:t>
            </a:r>
            <a:r>
              <a:rPr lang="en-US" dirty="0" smtClean="0"/>
              <a:t> </a:t>
            </a:r>
            <a:r>
              <a:rPr lang="en-US" dirty="0" err="1"/>
              <a:t>System.out.println</a:t>
            </a:r>
            <a:r>
              <a:rPr lang="en-US" dirty="0"/>
              <a:t>("Vowel");  </a:t>
            </a:r>
            <a:r>
              <a:rPr lang="en-US" dirty="0" smtClean="0"/>
              <a:t>break</a:t>
            </a:r>
            <a:r>
              <a:rPr lang="en-US" dirty="0"/>
              <a:t>;  </a:t>
            </a:r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    case 'I':   </a:t>
            </a:r>
            <a:r>
              <a:rPr lang="en-US" dirty="0" smtClean="0"/>
              <a:t>  </a:t>
            </a:r>
            <a:r>
              <a:rPr lang="en-US" dirty="0" err="1"/>
              <a:t>System.out.println</a:t>
            </a:r>
            <a:r>
              <a:rPr lang="en-US" dirty="0"/>
              <a:t>("Vowel");  </a:t>
            </a:r>
            <a:r>
              <a:rPr lang="en-US" dirty="0" smtClean="0"/>
              <a:t>break</a:t>
            </a:r>
            <a:r>
              <a:rPr lang="en-US" dirty="0"/>
              <a:t>;  </a:t>
            </a:r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    case 'O':   </a:t>
            </a:r>
            <a:r>
              <a:rPr lang="en-US" dirty="0" err="1" smtClean="0"/>
              <a:t>System.out.println</a:t>
            </a:r>
            <a:r>
              <a:rPr lang="en-US" dirty="0"/>
              <a:t>("Vowel");  </a:t>
            </a:r>
            <a:r>
              <a:rPr lang="en-US" dirty="0" smtClean="0"/>
              <a:t>break</a:t>
            </a:r>
            <a:r>
              <a:rPr lang="en-US" dirty="0"/>
              <a:t>;  </a:t>
            </a:r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    case 'U':   </a:t>
            </a:r>
            <a:r>
              <a:rPr lang="en-US" dirty="0" err="1" smtClean="0"/>
              <a:t>System.out.println</a:t>
            </a:r>
            <a:r>
              <a:rPr lang="en-US" dirty="0"/>
              <a:t>("Vowel");  </a:t>
            </a:r>
            <a:r>
              <a:rPr lang="en-US" dirty="0" smtClean="0"/>
              <a:t>break</a:t>
            </a:r>
            <a:r>
              <a:rPr lang="en-US" dirty="0"/>
              <a:t>;  </a:t>
            </a:r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    default:   </a:t>
            </a:r>
            <a:r>
              <a:rPr lang="en-US" dirty="0" smtClean="0"/>
              <a:t> </a:t>
            </a:r>
            <a:r>
              <a:rPr lang="en-US" dirty="0" err="1" smtClean="0"/>
              <a:t>System.out.println</a:t>
            </a:r>
            <a:r>
              <a:rPr lang="en-US" dirty="0"/>
              <a:t>("Consonant");  </a:t>
            </a:r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} 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}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200" dirty="0"/>
              <a:t>}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996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References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err="1" smtClean="0">
                <a:hlinkClick r:id="rId2"/>
              </a:rPr>
              <a:t>www.javatpoint.com</a:t>
            </a:r>
            <a:r>
              <a:rPr lang="en-US" dirty="0" smtClean="0">
                <a:hlinkClick r:id="rId2"/>
              </a:rPr>
              <a:t>/operators-in-java</a:t>
            </a:r>
            <a:endParaRPr lang="en-US" dirty="0" smtClean="0"/>
          </a:p>
          <a:p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www.tutorialspoint.com</a:t>
            </a:r>
            <a:r>
              <a:rPr lang="en-US" dirty="0">
                <a:hlinkClick r:id="rId3"/>
              </a:rPr>
              <a:t>/java/</a:t>
            </a:r>
            <a:r>
              <a:rPr lang="en-US" dirty="0" err="1">
                <a:hlinkClick r:id="rId3"/>
              </a:rPr>
              <a:t>java_basic_operators.htm</a:t>
            </a:r>
            <a:endParaRPr lang="en-US" dirty="0" smtClean="0"/>
          </a:p>
          <a:p>
            <a:r>
              <a:rPr lang="en-US" dirty="0">
                <a:hlinkClick r:id="rId4"/>
              </a:rPr>
              <a:t>https://</a:t>
            </a:r>
            <a:r>
              <a:rPr lang="en-US" dirty="0" err="1">
                <a:hlinkClick r:id="rId4"/>
              </a:rPr>
              <a:t>www.journaldev.com</a:t>
            </a:r>
            <a:r>
              <a:rPr lang="en-US" dirty="0">
                <a:hlinkClick r:id="rId4"/>
              </a:rPr>
              <a:t>/29007/type-casting-in-java</a:t>
            </a:r>
            <a:endParaRPr lang="en-US" dirty="0"/>
          </a:p>
          <a:p>
            <a:r>
              <a:rPr lang="en-US" dirty="0">
                <a:hlinkClick r:id="rId5"/>
              </a:rPr>
              <a:t>https://</a:t>
            </a:r>
            <a:r>
              <a:rPr lang="en-US" dirty="0" err="1">
                <a:hlinkClick r:id="rId5"/>
              </a:rPr>
              <a:t>www.geeksforgeeks.org</a:t>
            </a:r>
            <a:r>
              <a:rPr lang="en-US" dirty="0">
                <a:hlinkClick r:id="rId5"/>
              </a:rPr>
              <a:t>/type-conversion-java-examples/</a:t>
            </a:r>
            <a:endParaRPr lang="en-US" dirty="0"/>
          </a:p>
          <a:p>
            <a:r>
              <a:rPr lang="en-US" dirty="0">
                <a:hlinkClick r:id="rId6"/>
              </a:rPr>
              <a:t>https://</a:t>
            </a:r>
            <a:r>
              <a:rPr lang="en-US" dirty="0" err="1" smtClean="0">
                <a:hlinkClick r:id="rId6"/>
              </a:rPr>
              <a:t>syntaxdb.com</a:t>
            </a:r>
            <a:r>
              <a:rPr lang="en-US" dirty="0" smtClean="0">
                <a:hlinkClick r:id="rId6"/>
              </a:rPr>
              <a:t>/ref/java/type-cast</a:t>
            </a:r>
            <a:endParaRPr lang="en-US" dirty="0" smtClean="0">
              <a:hlinkClick r:id="rId7"/>
            </a:endParaRPr>
          </a:p>
          <a:p>
            <a:r>
              <a:rPr lang="en-US" dirty="0" smtClean="0">
                <a:hlinkClick r:id="rId7"/>
              </a:rPr>
              <a:t>https</a:t>
            </a:r>
            <a:r>
              <a:rPr lang="en-US" dirty="0">
                <a:hlinkClick r:id="rId7"/>
              </a:rPr>
              <a:t>://</a:t>
            </a:r>
            <a:r>
              <a:rPr lang="en-US" dirty="0" err="1" smtClean="0">
                <a:hlinkClick r:id="rId7"/>
              </a:rPr>
              <a:t>www.javatpoint.com</a:t>
            </a:r>
            <a:r>
              <a:rPr lang="en-US" dirty="0" smtClean="0">
                <a:hlinkClick r:id="rId7"/>
              </a:rPr>
              <a:t>/java-if-else</a:t>
            </a:r>
            <a:endParaRPr lang="en-US" dirty="0" smtClean="0"/>
          </a:p>
          <a:p>
            <a:r>
              <a:rPr lang="en-US" dirty="0">
                <a:hlinkClick r:id="rId8"/>
              </a:rPr>
              <a:t>https://</a:t>
            </a:r>
            <a:r>
              <a:rPr lang="en-US" dirty="0" err="1" smtClean="0">
                <a:hlinkClick r:id="rId8"/>
              </a:rPr>
              <a:t>www.javatpoint.com</a:t>
            </a:r>
            <a:r>
              <a:rPr lang="en-US" dirty="0" smtClean="0">
                <a:hlinkClick r:id="rId8"/>
              </a:rPr>
              <a:t>/java-switch</a:t>
            </a:r>
            <a:endParaRPr lang="en-US" dirty="0" smtClean="0"/>
          </a:p>
          <a:p>
            <a:r>
              <a:rPr lang="en-US" dirty="0">
                <a:hlinkClick r:id="rId9"/>
              </a:rPr>
              <a:t>https://</a:t>
            </a:r>
            <a:r>
              <a:rPr lang="en-US" dirty="0" err="1" smtClean="0">
                <a:hlinkClick r:id="rId9"/>
              </a:rPr>
              <a:t>www.w3schools.com</a:t>
            </a:r>
            <a:r>
              <a:rPr lang="en-US" dirty="0" smtClean="0">
                <a:hlinkClick r:id="rId9"/>
              </a:rPr>
              <a:t>/java/</a:t>
            </a:r>
            <a:r>
              <a:rPr lang="en-US" dirty="0" err="1" smtClean="0">
                <a:hlinkClick r:id="rId9"/>
              </a:rPr>
              <a:t>java_switch.asp</a:t>
            </a:r>
            <a:endParaRPr lang="en-US" dirty="0" smtClean="0"/>
          </a:p>
          <a:p>
            <a:r>
              <a:rPr lang="en-US" dirty="0">
                <a:hlinkClick r:id="rId10"/>
              </a:rPr>
              <a:t>https://</a:t>
            </a:r>
            <a:r>
              <a:rPr lang="en-US" dirty="0" err="1">
                <a:hlinkClick r:id="rId10"/>
              </a:rPr>
              <a:t>beginnersbook.com</a:t>
            </a:r>
            <a:r>
              <a:rPr lang="en-US" dirty="0">
                <a:hlinkClick r:id="rId10"/>
              </a:rPr>
              <a:t>/2017/08/java-switch-case</a:t>
            </a:r>
            <a:r>
              <a:rPr lang="en-US" dirty="0" smtClean="0">
                <a:hlinkClick r:id="rId10"/>
              </a:rPr>
              <a:t>/</a:t>
            </a:r>
            <a:endParaRPr lang="en-US" dirty="0" smtClean="0"/>
          </a:p>
          <a:p>
            <a:r>
              <a:rPr lang="en-US" dirty="0">
                <a:hlinkClick r:id="rId10"/>
              </a:rPr>
              <a:t>https://</a:t>
            </a:r>
            <a:r>
              <a:rPr lang="en-US" dirty="0" err="1">
                <a:hlinkClick r:id="rId10"/>
              </a:rPr>
              <a:t>beginnersbook.com</a:t>
            </a:r>
            <a:r>
              <a:rPr lang="en-US" dirty="0">
                <a:hlinkClick r:id="rId10"/>
              </a:rPr>
              <a:t>/2017/08/java-switch-case</a:t>
            </a:r>
            <a:r>
              <a:rPr lang="en-US" dirty="0" smtClean="0">
                <a:hlinkClick r:id="rId10"/>
              </a:rPr>
              <a:t>/</a:t>
            </a:r>
            <a:endParaRPr lang="en-US" dirty="0" smtClean="0"/>
          </a:p>
          <a:p>
            <a:endParaRPr lang="en-US" dirty="0" smtClean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622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37BB8C-BA62-BC4F-B0F8-D5F9321E2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0837" y="1888320"/>
            <a:ext cx="3310326" cy="35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626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TCA-Slide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TCA-SlideTheme" id="{5A24C4A4-58B6-8948-A62B-40090020C92E}" vid="{BD9F6502-1B8F-D14C-8309-CDC4C42FFF9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7187</TotalTime>
  <Words>2487</Words>
  <Application>Microsoft Office PowerPoint</Application>
  <PresentationFormat>Widescreen</PresentationFormat>
  <Paragraphs>402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VTCA-SlideTheme</vt:lpstr>
      <vt:lpstr>Introduction to Programming</vt:lpstr>
      <vt:lpstr>Objectives</vt:lpstr>
      <vt:lpstr>Expressions</vt:lpstr>
      <vt:lpstr>Operators</vt:lpstr>
      <vt:lpstr>Operators</vt:lpstr>
      <vt:lpstr>Operators</vt:lpstr>
      <vt:lpstr>Java Unary Operator</vt:lpstr>
      <vt:lpstr>Java Arithmetic Operators</vt:lpstr>
      <vt:lpstr>Java Logical Operators</vt:lpstr>
      <vt:lpstr>Java Logical Operators</vt:lpstr>
      <vt:lpstr>Java Ternary Operator</vt:lpstr>
      <vt:lpstr>Java Assignment Operator</vt:lpstr>
      <vt:lpstr>Precedence of Java Operators</vt:lpstr>
      <vt:lpstr>Java Type Casting</vt:lpstr>
      <vt:lpstr>Java Type Casting</vt:lpstr>
      <vt:lpstr>Java Type Casting</vt:lpstr>
      <vt:lpstr>Java If statement</vt:lpstr>
      <vt:lpstr>If statement</vt:lpstr>
      <vt:lpstr>If-else statement</vt:lpstr>
      <vt:lpstr>If-else-if ladder</vt:lpstr>
      <vt:lpstr>If-else-if ladder</vt:lpstr>
      <vt:lpstr>Nested if statement</vt:lpstr>
      <vt:lpstr>Nested if statement</vt:lpstr>
      <vt:lpstr>Java Switch Statement</vt:lpstr>
      <vt:lpstr>Switch Statement</vt:lpstr>
      <vt:lpstr>Switch Statement</vt:lpstr>
      <vt:lpstr>Switch Statement</vt:lpstr>
      <vt:lpstr>References</vt:lpstr>
      <vt:lpstr>PowerPoint Presentation</vt:lpstr>
    </vt:vector>
  </TitlesOfParts>
  <Company>VTC Academy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Mô hình đào tạo đáp ứng nhu cầu doanh nghiệp</dc:title>
  <dc:creator>hieutd@vtc.edu.vn</dc:creator>
  <cp:lastModifiedBy>Được. Nguyễn Trung</cp:lastModifiedBy>
  <cp:revision>478</cp:revision>
  <dcterms:created xsi:type="dcterms:W3CDTF">2019-05-17T12:57:33Z</dcterms:created>
  <dcterms:modified xsi:type="dcterms:W3CDTF">2021-01-05T13:37:44Z</dcterms:modified>
</cp:coreProperties>
</file>