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27"/>
  </p:notesMasterIdLst>
  <p:sldIdLst>
    <p:sldId id="282" r:id="rId2"/>
    <p:sldId id="285" r:id="rId3"/>
    <p:sldId id="297" r:id="rId4"/>
    <p:sldId id="358" r:id="rId5"/>
    <p:sldId id="372" r:id="rId6"/>
    <p:sldId id="373" r:id="rId7"/>
    <p:sldId id="374" r:id="rId8"/>
    <p:sldId id="375" r:id="rId9"/>
    <p:sldId id="389" r:id="rId10"/>
    <p:sldId id="376" r:id="rId11"/>
    <p:sldId id="321" r:id="rId12"/>
    <p:sldId id="377" r:id="rId13"/>
    <p:sldId id="378" r:id="rId14"/>
    <p:sldId id="379" r:id="rId15"/>
    <p:sldId id="380" r:id="rId16"/>
    <p:sldId id="383" r:id="rId17"/>
    <p:sldId id="381" r:id="rId18"/>
    <p:sldId id="382" r:id="rId19"/>
    <p:sldId id="384" r:id="rId20"/>
    <p:sldId id="386" r:id="rId21"/>
    <p:sldId id="385" r:id="rId22"/>
    <p:sldId id="387" r:id="rId23"/>
    <p:sldId id="388" r:id="rId24"/>
    <p:sldId id="294" r:id="rId25"/>
    <p:sldId id="26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2514" autoAdjust="0"/>
  </p:normalViewPr>
  <p:slideViewPr>
    <p:cSldViewPr snapToGrid="0" snapToObjects="1">
      <p:cViewPr>
        <p:scale>
          <a:sx n="66" d="100"/>
          <a:sy n="66" d="100"/>
        </p:scale>
        <p:origin x="-888" y="-14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23/11/2019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 xmlns:a16="http://schemas.microsoft.com/office/drawing/2014/main"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 xmlns:a16="http://schemas.microsoft.com/office/drawing/2014/main"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 xmlns:a16="http://schemas.microsoft.com/office/drawing/2014/main"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 xmlns:a16="http://schemas.microsoft.com/office/drawing/2014/main"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 xmlns:a16="http://schemas.microsoft.com/office/drawing/2014/main"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 xmlns:a16="http://schemas.microsoft.com/office/drawing/2014/main"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 xmlns:a16="http://schemas.microsoft.com/office/drawing/2014/main"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 xmlns:a16="http://schemas.microsoft.com/office/drawing/2014/main"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 xmlns:a16="http://schemas.microsoft.com/office/drawing/2014/main"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 xmlns:a16="http://schemas.microsoft.com/office/drawing/2014/main"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 xmlns:a16="http://schemas.microsoft.com/office/drawing/2014/main"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 xmlns:a16="http://schemas.microsoft.com/office/drawing/2014/main"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 xmlns:a16="http://schemas.microsoft.com/office/drawing/2014/main"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 xmlns:a16="http://schemas.microsoft.com/office/drawing/2014/main"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 xmlns:a16="http://schemas.microsoft.com/office/drawing/2014/main"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 xmlns:a16="http://schemas.microsoft.com/office/drawing/2014/main"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 xmlns:a16="http://schemas.microsoft.com/office/drawing/2014/main"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 xmlns:a16="http://schemas.microsoft.com/office/drawing/2014/main"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 xmlns:a16="http://schemas.microsoft.com/office/drawing/2014/main"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geeksforgeeks.org/sorting-algorithms/" TargetMode="External"/><Relationship Id="rId3" Type="http://schemas.openxmlformats.org/officeDocument/2006/relationships/hyperlink" Target="https://www.geeksforgeeks.org/java-program-for-linear-search/" TargetMode="External"/><Relationship Id="rId7" Type="http://schemas.openxmlformats.org/officeDocument/2006/relationships/hyperlink" Target="https://stackabuse.com/search-algorithms-in-java/" TargetMode="External"/><Relationship Id="rId12" Type="http://schemas.openxmlformats.org/officeDocument/2006/relationships/hyperlink" Target="https://www.geeksforgeeks.org/insertion-sort/" TargetMode="External"/><Relationship Id="rId2" Type="http://schemas.openxmlformats.org/officeDocument/2006/relationships/hyperlink" Target="https://www.javatpoint.com/linear-search-in-java" TargetMode="External"/><Relationship Id="rId1" Type="http://schemas.openxmlformats.org/officeDocument/2006/relationships/slideLayout" Target="../slideLayouts/slideLayout2.xml"/><Relationship Id="rId6" Type="http://schemas.openxmlformats.org/officeDocument/2006/relationships/hyperlink" Target="https://stackabuse.com/sorting-algorithms-in-java/" TargetMode="External"/><Relationship Id="rId11" Type="http://schemas.openxmlformats.org/officeDocument/2006/relationships/hyperlink" Target="https://www.geeksforgeeks.org/selection-sort/" TargetMode="External"/><Relationship Id="rId5" Type="http://schemas.openxmlformats.org/officeDocument/2006/relationships/hyperlink" Target="https://www.geeksforgeeks.org/binary-search-in-java/" TargetMode="External"/><Relationship Id="rId10" Type="http://schemas.openxmlformats.org/officeDocument/2006/relationships/hyperlink" Target="https://www.geeksforgeeks.org/bubble-sort/" TargetMode="External"/><Relationship Id="rId4" Type="http://schemas.openxmlformats.org/officeDocument/2006/relationships/hyperlink" Target="https://www.javatpoint.com/binary-search-in-java" TargetMode="External"/><Relationship Id="rId9" Type="http://schemas.openxmlformats.org/officeDocument/2006/relationships/hyperlink" Target="http://www.javawithus.com/tutorial/searching-and-sorting-arrays"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 xmlns:a16="http://schemas.microsoft.com/office/drawing/2014/main" id="{DA0CEDCB-5CE2-1B41-9D8B-CA0EB9D3BBD7}"/>
              </a:ext>
            </a:extLst>
          </p:cNvPr>
          <p:cNvSpPr>
            <a:spLocks noGrp="1"/>
          </p:cNvSpPr>
          <p:nvPr>
            <p:ph type="subTitle" idx="1"/>
          </p:nvPr>
        </p:nvSpPr>
        <p:spPr/>
        <p:txBody>
          <a:bodyPr>
            <a:normAutofit/>
          </a:bodyPr>
          <a:lstStyle/>
          <a:p>
            <a:r>
              <a:rPr lang="en-US" sz="3600" dirty="0"/>
              <a:t>Session </a:t>
            </a:r>
            <a:r>
              <a:rPr lang="en-US" sz="3600" dirty="0" smtClean="0"/>
              <a:t>11</a:t>
            </a:r>
          </a:p>
          <a:p>
            <a:r>
              <a:rPr lang="en-US" sz="3600" dirty="0"/>
              <a:t>Search </a:t>
            </a:r>
            <a:r>
              <a:rPr lang="en-US" sz="3600" dirty="0" smtClean="0"/>
              <a:t>– Sort </a:t>
            </a:r>
            <a:r>
              <a:rPr lang="en-US" sz="3600" dirty="0"/>
              <a:t>Algorithms</a:t>
            </a:r>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a:bodyPr>
          <a:lstStyle/>
          <a:p>
            <a:r>
              <a:rPr lang="en-US" sz="3600" dirty="0"/>
              <a:t>Search </a:t>
            </a:r>
            <a:r>
              <a:rPr lang="en-US" sz="3600" dirty="0" smtClean="0"/>
              <a:t>Algorithms</a:t>
            </a:r>
          </a:p>
          <a:p>
            <a:pPr lvl="1"/>
            <a:r>
              <a:rPr lang="en-US" sz="2800" dirty="0" smtClean="0"/>
              <a:t>Linear search</a:t>
            </a:r>
          </a:p>
          <a:p>
            <a:pPr lvl="1"/>
            <a:r>
              <a:rPr lang="en-US" sz="2800" dirty="0" smtClean="0"/>
              <a:t>Binary search</a:t>
            </a:r>
          </a:p>
          <a:p>
            <a:r>
              <a:rPr lang="en-US" sz="3600" dirty="0" smtClean="0"/>
              <a:t>Sort Algorithms</a:t>
            </a:r>
          </a:p>
          <a:p>
            <a:pPr lvl="1"/>
            <a:r>
              <a:rPr lang="en-US" sz="2800" dirty="0" smtClean="0"/>
              <a:t>Selection sort</a:t>
            </a:r>
          </a:p>
          <a:p>
            <a:pPr lvl="1"/>
            <a:r>
              <a:rPr lang="en-US" sz="2800" dirty="0" smtClean="0"/>
              <a:t>Insertion sort</a:t>
            </a:r>
          </a:p>
          <a:p>
            <a:pPr lvl="1"/>
            <a:r>
              <a:rPr lang="en-US" sz="2800" dirty="0" smtClean="0"/>
              <a:t>Bubble sort</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Introduction to searching</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Searching is one of the most common actions performed in regular business applications. This involves fetching some data stored in data structures like Arrays, List, Map, etc. More often than not, this search operation determines the responsiveness of the application for the end-user</a:t>
            </a:r>
            <a:r>
              <a:rPr lang="en-US" sz="3200" dirty="0" smtClean="0"/>
              <a:t>.</a:t>
            </a:r>
            <a:endParaRPr lang="en-US" sz="3200" dirty="0"/>
          </a:p>
          <a:p>
            <a:pPr algn="just" fontAlgn="base"/>
            <a:r>
              <a:rPr lang="en-US" sz="3200" dirty="0"/>
              <a:t>In this article, let's take a look at some of the searching strategies that can be used to cater to different </a:t>
            </a:r>
            <a:r>
              <a:rPr lang="en-US" sz="3200" dirty="0" smtClean="0"/>
              <a:t>scenarios.</a:t>
            </a:r>
          </a:p>
          <a:p>
            <a:pPr algn="just" fontAlgn="base"/>
            <a:r>
              <a:rPr lang="en-US" sz="3200" dirty="0" smtClean="0"/>
              <a:t>To illustrate the concept of algorithm efficiency, we consider two common algorithms for searching array: </a:t>
            </a:r>
            <a:r>
              <a:rPr lang="en-US" sz="3200" b="1" dirty="0" smtClean="0"/>
              <a:t>linear &amp; binary search</a:t>
            </a:r>
            <a:r>
              <a:rPr lang="en-US" sz="3200" dirty="0" smtClean="0"/>
              <a:t>.</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Linear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3766075"/>
          </a:xfrm>
        </p:spPr>
        <p:txBody>
          <a:bodyPr>
            <a:normAutofit fontScale="85000" lnSpcReduction="20000"/>
          </a:bodyPr>
          <a:lstStyle/>
          <a:p>
            <a:pPr algn="just" fontAlgn="base"/>
            <a:r>
              <a:rPr lang="en-US" sz="3200" dirty="0"/>
              <a:t>Linear or Sequential Search is the simplest of search algorithms. While it most certainly is the simplest, it's most definitely not the most common, due to its inefficiency. It's a brute-force algorithm. Very rarely is it used in production, and in most cases, it's outperformed by other algorithms</a:t>
            </a:r>
            <a:r>
              <a:rPr lang="en-US" sz="3200" dirty="0" smtClean="0"/>
              <a:t>.</a:t>
            </a:r>
            <a:endParaRPr lang="en-US" sz="3200" dirty="0"/>
          </a:p>
          <a:p>
            <a:pPr algn="just" fontAlgn="base"/>
            <a:r>
              <a:rPr lang="en-US" sz="3200" dirty="0"/>
              <a:t>Linear Search has no pre-requisites for the state of the underlying data </a:t>
            </a:r>
            <a:r>
              <a:rPr lang="en-US" sz="3200" dirty="0" smtClean="0"/>
              <a:t>structure.</a:t>
            </a:r>
          </a:p>
          <a:p>
            <a:pPr algn="just" fontAlgn="base"/>
            <a:r>
              <a:rPr lang="en-US" sz="3200" dirty="0" smtClean="0"/>
              <a:t>Linear </a:t>
            </a:r>
            <a:r>
              <a:rPr lang="en-US" sz="3200" dirty="0"/>
              <a:t>Search involves sequential searching for an element in the given data structure until either the element is found or the end of the structure is reached</a:t>
            </a:r>
            <a:r>
              <a:rPr lang="en-US" sz="3200" dirty="0" smtClean="0"/>
              <a:t>.</a:t>
            </a:r>
            <a:endParaRPr lang="en-US" sz="3200" dirty="0"/>
          </a:p>
          <a:p>
            <a:pPr algn="just" fontAlgn="base"/>
            <a:r>
              <a:rPr lang="en-US" sz="3200" dirty="0"/>
              <a:t>If the element is found, we usually just return its position in the data structure. If not, we usually return -1.</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3737" y="4695825"/>
            <a:ext cx="57245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50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Linear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138057"/>
          </a:xfrm>
        </p:spPr>
        <p:txBody>
          <a:bodyPr>
            <a:normAutofit lnSpcReduction="10000"/>
          </a:bodyPr>
          <a:lstStyle/>
          <a:p>
            <a:pPr algn="just" fontAlgn="base"/>
            <a:r>
              <a:rPr lang="en-US" sz="3200" dirty="0" smtClean="0"/>
              <a:t>Example</a:t>
            </a:r>
          </a:p>
          <a:p>
            <a:pPr marL="0" indent="0" algn="just" fontAlgn="base">
              <a:buNone/>
            </a:pPr>
            <a:r>
              <a:rPr lang="en-US" sz="3200" dirty="0" smtClean="0"/>
              <a:t>=========================</a:t>
            </a:r>
          </a:p>
          <a:p>
            <a:pPr marL="457200" lvl="1" indent="0" algn="just" fontAlgn="base">
              <a:buNone/>
            </a:pPr>
            <a:r>
              <a:rPr lang="en-US" dirty="0"/>
              <a:t>Input : </a:t>
            </a:r>
            <a:r>
              <a:rPr lang="en-US" dirty="0" err="1"/>
              <a:t>arr</a:t>
            </a:r>
            <a:r>
              <a:rPr lang="en-US" dirty="0"/>
              <a:t>[] = {10, 20, 80, 30, 60, 50, </a:t>
            </a:r>
          </a:p>
          <a:p>
            <a:pPr marL="457200" lvl="1" indent="0" algn="just" fontAlgn="base">
              <a:buNone/>
            </a:pPr>
            <a:r>
              <a:rPr lang="en-US" dirty="0"/>
              <a:t>                     110, 100, 130, 170}</a:t>
            </a:r>
          </a:p>
          <a:p>
            <a:pPr marL="457200" lvl="1" indent="0" algn="just" fontAlgn="base">
              <a:buNone/>
            </a:pPr>
            <a:r>
              <a:rPr lang="en-US" dirty="0"/>
              <a:t>          x = 110;</a:t>
            </a:r>
          </a:p>
          <a:p>
            <a:pPr marL="457200" lvl="1" indent="0" algn="just" fontAlgn="base">
              <a:buNone/>
            </a:pPr>
            <a:r>
              <a:rPr lang="en-US" dirty="0"/>
              <a:t>Output : 6</a:t>
            </a:r>
          </a:p>
          <a:p>
            <a:pPr marL="457200" lvl="1" indent="0" algn="just" fontAlgn="base">
              <a:buNone/>
            </a:pPr>
            <a:r>
              <a:rPr lang="en-US" dirty="0"/>
              <a:t>Element x is present at index 6</a:t>
            </a:r>
          </a:p>
          <a:p>
            <a:pPr marL="0" indent="0" algn="just" fontAlgn="base">
              <a:buNone/>
            </a:pPr>
            <a:r>
              <a:rPr lang="en-US" sz="3200" dirty="0" smtClean="0"/>
              <a:t>=========================</a:t>
            </a:r>
            <a:endParaRPr lang="en-US" sz="3200" dirty="0"/>
          </a:p>
          <a:p>
            <a:pPr marL="457200" lvl="1" indent="0" algn="just" fontAlgn="base">
              <a:buNone/>
            </a:pPr>
            <a:r>
              <a:rPr lang="en-US" dirty="0"/>
              <a:t>Input : </a:t>
            </a:r>
            <a:r>
              <a:rPr lang="en-US" dirty="0" err="1"/>
              <a:t>arr</a:t>
            </a:r>
            <a:r>
              <a:rPr lang="en-US" dirty="0"/>
              <a:t>[] = {10, 20, 80, 30, 60, 50, </a:t>
            </a:r>
          </a:p>
          <a:p>
            <a:pPr marL="457200" lvl="1" indent="0" algn="just" fontAlgn="base">
              <a:buNone/>
            </a:pPr>
            <a:r>
              <a:rPr lang="en-US" dirty="0"/>
              <a:t>                     110, 100, 130, 170}</a:t>
            </a:r>
          </a:p>
          <a:p>
            <a:pPr marL="457200" lvl="1" indent="0" algn="just" fontAlgn="base">
              <a:buNone/>
            </a:pPr>
            <a:r>
              <a:rPr lang="en-US" dirty="0"/>
              <a:t>           x = 175;</a:t>
            </a:r>
          </a:p>
          <a:p>
            <a:pPr marL="457200" lvl="1" indent="0" algn="just" fontAlgn="base">
              <a:buNone/>
            </a:pPr>
            <a:r>
              <a:rPr lang="en-US" dirty="0"/>
              <a:t>Output : -1</a:t>
            </a:r>
          </a:p>
          <a:p>
            <a:pPr marL="457200" lvl="1" indent="0" algn="just" fontAlgn="base">
              <a:buNone/>
            </a:pPr>
            <a:r>
              <a:rPr lang="en-US" dirty="0"/>
              <a:t>Element x is not present in </a:t>
            </a:r>
            <a:r>
              <a:rPr lang="en-US" dirty="0" err="1"/>
              <a:t>arr</a:t>
            </a:r>
            <a:r>
              <a:rPr lang="en-US" dirty="0"/>
              <a:t>[].</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spTree>
    <p:extLst>
      <p:ext uri="{BB962C8B-B14F-4D97-AF65-F5344CB8AC3E}">
        <p14:creationId xmlns:p14="http://schemas.microsoft.com/office/powerpoint/2010/main" val="3181157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Linear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647418"/>
          </a:xfrm>
        </p:spPr>
        <p:txBody>
          <a:bodyPr>
            <a:normAutofit fontScale="55000" lnSpcReduction="20000"/>
          </a:bodyPr>
          <a:lstStyle/>
          <a:p>
            <a:pPr marL="0" indent="0" algn="just" fontAlgn="base">
              <a:lnSpc>
                <a:spcPct val="120000"/>
              </a:lnSpc>
              <a:spcBef>
                <a:spcPts val="0"/>
              </a:spcBef>
              <a:buNone/>
            </a:pPr>
            <a:r>
              <a:rPr lang="en-US" sz="3200" dirty="0"/>
              <a:t>public class </a:t>
            </a:r>
            <a:r>
              <a:rPr lang="en-US" sz="3200" dirty="0" err="1"/>
              <a:t>LinearSearchExample</a:t>
            </a:r>
            <a:r>
              <a:rPr lang="en-US" sz="3200" dirty="0"/>
              <a:t>{    </a:t>
            </a:r>
          </a:p>
          <a:p>
            <a:pPr marL="0" indent="0" algn="just" fontAlgn="base">
              <a:lnSpc>
                <a:spcPct val="120000"/>
              </a:lnSpc>
              <a:spcBef>
                <a:spcPts val="0"/>
              </a:spcBef>
              <a:buNone/>
            </a:pPr>
            <a:r>
              <a:rPr lang="en-US" sz="3200" dirty="0" smtClean="0"/>
              <a:t>     public </a:t>
            </a:r>
            <a:r>
              <a:rPr lang="en-US" sz="3200" dirty="0"/>
              <a:t>static </a:t>
            </a:r>
            <a:r>
              <a:rPr lang="en-US" sz="3200" dirty="0" err="1"/>
              <a:t>int</a:t>
            </a:r>
            <a:r>
              <a:rPr lang="en-US" sz="3200" dirty="0"/>
              <a:t> </a:t>
            </a:r>
            <a:r>
              <a:rPr lang="en-US" sz="3200" dirty="0" err="1"/>
              <a:t>linearSearch</a:t>
            </a:r>
            <a:r>
              <a:rPr lang="en-US" sz="3200" dirty="0"/>
              <a:t>(</a:t>
            </a:r>
            <a:r>
              <a:rPr lang="en-US" sz="3200" dirty="0" err="1"/>
              <a:t>int</a:t>
            </a:r>
            <a:r>
              <a:rPr lang="en-US" sz="3200" dirty="0"/>
              <a:t>[] </a:t>
            </a:r>
            <a:r>
              <a:rPr lang="en-US" sz="3200" dirty="0" err="1"/>
              <a:t>arr</a:t>
            </a:r>
            <a:r>
              <a:rPr lang="en-US" sz="3200" dirty="0"/>
              <a:t>, </a:t>
            </a:r>
            <a:r>
              <a:rPr lang="en-US" sz="3200" dirty="0" err="1"/>
              <a:t>int</a:t>
            </a:r>
            <a:r>
              <a:rPr lang="en-US" sz="3200" dirty="0"/>
              <a:t> key){    </a:t>
            </a:r>
          </a:p>
          <a:p>
            <a:pPr marL="0" indent="0" algn="just" fontAlgn="base">
              <a:lnSpc>
                <a:spcPct val="120000"/>
              </a:lnSpc>
              <a:spcBef>
                <a:spcPts val="0"/>
              </a:spcBef>
              <a:buNone/>
            </a:pPr>
            <a:r>
              <a:rPr lang="en-US" sz="3200" dirty="0"/>
              <a:t>        for(</a:t>
            </a:r>
            <a:r>
              <a:rPr lang="en-US" sz="3200" dirty="0" err="1"/>
              <a:t>int</a:t>
            </a:r>
            <a:r>
              <a:rPr lang="en-US" sz="3200" dirty="0"/>
              <a:t> i=</a:t>
            </a:r>
            <a:r>
              <a:rPr lang="en-US" sz="3200" dirty="0" err="1"/>
              <a:t>0;i</a:t>
            </a:r>
            <a:r>
              <a:rPr lang="en-US" sz="3200" dirty="0"/>
              <a:t>&lt;</a:t>
            </a:r>
            <a:r>
              <a:rPr lang="en-US" sz="3200" dirty="0" err="1"/>
              <a:t>arr.length;i</a:t>
            </a:r>
            <a:r>
              <a:rPr lang="en-US" sz="3200" dirty="0"/>
              <a:t>++){    </a:t>
            </a:r>
          </a:p>
          <a:p>
            <a:pPr marL="0" indent="0" algn="just" fontAlgn="base">
              <a:lnSpc>
                <a:spcPct val="120000"/>
              </a:lnSpc>
              <a:spcBef>
                <a:spcPts val="0"/>
              </a:spcBef>
              <a:buNone/>
            </a:pPr>
            <a:r>
              <a:rPr lang="en-US" sz="3200" dirty="0"/>
              <a:t>            if(</a:t>
            </a:r>
            <a:r>
              <a:rPr lang="en-US" sz="3200" dirty="0" err="1"/>
              <a:t>arr</a:t>
            </a:r>
            <a:r>
              <a:rPr lang="en-US" sz="3200" dirty="0"/>
              <a:t>[i] == key){    </a:t>
            </a:r>
          </a:p>
          <a:p>
            <a:pPr marL="0" indent="0" algn="just" fontAlgn="base">
              <a:lnSpc>
                <a:spcPct val="120000"/>
              </a:lnSpc>
              <a:spcBef>
                <a:spcPts val="0"/>
              </a:spcBef>
              <a:buNone/>
            </a:pPr>
            <a:r>
              <a:rPr lang="en-US" sz="3200" dirty="0"/>
              <a:t>                return i;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return -1;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public static void main(String a[]){    </a:t>
            </a:r>
          </a:p>
          <a:p>
            <a:pPr marL="0" indent="0" algn="just" fontAlgn="base">
              <a:lnSpc>
                <a:spcPct val="120000"/>
              </a:lnSpc>
              <a:spcBef>
                <a:spcPts val="0"/>
              </a:spcBef>
              <a:buNone/>
            </a:pPr>
            <a:r>
              <a:rPr lang="en-US" sz="3200" dirty="0"/>
              <a:t>        </a:t>
            </a:r>
            <a:r>
              <a:rPr lang="en-US" sz="3200" dirty="0" err="1"/>
              <a:t>int</a:t>
            </a:r>
            <a:r>
              <a:rPr lang="en-US" sz="3200" dirty="0"/>
              <a:t>[] </a:t>
            </a:r>
            <a:r>
              <a:rPr lang="en-US" sz="3200" dirty="0" err="1"/>
              <a:t>a1</a:t>
            </a:r>
            <a:r>
              <a:rPr lang="en-US" sz="3200" dirty="0"/>
              <a:t>= {10,20,30,50,70,90};    </a:t>
            </a:r>
          </a:p>
          <a:p>
            <a:pPr marL="0" indent="0" algn="just" fontAlgn="base">
              <a:lnSpc>
                <a:spcPct val="120000"/>
              </a:lnSpc>
              <a:spcBef>
                <a:spcPts val="0"/>
              </a:spcBef>
              <a:buNone/>
            </a:pPr>
            <a:r>
              <a:rPr lang="en-US" sz="3200" dirty="0"/>
              <a:t>        </a:t>
            </a:r>
            <a:r>
              <a:rPr lang="en-US" sz="3200" dirty="0" err="1"/>
              <a:t>int</a:t>
            </a:r>
            <a:r>
              <a:rPr lang="en-US" sz="3200" dirty="0"/>
              <a:t> key = 50;    </a:t>
            </a:r>
            <a:endParaRPr lang="en-US" sz="3200" dirty="0" smtClean="0"/>
          </a:p>
          <a:p>
            <a:pPr marL="0" indent="0" algn="just" fontAlgn="base">
              <a:lnSpc>
                <a:spcPct val="120000"/>
              </a:lnSpc>
              <a:spcBef>
                <a:spcPts val="0"/>
              </a:spcBef>
              <a:buNone/>
            </a:pPr>
            <a:r>
              <a:rPr lang="en-US" sz="3200" dirty="0" smtClean="0"/>
              <a:t>        </a:t>
            </a:r>
            <a:r>
              <a:rPr lang="en-US" sz="3200" dirty="0" err="1" smtClean="0"/>
              <a:t>int</a:t>
            </a:r>
            <a:r>
              <a:rPr lang="en-US" sz="3200" dirty="0" smtClean="0"/>
              <a:t> </a:t>
            </a:r>
            <a:r>
              <a:rPr lang="en-US" sz="3200" dirty="0" err="1" smtClean="0"/>
              <a:t>pos</a:t>
            </a:r>
            <a:r>
              <a:rPr lang="en-US" sz="3200" dirty="0" smtClean="0"/>
              <a:t> = </a:t>
            </a:r>
            <a:r>
              <a:rPr lang="en-US" sz="3200" dirty="0" err="1"/>
              <a:t>linearSearch</a:t>
            </a:r>
            <a:r>
              <a:rPr lang="en-US" sz="3200" dirty="0"/>
              <a:t>(</a:t>
            </a:r>
            <a:r>
              <a:rPr lang="en-US" sz="3200" dirty="0" err="1"/>
              <a:t>a1</a:t>
            </a:r>
            <a:r>
              <a:rPr lang="en-US" sz="3200" dirty="0"/>
              <a:t>, key</a:t>
            </a:r>
            <a:r>
              <a:rPr lang="en-US" sz="3200" dirty="0" smtClean="0"/>
              <a:t>);</a:t>
            </a:r>
          </a:p>
          <a:p>
            <a:pPr marL="0" indent="0" algn="just" fontAlgn="base">
              <a:lnSpc>
                <a:spcPct val="120000"/>
              </a:lnSpc>
              <a:spcBef>
                <a:spcPts val="0"/>
              </a:spcBef>
              <a:buNone/>
            </a:pPr>
            <a:r>
              <a:rPr lang="en-US" sz="3200" dirty="0"/>
              <a:t> </a:t>
            </a:r>
            <a:r>
              <a:rPr lang="en-US" sz="3200" dirty="0" smtClean="0"/>
              <a:t>       if (</a:t>
            </a:r>
            <a:r>
              <a:rPr lang="en-US" sz="3200" dirty="0" err="1" smtClean="0"/>
              <a:t>pos</a:t>
            </a:r>
            <a:r>
              <a:rPr lang="en-US" sz="3200" dirty="0" smtClean="0"/>
              <a:t>&gt;=0)</a:t>
            </a:r>
            <a:endParaRPr lang="en-US" sz="3200" dirty="0"/>
          </a:p>
          <a:p>
            <a:pPr marL="0" indent="0" algn="just" fontAlgn="base">
              <a:lnSpc>
                <a:spcPct val="120000"/>
              </a:lnSpc>
              <a:spcBef>
                <a:spcPts val="0"/>
              </a:spcBef>
              <a:buNone/>
            </a:pPr>
            <a:r>
              <a:rPr lang="en-US" sz="3200" dirty="0" smtClean="0"/>
              <a:t>	</a:t>
            </a:r>
            <a:r>
              <a:rPr lang="en-US" sz="3200" dirty="0" err="1" smtClean="0"/>
              <a:t>System.out.println</a:t>
            </a:r>
            <a:r>
              <a:rPr lang="en-US" sz="3200" dirty="0" smtClean="0"/>
              <a:t>(key</a:t>
            </a:r>
            <a:r>
              <a:rPr lang="en-US" sz="3200" dirty="0"/>
              <a:t>+" is found at index: </a:t>
            </a:r>
            <a:r>
              <a:rPr lang="en-US" sz="3200" dirty="0" smtClean="0"/>
              <a:t>"+</a:t>
            </a:r>
            <a:r>
              <a:rPr lang="en-US" sz="3200" dirty="0" err="1" smtClean="0"/>
              <a:t>pos</a:t>
            </a:r>
            <a:r>
              <a:rPr lang="en-US" sz="3200" dirty="0" smtClean="0"/>
              <a:t>);</a:t>
            </a:r>
          </a:p>
          <a:p>
            <a:pPr marL="0" indent="0" algn="just" fontAlgn="base">
              <a:lnSpc>
                <a:spcPct val="120000"/>
              </a:lnSpc>
              <a:spcBef>
                <a:spcPts val="0"/>
              </a:spcBef>
              <a:buNone/>
            </a:pPr>
            <a:r>
              <a:rPr lang="en-US" sz="3200" dirty="0" smtClean="0"/>
              <a:t>        else</a:t>
            </a:r>
          </a:p>
          <a:p>
            <a:pPr marL="0" indent="0" algn="just" fontAlgn="base">
              <a:lnSpc>
                <a:spcPct val="120000"/>
              </a:lnSpc>
              <a:spcBef>
                <a:spcPts val="0"/>
              </a:spcBef>
              <a:buNone/>
            </a:pPr>
            <a:r>
              <a:rPr lang="en-US" sz="3200" dirty="0" smtClean="0"/>
              <a:t>	</a:t>
            </a:r>
            <a:r>
              <a:rPr lang="en-US" sz="3200" dirty="0" err="1"/>
              <a:t>System.out.println</a:t>
            </a:r>
            <a:r>
              <a:rPr lang="en-US" sz="3200" dirty="0"/>
              <a:t>(key+" </a:t>
            </a:r>
            <a:r>
              <a:rPr lang="en-US" sz="3200" dirty="0" smtClean="0"/>
              <a:t>not found");</a:t>
            </a:r>
            <a:r>
              <a:rPr lang="en-US" sz="3200" dirty="0"/>
              <a:t>	</a:t>
            </a:r>
            <a:r>
              <a:rPr lang="en-US" sz="3200" dirty="0" smtClean="0"/>
              <a:t>    </a:t>
            </a:r>
            <a:endParaRPr lang="en-US" sz="3200" dirty="0"/>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692571" y="4601028"/>
            <a:ext cx="2873826" cy="1172751"/>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50 is found at index: 3</a:t>
            </a:r>
          </a:p>
        </p:txBody>
      </p:sp>
    </p:spTree>
    <p:extLst>
      <p:ext uri="{BB962C8B-B14F-4D97-AF65-F5344CB8AC3E}">
        <p14:creationId xmlns:p14="http://schemas.microsoft.com/office/powerpoint/2010/main" val="74868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Linear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647418"/>
          </a:xfrm>
        </p:spPr>
        <p:txBody>
          <a:bodyPr>
            <a:normAutofit fontScale="55000" lnSpcReduction="20000"/>
          </a:bodyPr>
          <a:lstStyle/>
          <a:p>
            <a:pPr marL="0" indent="0" algn="just" fontAlgn="base">
              <a:lnSpc>
                <a:spcPct val="120000"/>
              </a:lnSpc>
              <a:spcBef>
                <a:spcPts val="0"/>
              </a:spcBef>
              <a:buNone/>
            </a:pPr>
            <a:r>
              <a:rPr lang="en-US" sz="3200" dirty="0"/>
              <a:t>import </a:t>
            </a:r>
            <a:r>
              <a:rPr lang="en-US" sz="3200" dirty="0" err="1"/>
              <a:t>java.util.Scanner</a:t>
            </a:r>
            <a:r>
              <a:rPr lang="en-US" sz="3200" dirty="0"/>
              <a:t>;  </a:t>
            </a:r>
          </a:p>
          <a:p>
            <a:pPr marL="0" indent="0" algn="just" fontAlgn="base">
              <a:lnSpc>
                <a:spcPct val="120000"/>
              </a:lnSpc>
              <a:spcBef>
                <a:spcPts val="0"/>
              </a:spcBef>
              <a:buNone/>
            </a:pPr>
            <a:r>
              <a:rPr lang="en-US" sz="3200" dirty="0"/>
              <a:t>class </a:t>
            </a:r>
            <a:r>
              <a:rPr lang="en-US" sz="3200" dirty="0" err="1"/>
              <a:t>LinearSearchExample2</a:t>
            </a:r>
            <a:r>
              <a:rPr lang="en-US" sz="3200" dirty="0"/>
              <a:t>   </a:t>
            </a:r>
            <a:r>
              <a:rPr lang="en-US" sz="3200" dirty="0" smtClean="0"/>
              <a:t>{  </a:t>
            </a:r>
            <a:endParaRPr lang="en-US" sz="3200" dirty="0"/>
          </a:p>
          <a:p>
            <a:pPr marL="0" indent="0" algn="just" fontAlgn="base">
              <a:lnSpc>
                <a:spcPct val="120000"/>
              </a:lnSpc>
              <a:spcBef>
                <a:spcPts val="0"/>
              </a:spcBef>
              <a:buNone/>
            </a:pPr>
            <a:r>
              <a:rPr lang="en-US" sz="3200" dirty="0"/>
              <a:t>  public static void main(String </a:t>
            </a:r>
            <a:r>
              <a:rPr lang="en-US" sz="3200" dirty="0" err="1"/>
              <a:t>args</a:t>
            </a:r>
            <a:r>
              <a:rPr lang="en-US" sz="3200" dirty="0"/>
              <a:t>[])  </a:t>
            </a:r>
            <a:r>
              <a:rPr lang="en-US" sz="3200" dirty="0" smtClean="0"/>
              <a:t>  </a:t>
            </a:r>
            <a:r>
              <a:rPr lang="en-US" sz="3200" dirty="0"/>
              <a:t>{  </a:t>
            </a:r>
          </a:p>
          <a:p>
            <a:pPr marL="0" indent="0" algn="just" fontAlgn="base">
              <a:lnSpc>
                <a:spcPct val="120000"/>
              </a:lnSpc>
              <a:spcBef>
                <a:spcPts val="0"/>
              </a:spcBef>
              <a:buNone/>
            </a:pPr>
            <a:r>
              <a:rPr lang="en-US" sz="3200" dirty="0"/>
              <a:t>    </a:t>
            </a:r>
            <a:r>
              <a:rPr lang="en-US" sz="3200" dirty="0" err="1"/>
              <a:t>int</a:t>
            </a:r>
            <a:r>
              <a:rPr lang="en-US" sz="3200" dirty="0"/>
              <a:t> c, n, search, array[]; </a:t>
            </a:r>
            <a:r>
              <a:rPr lang="en-US" sz="3200" dirty="0" smtClean="0"/>
              <a:t>   </a:t>
            </a:r>
            <a:endParaRPr lang="en-US" sz="3200" dirty="0"/>
          </a:p>
          <a:p>
            <a:pPr marL="0" indent="0" algn="just" fontAlgn="base">
              <a:lnSpc>
                <a:spcPct val="120000"/>
              </a:lnSpc>
              <a:spcBef>
                <a:spcPts val="0"/>
              </a:spcBef>
              <a:buNone/>
            </a:pPr>
            <a:r>
              <a:rPr lang="en-US" sz="3200" dirty="0"/>
              <a:t>    Scanner in = new Scanner(</a:t>
            </a:r>
            <a:r>
              <a:rPr lang="en-US" sz="3200" dirty="0" err="1"/>
              <a:t>System.in</a:t>
            </a:r>
            <a:r>
              <a:rPr lang="en-US" sz="3200" dirty="0"/>
              <a:t>);  </a:t>
            </a:r>
          </a:p>
          <a:p>
            <a:pPr marL="0" indent="0" algn="just" fontAlgn="base">
              <a:lnSpc>
                <a:spcPct val="120000"/>
              </a:lnSpc>
              <a:spcBef>
                <a:spcPts val="0"/>
              </a:spcBef>
              <a:buNone/>
            </a:pPr>
            <a:r>
              <a:rPr lang="en-US" sz="3200" dirty="0"/>
              <a:t>    </a:t>
            </a:r>
            <a:r>
              <a:rPr lang="en-US" sz="3200" dirty="0" err="1"/>
              <a:t>System.out.println</a:t>
            </a:r>
            <a:r>
              <a:rPr lang="en-US" sz="3200" dirty="0"/>
              <a:t>("Enter number of </a:t>
            </a:r>
            <a:r>
              <a:rPr lang="en-US" sz="3200" dirty="0" smtClean="0"/>
              <a:t>elements: ");      </a:t>
            </a:r>
            <a:r>
              <a:rPr lang="en-US" sz="3200" dirty="0"/>
              <a:t>n = </a:t>
            </a:r>
            <a:r>
              <a:rPr lang="en-US" sz="3200" dirty="0" err="1"/>
              <a:t>in.nextInt</a:t>
            </a:r>
            <a:r>
              <a:rPr lang="en-US" sz="3200" dirty="0"/>
              <a:t>();   </a:t>
            </a:r>
            <a:r>
              <a:rPr lang="en-US" sz="3200" dirty="0" smtClean="0"/>
              <a:t>    </a:t>
            </a:r>
            <a:r>
              <a:rPr lang="en-US" sz="3200" dirty="0"/>
              <a:t>array = new </a:t>
            </a:r>
            <a:r>
              <a:rPr lang="en-US" sz="3200" dirty="0" err="1"/>
              <a:t>int</a:t>
            </a:r>
            <a:r>
              <a:rPr lang="en-US" sz="3200" dirty="0"/>
              <a:t>[n];  </a:t>
            </a:r>
            <a:r>
              <a:rPr lang="en-US" sz="3200" dirty="0" smtClean="0"/>
              <a:t>   </a:t>
            </a:r>
            <a:endParaRPr lang="en-US" sz="3200" dirty="0"/>
          </a:p>
          <a:p>
            <a:pPr marL="0" indent="0" algn="just" fontAlgn="base">
              <a:lnSpc>
                <a:spcPct val="120000"/>
              </a:lnSpc>
              <a:spcBef>
                <a:spcPts val="0"/>
              </a:spcBef>
              <a:buNone/>
            </a:pPr>
            <a:r>
              <a:rPr lang="en-US" sz="3200" dirty="0"/>
              <a:t>    </a:t>
            </a:r>
            <a:r>
              <a:rPr lang="en-US" sz="3200" dirty="0" err="1"/>
              <a:t>System.out.println</a:t>
            </a:r>
            <a:r>
              <a:rPr lang="en-US" sz="3200" dirty="0"/>
              <a:t>("Enter those " + n + " </a:t>
            </a:r>
            <a:r>
              <a:rPr lang="en-US" sz="3200" dirty="0" smtClean="0"/>
              <a:t>elements: ");     </a:t>
            </a:r>
            <a:endParaRPr lang="en-US" sz="3200" dirty="0"/>
          </a:p>
          <a:p>
            <a:pPr marL="0" indent="0" algn="just" fontAlgn="base">
              <a:lnSpc>
                <a:spcPct val="120000"/>
              </a:lnSpc>
              <a:spcBef>
                <a:spcPts val="0"/>
              </a:spcBef>
              <a:buNone/>
            </a:pPr>
            <a:r>
              <a:rPr lang="en-US" sz="3200" dirty="0"/>
              <a:t>    for (c = 0; c &lt; n; </a:t>
            </a:r>
            <a:r>
              <a:rPr lang="en-US" sz="3200" dirty="0" err="1"/>
              <a:t>c++</a:t>
            </a:r>
            <a:r>
              <a:rPr lang="en-US" sz="3200" dirty="0"/>
              <a:t>)  </a:t>
            </a:r>
          </a:p>
          <a:p>
            <a:pPr marL="0" indent="0" algn="just" fontAlgn="base">
              <a:lnSpc>
                <a:spcPct val="120000"/>
              </a:lnSpc>
              <a:spcBef>
                <a:spcPts val="0"/>
              </a:spcBef>
              <a:buNone/>
            </a:pPr>
            <a:r>
              <a:rPr lang="en-US" sz="3200" dirty="0"/>
              <a:t>      array[c] = </a:t>
            </a:r>
            <a:r>
              <a:rPr lang="en-US" sz="3200" dirty="0" err="1"/>
              <a:t>in.nextInt</a:t>
            </a:r>
            <a:r>
              <a:rPr lang="en-US" sz="3200" dirty="0"/>
              <a:t>();  </a:t>
            </a:r>
            <a:r>
              <a:rPr lang="en-US" sz="3200" dirty="0" smtClean="0"/>
              <a:t>   </a:t>
            </a:r>
            <a:endParaRPr lang="en-US" sz="3200" dirty="0"/>
          </a:p>
          <a:p>
            <a:pPr marL="0" indent="0" algn="just" fontAlgn="base">
              <a:lnSpc>
                <a:spcPct val="120000"/>
              </a:lnSpc>
              <a:spcBef>
                <a:spcPts val="0"/>
              </a:spcBef>
              <a:buNone/>
            </a:pPr>
            <a:r>
              <a:rPr lang="en-US" sz="3200" dirty="0"/>
              <a:t>    </a:t>
            </a:r>
            <a:r>
              <a:rPr lang="en-US" sz="3200" dirty="0" err="1"/>
              <a:t>System.out.println</a:t>
            </a:r>
            <a:r>
              <a:rPr lang="en-US" sz="3200" dirty="0"/>
              <a:t>("Enter value to </a:t>
            </a:r>
            <a:r>
              <a:rPr lang="en-US" sz="3200" dirty="0" smtClean="0"/>
              <a:t>find: ");      </a:t>
            </a:r>
            <a:r>
              <a:rPr lang="en-US" sz="3200" dirty="0"/>
              <a:t>search = </a:t>
            </a:r>
            <a:r>
              <a:rPr lang="en-US" sz="3200" dirty="0" err="1"/>
              <a:t>in.nextInt</a:t>
            </a:r>
            <a:r>
              <a:rPr lang="en-US" sz="3200" dirty="0"/>
              <a:t>();  </a:t>
            </a:r>
            <a:r>
              <a:rPr lang="en-US" sz="3200" dirty="0" smtClean="0"/>
              <a:t>   </a:t>
            </a:r>
            <a:endParaRPr lang="en-US" sz="3200" dirty="0"/>
          </a:p>
          <a:p>
            <a:pPr marL="0" indent="0" algn="just" fontAlgn="base">
              <a:lnSpc>
                <a:spcPct val="120000"/>
              </a:lnSpc>
              <a:spcBef>
                <a:spcPts val="0"/>
              </a:spcBef>
              <a:buNone/>
            </a:pPr>
            <a:r>
              <a:rPr lang="en-US" sz="3200" dirty="0"/>
              <a:t>    for (c = 0; c &lt; n; </a:t>
            </a:r>
            <a:r>
              <a:rPr lang="en-US" sz="3200" dirty="0" err="1"/>
              <a:t>c++</a:t>
            </a:r>
            <a:r>
              <a:rPr lang="en-US" sz="3200" dirty="0"/>
              <a:t>) </a:t>
            </a:r>
            <a:r>
              <a:rPr lang="en-US" sz="3200" dirty="0" smtClean="0"/>
              <a:t>    </a:t>
            </a:r>
            <a:r>
              <a:rPr lang="en-US" sz="3200" dirty="0"/>
              <a:t>{  </a:t>
            </a:r>
          </a:p>
          <a:p>
            <a:pPr marL="0" indent="0" algn="just" fontAlgn="base">
              <a:lnSpc>
                <a:spcPct val="120000"/>
              </a:lnSpc>
              <a:spcBef>
                <a:spcPts val="0"/>
              </a:spcBef>
              <a:buNone/>
            </a:pPr>
            <a:r>
              <a:rPr lang="en-US" sz="3200" dirty="0"/>
              <a:t>      if (array[c] == </a:t>
            </a:r>
            <a:r>
              <a:rPr lang="en-US" sz="3200" dirty="0" smtClean="0"/>
              <a:t>search) {     </a:t>
            </a:r>
            <a:r>
              <a:rPr lang="en-US" sz="3200" dirty="0"/>
              <a:t>/* Searching element is present */ </a:t>
            </a:r>
            <a:endParaRPr lang="en-US" sz="3200" dirty="0" smtClean="0"/>
          </a:p>
          <a:p>
            <a:pPr marL="0" indent="0" algn="just" fontAlgn="base">
              <a:lnSpc>
                <a:spcPct val="120000"/>
              </a:lnSpc>
              <a:spcBef>
                <a:spcPts val="0"/>
              </a:spcBef>
              <a:buNone/>
            </a:pPr>
            <a:r>
              <a:rPr lang="en-US" sz="3200" dirty="0" smtClean="0"/>
              <a:t>           </a:t>
            </a:r>
            <a:r>
              <a:rPr lang="en-US" sz="3200" dirty="0" err="1"/>
              <a:t>System.out.println</a:t>
            </a:r>
            <a:r>
              <a:rPr lang="en-US" sz="3200" dirty="0"/>
              <a:t>(search + " is present at location " + (c + 1) + ".");  </a:t>
            </a:r>
          </a:p>
          <a:p>
            <a:pPr marL="0" indent="0" algn="just" fontAlgn="base">
              <a:lnSpc>
                <a:spcPct val="120000"/>
              </a:lnSpc>
              <a:spcBef>
                <a:spcPts val="0"/>
              </a:spcBef>
              <a:buNone/>
            </a:pPr>
            <a:r>
              <a:rPr lang="en-US" sz="3200" dirty="0"/>
              <a:t>          break;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if (c == n)  /* Element to search isn't present */  </a:t>
            </a:r>
          </a:p>
          <a:p>
            <a:pPr marL="0" indent="0" algn="just" fontAlgn="base">
              <a:lnSpc>
                <a:spcPct val="120000"/>
              </a:lnSpc>
              <a:spcBef>
                <a:spcPts val="0"/>
              </a:spcBef>
              <a:buNone/>
            </a:pPr>
            <a:r>
              <a:rPr lang="en-US" sz="3200" dirty="0"/>
              <a:t>      </a:t>
            </a:r>
            <a:r>
              <a:rPr lang="en-US" sz="3200" dirty="0" err="1"/>
              <a:t>System.out.println</a:t>
            </a:r>
            <a:r>
              <a:rPr lang="en-US" sz="3200" dirty="0"/>
              <a:t>(search + " isn't present in array.");  </a:t>
            </a:r>
          </a:p>
          <a:p>
            <a:pPr marL="0" indent="0" algn="just" fontAlgn="base">
              <a:lnSpc>
                <a:spcPct val="120000"/>
              </a:lnSpc>
              <a:spcBef>
                <a:spcPts val="0"/>
              </a:spcBef>
              <a:buNone/>
            </a:pPr>
            <a:r>
              <a:rPr lang="en-US" sz="3200" dirty="0"/>
              <a:t>  }  </a:t>
            </a:r>
          </a:p>
          <a:p>
            <a:pPr marL="0" indent="0" algn="just" fontAlgn="base">
              <a:lnSpc>
                <a:spcPct val="120000"/>
              </a:lnSpc>
              <a:spcBef>
                <a:spcPts val="0"/>
              </a:spcBef>
              <a:buNone/>
            </a:pPr>
            <a:r>
              <a:rPr lang="en-US" sz="3200" dirty="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Tree>
    <p:extLst>
      <p:ext uri="{BB962C8B-B14F-4D97-AF65-F5344CB8AC3E}">
        <p14:creationId xmlns:p14="http://schemas.microsoft.com/office/powerpoint/2010/main" val="179499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Binary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599" cy="5515429"/>
          </a:xfrm>
        </p:spPr>
        <p:txBody>
          <a:bodyPr>
            <a:normAutofit fontScale="92500" lnSpcReduction="20000"/>
          </a:bodyPr>
          <a:lstStyle/>
          <a:p>
            <a:pPr algn="just" fontAlgn="base"/>
            <a:r>
              <a:rPr lang="en-US" sz="3200" dirty="0"/>
              <a:t>Binary or Logarithmic Search is one of the most commonly used search algorithms primarily due to its quick search </a:t>
            </a:r>
            <a:r>
              <a:rPr lang="en-US" sz="3200" dirty="0" smtClean="0"/>
              <a:t>time, it requires </a:t>
            </a:r>
            <a:r>
              <a:rPr lang="en-US" sz="3200" dirty="0"/>
              <a:t>the data set to be sorted beforehand. </a:t>
            </a:r>
            <a:endParaRPr lang="en-US" sz="3200" dirty="0" smtClean="0"/>
          </a:p>
          <a:p>
            <a:pPr algn="just" fontAlgn="base"/>
            <a:r>
              <a:rPr lang="en-US" sz="3200" dirty="0" smtClean="0"/>
              <a:t>Binary </a:t>
            </a:r>
            <a:r>
              <a:rPr lang="en-US" sz="3200" dirty="0"/>
              <a:t>searching works by comparing an input value to the middle element of the </a:t>
            </a:r>
            <a:r>
              <a:rPr lang="en-US" sz="3200" dirty="0" smtClean="0"/>
              <a:t>array</a:t>
            </a:r>
            <a:r>
              <a:rPr lang="en-US" sz="3200" dirty="0"/>
              <a:t>:</a:t>
            </a:r>
            <a:r>
              <a:rPr lang="en-US" sz="3200" dirty="0" smtClean="0"/>
              <a:t> </a:t>
            </a:r>
          </a:p>
          <a:p>
            <a:pPr lvl="1" algn="just" fontAlgn="base"/>
            <a:r>
              <a:rPr lang="en-US" sz="2600" dirty="0" smtClean="0"/>
              <a:t>When </a:t>
            </a:r>
            <a:r>
              <a:rPr lang="en-US" sz="2600" dirty="0"/>
              <a:t>the element being compared equals the input, the search stops and typically returns the position of the element. </a:t>
            </a:r>
            <a:endParaRPr lang="en-US" sz="2600" dirty="0" smtClean="0"/>
          </a:p>
          <a:p>
            <a:pPr lvl="1" algn="just" fontAlgn="base"/>
            <a:r>
              <a:rPr lang="en-US" sz="2600" dirty="0" smtClean="0"/>
              <a:t>If </a:t>
            </a:r>
            <a:r>
              <a:rPr lang="en-US" sz="2600" dirty="0"/>
              <a:t>the element is not equal to the input, then a comparison is made to determine whether the input is less than or greater than the element. </a:t>
            </a:r>
            <a:r>
              <a:rPr lang="en-US" sz="2600" dirty="0" smtClean="0"/>
              <a:t>Depending </a:t>
            </a:r>
            <a:r>
              <a:rPr lang="en-US" sz="2600" dirty="0"/>
              <a:t>on which it is, the algorithm then starts over, but only searching the top or a bottom subset of the array's elements. </a:t>
            </a:r>
            <a:endParaRPr lang="en-US" sz="2600" dirty="0" smtClean="0"/>
          </a:p>
          <a:p>
            <a:pPr lvl="1" algn="just" fontAlgn="base"/>
            <a:r>
              <a:rPr lang="en-US" sz="2600" dirty="0" smtClean="0"/>
              <a:t>If </a:t>
            </a:r>
            <a:r>
              <a:rPr lang="en-US" sz="2600" dirty="0"/>
              <a:t>the input is not located within the array, the algorithm will usually output a unique </a:t>
            </a:r>
            <a:r>
              <a:rPr lang="en-US" sz="2600" dirty="0" smtClean="0"/>
              <a:t>value (-1)  </a:t>
            </a:r>
            <a:r>
              <a:rPr lang="en-US" sz="2600" dirty="0"/>
              <a:t>indicating this.</a:t>
            </a:r>
          </a:p>
          <a:p>
            <a:pPr algn="just" fontAlgn="base"/>
            <a:r>
              <a:rPr lang="en-US" sz="3200" dirty="0" smtClean="0"/>
              <a:t>Binary </a:t>
            </a:r>
            <a:r>
              <a:rPr lang="en-US" sz="3200" dirty="0"/>
              <a:t>search algorithms typically halve the number of items to check with each successive iteration, thus locating the given item (or determining its absence) in logarithmic time.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spTree>
    <p:extLst>
      <p:ext uri="{BB962C8B-B14F-4D97-AF65-F5344CB8AC3E}">
        <p14:creationId xmlns:p14="http://schemas.microsoft.com/office/powerpoint/2010/main" val="15001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Binary search</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854" y="1117600"/>
            <a:ext cx="7375486"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159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Binary search</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515429"/>
          </a:xfrm>
        </p:spPr>
        <p:txBody>
          <a:bodyPr>
            <a:normAutofit/>
          </a:bodyPr>
          <a:lstStyle/>
          <a:p>
            <a:pPr algn="just" fontAlgn="base"/>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858" y="798287"/>
            <a:ext cx="8650511" cy="56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8407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Binary search</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926877"/>
            <a:ext cx="10515600" cy="5429474"/>
          </a:xfrm>
        </p:spPr>
        <p:txBody>
          <a:bodyPr>
            <a:noAutofit/>
          </a:bodyPr>
          <a:lstStyle/>
          <a:p>
            <a:pPr marL="0" indent="0" algn="just">
              <a:lnSpc>
                <a:spcPct val="100000"/>
              </a:lnSpc>
              <a:spcBef>
                <a:spcPts val="0"/>
              </a:spcBef>
              <a:buNone/>
            </a:pPr>
            <a:r>
              <a:rPr lang="en-US" sz="1800" dirty="0"/>
              <a:t>class </a:t>
            </a:r>
            <a:r>
              <a:rPr lang="en-US" sz="1800" dirty="0" err="1"/>
              <a:t>BinarySearchExample</a:t>
            </a:r>
            <a:r>
              <a:rPr lang="en-US" sz="1800" dirty="0"/>
              <a:t>{  </a:t>
            </a:r>
          </a:p>
          <a:p>
            <a:pPr marL="0" indent="0" algn="just">
              <a:lnSpc>
                <a:spcPct val="100000"/>
              </a:lnSpc>
              <a:spcBef>
                <a:spcPts val="0"/>
              </a:spcBef>
              <a:buNone/>
            </a:pPr>
            <a:r>
              <a:rPr lang="en-US" sz="1800" dirty="0"/>
              <a:t> public static </a:t>
            </a:r>
            <a:r>
              <a:rPr lang="en-US" sz="1800" dirty="0" err="1" smtClean="0"/>
              <a:t>int</a:t>
            </a:r>
            <a:r>
              <a:rPr lang="en-US" sz="1800" dirty="0" smtClean="0"/>
              <a:t> </a:t>
            </a:r>
            <a:r>
              <a:rPr lang="en-US" sz="1800" dirty="0" err="1" smtClean="0"/>
              <a:t>binarySearch</a:t>
            </a:r>
            <a:r>
              <a:rPr lang="en-US" sz="1800" dirty="0" smtClean="0"/>
              <a:t>(</a:t>
            </a:r>
            <a:r>
              <a:rPr lang="en-US" sz="1800" dirty="0" err="1" smtClean="0"/>
              <a:t>int</a:t>
            </a:r>
            <a:r>
              <a:rPr lang="en-US" sz="1800" dirty="0" smtClean="0"/>
              <a:t> </a:t>
            </a:r>
            <a:r>
              <a:rPr lang="en-US" sz="1800" dirty="0" err="1"/>
              <a:t>arr</a:t>
            </a:r>
            <a:r>
              <a:rPr lang="en-US" sz="1800" dirty="0"/>
              <a:t>[], </a:t>
            </a:r>
            <a:r>
              <a:rPr lang="en-US" sz="1800" dirty="0" err="1"/>
              <a:t>int</a:t>
            </a:r>
            <a:r>
              <a:rPr lang="en-US" sz="1800" dirty="0"/>
              <a:t> first, </a:t>
            </a:r>
            <a:r>
              <a:rPr lang="en-US" sz="1800" dirty="0" err="1"/>
              <a:t>int</a:t>
            </a:r>
            <a:r>
              <a:rPr lang="en-US" sz="1800" dirty="0"/>
              <a:t> last, </a:t>
            </a:r>
            <a:r>
              <a:rPr lang="en-US" sz="1800" dirty="0" err="1"/>
              <a:t>int</a:t>
            </a:r>
            <a:r>
              <a:rPr lang="en-US" sz="1800" dirty="0"/>
              <a:t> key){  </a:t>
            </a:r>
          </a:p>
          <a:p>
            <a:pPr marL="0" indent="0" algn="just">
              <a:lnSpc>
                <a:spcPct val="100000"/>
              </a:lnSpc>
              <a:spcBef>
                <a:spcPts val="0"/>
              </a:spcBef>
              <a:buNone/>
            </a:pPr>
            <a:r>
              <a:rPr lang="en-US" sz="1800" dirty="0"/>
              <a:t>   </a:t>
            </a:r>
            <a:r>
              <a:rPr lang="en-US" sz="1800" dirty="0" err="1"/>
              <a:t>int</a:t>
            </a:r>
            <a:r>
              <a:rPr lang="en-US" sz="1800" dirty="0"/>
              <a:t> mid = (first + last)/2;  </a:t>
            </a:r>
          </a:p>
          <a:p>
            <a:pPr marL="0" indent="0" algn="just">
              <a:lnSpc>
                <a:spcPct val="100000"/>
              </a:lnSpc>
              <a:spcBef>
                <a:spcPts val="0"/>
              </a:spcBef>
              <a:buNone/>
            </a:pPr>
            <a:r>
              <a:rPr lang="en-US" sz="1800" dirty="0"/>
              <a:t>   while( first &lt;= last ){  </a:t>
            </a:r>
          </a:p>
          <a:p>
            <a:pPr marL="0" indent="0" algn="just">
              <a:lnSpc>
                <a:spcPct val="100000"/>
              </a:lnSpc>
              <a:spcBef>
                <a:spcPts val="0"/>
              </a:spcBef>
              <a:buNone/>
            </a:pPr>
            <a:r>
              <a:rPr lang="en-US" sz="1800" dirty="0"/>
              <a:t>      if ( </a:t>
            </a:r>
            <a:r>
              <a:rPr lang="en-US" sz="1800" dirty="0" err="1"/>
              <a:t>arr</a:t>
            </a:r>
            <a:r>
              <a:rPr lang="en-US" sz="1800" dirty="0"/>
              <a:t>[mid] &lt; key </a:t>
            </a:r>
            <a:r>
              <a:rPr lang="en-US" sz="1800" dirty="0" smtClean="0"/>
              <a:t>)  </a:t>
            </a:r>
            <a:r>
              <a:rPr lang="en-US" sz="1800" dirty="0"/>
              <a:t>first = mid + 1;     </a:t>
            </a:r>
          </a:p>
          <a:p>
            <a:pPr marL="0" indent="0" algn="just">
              <a:lnSpc>
                <a:spcPct val="100000"/>
              </a:lnSpc>
              <a:spcBef>
                <a:spcPts val="0"/>
              </a:spcBef>
              <a:buNone/>
            </a:pPr>
            <a:r>
              <a:rPr lang="en-US" sz="1800" dirty="0"/>
              <a:t>      </a:t>
            </a:r>
            <a:r>
              <a:rPr lang="en-US" sz="1800" dirty="0" smtClean="0"/>
              <a:t>else </a:t>
            </a:r>
            <a:r>
              <a:rPr lang="en-US" sz="1800" dirty="0"/>
              <a:t>if ( </a:t>
            </a:r>
            <a:r>
              <a:rPr lang="en-US" sz="1800" dirty="0" err="1"/>
              <a:t>arr</a:t>
            </a:r>
            <a:r>
              <a:rPr lang="en-US" sz="1800" dirty="0"/>
              <a:t>[mid] == key </a:t>
            </a:r>
            <a:r>
              <a:rPr lang="en-US" sz="1800" dirty="0" smtClean="0"/>
              <a:t>)  return mid;</a:t>
            </a:r>
            <a:endParaRPr lang="en-US" sz="1600" dirty="0"/>
          </a:p>
          <a:p>
            <a:pPr marL="0" indent="0" algn="just">
              <a:lnSpc>
                <a:spcPct val="100000"/>
              </a:lnSpc>
              <a:spcBef>
                <a:spcPts val="0"/>
              </a:spcBef>
              <a:buNone/>
            </a:pPr>
            <a:r>
              <a:rPr lang="en-US" sz="1800" dirty="0"/>
              <a:t>      </a:t>
            </a:r>
            <a:r>
              <a:rPr lang="en-US" sz="1800" dirty="0" smtClean="0"/>
              <a:t>else last </a:t>
            </a:r>
            <a:r>
              <a:rPr lang="en-US" sz="1800" dirty="0"/>
              <a:t>= mid - 1;  </a:t>
            </a:r>
          </a:p>
          <a:p>
            <a:pPr marL="0" indent="0" algn="just">
              <a:lnSpc>
                <a:spcPct val="100000"/>
              </a:lnSpc>
              <a:spcBef>
                <a:spcPts val="0"/>
              </a:spcBef>
              <a:buNone/>
            </a:pPr>
            <a:r>
              <a:rPr lang="en-US" sz="1800" dirty="0"/>
              <a:t>      mid = (first + last)/2;  </a:t>
            </a:r>
          </a:p>
          <a:p>
            <a:pPr marL="0" indent="0" algn="just">
              <a:lnSpc>
                <a:spcPct val="100000"/>
              </a:lnSpc>
              <a:spcBef>
                <a:spcPts val="0"/>
              </a:spcBef>
              <a:buNone/>
            </a:pPr>
            <a:r>
              <a:rPr lang="en-US" sz="1800" dirty="0"/>
              <a:t>   }  </a:t>
            </a:r>
          </a:p>
          <a:p>
            <a:pPr marL="0" indent="0" algn="just">
              <a:lnSpc>
                <a:spcPct val="100000"/>
              </a:lnSpc>
              <a:spcBef>
                <a:spcPts val="0"/>
              </a:spcBef>
              <a:buNone/>
            </a:pPr>
            <a:r>
              <a:rPr lang="en-US" sz="1800" dirty="0"/>
              <a:t>   if ( first &gt; last </a:t>
            </a:r>
            <a:r>
              <a:rPr lang="en-US" sz="1800" dirty="0" smtClean="0"/>
              <a:t>) return -1;</a:t>
            </a:r>
            <a:endParaRPr lang="en-US" sz="1800" dirty="0"/>
          </a:p>
          <a:p>
            <a:pPr marL="0" indent="0" algn="just">
              <a:lnSpc>
                <a:spcPct val="100000"/>
              </a:lnSpc>
              <a:spcBef>
                <a:spcPts val="0"/>
              </a:spcBef>
              <a:buNone/>
            </a:pPr>
            <a:r>
              <a:rPr lang="en-US" sz="1800" dirty="0"/>
              <a:t> }  </a:t>
            </a:r>
          </a:p>
          <a:p>
            <a:pPr marL="0" indent="0" algn="just">
              <a:lnSpc>
                <a:spcPct val="100000"/>
              </a:lnSpc>
              <a:spcBef>
                <a:spcPts val="0"/>
              </a:spcBef>
              <a:buNone/>
            </a:pPr>
            <a:r>
              <a:rPr lang="en-US" sz="1800" dirty="0"/>
              <a:t> public static void main(String </a:t>
            </a:r>
            <a:r>
              <a:rPr lang="en-US" sz="1800" dirty="0" err="1"/>
              <a:t>args</a:t>
            </a:r>
            <a:r>
              <a:rPr lang="en-US" sz="1800" dirty="0"/>
              <a:t>[]){  </a:t>
            </a:r>
          </a:p>
          <a:p>
            <a:pPr marL="0" indent="0" algn="just">
              <a:lnSpc>
                <a:spcPct val="100000"/>
              </a:lnSpc>
              <a:spcBef>
                <a:spcPts val="0"/>
              </a:spcBef>
              <a:buNone/>
            </a:pPr>
            <a:r>
              <a:rPr lang="en-US" sz="1800" dirty="0"/>
              <a:t>        </a:t>
            </a:r>
            <a:r>
              <a:rPr lang="en-US" sz="1800" dirty="0" err="1"/>
              <a:t>int</a:t>
            </a:r>
            <a:r>
              <a:rPr lang="en-US" sz="1800" dirty="0"/>
              <a:t> </a:t>
            </a:r>
            <a:r>
              <a:rPr lang="en-US" sz="1800" dirty="0" err="1"/>
              <a:t>arr</a:t>
            </a:r>
            <a:r>
              <a:rPr lang="en-US" sz="1800" dirty="0"/>
              <a:t>[] = {10,20,30,40,50};  </a:t>
            </a:r>
          </a:p>
          <a:p>
            <a:pPr marL="0" indent="0" algn="just">
              <a:lnSpc>
                <a:spcPct val="100000"/>
              </a:lnSpc>
              <a:spcBef>
                <a:spcPts val="0"/>
              </a:spcBef>
              <a:buNone/>
            </a:pPr>
            <a:r>
              <a:rPr lang="en-US" sz="1800" dirty="0"/>
              <a:t>        </a:t>
            </a:r>
            <a:r>
              <a:rPr lang="en-US" sz="1800" dirty="0" err="1"/>
              <a:t>int</a:t>
            </a:r>
            <a:r>
              <a:rPr lang="en-US" sz="1800" dirty="0"/>
              <a:t> key = 30;  </a:t>
            </a:r>
          </a:p>
          <a:p>
            <a:pPr marL="0" indent="0" algn="just">
              <a:lnSpc>
                <a:spcPct val="100000"/>
              </a:lnSpc>
              <a:spcBef>
                <a:spcPts val="0"/>
              </a:spcBef>
              <a:buNone/>
            </a:pPr>
            <a:r>
              <a:rPr lang="en-US" sz="1800" dirty="0"/>
              <a:t>        </a:t>
            </a:r>
            <a:r>
              <a:rPr lang="en-US" sz="1800" dirty="0" err="1"/>
              <a:t>int</a:t>
            </a:r>
            <a:r>
              <a:rPr lang="en-US" sz="1800" dirty="0"/>
              <a:t> last=</a:t>
            </a:r>
            <a:r>
              <a:rPr lang="en-US" sz="1800" dirty="0" err="1"/>
              <a:t>arr.length</a:t>
            </a:r>
            <a:r>
              <a:rPr lang="en-US" sz="1800" dirty="0"/>
              <a:t>-1;  </a:t>
            </a:r>
          </a:p>
          <a:p>
            <a:pPr marL="0" indent="0" algn="just">
              <a:lnSpc>
                <a:spcPct val="100000"/>
              </a:lnSpc>
              <a:spcBef>
                <a:spcPts val="0"/>
              </a:spcBef>
              <a:buNone/>
            </a:pPr>
            <a:r>
              <a:rPr lang="en-US" sz="1800" dirty="0"/>
              <a:t>        </a:t>
            </a:r>
            <a:r>
              <a:rPr lang="en-US" sz="1800" dirty="0" err="1" smtClean="0"/>
              <a:t>int</a:t>
            </a:r>
            <a:r>
              <a:rPr lang="en-US" sz="1800" dirty="0" smtClean="0"/>
              <a:t> </a:t>
            </a:r>
            <a:r>
              <a:rPr lang="en-US" sz="1800" dirty="0" err="1" smtClean="0"/>
              <a:t>pos</a:t>
            </a:r>
            <a:r>
              <a:rPr lang="en-US" sz="1800" dirty="0" smtClean="0"/>
              <a:t> = </a:t>
            </a:r>
            <a:r>
              <a:rPr lang="en-US" sz="1800" dirty="0" err="1" smtClean="0"/>
              <a:t>binarySearch</a:t>
            </a:r>
            <a:r>
              <a:rPr lang="en-US" sz="1800" dirty="0" smtClean="0"/>
              <a:t>(</a:t>
            </a:r>
            <a:r>
              <a:rPr lang="en-US" sz="1800" dirty="0" err="1" smtClean="0"/>
              <a:t>arr,0,last,key</a:t>
            </a:r>
            <a:r>
              <a:rPr lang="en-US" sz="1800" dirty="0"/>
              <a:t>); </a:t>
            </a:r>
            <a:endParaRPr lang="en-US" sz="1800" dirty="0" smtClean="0"/>
          </a:p>
          <a:p>
            <a:pPr marL="0" indent="0" algn="just">
              <a:lnSpc>
                <a:spcPct val="100000"/>
              </a:lnSpc>
              <a:spcBef>
                <a:spcPts val="0"/>
              </a:spcBef>
              <a:buNone/>
            </a:pPr>
            <a:r>
              <a:rPr lang="en-US" sz="1800" dirty="0"/>
              <a:t> </a:t>
            </a:r>
            <a:r>
              <a:rPr lang="en-US" sz="1800" dirty="0" smtClean="0"/>
              <a:t>       if(</a:t>
            </a:r>
            <a:r>
              <a:rPr lang="en-US" sz="1800" dirty="0" err="1" smtClean="0"/>
              <a:t>pos</a:t>
            </a:r>
            <a:r>
              <a:rPr lang="en-US" sz="1800" dirty="0" smtClean="0"/>
              <a:t>&gt;=0) </a:t>
            </a:r>
            <a:r>
              <a:rPr lang="en-US" sz="1800" dirty="0" err="1" smtClean="0"/>
              <a:t>System.out.println</a:t>
            </a:r>
            <a:r>
              <a:rPr lang="en-US" sz="1800" dirty="0"/>
              <a:t>("Element is found at index: " + mid);  </a:t>
            </a:r>
            <a:endParaRPr lang="en-US" sz="1800" dirty="0" smtClean="0"/>
          </a:p>
          <a:p>
            <a:pPr marL="0" indent="0" algn="just">
              <a:lnSpc>
                <a:spcPct val="100000"/>
              </a:lnSpc>
              <a:spcBef>
                <a:spcPts val="0"/>
              </a:spcBef>
              <a:buNone/>
            </a:pPr>
            <a:r>
              <a:rPr lang="en-US" sz="1800" dirty="0" smtClean="0"/>
              <a:t>        else  </a:t>
            </a:r>
            <a:r>
              <a:rPr lang="en-US" sz="1800" dirty="0" err="1" smtClean="0"/>
              <a:t>System.out.println</a:t>
            </a:r>
            <a:r>
              <a:rPr lang="en-US" sz="1800" dirty="0"/>
              <a:t>("Element is not found!");  </a:t>
            </a:r>
          </a:p>
          <a:p>
            <a:pPr marL="0" indent="0" algn="just">
              <a:lnSpc>
                <a:spcPct val="100000"/>
              </a:lnSpc>
              <a:spcBef>
                <a:spcPts val="0"/>
              </a:spcBef>
              <a:buNone/>
            </a:pPr>
            <a:r>
              <a:rPr lang="en-US" sz="1800" dirty="0"/>
              <a:t> }  </a:t>
            </a:r>
          </a:p>
          <a:p>
            <a:pPr marL="0" indent="0" algn="just">
              <a:lnSpc>
                <a:spcPct val="100000"/>
              </a:lnSpc>
              <a:spcBef>
                <a:spcPts val="0"/>
              </a:spcBef>
              <a:buNone/>
            </a:pPr>
            <a:r>
              <a:rPr lang="en-US" sz="1800" dirty="0"/>
              <a:t>} </a:t>
            </a:r>
            <a:endParaRPr lang="en-US" sz="1600" dirty="0" smtClean="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663543" y="5175783"/>
            <a:ext cx="3207654" cy="101890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Element is found at index: 2</a:t>
            </a:r>
          </a:p>
        </p:txBody>
      </p:sp>
    </p:spTree>
    <p:extLst>
      <p:ext uri="{BB962C8B-B14F-4D97-AF65-F5344CB8AC3E}">
        <p14:creationId xmlns:p14="http://schemas.microsoft.com/office/powerpoint/2010/main" val="97894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Binary </a:t>
            </a:r>
            <a:r>
              <a:rPr lang="en-US" sz="3200" dirty="0" smtClean="0"/>
              <a:t>search example u</a:t>
            </a:r>
            <a:r>
              <a:rPr lang="en-US" sz="3200" dirty="0"/>
              <a:t>sing </a:t>
            </a:r>
            <a:r>
              <a:rPr lang="en-US" sz="3200" dirty="0" smtClean="0"/>
              <a:t>Recursion</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926877"/>
            <a:ext cx="10515600" cy="5429474"/>
          </a:xfrm>
        </p:spPr>
        <p:txBody>
          <a:bodyPr>
            <a:noAutofit/>
          </a:bodyPr>
          <a:lstStyle/>
          <a:p>
            <a:pPr marL="0" indent="0" algn="just">
              <a:lnSpc>
                <a:spcPct val="100000"/>
              </a:lnSpc>
              <a:spcBef>
                <a:spcPts val="0"/>
              </a:spcBef>
              <a:buNone/>
            </a:pPr>
            <a:r>
              <a:rPr lang="en-US" sz="1800" dirty="0"/>
              <a:t>class </a:t>
            </a:r>
            <a:r>
              <a:rPr lang="en-US" sz="1800" dirty="0" err="1" smtClean="0"/>
              <a:t>BinarySearchExample1</a:t>
            </a:r>
            <a:r>
              <a:rPr lang="en-US" sz="1800" dirty="0" smtClean="0"/>
              <a:t>{  </a:t>
            </a:r>
            <a:endParaRPr lang="en-US" sz="1800" dirty="0"/>
          </a:p>
          <a:p>
            <a:pPr marL="0" indent="0" algn="just">
              <a:lnSpc>
                <a:spcPct val="100000"/>
              </a:lnSpc>
              <a:spcBef>
                <a:spcPts val="0"/>
              </a:spcBef>
              <a:buNone/>
            </a:pPr>
            <a:r>
              <a:rPr lang="en-US" sz="1800" dirty="0"/>
              <a:t> public static </a:t>
            </a:r>
            <a:r>
              <a:rPr lang="en-US" sz="1800" dirty="0" err="1" smtClean="0"/>
              <a:t>int</a:t>
            </a:r>
            <a:r>
              <a:rPr lang="en-US" sz="1800" dirty="0" smtClean="0"/>
              <a:t> </a:t>
            </a:r>
            <a:r>
              <a:rPr lang="en-US" sz="1800" dirty="0" err="1" smtClean="0"/>
              <a:t>binarySearch</a:t>
            </a:r>
            <a:r>
              <a:rPr lang="en-US" sz="1800" dirty="0" smtClean="0"/>
              <a:t>(</a:t>
            </a:r>
            <a:r>
              <a:rPr lang="en-US" sz="1800" dirty="0" err="1" smtClean="0"/>
              <a:t>int</a:t>
            </a:r>
            <a:r>
              <a:rPr lang="en-US" sz="1800" dirty="0" smtClean="0"/>
              <a:t> </a:t>
            </a:r>
            <a:r>
              <a:rPr lang="en-US" sz="1800" dirty="0" err="1"/>
              <a:t>arr</a:t>
            </a:r>
            <a:r>
              <a:rPr lang="en-US" sz="1800" dirty="0"/>
              <a:t>[], </a:t>
            </a:r>
            <a:r>
              <a:rPr lang="en-US" sz="1800" dirty="0" err="1"/>
              <a:t>int</a:t>
            </a:r>
            <a:r>
              <a:rPr lang="en-US" sz="1800" dirty="0"/>
              <a:t> first, </a:t>
            </a:r>
            <a:r>
              <a:rPr lang="en-US" sz="1800" dirty="0" err="1"/>
              <a:t>int</a:t>
            </a:r>
            <a:r>
              <a:rPr lang="en-US" sz="1800" dirty="0"/>
              <a:t> last, </a:t>
            </a:r>
            <a:r>
              <a:rPr lang="en-US" sz="1800" dirty="0" err="1"/>
              <a:t>int</a:t>
            </a:r>
            <a:r>
              <a:rPr lang="en-US" sz="1800" dirty="0"/>
              <a:t> key){  </a:t>
            </a:r>
          </a:p>
          <a:p>
            <a:pPr marL="0" indent="0" algn="just">
              <a:lnSpc>
                <a:spcPct val="100000"/>
              </a:lnSpc>
              <a:spcBef>
                <a:spcPts val="0"/>
              </a:spcBef>
              <a:buNone/>
            </a:pPr>
            <a:r>
              <a:rPr lang="en-US" sz="1800" dirty="0"/>
              <a:t>  </a:t>
            </a:r>
            <a:r>
              <a:rPr lang="en-US" sz="1800" dirty="0" smtClean="0"/>
              <a:t>      if </a:t>
            </a:r>
            <a:r>
              <a:rPr lang="en-US" sz="1800" dirty="0"/>
              <a:t>(last&gt;=first){  </a:t>
            </a:r>
          </a:p>
          <a:p>
            <a:pPr marL="0" indent="0" algn="just">
              <a:lnSpc>
                <a:spcPct val="100000"/>
              </a:lnSpc>
              <a:spcBef>
                <a:spcPts val="0"/>
              </a:spcBef>
              <a:buNone/>
            </a:pPr>
            <a:r>
              <a:rPr lang="en-US" sz="1800" dirty="0"/>
              <a:t>            </a:t>
            </a:r>
            <a:r>
              <a:rPr lang="en-US" sz="1800" dirty="0" err="1"/>
              <a:t>int</a:t>
            </a:r>
            <a:r>
              <a:rPr lang="en-US" sz="1800" dirty="0"/>
              <a:t> mid = first + (last - first)/2;  </a:t>
            </a:r>
          </a:p>
          <a:p>
            <a:pPr marL="0" indent="0" algn="just">
              <a:lnSpc>
                <a:spcPct val="100000"/>
              </a:lnSpc>
              <a:spcBef>
                <a:spcPts val="0"/>
              </a:spcBef>
              <a:buNone/>
            </a:pPr>
            <a:r>
              <a:rPr lang="en-US" sz="1800" dirty="0"/>
              <a:t>            if (</a:t>
            </a:r>
            <a:r>
              <a:rPr lang="en-US" sz="1800" dirty="0" err="1"/>
              <a:t>arr</a:t>
            </a:r>
            <a:r>
              <a:rPr lang="en-US" sz="1800" dirty="0"/>
              <a:t>[mid] == key</a:t>
            </a:r>
            <a:r>
              <a:rPr lang="en-US" sz="1800" dirty="0" smtClean="0"/>
              <a:t>)</a:t>
            </a:r>
            <a:endParaRPr lang="en-US" sz="1800" dirty="0"/>
          </a:p>
          <a:p>
            <a:pPr marL="0" indent="0" algn="just">
              <a:lnSpc>
                <a:spcPct val="100000"/>
              </a:lnSpc>
              <a:spcBef>
                <a:spcPts val="0"/>
              </a:spcBef>
              <a:buNone/>
            </a:pPr>
            <a:r>
              <a:rPr lang="en-US" sz="1800" dirty="0"/>
              <a:t>        </a:t>
            </a:r>
            <a:r>
              <a:rPr lang="en-US" sz="1800" dirty="0" smtClean="0"/>
              <a:t>         </a:t>
            </a:r>
            <a:r>
              <a:rPr lang="en-US" sz="1800" dirty="0"/>
              <a:t>return mid;  </a:t>
            </a:r>
            <a:r>
              <a:rPr lang="en-US" sz="1800" dirty="0" smtClean="0"/>
              <a:t>  </a:t>
            </a:r>
            <a:endParaRPr lang="en-US" sz="1800" dirty="0"/>
          </a:p>
          <a:p>
            <a:pPr marL="0" indent="0" algn="just">
              <a:lnSpc>
                <a:spcPct val="100000"/>
              </a:lnSpc>
              <a:spcBef>
                <a:spcPts val="0"/>
              </a:spcBef>
              <a:buNone/>
            </a:pPr>
            <a:r>
              <a:rPr lang="en-US" sz="1800" dirty="0"/>
              <a:t>        </a:t>
            </a:r>
            <a:r>
              <a:rPr lang="en-US" sz="1800" dirty="0" smtClean="0"/>
              <a:t>    else if </a:t>
            </a:r>
            <a:r>
              <a:rPr lang="en-US" sz="1800" dirty="0"/>
              <a:t>(</a:t>
            </a:r>
            <a:r>
              <a:rPr lang="en-US" sz="1800" dirty="0" err="1"/>
              <a:t>arr</a:t>
            </a:r>
            <a:r>
              <a:rPr lang="en-US" sz="1800" dirty="0"/>
              <a:t>[mid] &gt; key</a:t>
            </a:r>
            <a:r>
              <a:rPr lang="en-US" sz="1800" dirty="0" smtClean="0"/>
              <a:t>)  </a:t>
            </a:r>
            <a:r>
              <a:rPr lang="en-US" sz="1800" dirty="0"/>
              <a:t>return </a:t>
            </a:r>
            <a:r>
              <a:rPr lang="en-US" sz="1800" dirty="0" err="1"/>
              <a:t>binarySearch</a:t>
            </a:r>
            <a:r>
              <a:rPr lang="en-US" sz="1800" dirty="0"/>
              <a:t>(</a:t>
            </a:r>
            <a:r>
              <a:rPr lang="en-US" sz="1800" dirty="0" err="1"/>
              <a:t>arr</a:t>
            </a:r>
            <a:r>
              <a:rPr lang="en-US" sz="1800" dirty="0"/>
              <a:t>, first, mid-1, key);//search in left </a:t>
            </a:r>
            <a:r>
              <a:rPr lang="en-US" sz="1800" dirty="0" err="1"/>
              <a:t>subarray</a:t>
            </a:r>
            <a:r>
              <a:rPr lang="en-US" sz="1800" dirty="0"/>
              <a:t>  </a:t>
            </a:r>
          </a:p>
          <a:p>
            <a:pPr marL="0" indent="0" algn="just">
              <a:lnSpc>
                <a:spcPct val="100000"/>
              </a:lnSpc>
              <a:spcBef>
                <a:spcPts val="0"/>
              </a:spcBef>
              <a:buNone/>
            </a:pPr>
            <a:r>
              <a:rPr lang="en-US" sz="1800" dirty="0"/>
              <a:t>        </a:t>
            </a:r>
            <a:r>
              <a:rPr lang="en-US" sz="1800" dirty="0" smtClean="0"/>
              <a:t>    else </a:t>
            </a:r>
            <a:r>
              <a:rPr lang="en-US" sz="1800" dirty="0"/>
              <a:t>return </a:t>
            </a:r>
            <a:r>
              <a:rPr lang="en-US" sz="1800" dirty="0" err="1"/>
              <a:t>binarySearch</a:t>
            </a:r>
            <a:r>
              <a:rPr lang="en-US" sz="1800" dirty="0"/>
              <a:t>(</a:t>
            </a:r>
            <a:r>
              <a:rPr lang="en-US" sz="1800" dirty="0" err="1"/>
              <a:t>arr</a:t>
            </a:r>
            <a:r>
              <a:rPr lang="en-US" sz="1800" dirty="0"/>
              <a:t>, </a:t>
            </a:r>
            <a:r>
              <a:rPr lang="en-US" sz="1800" dirty="0" err="1"/>
              <a:t>mid+1</a:t>
            </a:r>
            <a:r>
              <a:rPr lang="en-US" sz="1800" dirty="0"/>
              <a:t>, last, key);//search in right </a:t>
            </a:r>
            <a:r>
              <a:rPr lang="en-US" sz="1800" dirty="0" err="1"/>
              <a:t>subarray</a:t>
            </a:r>
            <a:r>
              <a:rPr lang="en-US" sz="1800" dirty="0"/>
              <a:t>  </a:t>
            </a:r>
          </a:p>
          <a:p>
            <a:pPr marL="0" indent="0" algn="just">
              <a:lnSpc>
                <a:spcPct val="100000"/>
              </a:lnSpc>
              <a:spcBef>
                <a:spcPts val="0"/>
              </a:spcBef>
              <a:buNone/>
            </a:pPr>
            <a:r>
              <a:rPr lang="en-US" sz="1800" dirty="0"/>
              <a:t>        </a:t>
            </a:r>
            <a:r>
              <a:rPr lang="en-US" sz="1800" dirty="0" smtClean="0"/>
              <a:t>}  </a:t>
            </a:r>
            <a:endParaRPr lang="en-US" sz="1800" dirty="0"/>
          </a:p>
          <a:p>
            <a:pPr marL="0" indent="0" algn="just">
              <a:lnSpc>
                <a:spcPct val="100000"/>
              </a:lnSpc>
              <a:spcBef>
                <a:spcPts val="0"/>
              </a:spcBef>
              <a:buNone/>
            </a:pPr>
            <a:r>
              <a:rPr lang="en-US" sz="1800" dirty="0"/>
              <a:t>        return -1;  </a:t>
            </a:r>
            <a:endParaRPr lang="en-US" sz="1800" dirty="0" smtClean="0"/>
          </a:p>
          <a:p>
            <a:pPr marL="0" indent="0" algn="just">
              <a:lnSpc>
                <a:spcPct val="100000"/>
              </a:lnSpc>
              <a:spcBef>
                <a:spcPts val="0"/>
              </a:spcBef>
              <a:buNone/>
            </a:pPr>
            <a:r>
              <a:rPr lang="en-US" sz="1800" dirty="0" smtClean="0"/>
              <a:t>}  </a:t>
            </a:r>
            <a:endParaRPr lang="en-US" sz="1800" dirty="0"/>
          </a:p>
          <a:p>
            <a:pPr marL="0" indent="0" algn="just">
              <a:lnSpc>
                <a:spcPct val="100000"/>
              </a:lnSpc>
              <a:spcBef>
                <a:spcPts val="0"/>
              </a:spcBef>
              <a:buNone/>
            </a:pPr>
            <a:r>
              <a:rPr lang="en-US" sz="1800" dirty="0"/>
              <a:t> public static void main(String </a:t>
            </a:r>
            <a:r>
              <a:rPr lang="en-US" sz="1800" dirty="0" err="1"/>
              <a:t>args</a:t>
            </a:r>
            <a:r>
              <a:rPr lang="en-US" sz="1800" dirty="0"/>
              <a:t>[]){  </a:t>
            </a:r>
          </a:p>
          <a:p>
            <a:pPr marL="0" indent="0" algn="just">
              <a:lnSpc>
                <a:spcPct val="100000"/>
              </a:lnSpc>
              <a:spcBef>
                <a:spcPts val="0"/>
              </a:spcBef>
              <a:buNone/>
            </a:pPr>
            <a:r>
              <a:rPr lang="en-US" sz="1800" dirty="0"/>
              <a:t>        </a:t>
            </a:r>
            <a:r>
              <a:rPr lang="en-US" sz="1800" dirty="0" err="1"/>
              <a:t>int</a:t>
            </a:r>
            <a:r>
              <a:rPr lang="en-US" sz="1800" dirty="0"/>
              <a:t> </a:t>
            </a:r>
            <a:r>
              <a:rPr lang="en-US" sz="1800" dirty="0" err="1"/>
              <a:t>arr</a:t>
            </a:r>
            <a:r>
              <a:rPr lang="en-US" sz="1800" dirty="0"/>
              <a:t>[] = {10,20,30,40,50};  </a:t>
            </a:r>
          </a:p>
          <a:p>
            <a:pPr marL="0" indent="0" algn="just">
              <a:lnSpc>
                <a:spcPct val="100000"/>
              </a:lnSpc>
              <a:spcBef>
                <a:spcPts val="0"/>
              </a:spcBef>
              <a:buNone/>
            </a:pPr>
            <a:r>
              <a:rPr lang="en-US" sz="1800" dirty="0"/>
              <a:t>        </a:t>
            </a:r>
            <a:r>
              <a:rPr lang="en-US" sz="1800" dirty="0" err="1"/>
              <a:t>int</a:t>
            </a:r>
            <a:r>
              <a:rPr lang="en-US" sz="1800" dirty="0"/>
              <a:t> key = 30;  </a:t>
            </a:r>
          </a:p>
          <a:p>
            <a:pPr marL="0" indent="0" algn="just">
              <a:lnSpc>
                <a:spcPct val="100000"/>
              </a:lnSpc>
              <a:spcBef>
                <a:spcPts val="0"/>
              </a:spcBef>
              <a:buNone/>
            </a:pPr>
            <a:r>
              <a:rPr lang="en-US" sz="1800" dirty="0"/>
              <a:t>        </a:t>
            </a:r>
            <a:r>
              <a:rPr lang="en-US" sz="1800" dirty="0" err="1"/>
              <a:t>int</a:t>
            </a:r>
            <a:r>
              <a:rPr lang="en-US" sz="1800" dirty="0"/>
              <a:t> last=</a:t>
            </a:r>
            <a:r>
              <a:rPr lang="en-US" sz="1800" dirty="0" err="1"/>
              <a:t>arr.length</a:t>
            </a:r>
            <a:r>
              <a:rPr lang="en-US" sz="1800" dirty="0"/>
              <a:t>-1;  </a:t>
            </a:r>
          </a:p>
          <a:p>
            <a:pPr marL="0" indent="0" algn="just">
              <a:lnSpc>
                <a:spcPct val="100000"/>
              </a:lnSpc>
              <a:spcBef>
                <a:spcPts val="0"/>
              </a:spcBef>
              <a:buNone/>
            </a:pPr>
            <a:r>
              <a:rPr lang="en-US" sz="1800" dirty="0"/>
              <a:t>        </a:t>
            </a:r>
            <a:r>
              <a:rPr lang="en-US" sz="1800" dirty="0" err="1" smtClean="0"/>
              <a:t>int</a:t>
            </a:r>
            <a:r>
              <a:rPr lang="en-US" sz="1800" dirty="0" smtClean="0"/>
              <a:t> </a:t>
            </a:r>
            <a:r>
              <a:rPr lang="en-US" sz="1800" dirty="0" err="1" smtClean="0"/>
              <a:t>pos</a:t>
            </a:r>
            <a:r>
              <a:rPr lang="en-US" sz="1800" dirty="0" smtClean="0"/>
              <a:t> = </a:t>
            </a:r>
            <a:r>
              <a:rPr lang="en-US" sz="1800" dirty="0" err="1" smtClean="0"/>
              <a:t>binarySearch</a:t>
            </a:r>
            <a:r>
              <a:rPr lang="en-US" sz="1800" dirty="0" smtClean="0"/>
              <a:t>(</a:t>
            </a:r>
            <a:r>
              <a:rPr lang="en-US" sz="1800" dirty="0" err="1" smtClean="0"/>
              <a:t>arr,0,last,key</a:t>
            </a:r>
            <a:r>
              <a:rPr lang="en-US" sz="1800" dirty="0"/>
              <a:t>); </a:t>
            </a:r>
            <a:endParaRPr lang="en-US" sz="1800" dirty="0" smtClean="0"/>
          </a:p>
          <a:p>
            <a:pPr marL="0" indent="0" algn="just">
              <a:lnSpc>
                <a:spcPct val="100000"/>
              </a:lnSpc>
              <a:spcBef>
                <a:spcPts val="0"/>
              </a:spcBef>
              <a:buNone/>
            </a:pPr>
            <a:r>
              <a:rPr lang="en-US" sz="1800" dirty="0"/>
              <a:t> </a:t>
            </a:r>
            <a:r>
              <a:rPr lang="en-US" sz="1800" dirty="0" smtClean="0"/>
              <a:t>       if(</a:t>
            </a:r>
            <a:r>
              <a:rPr lang="en-US" sz="1800" dirty="0" err="1" smtClean="0"/>
              <a:t>pos</a:t>
            </a:r>
            <a:r>
              <a:rPr lang="en-US" sz="1800" dirty="0" smtClean="0"/>
              <a:t>&gt;=0) </a:t>
            </a:r>
            <a:r>
              <a:rPr lang="en-US" sz="1800" dirty="0" err="1" smtClean="0"/>
              <a:t>System.out.println</a:t>
            </a:r>
            <a:r>
              <a:rPr lang="en-US" sz="1800" dirty="0"/>
              <a:t>("Element is found at index: " + mid);  </a:t>
            </a:r>
            <a:endParaRPr lang="en-US" sz="1800" dirty="0" smtClean="0"/>
          </a:p>
          <a:p>
            <a:pPr marL="0" indent="0" algn="just">
              <a:lnSpc>
                <a:spcPct val="100000"/>
              </a:lnSpc>
              <a:spcBef>
                <a:spcPts val="0"/>
              </a:spcBef>
              <a:buNone/>
            </a:pPr>
            <a:r>
              <a:rPr lang="en-US" sz="1800" dirty="0" smtClean="0"/>
              <a:t>        else  </a:t>
            </a:r>
            <a:r>
              <a:rPr lang="en-US" sz="1800" dirty="0" err="1" smtClean="0"/>
              <a:t>System.out.println</a:t>
            </a:r>
            <a:r>
              <a:rPr lang="en-US" sz="1800" dirty="0"/>
              <a:t>("Element is not found!");  </a:t>
            </a:r>
          </a:p>
          <a:p>
            <a:pPr marL="0" indent="0" algn="just">
              <a:lnSpc>
                <a:spcPct val="100000"/>
              </a:lnSpc>
              <a:spcBef>
                <a:spcPts val="0"/>
              </a:spcBef>
              <a:buNone/>
            </a:pPr>
            <a:r>
              <a:rPr lang="en-US" sz="1800" dirty="0"/>
              <a:t> }  </a:t>
            </a:r>
          </a:p>
          <a:p>
            <a:pPr marL="0" indent="0" algn="just">
              <a:lnSpc>
                <a:spcPct val="100000"/>
              </a:lnSpc>
              <a:spcBef>
                <a:spcPts val="0"/>
              </a:spcBef>
              <a:buNone/>
            </a:pPr>
            <a:r>
              <a:rPr lang="en-US" sz="1800" dirty="0"/>
              <a:t>} </a:t>
            </a:r>
            <a:endParaRPr lang="en-US" sz="1600" dirty="0" smtClean="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663543" y="5175783"/>
            <a:ext cx="3207654" cy="101890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Element is found at index: 2</a:t>
            </a:r>
          </a:p>
        </p:txBody>
      </p:sp>
    </p:spTree>
    <p:extLst>
      <p:ext uri="{BB962C8B-B14F-4D97-AF65-F5344CB8AC3E}">
        <p14:creationId xmlns:p14="http://schemas.microsoft.com/office/powerpoint/2010/main" val="3967959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dirty="0"/>
              <a:t>Binary </a:t>
            </a:r>
            <a:r>
              <a:rPr lang="en-US" dirty="0" smtClean="0"/>
              <a:t>search example </a:t>
            </a:r>
            <a:r>
              <a:rPr lang="en-US" dirty="0"/>
              <a:t>using </a:t>
            </a:r>
            <a:r>
              <a:rPr lang="en-US" dirty="0" err="1"/>
              <a:t>Arrays.binarySearch</a:t>
            </a:r>
            <a:r>
              <a:rPr lang="en-US" dirty="0" smtClean="0"/>
              <a: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926877"/>
            <a:ext cx="10515600" cy="5429474"/>
          </a:xfrm>
        </p:spPr>
        <p:txBody>
          <a:bodyPr>
            <a:noAutofit/>
          </a:bodyPr>
          <a:lstStyle/>
          <a:p>
            <a:pPr marL="0" indent="0" algn="just">
              <a:lnSpc>
                <a:spcPct val="100000"/>
              </a:lnSpc>
              <a:spcBef>
                <a:spcPts val="0"/>
              </a:spcBef>
              <a:buNone/>
            </a:pPr>
            <a:r>
              <a:rPr lang="en-US" sz="2400" dirty="0"/>
              <a:t>import </a:t>
            </a:r>
            <a:r>
              <a:rPr lang="en-US" sz="2400" dirty="0" err="1"/>
              <a:t>java.util.Arrays</a:t>
            </a:r>
            <a:r>
              <a:rPr lang="en-US" sz="2400" dirty="0"/>
              <a:t>;  </a:t>
            </a:r>
          </a:p>
          <a:p>
            <a:pPr marL="0" indent="0" algn="just">
              <a:lnSpc>
                <a:spcPct val="100000"/>
              </a:lnSpc>
              <a:spcBef>
                <a:spcPts val="0"/>
              </a:spcBef>
              <a:buNone/>
            </a:pPr>
            <a:r>
              <a:rPr lang="en-US" sz="2400" dirty="0"/>
              <a:t>class </a:t>
            </a:r>
            <a:r>
              <a:rPr lang="en-US" sz="2400" dirty="0" err="1"/>
              <a:t>BinarySearchExample2</a:t>
            </a:r>
            <a:r>
              <a:rPr lang="en-US" sz="2400" dirty="0"/>
              <a:t>{  </a:t>
            </a:r>
          </a:p>
          <a:p>
            <a:pPr marL="0" indent="0" algn="just">
              <a:lnSpc>
                <a:spcPct val="100000"/>
              </a:lnSpc>
              <a:spcBef>
                <a:spcPts val="0"/>
              </a:spcBef>
              <a:buNone/>
            </a:pPr>
            <a:r>
              <a:rPr lang="en-US" sz="2400" dirty="0"/>
              <a:t>    public static void main(String </a:t>
            </a:r>
            <a:r>
              <a:rPr lang="en-US" sz="2400" dirty="0" err="1"/>
              <a:t>args</a:t>
            </a:r>
            <a:r>
              <a:rPr lang="en-US" sz="2400" dirty="0"/>
              <a:t>[]){  </a:t>
            </a:r>
          </a:p>
          <a:p>
            <a:pPr marL="0" indent="0" algn="just">
              <a:lnSpc>
                <a:spcPct val="100000"/>
              </a:lnSpc>
              <a:spcBef>
                <a:spcPts val="0"/>
              </a:spcBef>
              <a:buNone/>
            </a:pPr>
            <a:r>
              <a:rPr lang="en-US" sz="2400" dirty="0"/>
              <a:t>        </a:t>
            </a:r>
            <a:r>
              <a:rPr lang="en-US" sz="2400" dirty="0" err="1"/>
              <a:t>int</a:t>
            </a:r>
            <a:r>
              <a:rPr lang="en-US" sz="2400" dirty="0"/>
              <a:t> </a:t>
            </a:r>
            <a:r>
              <a:rPr lang="en-US" sz="2400" dirty="0" err="1"/>
              <a:t>arr</a:t>
            </a:r>
            <a:r>
              <a:rPr lang="en-US" sz="2400" dirty="0"/>
              <a:t>[] = {10,20,30,40,50};  </a:t>
            </a:r>
          </a:p>
          <a:p>
            <a:pPr marL="0" indent="0" algn="just">
              <a:lnSpc>
                <a:spcPct val="100000"/>
              </a:lnSpc>
              <a:spcBef>
                <a:spcPts val="0"/>
              </a:spcBef>
              <a:buNone/>
            </a:pPr>
            <a:r>
              <a:rPr lang="en-US" sz="2400" dirty="0"/>
              <a:t>        </a:t>
            </a:r>
            <a:r>
              <a:rPr lang="en-US" sz="2400" dirty="0" err="1"/>
              <a:t>int</a:t>
            </a:r>
            <a:r>
              <a:rPr lang="en-US" sz="2400" dirty="0"/>
              <a:t> key = 30;  </a:t>
            </a:r>
          </a:p>
          <a:p>
            <a:pPr marL="0" indent="0" algn="just">
              <a:lnSpc>
                <a:spcPct val="100000"/>
              </a:lnSpc>
              <a:spcBef>
                <a:spcPts val="0"/>
              </a:spcBef>
              <a:buNone/>
            </a:pPr>
            <a:r>
              <a:rPr lang="en-US" sz="2400" dirty="0"/>
              <a:t>        </a:t>
            </a:r>
            <a:r>
              <a:rPr lang="en-US" sz="2400" dirty="0" err="1"/>
              <a:t>int</a:t>
            </a:r>
            <a:r>
              <a:rPr lang="en-US" sz="2400" dirty="0"/>
              <a:t> result = </a:t>
            </a:r>
            <a:r>
              <a:rPr lang="en-US" sz="2400" dirty="0" err="1"/>
              <a:t>Arrays.binarySearch</a:t>
            </a:r>
            <a:r>
              <a:rPr lang="en-US" sz="2400" dirty="0"/>
              <a:t>(</a:t>
            </a:r>
            <a:r>
              <a:rPr lang="en-US" sz="2400" dirty="0" err="1"/>
              <a:t>arr,key</a:t>
            </a:r>
            <a:r>
              <a:rPr lang="en-US" sz="2400" dirty="0"/>
              <a:t>);  </a:t>
            </a:r>
          </a:p>
          <a:p>
            <a:pPr marL="0" indent="0" algn="just">
              <a:lnSpc>
                <a:spcPct val="100000"/>
              </a:lnSpc>
              <a:spcBef>
                <a:spcPts val="0"/>
              </a:spcBef>
              <a:buNone/>
            </a:pPr>
            <a:r>
              <a:rPr lang="en-US" sz="2400" dirty="0"/>
              <a:t>        if (result &lt; 0)  </a:t>
            </a:r>
          </a:p>
          <a:p>
            <a:pPr marL="0" indent="0" algn="just">
              <a:lnSpc>
                <a:spcPct val="100000"/>
              </a:lnSpc>
              <a:spcBef>
                <a:spcPts val="0"/>
              </a:spcBef>
              <a:buNone/>
            </a:pPr>
            <a:r>
              <a:rPr lang="en-US" sz="2400" dirty="0"/>
              <a:t>            </a:t>
            </a:r>
            <a:r>
              <a:rPr lang="en-US" sz="2400" dirty="0" err="1"/>
              <a:t>System.out.println</a:t>
            </a:r>
            <a:r>
              <a:rPr lang="en-US" sz="2400" dirty="0"/>
              <a:t>("Element is not found!");  </a:t>
            </a:r>
          </a:p>
          <a:p>
            <a:pPr marL="0" indent="0" algn="just">
              <a:lnSpc>
                <a:spcPct val="100000"/>
              </a:lnSpc>
              <a:spcBef>
                <a:spcPts val="0"/>
              </a:spcBef>
              <a:buNone/>
            </a:pPr>
            <a:r>
              <a:rPr lang="en-US" sz="2400" dirty="0"/>
              <a:t>        else  </a:t>
            </a:r>
          </a:p>
          <a:p>
            <a:pPr marL="0" indent="0" algn="just">
              <a:lnSpc>
                <a:spcPct val="100000"/>
              </a:lnSpc>
              <a:spcBef>
                <a:spcPts val="0"/>
              </a:spcBef>
              <a:buNone/>
            </a:pPr>
            <a:r>
              <a:rPr lang="en-US" sz="2400" dirty="0"/>
              <a:t>            </a:t>
            </a:r>
            <a:r>
              <a:rPr lang="en-US" sz="2400" dirty="0" err="1"/>
              <a:t>System.out.println</a:t>
            </a:r>
            <a:r>
              <a:rPr lang="en-US" sz="2400" dirty="0"/>
              <a:t>("Element is found at index: "+result);  </a:t>
            </a:r>
          </a:p>
          <a:p>
            <a:pPr marL="0" indent="0" algn="just">
              <a:lnSpc>
                <a:spcPct val="100000"/>
              </a:lnSpc>
              <a:spcBef>
                <a:spcPts val="0"/>
              </a:spcBef>
              <a:buNone/>
            </a:pPr>
            <a:r>
              <a:rPr lang="en-US" sz="2400" dirty="0"/>
              <a:t>    }  </a:t>
            </a:r>
          </a:p>
          <a:p>
            <a:pPr marL="0" indent="0" algn="just">
              <a:lnSpc>
                <a:spcPct val="100000"/>
              </a:lnSpc>
              <a:spcBef>
                <a:spcPts val="0"/>
              </a:spcBef>
              <a:buNone/>
            </a:pPr>
            <a:r>
              <a:rPr lang="en-US" sz="2400" dirty="0"/>
              <a:t>} </a:t>
            </a:r>
            <a:endParaRPr lang="en-US" sz="2000" dirty="0" smtClean="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1465943" y="4972583"/>
            <a:ext cx="3207654" cy="101890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Element is found at index: 2</a:t>
            </a:r>
          </a:p>
        </p:txBody>
      </p:sp>
    </p:spTree>
    <p:extLst>
      <p:ext uri="{BB962C8B-B14F-4D97-AF65-F5344CB8AC3E}">
        <p14:creationId xmlns:p14="http://schemas.microsoft.com/office/powerpoint/2010/main" val="275723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Introduction to sorting</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92500" lnSpcReduction="10000"/>
          </a:bodyPr>
          <a:lstStyle/>
          <a:p>
            <a:pPr algn="just" fontAlgn="base"/>
            <a:r>
              <a:rPr lang="en-US" sz="3200" dirty="0"/>
              <a:t>Sorting data means arranging it in a certain order, often in an array-like data structure. </a:t>
            </a:r>
            <a:endParaRPr lang="en-US" sz="3200" dirty="0" smtClean="0"/>
          </a:p>
          <a:p>
            <a:pPr algn="just" fontAlgn="base"/>
            <a:r>
              <a:rPr lang="en-US" sz="3200" dirty="0" smtClean="0"/>
              <a:t>You </a:t>
            </a:r>
            <a:r>
              <a:rPr lang="en-US" sz="3200" dirty="0"/>
              <a:t>can use various ordering criteria, common ones being sorting numbers from least to greatest or vice-versa, or sorting strings lexicographically. </a:t>
            </a:r>
            <a:endParaRPr lang="en-US" sz="3200" dirty="0" smtClean="0"/>
          </a:p>
          <a:p>
            <a:pPr algn="just" fontAlgn="base"/>
            <a:r>
              <a:rPr lang="en-US" sz="3200" dirty="0" smtClean="0"/>
              <a:t>There </a:t>
            </a:r>
            <a:r>
              <a:rPr lang="en-US" sz="3200" dirty="0"/>
              <a:t>are various sorting algorithms, and they're not all equally efficient. </a:t>
            </a:r>
            <a:endParaRPr lang="en-US" sz="3200" dirty="0" smtClean="0"/>
          </a:p>
          <a:p>
            <a:pPr algn="just" fontAlgn="base"/>
            <a:r>
              <a:rPr lang="en-US" sz="3200" dirty="0" smtClean="0"/>
              <a:t>The </a:t>
            </a:r>
            <a:r>
              <a:rPr lang="en-US" sz="3200" dirty="0"/>
              <a:t>list of algorithms you'll learn here is by no means exhaustive, but we have compiled some of the most common and most efficient ones to help you get started</a:t>
            </a:r>
            <a:r>
              <a:rPr lang="en-US" sz="3200" dirty="0" smtClean="0"/>
              <a:t>:</a:t>
            </a:r>
          </a:p>
          <a:p>
            <a:pPr lvl="1" algn="just" fontAlgn="base"/>
            <a:r>
              <a:rPr lang="fr-FR" dirty="0" err="1" smtClean="0"/>
              <a:t>Bubble</a:t>
            </a:r>
            <a:r>
              <a:rPr lang="fr-FR" dirty="0" smtClean="0"/>
              <a:t> Sort</a:t>
            </a:r>
          </a:p>
          <a:p>
            <a:pPr lvl="1" algn="just" fontAlgn="base"/>
            <a:r>
              <a:rPr lang="fr-FR" dirty="0" smtClean="0"/>
              <a:t>Insertion Sort</a:t>
            </a:r>
          </a:p>
          <a:p>
            <a:pPr lvl="1" algn="just" fontAlgn="base"/>
            <a:r>
              <a:rPr lang="fr-FR" dirty="0" err="1" smtClean="0"/>
              <a:t>Selection</a:t>
            </a:r>
            <a:r>
              <a:rPr lang="fr-FR" dirty="0" smtClean="0"/>
              <a:t> Sort</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Tree>
    <p:extLst>
      <p:ext uri="{BB962C8B-B14F-4D97-AF65-F5344CB8AC3E}">
        <p14:creationId xmlns:p14="http://schemas.microsoft.com/office/powerpoint/2010/main" val="9546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Bubble sort </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10515598" cy="5282293"/>
          </a:xfrm>
        </p:spPr>
        <p:txBody>
          <a:bodyPr>
            <a:normAutofit/>
          </a:bodyPr>
          <a:lstStyle/>
          <a:p>
            <a:pPr algn="just" fontAlgn="base"/>
            <a:r>
              <a:rPr lang="en-US" sz="3200" dirty="0"/>
              <a:t>Bubble sort works by swapping adjacent elements if they're not in the desired order. This process repeats from the beginning of the array until all elements are in order</a:t>
            </a:r>
            <a:r>
              <a:rPr lang="en-US" sz="3200" dirty="0" smtClean="0"/>
              <a:t>.</a:t>
            </a:r>
            <a:endParaRPr lang="en-US" sz="3200" dirty="0"/>
          </a:p>
          <a:p>
            <a:pPr algn="just" fontAlgn="base"/>
            <a:r>
              <a:rPr lang="en-US" sz="3200" dirty="0"/>
              <a:t>We know that all elements are in order when we manage to do the whole iteration without swapping at all - then all elements we compared were in the desired order with their adjacent elements, and by extension, the whole array. </a:t>
            </a:r>
            <a:endParaRPr lang="en-US" sz="3200" dirty="0" smtClean="0"/>
          </a:p>
          <a:p>
            <a:pPr algn="just" fontAlgn="base"/>
            <a:r>
              <a:rPr lang="en-US" sz="3200" dirty="0" smtClean="0"/>
              <a:t>The </a:t>
            </a:r>
            <a:r>
              <a:rPr lang="en-US" sz="3200" dirty="0"/>
              <a:t>worst case time complexity would be O(</a:t>
            </a:r>
            <a:r>
              <a:rPr lang="en-US" sz="3200" dirty="0" err="1"/>
              <a:t>n^2</a:t>
            </a:r>
            <a:r>
              <a:rPr lang="en-US" sz="3200" dirty="0" smtClean="0"/>
              <a:t>) with n is size of array.</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Tree>
    <p:extLst>
      <p:ext uri="{BB962C8B-B14F-4D97-AF65-F5344CB8AC3E}">
        <p14:creationId xmlns:p14="http://schemas.microsoft.com/office/powerpoint/2010/main" val="260159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Bubble sort </a:t>
            </a:r>
            <a:endParaRPr lang="en-US" sz="3200"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714" y="1074057"/>
            <a:ext cx="8655351" cy="5282293"/>
          </a:xfrm>
          <a:prstGeom prst="rect">
            <a:avLst/>
          </a:prstGeom>
        </p:spPr>
      </p:pic>
      <p:sp>
        <p:nvSpPr>
          <p:cNvPr id="8" name="Content Placeholder 7"/>
          <p:cNvSpPr>
            <a:spLocks noGrp="1"/>
          </p:cNvSpPr>
          <p:nvPr>
            <p:ph idx="1"/>
          </p:nvPr>
        </p:nvSpPr>
        <p:spPr/>
        <p:txBody>
          <a:bodyPr/>
          <a:lstStyle/>
          <a:p>
            <a:endParaRPr lang="en-US" dirty="0"/>
          </a:p>
        </p:txBody>
      </p:sp>
    </p:spTree>
    <p:extLst>
      <p:ext uri="{BB962C8B-B14F-4D97-AF65-F5344CB8AC3E}">
        <p14:creationId xmlns:p14="http://schemas.microsoft.com/office/powerpoint/2010/main" val="272694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dirty="0"/>
              <a:t>Bubble sort </a:t>
            </a:r>
            <a:r>
              <a:rPr lang="en-US" dirty="0" smtClean="0"/>
              <a:t>example</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635004" y="926877"/>
            <a:ext cx="3907971" cy="4716271"/>
          </a:xfrm>
        </p:spPr>
        <p:txBody>
          <a:bodyPr>
            <a:noAutofit/>
          </a:bodyPr>
          <a:lstStyle/>
          <a:p>
            <a:pPr marL="0" indent="0" algn="just">
              <a:lnSpc>
                <a:spcPct val="100000"/>
              </a:lnSpc>
              <a:spcBef>
                <a:spcPts val="0"/>
              </a:spcBef>
              <a:buNone/>
            </a:pPr>
            <a:r>
              <a:rPr lang="en-US" sz="2000" dirty="0"/>
              <a:t>public class </a:t>
            </a:r>
            <a:r>
              <a:rPr lang="en-US" sz="2000" dirty="0" err="1"/>
              <a:t>BubbleSortExample</a:t>
            </a:r>
            <a:r>
              <a:rPr lang="en-US" sz="2000" dirty="0"/>
              <a:t> {  </a:t>
            </a:r>
          </a:p>
          <a:p>
            <a:pPr marL="0" indent="0" algn="just">
              <a:lnSpc>
                <a:spcPct val="100000"/>
              </a:lnSpc>
              <a:spcBef>
                <a:spcPts val="0"/>
              </a:spcBef>
              <a:buNone/>
            </a:pPr>
            <a:r>
              <a:rPr lang="en-US" sz="2000" dirty="0"/>
              <a:t>    static void </a:t>
            </a:r>
            <a:r>
              <a:rPr lang="en-US" sz="2000" dirty="0" err="1"/>
              <a:t>bubbleSort</a:t>
            </a:r>
            <a:r>
              <a:rPr lang="en-US" sz="2000" dirty="0"/>
              <a:t>(</a:t>
            </a:r>
            <a:r>
              <a:rPr lang="en-US" sz="2000" dirty="0" err="1"/>
              <a:t>int</a:t>
            </a:r>
            <a:r>
              <a:rPr lang="en-US" sz="2000" dirty="0"/>
              <a:t>[] </a:t>
            </a:r>
            <a:r>
              <a:rPr lang="en-US" sz="2000" dirty="0" err="1"/>
              <a:t>arr</a:t>
            </a:r>
            <a:r>
              <a:rPr lang="en-US" sz="2000" dirty="0"/>
              <a:t>) {  </a:t>
            </a:r>
          </a:p>
          <a:p>
            <a:pPr marL="0" indent="0" algn="just">
              <a:lnSpc>
                <a:spcPct val="100000"/>
              </a:lnSpc>
              <a:spcBef>
                <a:spcPts val="0"/>
              </a:spcBef>
              <a:buNone/>
            </a:pPr>
            <a:r>
              <a:rPr lang="en-US" sz="2000" dirty="0"/>
              <a:t>        </a:t>
            </a:r>
            <a:r>
              <a:rPr lang="en-US" sz="2000" dirty="0" err="1"/>
              <a:t>int</a:t>
            </a:r>
            <a:r>
              <a:rPr lang="en-US" sz="2000" dirty="0"/>
              <a:t> n = </a:t>
            </a:r>
            <a:r>
              <a:rPr lang="en-US" sz="2000" dirty="0" err="1"/>
              <a:t>arr.length</a:t>
            </a:r>
            <a:r>
              <a:rPr lang="en-US" sz="2000" dirty="0"/>
              <a:t>;  </a:t>
            </a:r>
          </a:p>
          <a:p>
            <a:pPr marL="0" indent="0" algn="just">
              <a:lnSpc>
                <a:spcPct val="100000"/>
              </a:lnSpc>
              <a:spcBef>
                <a:spcPts val="0"/>
              </a:spcBef>
              <a:buNone/>
            </a:pPr>
            <a:r>
              <a:rPr lang="en-US" sz="2000" dirty="0"/>
              <a:t>        </a:t>
            </a:r>
            <a:r>
              <a:rPr lang="en-US" sz="2000" dirty="0" err="1"/>
              <a:t>int</a:t>
            </a:r>
            <a:r>
              <a:rPr lang="en-US" sz="2000" dirty="0"/>
              <a:t> temp = 0;  </a:t>
            </a:r>
          </a:p>
          <a:p>
            <a:pPr marL="0" indent="0" algn="just">
              <a:lnSpc>
                <a:spcPct val="100000"/>
              </a:lnSpc>
              <a:spcBef>
                <a:spcPts val="0"/>
              </a:spcBef>
              <a:buNone/>
            </a:pPr>
            <a:r>
              <a:rPr lang="en-US" sz="2000" dirty="0"/>
              <a:t>         for(</a:t>
            </a:r>
            <a:r>
              <a:rPr lang="en-US" sz="2000" dirty="0" err="1"/>
              <a:t>int</a:t>
            </a:r>
            <a:r>
              <a:rPr lang="en-US" sz="2000" dirty="0"/>
              <a:t> i=0; i &lt; n; i++){  </a:t>
            </a:r>
          </a:p>
          <a:p>
            <a:pPr marL="0" indent="0" algn="just">
              <a:lnSpc>
                <a:spcPct val="100000"/>
              </a:lnSpc>
              <a:spcBef>
                <a:spcPts val="0"/>
              </a:spcBef>
              <a:buNone/>
            </a:pPr>
            <a:r>
              <a:rPr lang="en-US" sz="2000" dirty="0"/>
              <a:t>                 for(</a:t>
            </a:r>
            <a:r>
              <a:rPr lang="en-US" sz="2000" dirty="0" err="1"/>
              <a:t>int</a:t>
            </a:r>
            <a:r>
              <a:rPr lang="en-US" sz="2000" dirty="0"/>
              <a:t> j=1; j &lt; (n-i); j++){  </a:t>
            </a:r>
          </a:p>
          <a:p>
            <a:pPr marL="0" indent="0" algn="just">
              <a:lnSpc>
                <a:spcPct val="100000"/>
              </a:lnSpc>
              <a:spcBef>
                <a:spcPts val="0"/>
              </a:spcBef>
              <a:buNone/>
            </a:pPr>
            <a:r>
              <a:rPr lang="en-US" sz="2000" dirty="0"/>
              <a:t>                          if(</a:t>
            </a:r>
            <a:r>
              <a:rPr lang="en-US" sz="2000" dirty="0" err="1"/>
              <a:t>arr</a:t>
            </a:r>
            <a:r>
              <a:rPr lang="en-US" sz="2000" dirty="0"/>
              <a:t>[j-1] &gt; </a:t>
            </a:r>
            <a:r>
              <a:rPr lang="en-US" sz="2000" dirty="0" err="1"/>
              <a:t>arr</a:t>
            </a:r>
            <a:r>
              <a:rPr lang="en-US" sz="2000" dirty="0"/>
              <a:t>[j]){  </a:t>
            </a:r>
          </a:p>
          <a:p>
            <a:pPr marL="0" indent="0" algn="just">
              <a:lnSpc>
                <a:spcPct val="100000"/>
              </a:lnSpc>
              <a:spcBef>
                <a:spcPts val="0"/>
              </a:spcBef>
              <a:buNone/>
            </a:pPr>
            <a:r>
              <a:rPr lang="en-US" sz="2000" dirty="0"/>
              <a:t>                                 //swap elements  </a:t>
            </a:r>
          </a:p>
          <a:p>
            <a:pPr marL="0" indent="0" algn="just">
              <a:lnSpc>
                <a:spcPct val="100000"/>
              </a:lnSpc>
              <a:spcBef>
                <a:spcPts val="0"/>
              </a:spcBef>
              <a:buNone/>
            </a:pPr>
            <a:r>
              <a:rPr lang="en-US" sz="2000" dirty="0"/>
              <a:t>                                 temp = </a:t>
            </a:r>
            <a:r>
              <a:rPr lang="en-US" sz="2000" dirty="0" err="1"/>
              <a:t>arr</a:t>
            </a:r>
            <a:r>
              <a:rPr lang="en-US" sz="2000" dirty="0"/>
              <a:t>[j-1];  </a:t>
            </a:r>
          </a:p>
          <a:p>
            <a:pPr marL="0" indent="0" algn="just">
              <a:lnSpc>
                <a:spcPct val="100000"/>
              </a:lnSpc>
              <a:spcBef>
                <a:spcPts val="0"/>
              </a:spcBef>
              <a:buNone/>
            </a:pPr>
            <a:r>
              <a:rPr lang="en-US" sz="2000" dirty="0"/>
              <a:t>                                 </a:t>
            </a:r>
            <a:r>
              <a:rPr lang="en-US" sz="2000" dirty="0" err="1"/>
              <a:t>arr</a:t>
            </a:r>
            <a:r>
              <a:rPr lang="en-US" sz="2000" dirty="0"/>
              <a:t>[j-1] = </a:t>
            </a:r>
            <a:r>
              <a:rPr lang="en-US" sz="2000" dirty="0" err="1"/>
              <a:t>arr</a:t>
            </a:r>
            <a:r>
              <a:rPr lang="en-US" sz="2000" dirty="0"/>
              <a:t>[j];  </a:t>
            </a:r>
          </a:p>
          <a:p>
            <a:pPr marL="0" indent="0" algn="just">
              <a:lnSpc>
                <a:spcPct val="100000"/>
              </a:lnSpc>
              <a:spcBef>
                <a:spcPts val="0"/>
              </a:spcBef>
              <a:buNone/>
            </a:pPr>
            <a:r>
              <a:rPr lang="en-US" sz="2000" dirty="0"/>
              <a:t>                                 </a:t>
            </a:r>
            <a:r>
              <a:rPr lang="en-US" sz="2000" dirty="0" err="1"/>
              <a:t>arr</a:t>
            </a:r>
            <a:r>
              <a:rPr lang="en-US" sz="2000" dirty="0"/>
              <a:t>[j] = temp;  </a:t>
            </a:r>
          </a:p>
          <a:p>
            <a:pPr marL="0" indent="0" algn="just">
              <a:lnSpc>
                <a:spcPct val="100000"/>
              </a:lnSpc>
              <a:spcBef>
                <a:spcPts val="0"/>
              </a:spcBef>
              <a:buNone/>
            </a:pPr>
            <a:r>
              <a:rPr lang="en-US" sz="2000" dirty="0"/>
              <a:t>                         </a:t>
            </a:r>
            <a:r>
              <a:rPr lang="en-US" sz="2000" dirty="0" smtClean="0"/>
              <a:t>}                          </a:t>
            </a:r>
            <a:endParaRPr lang="en-US" sz="2000" dirty="0"/>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  </a:t>
            </a:r>
            <a:r>
              <a:rPr lang="en-US" sz="2000" dirty="0" smtClean="0"/>
              <a:t>  </a:t>
            </a:r>
            <a:endParaRPr lang="en-US" sz="2000" dirty="0"/>
          </a:p>
          <a:p>
            <a:pPr marL="0" indent="0" algn="just">
              <a:lnSpc>
                <a:spcPct val="100000"/>
              </a:lnSpc>
              <a:spcBef>
                <a:spcPts val="0"/>
              </a:spcBef>
              <a:buNone/>
            </a:pPr>
            <a:r>
              <a:rPr lang="en-US" sz="2000" dirty="0"/>
              <a:t>    }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7416800" y="4667782"/>
            <a:ext cx="3396343" cy="195073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Array Before Bubble Sort</a:t>
            </a:r>
          </a:p>
          <a:p>
            <a:pPr marL="0" indent="0">
              <a:buNone/>
            </a:pPr>
            <a:r>
              <a:rPr lang="en-US" sz="2000" dirty="0"/>
              <a:t>3 60 35 2 45 320 5 </a:t>
            </a:r>
          </a:p>
          <a:p>
            <a:pPr marL="0" indent="0">
              <a:buNone/>
            </a:pPr>
            <a:r>
              <a:rPr lang="en-US" sz="2000" dirty="0"/>
              <a:t>Array After Bubble Sort</a:t>
            </a:r>
          </a:p>
          <a:p>
            <a:pPr marL="0" indent="0">
              <a:buNone/>
            </a:pPr>
            <a:r>
              <a:rPr lang="en-US" sz="2000" dirty="0"/>
              <a:t>2 3 5 35 45 60 320 </a:t>
            </a:r>
          </a:p>
        </p:txBody>
      </p:sp>
      <p:sp>
        <p:nvSpPr>
          <p:cNvPr id="10" name="Content Placeholder 2">
            <a:extLst>
              <a:ext uri="{FF2B5EF4-FFF2-40B4-BE49-F238E27FC236}">
                <a16:creationId xmlns="" xmlns:a16="http://schemas.microsoft.com/office/drawing/2014/main" id="{21309EEA-748E-1B4D-9BA2-2ADAA2FBB16C}"/>
              </a:ext>
            </a:extLst>
          </p:cNvPr>
          <p:cNvSpPr txBox="1">
            <a:spLocks/>
          </p:cNvSpPr>
          <p:nvPr/>
        </p:nvSpPr>
        <p:spPr>
          <a:xfrm>
            <a:off x="5036457" y="919623"/>
            <a:ext cx="7155543" cy="45087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r>
              <a:rPr lang="en-US" sz="2000" dirty="0" smtClean="0"/>
              <a:t>public static void main(String[] </a:t>
            </a:r>
            <a:r>
              <a:rPr lang="en-US" sz="2000" dirty="0" err="1" smtClean="0"/>
              <a:t>args</a:t>
            </a:r>
            <a:r>
              <a:rPr lang="en-US" sz="2000" dirty="0" smtClean="0"/>
              <a:t>) {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int</a:t>
            </a:r>
            <a:r>
              <a:rPr lang="en-US" sz="2000" dirty="0" smtClean="0"/>
              <a:t> </a:t>
            </a:r>
            <a:r>
              <a:rPr lang="en-US" sz="2000" dirty="0" err="1" smtClean="0"/>
              <a:t>arr</a:t>
            </a:r>
            <a:r>
              <a:rPr lang="en-US" sz="2000" dirty="0" smtClean="0"/>
              <a:t>[] ={3,60,35,2,45,320,5};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System.out.println</a:t>
            </a:r>
            <a:r>
              <a:rPr lang="en-US" sz="2000" dirty="0" smtClean="0"/>
              <a:t>("Array Before Bubble Sort");  </a:t>
            </a:r>
          </a:p>
          <a:p>
            <a:pPr marL="0" indent="0" algn="just">
              <a:lnSpc>
                <a:spcPct val="100000"/>
              </a:lnSpc>
              <a:spcBef>
                <a:spcPts val="0"/>
              </a:spcBef>
              <a:buFont typeface="Arial" panose="020B0604020202020204" pitchFamily="34" charset="0"/>
              <a:buNone/>
            </a:pPr>
            <a:r>
              <a:rPr lang="en-US" sz="2000" dirty="0" smtClean="0"/>
              <a:t>                for(</a:t>
            </a:r>
            <a:r>
              <a:rPr lang="en-US" sz="2000" dirty="0" err="1" smtClean="0"/>
              <a:t>int</a:t>
            </a:r>
            <a:r>
              <a:rPr lang="en-US" sz="2000" dirty="0" smtClean="0"/>
              <a:t> i=0; i &lt; </a:t>
            </a:r>
            <a:r>
              <a:rPr lang="en-US" sz="2000" dirty="0" err="1" smtClean="0"/>
              <a:t>arr.length</a:t>
            </a:r>
            <a:r>
              <a:rPr lang="en-US" sz="2000" dirty="0" smtClean="0"/>
              <a:t>; i++){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System.out.print</a:t>
            </a:r>
            <a:r>
              <a:rPr lang="en-US" sz="2000" dirty="0" smtClean="0"/>
              <a:t>(</a:t>
            </a:r>
            <a:r>
              <a:rPr lang="en-US" sz="2000" dirty="0" err="1" smtClean="0"/>
              <a:t>arr</a:t>
            </a:r>
            <a:r>
              <a:rPr lang="en-US" sz="2000" dirty="0" smtClean="0"/>
              <a:t>[i] + " ");  </a:t>
            </a:r>
          </a:p>
          <a:p>
            <a:pPr marL="0" indent="0" algn="just">
              <a:lnSpc>
                <a:spcPct val="100000"/>
              </a:lnSpc>
              <a:spcBef>
                <a:spcPts val="0"/>
              </a:spcBef>
              <a:buFont typeface="Arial" panose="020B0604020202020204" pitchFamily="34" charset="0"/>
              <a:buNone/>
            </a:pPr>
            <a:r>
              <a:rPr lang="en-US" sz="2000" dirty="0" smtClean="0"/>
              <a:t>                }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System.out.println</a:t>
            </a:r>
            <a:r>
              <a:rPr lang="en-US" sz="2000" dirty="0" smtClean="0"/>
              <a:t>();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bubbleSort</a:t>
            </a:r>
            <a:r>
              <a:rPr lang="en-US" sz="2000" dirty="0" smtClean="0"/>
              <a:t>(</a:t>
            </a:r>
            <a:r>
              <a:rPr lang="en-US" sz="2000" dirty="0" err="1" smtClean="0"/>
              <a:t>arr</a:t>
            </a:r>
            <a:r>
              <a:rPr lang="en-US" sz="2000" dirty="0" smtClean="0"/>
              <a:t>);//sorting array elements using bubble sort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System.out.println</a:t>
            </a:r>
            <a:r>
              <a:rPr lang="en-US" sz="2000" dirty="0" smtClean="0"/>
              <a:t>("Array After Bubble Sort");  </a:t>
            </a:r>
          </a:p>
          <a:p>
            <a:pPr marL="0" indent="0" algn="just">
              <a:lnSpc>
                <a:spcPct val="100000"/>
              </a:lnSpc>
              <a:spcBef>
                <a:spcPts val="0"/>
              </a:spcBef>
              <a:buFont typeface="Arial" panose="020B0604020202020204" pitchFamily="34" charset="0"/>
              <a:buNone/>
            </a:pPr>
            <a:r>
              <a:rPr lang="en-US" sz="2000" dirty="0" smtClean="0"/>
              <a:t>                for(</a:t>
            </a:r>
            <a:r>
              <a:rPr lang="en-US" sz="2000" dirty="0" err="1" smtClean="0"/>
              <a:t>int</a:t>
            </a:r>
            <a:r>
              <a:rPr lang="en-US" sz="2000" dirty="0" smtClean="0"/>
              <a:t> i=0; i &lt; </a:t>
            </a:r>
            <a:r>
              <a:rPr lang="en-US" sz="2000" dirty="0" err="1" smtClean="0"/>
              <a:t>arr.length</a:t>
            </a:r>
            <a:r>
              <a:rPr lang="en-US" sz="2000" dirty="0" smtClean="0"/>
              <a:t>; i++){  </a:t>
            </a:r>
          </a:p>
          <a:p>
            <a:pPr marL="0" indent="0" algn="just">
              <a:lnSpc>
                <a:spcPct val="100000"/>
              </a:lnSpc>
              <a:spcBef>
                <a:spcPts val="0"/>
              </a:spcBef>
              <a:buFont typeface="Arial" panose="020B0604020202020204" pitchFamily="34" charset="0"/>
              <a:buNone/>
            </a:pPr>
            <a:r>
              <a:rPr lang="en-US" sz="2000" dirty="0" smtClean="0"/>
              <a:t>                        </a:t>
            </a:r>
            <a:r>
              <a:rPr lang="en-US" sz="2000" dirty="0" err="1" smtClean="0"/>
              <a:t>System.out.print</a:t>
            </a:r>
            <a:r>
              <a:rPr lang="en-US" sz="2000" dirty="0" smtClean="0"/>
              <a:t>(</a:t>
            </a:r>
            <a:r>
              <a:rPr lang="en-US" sz="2000" dirty="0" err="1" smtClean="0"/>
              <a:t>arr</a:t>
            </a:r>
            <a:r>
              <a:rPr lang="en-US" sz="2000" dirty="0" smtClean="0"/>
              <a:t>[i] + " ");  </a:t>
            </a:r>
          </a:p>
          <a:p>
            <a:pPr marL="0" indent="0" algn="just">
              <a:lnSpc>
                <a:spcPct val="100000"/>
              </a:lnSpc>
              <a:spcBef>
                <a:spcPts val="0"/>
              </a:spcBef>
              <a:buFont typeface="Arial" panose="020B0604020202020204" pitchFamily="34" charset="0"/>
              <a:buNone/>
            </a:pPr>
            <a:r>
              <a:rPr lang="en-US" sz="2000" dirty="0" smtClean="0"/>
              <a:t>                }     </a:t>
            </a:r>
          </a:p>
          <a:p>
            <a:pPr marL="0" indent="0" algn="just">
              <a:lnSpc>
                <a:spcPct val="100000"/>
              </a:lnSpc>
              <a:spcBef>
                <a:spcPts val="0"/>
              </a:spcBef>
              <a:buFont typeface="Arial" panose="020B0604020202020204" pitchFamily="34" charset="0"/>
              <a:buNone/>
            </a:pPr>
            <a:r>
              <a:rPr lang="en-US" sz="2000" dirty="0" smtClean="0"/>
              <a:t>        }  </a:t>
            </a:r>
          </a:p>
          <a:p>
            <a:pPr marL="0" indent="0" algn="just">
              <a:lnSpc>
                <a:spcPct val="100000"/>
              </a:lnSpc>
              <a:spcBef>
                <a:spcPts val="0"/>
              </a:spcBef>
              <a:buFont typeface="Arial" panose="020B0604020202020204" pitchFamily="34" charset="0"/>
              <a:buNone/>
            </a:pPr>
            <a:r>
              <a:rPr lang="en-US" sz="2000" dirty="0" smtClean="0"/>
              <a:t>} </a:t>
            </a:r>
            <a:endParaRPr lang="en-US" sz="1800" dirty="0" smtClean="0"/>
          </a:p>
        </p:txBody>
      </p:sp>
    </p:spTree>
    <p:extLst>
      <p:ext uri="{BB962C8B-B14F-4D97-AF65-F5344CB8AC3E}">
        <p14:creationId xmlns:p14="http://schemas.microsoft.com/office/powerpoint/2010/main" val="3752187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Insertion sort </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10515598" cy="5282293"/>
          </a:xfrm>
        </p:spPr>
        <p:txBody>
          <a:bodyPr>
            <a:normAutofit fontScale="92500" lnSpcReduction="20000"/>
          </a:bodyPr>
          <a:lstStyle/>
          <a:p>
            <a:pPr algn="just" fontAlgn="base"/>
            <a:r>
              <a:rPr lang="en-US" sz="3200" dirty="0"/>
              <a:t>The idea behind Insertion Sort is dividing the array into the sorted and unsorted </a:t>
            </a:r>
            <a:r>
              <a:rPr lang="en-US" sz="3200" dirty="0" err="1"/>
              <a:t>subarrays</a:t>
            </a:r>
            <a:r>
              <a:rPr lang="en-US" sz="3200" dirty="0" smtClean="0"/>
              <a:t>.</a:t>
            </a:r>
            <a:endParaRPr lang="en-US" sz="3200" dirty="0"/>
          </a:p>
          <a:p>
            <a:pPr algn="just" fontAlgn="base"/>
            <a:r>
              <a:rPr lang="en-US" sz="3200" dirty="0"/>
              <a:t>The sorted part is of length 1 at the beginning and is corresponding to the first (left-most) element in the array. We iterate through the array and during each iteration, we expand the sorted portion of the array by one element</a:t>
            </a:r>
            <a:r>
              <a:rPr lang="en-US" sz="3200" dirty="0" smtClean="0"/>
              <a:t>.</a:t>
            </a:r>
            <a:endParaRPr lang="en-US" sz="3200" dirty="0"/>
          </a:p>
          <a:p>
            <a:pPr algn="just" fontAlgn="base"/>
            <a:r>
              <a:rPr lang="en-US" sz="3200" dirty="0"/>
              <a:t>Upon expanding, we place the new element into its proper place within the sorted </a:t>
            </a:r>
            <a:r>
              <a:rPr lang="en-US" sz="3200" dirty="0" err="1"/>
              <a:t>subarray</a:t>
            </a:r>
            <a:r>
              <a:rPr lang="en-US" sz="3200" dirty="0"/>
              <a:t>. We do this by shifting all of the elements to the right until we encounter the first element we don't have to shift</a:t>
            </a:r>
            <a:r>
              <a:rPr lang="en-US" sz="3200" dirty="0" smtClean="0"/>
              <a:t>.</a:t>
            </a:r>
          </a:p>
          <a:p>
            <a:pPr algn="just" fontAlgn="base"/>
            <a:r>
              <a:rPr lang="en-US" sz="3200" dirty="0"/>
              <a:t>This is because in each iteration, we'll have to move the whole sorted list by one, which is O(n). We have to do this for each element in every array, which means it's going to be bounded by O(</a:t>
            </a:r>
            <a:r>
              <a:rPr lang="en-US" sz="3200" dirty="0" err="1"/>
              <a:t>n^2</a:t>
            </a:r>
            <a:r>
              <a:rPr lang="en-US" sz="3200" dirty="0" smtClean="0"/>
              <a:t>).</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Tree>
    <p:extLst>
      <p:ext uri="{BB962C8B-B14F-4D97-AF65-F5344CB8AC3E}">
        <p14:creationId xmlns:p14="http://schemas.microsoft.com/office/powerpoint/2010/main" val="272694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Insertion sort </a:t>
            </a:r>
            <a:endParaRPr lang="en-US" sz="32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7682" y="1074738"/>
            <a:ext cx="5216636" cy="5281612"/>
          </a:xfrm>
        </p:spPr>
      </p:pic>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Tree>
    <p:extLst>
      <p:ext uri="{BB962C8B-B14F-4D97-AF65-F5344CB8AC3E}">
        <p14:creationId xmlns:p14="http://schemas.microsoft.com/office/powerpoint/2010/main" val="195187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dirty="0"/>
              <a:t>Bubble sort </a:t>
            </a:r>
            <a:r>
              <a:rPr lang="en-US" dirty="0" smtClean="0"/>
              <a:t>example</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635004" y="926877"/>
            <a:ext cx="5156196" cy="4716271"/>
          </a:xfrm>
        </p:spPr>
        <p:txBody>
          <a:bodyPr>
            <a:noAutofit/>
          </a:bodyPr>
          <a:lstStyle/>
          <a:p>
            <a:pPr marL="0" indent="0" algn="just">
              <a:lnSpc>
                <a:spcPct val="100000"/>
              </a:lnSpc>
              <a:spcBef>
                <a:spcPts val="0"/>
              </a:spcBef>
              <a:buNone/>
            </a:pPr>
            <a:r>
              <a:rPr lang="en-US" sz="2000" dirty="0"/>
              <a:t>public class </a:t>
            </a:r>
            <a:r>
              <a:rPr lang="en-US" sz="2000" dirty="0" err="1"/>
              <a:t>InsertionSortExample</a:t>
            </a:r>
            <a:r>
              <a:rPr lang="en-US" sz="2000" dirty="0"/>
              <a:t> {  </a:t>
            </a:r>
          </a:p>
          <a:p>
            <a:pPr marL="0" indent="0" algn="just">
              <a:lnSpc>
                <a:spcPct val="100000"/>
              </a:lnSpc>
              <a:spcBef>
                <a:spcPts val="0"/>
              </a:spcBef>
              <a:buNone/>
            </a:pPr>
            <a:r>
              <a:rPr lang="en-US" sz="2000" dirty="0"/>
              <a:t>    public static void </a:t>
            </a:r>
            <a:r>
              <a:rPr lang="en-US" sz="2000" dirty="0" err="1"/>
              <a:t>insertionSort</a:t>
            </a:r>
            <a:r>
              <a:rPr lang="en-US" sz="2000" dirty="0"/>
              <a:t>(</a:t>
            </a:r>
            <a:r>
              <a:rPr lang="en-US" sz="2000" dirty="0" err="1"/>
              <a:t>int</a:t>
            </a:r>
            <a:r>
              <a:rPr lang="en-US" sz="2000" dirty="0"/>
              <a:t> array[]) {  </a:t>
            </a:r>
          </a:p>
          <a:p>
            <a:pPr marL="0" indent="0" algn="just">
              <a:lnSpc>
                <a:spcPct val="100000"/>
              </a:lnSpc>
              <a:spcBef>
                <a:spcPts val="0"/>
              </a:spcBef>
              <a:buNone/>
            </a:pPr>
            <a:r>
              <a:rPr lang="en-US" sz="2000" dirty="0"/>
              <a:t>        </a:t>
            </a:r>
            <a:r>
              <a:rPr lang="en-US" sz="2000" dirty="0" err="1"/>
              <a:t>int</a:t>
            </a:r>
            <a:r>
              <a:rPr lang="en-US" sz="2000" dirty="0"/>
              <a:t> n = </a:t>
            </a:r>
            <a:r>
              <a:rPr lang="en-US" sz="2000" dirty="0" err="1"/>
              <a:t>array.length</a:t>
            </a:r>
            <a:r>
              <a:rPr lang="en-US" sz="2000" dirty="0"/>
              <a:t>;  </a:t>
            </a:r>
          </a:p>
          <a:p>
            <a:pPr marL="0" indent="0" algn="just">
              <a:lnSpc>
                <a:spcPct val="100000"/>
              </a:lnSpc>
              <a:spcBef>
                <a:spcPts val="0"/>
              </a:spcBef>
              <a:buNone/>
            </a:pPr>
            <a:r>
              <a:rPr lang="en-US" sz="2000" dirty="0"/>
              <a:t>        for (</a:t>
            </a:r>
            <a:r>
              <a:rPr lang="en-US" sz="2000" dirty="0" err="1"/>
              <a:t>int</a:t>
            </a:r>
            <a:r>
              <a:rPr lang="en-US" sz="2000" dirty="0"/>
              <a:t> j = 1; j &lt; n; j++) {  </a:t>
            </a:r>
          </a:p>
          <a:p>
            <a:pPr marL="0" indent="0" algn="just">
              <a:lnSpc>
                <a:spcPct val="100000"/>
              </a:lnSpc>
              <a:spcBef>
                <a:spcPts val="0"/>
              </a:spcBef>
              <a:buNone/>
            </a:pPr>
            <a:r>
              <a:rPr lang="en-US" sz="2000" dirty="0"/>
              <a:t>            </a:t>
            </a:r>
            <a:r>
              <a:rPr lang="en-US" sz="2000" dirty="0" err="1"/>
              <a:t>int</a:t>
            </a:r>
            <a:r>
              <a:rPr lang="en-US" sz="2000" dirty="0"/>
              <a:t> key = array[j];  </a:t>
            </a:r>
          </a:p>
          <a:p>
            <a:pPr marL="0" indent="0" algn="just">
              <a:lnSpc>
                <a:spcPct val="100000"/>
              </a:lnSpc>
              <a:spcBef>
                <a:spcPts val="0"/>
              </a:spcBef>
              <a:buNone/>
            </a:pPr>
            <a:r>
              <a:rPr lang="en-US" sz="2000" dirty="0"/>
              <a:t>            </a:t>
            </a:r>
            <a:r>
              <a:rPr lang="en-US" sz="2000" dirty="0" err="1"/>
              <a:t>int</a:t>
            </a:r>
            <a:r>
              <a:rPr lang="en-US" sz="2000" dirty="0"/>
              <a:t> i = j-1;  </a:t>
            </a:r>
          </a:p>
          <a:p>
            <a:pPr marL="0" indent="0" algn="just">
              <a:lnSpc>
                <a:spcPct val="100000"/>
              </a:lnSpc>
              <a:spcBef>
                <a:spcPts val="0"/>
              </a:spcBef>
              <a:buNone/>
            </a:pPr>
            <a:r>
              <a:rPr lang="en-US" sz="2000" dirty="0"/>
              <a:t>            while ( (i &gt; -1) &amp;&amp; ( array [i] &gt; key ) ) {  </a:t>
            </a:r>
          </a:p>
          <a:p>
            <a:pPr marL="0" indent="0" algn="just">
              <a:lnSpc>
                <a:spcPct val="100000"/>
              </a:lnSpc>
              <a:spcBef>
                <a:spcPts val="0"/>
              </a:spcBef>
              <a:buNone/>
            </a:pPr>
            <a:r>
              <a:rPr lang="en-US" sz="2000" dirty="0"/>
              <a:t>                array [</a:t>
            </a:r>
            <a:r>
              <a:rPr lang="en-US" sz="2000" dirty="0" err="1"/>
              <a:t>i+1</a:t>
            </a:r>
            <a:r>
              <a:rPr lang="en-US" sz="2000" dirty="0"/>
              <a:t>] = array [i];  </a:t>
            </a:r>
          </a:p>
          <a:p>
            <a:pPr marL="0" indent="0" algn="just">
              <a:lnSpc>
                <a:spcPct val="100000"/>
              </a:lnSpc>
              <a:spcBef>
                <a:spcPts val="0"/>
              </a:spcBef>
              <a:buNone/>
            </a:pPr>
            <a:r>
              <a:rPr lang="en-US" sz="2000" dirty="0"/>
              <a:t>                i--;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array[</a:t>
            </a:r>
            <a:r>
              <a:rPr lang="en-US" sz="2000" dirty="0" err="1"/>
              <a:t>i+1</a:t>
            </a:r>
            <a:r>
              <a:rPr lang="en-US" sz="2000" dirty="0"/>
              <a:t>] = key;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691086" y="4771384"/>
            <a:ext cx="5312229" cy="158496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Before Insertion Sort</a:t>
            </a:r>
          </a:p>
          <a:p>
            <a:pPr marL="0" indent="0">
              <a:buNone/>
            </a:pPr>
            <a:r>
              <a:rPr lang="en-US" sz="2000" dirty="0"/>
              <a:t>9 14 3 2 43 11 58 22 </a:t>
            </a:r>
          </a:p>
          <a:p>
            <a:pPr marL="0" indent="0">
              <a:buNone/>
            </a:pPr>
            <a:r>
              <a:rPr lang="en-US" sz="2000" dirty="0"/>
              <a:t>After Insertion Sort</a:t>
            </a:r>
          </a:p>
          <a:p>
            <a:pPr marL="0" indent="0">
              <a:buNone/>
            </a:pPr>
            <a:r>
              <a:rPr lang="en-US" sz="2000" dirty="0"/>
              <a:t>2 3 9 11 14 22 43 58 </a:t>
            </a:r>
          </a:p>
        </p:txBody>
      </p:sp>
      <p:sp>
        <p:nvSpPr>
          <p:cNvPr id="10" name="Content Placeholder 2">
            <a:extLst>
              <a:ext uri="{FF2B5EF4-FFF2-40B4-BE49-F238E27FC236}">
                <a16:creationId xmlns="" xmlns:a16="http://schemas.microsoft.com/office/drawing/2014/main" id="{21309EEA-748E-1B4D-9BA2-2ADAA2FBB16C}"/>
              </a:ext>
            </a:extLst>
          </p:cNvPr>
          <p:cNvSpPr txBox="1">
            <a:spLocks/>
          </p:cNvSpPr>
          <p:nvPr/>
        </p:nvSpPr>
        <p:spPr>
          <a:xfrm>
            <a:off x="5791200" y="919622"/>
            <a:ext cx="6400800" cy="45087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n-US" sz="2000" dirty="0"/>
              <a:t> public static void main(String a[]){    </a:t>
            </a:r>
          </a:p>
          <a:p>
            <a:pPr marL="0" indent="0" algn="just">
              <a:lnSpc>
                <a:spcPct val="100000"/>
              </a:lnSpc>
              <a:spcBef>
                <a:spcPts val="0"/>
              </a:spcBef>
              <a:buNone/>
            </a:pPr>
            <a:r>
              <a:rPr lang="en-US" sz="2000" dirty="0"/>
              <a:t>        </a:t>
            </a:r>
            <a:r>
              <a:rPr lang="en-US" sz="2000" dirty="0" err="1"/>
              <a:t>int</a:t>
            </a:r>
            <a:r>
              <a:rPr lang="en-US" sz="2000" dirty="0"/>
              <a:t>[] </a:t>
            </a:r>
            <a:r>
              <a:rPr lang="en-US" sz="2000" dirty="0" err="1"/>
              <a:t>arr1</a:t>
            </a:r>
            <a:r>
              <a:rPr lang="en-US" sz="2000" dirty="0"/>
              <a:t> = {9,14,3,2,43,11,58,22};    </a:t>
            </a:r>
          </a:p>
          <a:p>
            <a:pPr marL="0" indent="0" algn="just">
              <a:lnSpc>
                <a:spcPct val="100000"/>
              </a:lnSpc>
              <a:spcBef>
                <a:spcPts val="0"/>
              </a:spcBef>
              <a:buNone/>
            </a:pPr>
            <a:r>
              <a:rPr lang="en-US" sz="2000" dirty="0"/>
              <a:t>        </a:t>
            </a:r>
            <a:r>
              <a:rPr lang="en-US" sz="2000" dirty="0" err="1"/>
              <a:t>System.out.println</a:t>
            </a:r>
            <a:r>
              <a:rPr lang="en-US" sz="2000" dirty="0"/>
              <a:t>("Before Insertion Sort");    </a:t>
            </a:r>
          </a:p>
          <a:p>
            <a:pPr marL="0" indent="0" algn="just">
              <a:lnSpc>
                <a:spcPct val="100000"/>
              </a:lnSpc>
              <a:spcBef>
                <a:spcPts val="0"/>
              </a:spcBef>
              <a:buNone/>
            </a:pPr>
            <a:r>
              <a:rPr lang="en-US" sz="2000" dirty="0"/>
              <a:t>        for(</a:t>
            </a:r>
            <a:r>
              <a:rPr lang="en-US" sz="2000" dirty="0" err="1"/>
              <a:t>int</a:t>
            </a:r>
            <a:r>
              <a:rPr lang="en-US" sz="2000" dirty="0"/>
              <a:t> </a:t>
            </a:r>
            <a:r>
              <a:rPr lang="en-US" sz="2000" dirty="0" err="1"/>
              <a:t>i:arr1</a:t>
            </a:r>
            <a:r>
              <a:rPr lang="en-US" sz="2000" dirty="0"/>
              <a:t>){    </a:t>
            </a:r>
          </a:p>
          <a:p>
            <a:pPr marL="0" indent="0" algn="just">
              <a:lnSpc>
                <a:spcPct val="100000"/>
              </a:lnSpc>
              <a:spcBef>
                <a:spcPts val="0"/>
              </a:spcBef>
              <a:buNone/>
            </a:pPr>
            <a:r>
              <a:rPr lang="en-US" sz="2000" dirty="0"/>
              <a:t>            </a:t>
            </a:r>
            <a:r>
              <a:rPr lang="en-US" sz="2000" dirty="0" err="1"/>
              <a:t>System.out.print</a:t>
            </a:r>
            <a:r>
              <a:rPr lang="en-US" sz="2000" dirty="0"/>
              <a:t>(i+"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r>
              <a:rPr lang="en-US" sz="2000" dirty="0" err="1"/>
              <a:t>System.out.println</a:t>
            </a:r>
            <a:r>
              <a:rPr lang="en-US" sz="2000" dirty="0"/>
              <a:t>();  </a:t>
            </a:r>
            <a:r>
              <a:rPr lang="en-US" sz="2000" dirty="0" smtClean="0"/>
              <a:t>            </a:t>
            </a:r>
            <a:endParaRPr lang="en-US" sz="2000" dirty="0"/>
          </a:p>
          <a:p>
            <a:pPr marL="0" indent="0" algn="just">
              <a:lnSpc>
                <a:spcPct val="100000"/>
              </a:lnSpc>
              <a:spcBef>
                <a:spcPts val="0"/>
              </a:spcBef>
              <a:buNone/>
            </a:pPr>
            <a:r>
              <a:rPr lang="en-US" sz="2000" dirty="0"/>
              <a:t>        </a:t>
            </a:r>
            <a:r>
              <a:rPr lang="en-US" sz="2000" dirty="0" err="1"/>
              <a:t>insertionSort</a:t>
            </a:r>
            <a:r>
              <a:rPr lang="en-US" sz="2000" dirty="0"/>
              <a:t>(</a:t>
            </a:r>
            <a:r>
              <a:rPr lang="en-US" sz="2000" dirty="0" err="1"/>
              <a:t>arr1</a:t>
            </a:r>
            <a:r>
              <a:rPr lang="en-US" sz="2000" dirty="0"/>
              <a:t>);//sorting array using insertion sort    </a:t>
            </a:r>
          </a:p>
          <a:p>
            <a:pPr marL="0" indent="0" algn="just">
              <a:lnSpc>
                <a:spcPct val="100000"/>
              </a:lnSpc>
              <a:spcBef>
                <a:spcPts val="0"/>
              </a:spcBef>
              <a:buNone/>
            </a:pPr>
            <a:r>
              <a:rPr lang="en-US" sz="2000" dirty="0"/>
              <a:t>        </a:t>
            </a:r>
            <a:r>
              <a:rPr lang="en-US" sz="2000" dirty="0" err="1"/>
              <a:t>System.out.println</a:t>
            </a:r>
            <a:r>
              <a:rPr lang="en-US" sz="2000" dirty="0"/>
              <a:t>("After Insertion Sort");    </a:t>
            </a:r>
          </a:p>
          <a:p>
            <a:pPr marL="0" indent="0" algn="just">
              <a:lnSpc>
                <a:spcPct val="100000"/>
              </a:lnSpc>
              <a:spcBef>
                <a:spcPts val="0"/>
              </a:spcBef>
              <a:buNone/>
            </a:pPr>
            <a:r>
              <a:rPr lang="en-US" sz="2000" dirty="0"/>
              <a:t>        for(</a:t>
            </a:r>
            <a:r>
              <a:rPr lang="en-US" sz="2000" dirty="0" err="1"/>
              <a:t>int</a:t>
            </a:r>
            <a:r>
              <a:rPr lang="en-US" sz="2000" dirty="0"/>
              <a:t> </a:t>
            </a:r>
            <a:r>
              <a:rPr lang="en-US" sz="2000" dirty="0" err="1"/>
              <a:t>i:arr1</a:t>
            </a:r>
            <a:r>
              <a:rPr lang="en-US" sz="2000" dirty="0"/>
              <a:t>){    </a:t>
            </a:r>
          </a:p>
          <a:p>
            <a:pPr marL="0" indent="0" algn="just">
              <a:lnSpc>
                <a:spcPct val="100000"/>
              </a:lnSpc>
              <a:spcBef>
                <a:spcPts val="0"/>
              </a:spcBef>
              <a:buNone/>
            </a:pPr>
            <a:r>
              <a:rPr lang="en-US" sz="2000" dirty="0"/>
              <a:t>            </a:t>
            </a:r>
            <a:r>
              <a:rPr lang="en-US" sz="2000" dirty="0" err="1"/>
              <a:t>System.out.print</a:t>
            </a:r>
            <a:r>
              <a:rPr lang="en-US" sz="2000" dirty="0"/>
              <a:t>(i+"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endParaRPr lang="en-US" sz="1800" dirty="0" smtClean="0"/>
          </a:p>
        </p:txBody>
      </p:sp>
    </p:spTree>
    <p:extLst>
      <p:ext uri="{BB962C8B-B14F-4D97-AF65-F5344CB8AC3E}">
        <p14:creationId xmlns:p14="http://schemas.microsoft.com/office/powerpoint/2010/main" val="262464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Selection sort </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10515598" cy="5282293"/>
          </a:xfrm>
        </p:spPr>
        <p:txBody>
          <a:bodyPr>
            <a:normAutofit/>
          </a:bodyPr>
          <a:lstStyle/>
          <a:p>
            <a:pPr algn="just" fontAlgn="base"/>
            <a:r>
              <a:rPr lang="en-US" sz="3200" dirty="0"/>
              <a:t>Selection Sort also divides the array into a sorted and unsorted </a:t>
            </a:r>
            <a:r>
              <a:rPr lang="en-US" sz="3200" dirty="0" err="1"/>
              <a:t>subarray</a:t>
            </a:r>
            <a:r>
              <a:rPr lang="en-US" sz="3200" dirty="0"/>
              <a:t>. Though, this time, the sorted </a:t>
            </a:r>
            <a:r>
              <a:rPr lang="en-US" sz="3200" dirty="0" err="1"/>
              <a:t>subarray</a:t>
            </a:r>
            <a:r>
              <a:rPr lang="en-US" sz="3200" dirty="0"/>
              <a:t> is formed by inserting the minimum element of the unsorted </a:t>
            </a:r>
            <a:r>
              <a:rPr lang="en-US" sz="3200" dirty="0" err="1"/>
              <a:t>subarray</a:t>
            </a:r>
            <a:r>
              <a:rPr lang="en-US" sz="3200" dirty="0"/>
              <a:t> at the end of the sorted </a:t>
            </a:r>
            <a:r>
              <a:rPr lang="en-US" sz="3200" dirty="0" smtClean="0"/>
              <a:t>array.</a:t>
            </a:r>
          </a:p>
          <a:p>
            <a:pPr algn="just" fontAlgn="base"/>
            <a:r>
              <a:rPr lang="en-US" sz="3200" dirty="0"/>
              <a:t>Finding the minimum is O(n) for the length of array because we have to check all of the elements. We have to find the minimum for each element of the array, making the whole process bounded by O(</a:t>
            </a:r>
            <a:r>
              <a:rPr lang="en-US" sz="3200" dirty="0" err="1"/>
              <a:t>n^2</a:t>
            </a:r>
            <a:r>
              <a:rPr lang="en-US" sz="3200" dirty="0" smtClean="0"/>
              <a:t>).</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Tree>
    <p:extLst>
      <p:ext uri="{BB962C8B-B14F-4D97-AF65-F5344CB8AC3E}">
        <p14:creationId xmlns:p14="http://schemas.microsoft.com/office/powerpoint/2010/main" val="211604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Selection sort </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0687" y="855642"/>
            <a:ext cx="8186056" cy="5690300"/>
          </a:xfrm>
        </p:spPr>
      </p:pic>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Tree>
    <p:extLst>
      <p:ext uri="{BB962C8B-B14F-4D97-AF65-F5344CB8AC3E}">
        <p14:creationId xmlns:p14="http://schemas.microsoft.com/office/powerpoint/2010/main" val="1339500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dirty="0"/>
              <a:t>Selection </a:t>
            </a:r>
            <a:r>
              <a:rPr lang="en-US" dirty="0" smtClean="0"/>
              <a:t>sort example</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23</a:t>
            </a:fld>
            <a:endParaRPr lang="en-US" dirty="0"/>
          </a:p>
        </p:txBody>
      </p:sp>
      <p:sp>
        <p:nvSpPr>
          <p:cNvPr id="9"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635004" y="926877"/>
            <a:ext cx="5156196" cy="4716271"/>
          </a:xfrm>
        </p:spPr>
        <p:txBody>
          <a:bodyPr>
            <a:noAutofit/>
          </a:bodyPr>
          <a:lstStyle/>
          <a:p>
            <a:pPr marL="0" indent="0" algn="just">
              <a:lnSpc>
                <a:spcPct val="100000"/>
              </a:lnSpc>
              <a:spcBef>
                <a:spcPts val="0"/>
              </a:spcBef>
              <a:buNone/>
            </a:pPr>
            <a:r>
              <a:rPr lang="en-US" sz="2000" dirty="0"/>
              <a:t>public class </a:t>
            </a:r>
            <a:r>
              <a:rPr lang="en-US" sz="2000" dirty="0" err="1"/>
              <a:t>SelectionSortExample</a:t>
            </a:r>
            <a:r>
              <a:rPr lang="en-US" sz="2000" dirty="0"/>
              <a:t> {  </a:t>
            </a:r>
          </a:p>
          <a:p>
            <a:pPr marL="0" indent="0" algn="just">
              <a:lnSpc>
                <a:spcPct val="100000"/>
              </a:lnSpc>
              <a:spcBef>
                <a:spcPts val="0"/>
              </a:spcBef>
              <a:buNone/>
            </a:pPr>
            <a:r>
              <a:rPr lang="en-US" sz="2000" dirty="0"/>
              <a:t>    public static void </a:t>
            </a:r>
            <a:r>
              <a:rPr lang="en-US" sz="2000" dirty="0" err="1"/>
              <a:t>selectionSort</a:t>
            </a:r>
            <a:r>
              <a:rPr lang="en-US" sz="2000" dirty="0"/>
              <a:t>(</a:t>
            </a:r>
            <a:r>
              <a:rPr lang="en-US" sz="2000" dirty="0" err="1"/>
              <a:t>int</a:t>
            </a:r>
            <a:r>
              <a:rPr lang="en-US" sz="2000" dirty="0"/>
              <a:t>[] </a:t>
            </a:r>
            <a:r>
              <a:rPr lang="en-US" sz="2000" dirty="0" err="1"/>
              <a:t>arr</a:t>
            </a:r>
            <a:r>
              <a:rPr lang="en-US" sz="2000" dirty="0"/>
              <a:t>){  </a:t>
            </a:r>
          </a:p>
          <a:p>
            <a:pPr marL="0" indent="0" algn="just">
              <a:lnSpc>
                <a:spcPct val="100000"/>
              </a:lnSpc>
              <a:spcBef>
                <a:spcPts val="0"/>
              </a:spcBef>
              <a:buNone/>
            </a:pPr>
            <a:r>
              <a:rPr lang="en-US" sz="2000" dirty="0"/>
              <a:t>        for (</a:t>
            </a:r>
            <a:r>
              <a:rPr lang="en-US" sz="2000" dirty="0" err="1"/>
              <a:t>int</a:t>
            </a:r>
            <a:r>
              <a:rPr lang="en-US" sz="2000" dirty="0"/>
              <a:t> i = 0; i &lt; </a:t>
            </a:r>
            <a:r>
              <a:rPr lang="en-US" sz="2000" dirty="0" err="1"/>
              <a:t>arr.length</a:t>
            </a:r>
            <a:r>
              <a:rPr lang="en-US" sz="2000" dirty="0"/>
              <a:t> - 1; i++)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r>
              <a:rPr lang="en-US" sz="2000" dirty="0" err="1"/>
              <a:t>int</a:t>
            </a:r>
            <a:r>
              <a:rPr lang="en-US" sz="2000" dirty="0"/>
              <a:t> index = i;  </a:t>
            </a:r>
          </a:p>
          <a:p>
            <a:pPr marL="0" indent="0" algn="just">
              <a:lnSpc>
                <a:spcPct val="100000"/>
              </a:lnSpc>
              <a:spcBef>
                <a:spcPts val="0"/>
              </a:spcBef>
              <a:buNone/>
            </a:pPr>
            <a:r>
              <a:rPr lang="en-US" sz="2000" dirty="0"/>
              <a:t>            for (</a:t>
            </a:r>
            <a:r>
              <a:rPr lang="en-US" sz="2000" dirty="0" err="1"/>
              <a:t>int</a:t>
            </a:r>
            <a:r>
              <a:rPr lang="en-US" sz="2000" dirty="0"/>
              <a:t> j = i + 1; j &lt; </a:t>
            </a:r>
            <a:r>
              <a:rPr lang="en-US" sz="2000" dirty="0" err="1"/>
              <a:t>arr.length</a:t>
            </a:r>
            <a:r>
              <a:rPr lang="en-US" sz="2000" dirty="0"/>
              <a:t>; j++){  </a:t>
            </a:r>
          </a:p>
          <a:p>
            <a:pPr marL="0" indent="0" algn="just">
              <a:lnSpc>
                <a:spcPct val="100000"/>
              </a:lnSpc>
              <a:spcBef>
                <a:spcPts val="0"/>
              </a:spcBef>
              <a:buNone/>
            </a:pPr>
            <a:r>
              <a:rPr lang="en-US" sz="2000" dirty="0"/>
              <a:t>                if (</a:t>
            </a:r>
            <a:r>
              <a:rPr lang="en-US" sz="2000" dirty="0" err="1"/>
              <a:t>arr</a:t>
            </a:r>
            <a:r>
              <a:rPr lang="en-US" sz="2000" dirty="0"/>
              <a:t>[j] &lt; </a:t>
            </a:r>
            <a:r>
              <a:rPr lang="en-US" sz="2000" dirty="0" err="1"/>
              <a:t>arr</a:t>
            </a:r>
            <a:r>
              <a:rPr lang="en-US" sz="2000" dirty="0"/>
              <a:t>[index]){  </a:t>
            </a:r>
          </a:p>
          <a:p>
            <a:pPr marL="0" indent="0" algn="just">
              <a:lnSpc>
                <a:spcPct val="100000"/>
              </a:lnSpc>
              <a:spcBef>
                <a:spcPts val="0"/>
              </a:spcBef>
              <a:buNone/>
            </a:pPr>
            <a:r>
              <a:rPr lang="en-US" sz="2000" dirty="0"/>
              <a:t>                    index = j;//searching for lowest index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r>
              <a:rPr lang="en-US" sz="2000" dirty="0" err="1"/>
              <a:t>int</a:t>
            </a:r>
            <a:r>
              <a:rPr lang="en-US" sz="2000" dirty="0"/>
              <a:t> </a:t>
            </a:r>
            <a:r>
              <a:rPr lang="en-US" sz="2000" dirty="0" err="1"/>
              <a:t>smallerNumber</a:t>
            </a:r>
            <a:r>
              <a:rPr lang="en-US" sz="2000" dirty="0"/>
              <a:t> = </a:t>
            </a:r>
            <a:r>
              <a:rPr lang="en-US" sz="2000" dirty="0" err="1"/>
              <a:t>arr</a:t>
            </a:r>
            <a:r>
              <a:rPr lang="en-US" sz="2000" dirty="0"/>
              <a:t>[index];   </a:t>
            </a:r>
          </a:p>
          <a:p>
            <a:pPr marL="0" indent="0" algn="just">
              <a:lnSpc>
                <a:spcPct val="100000"/>
              </a:lnSpc>
              <a:spcBef>
                <a:spcPts val="0"/>
              </a:spcBef>
              <a:buNone/>
            </a:pPr>
            <a:r>
              <a:rPr lang="en-US" sz="2000" dirty="0"/>
              <a:t>            </a:t>
            </a:r>
            <a:r>
              <a:rPr lang="en-US" sz="2000" dirty="0" err="1"/>
              <a:t>arr</a:t>
            </a:r>
            <a:r>
              <a:rPr lang="en-US" sz="2000" dirty="0"/>
              <a:t>[index] = </a:t>
            </a:r>
            <a:r>
              <a:rPr lang="en-US" sz="2000" dirty="0" err="1"/>
              <a:t>arr</a:t>
            </a:r>
            <a:r>
              <a:rPr lang="en-US" sz="2000" dirty="0"/>
              <a:t>[i];  </a:t>
            </a:r>
          </a:p>
          <a:p>
            <a:pPr marL="0" indent="0" algn="just">
              <a:lnSpc>
                <a:spcPct val="100000"/>
              </a:lnSpc>
              <a:spcBef>
                <a:spcPts val="0"/>
              </a:spcBef>
              <a:buNone/>
            </a:pPr>
            <a:r>
              <a:rPr lang="en-US" sz="2000" dirty="0"/>
              <a:t>            </a:t>
            </a:r>
            <a:r>
              <a:rPr lang="en-US" sz="2000" dirty="0" err="1"/>
              <a:t>arr</a:t>
            </a:r>
            <a:r>
              <a:rPr lang="en-US" sz="2000" dirty="0"/>
              <a:t>[i] = </a:t>
            </a:r>
            <a:r>
              <a:rPr lang="en-US" sz="2000" dirty="0" err="1"/>
              <a:t>smallerNumber</a:t>
            </a:r>
            <a:r>
              <a:rPr lang="en-US" sz="2000" dirty="0"/>
              <a:t>;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p>
          <a:p>
            <a:pPr marL="0" indent="0" algn="just">
              <a:lnSpc>
                <a:spcPct val="100000"/>
              </a:lnSpc>
              <a:spcBef>
                <a:spcPts val="0"/>
              </a:spcBef>
              <a:buNone/>
            </a:pPr>
            <a:r>
              <a:rPr lang="en-US" sz="2000" dirty="0"/>
              <a:t>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691086" y="4771384"/>
            <a:ext cx="5312229" cy="1584966"/>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Output:</a:t>
            </a:r>
          </a:p>
          <a:p>
            <a:pPr marL="0" indent="0">
              <a:buNone/>
            </a:pPr>
            <a:r>
              <a:rPr lang="en-US" sz="2000" dirty="0"/>
              <a:t>Before Selection Sort</a:t>
            </a:r>
          </a:p>
          <a:p>
            <a:pPr marL="0" indent="0">
              <a:buNone/>
            </a:pPr>
            <a:r>
              <a:rPr lang="en-US" sz="2000" dirty="0"/>
              <a:t>9 14 3 2 43 11 58 22 </a:t>
            </a:r>
          </a:p>
          <a:p>
            <a:pPr marL="0" indent="0">
              <a:buNone/>
            </a:pPr>
            <a:r>
              <a:rPr lang="en-US" sz="2000" dirty="0"/>
              <a:t>After Selection Sort</a:t>
            </a:r>
          </a:p>
          <a:p>
            <a:pPr marL="0" indent="0">
              <a:buNone/>
            </a:pPr>
            <a:r>
              <a:rPr lang="en-US" sz="2000" dirty="0"/>
              <a:t>2 3 9 11 14 22 43 58 </a:t>
            </a:r>
          </a:p>
        </p:txBody>
      </p:sp>
      <p:sp>
        <p:nvSpPr>
          <p:cNvPr id="10" name="Content Placeholder 2">
            <a:extLst>
              <a:ext uri="{FF2B5EF4-FFF2-40B4-BE49-F238E27FC236}">
                <a16:creationId xmlns="" xmlns:a16="http://schemas.microsoft.com/office/drawing/2014/main" id="{21309EEA-748E-1B4D-9BA2-2ADAA2FBB16C}"/>
              </a:ext>
            </a:extLst>
          </p:cNvPr>
          <p:cNvSpPr txBox="1">
            <a:spLocks/>
          </p:cNvSpPr>
          <p:nvPr/>
        </p:nvSpPr>
        <p:spPr>
          <a:xfrm>
            <a:off x="5791200" y="919622"/>
            <a:ext cx="6400800" cy="45087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n-US" sz="2000" dirty="0"/>
              <a:t> public static void main(String a[]){  </a:t>
            </a:r>
          </a:p>
          <a:p>
            <a:pPr marL="0" indent="0" algn="just">
              <a:lnSpc>
                <a:spcPct val="100000"/>
              </a:lnSpc>
              <a:spcBef>
                <a:spcPts val="0"/>
              </a:spcBef>
              <a:buNone/>
            </a:pPr>
            <a:r>
              <a:rPr lang="en-US" sz="2000" dirty="0"/>
              <a:t>        </a:t>
            </a:r>
            <a:r>
              <a:rPr lang="en-US" sz="2000" dirty="0" err="1"/>
              <a:t>int</a:t>
            </a:r>
            <a:r>
              <a:rPr lang="en-US" sz="2000" dirty="0"/>
              <a:t>[] </a:t>
            </a:r>
            <a:r>
              <a:rPr lang="en-US" sz="2000" dirty="0" err="1"/>
              <a:t>arr1</a:t>
            </a:r>
            <a:r>
              <a:rPr lang="en-US" sz="2000" dirty="0"/>
              <a:t> = {9,14,3,2,43,11,58,22};  </a:t>
            </a:r>
          </a:p>
          <a:p>
            <a:pPr marL="0" indent="0" algn="just">
              <a:lnSpc>
                <a:spcPct val="100000"/>
              </a:lnSpc>
              <a:spcBef>
                <a:spcPts val="0"/>
              </a:spcBef>
              <a:buNone/>
            </a:pPr>
            <a:r>
              <a:rPr lang="en-US" sz="2000" dirty="0"/>
              <a:t>        </a:t>
            </a:r>
            <a:r>
              <a:rPr lang="en-US" sz="2000" dirty="0" err="1"/>
              <a:t>System.out.println</a:t>
            </a:r>
            <a:r>
              <a:rPr lang="en-US" sz="2000" dirty="0"/>
              <a:t>("Before Selection Sort");  </a:t>
            </a:r>
          </a:p>
          <a:p>
            <a:pPr marL="0" indent="0" algn="just">
              <a:lnSpc>
                <a:spcPct val="100000"/>
              </a:lnSpc>
              <a:spcBef>
                <a:spcPts val="0"/>
              </a:spcBef>
              <a:buNone/>
            </a:pPr>
            <a:r>
              <a:rPr lang="en-US" sz="2000" dirty="0"/>
              <a:t>        for(</a:t>
            </a:r>
            <a:r>
              <a:rPr lang="en-US" sz="2000" dirty="0" err="1"/>
              <a:t>int</a:t>
            </a:r>
            <a:r>
              <a:rPr lang="en-US" sz="2000" dirty="0"/>
              <a:t> </a:t>
            </a:r>
            <a:r>
              <a:rPr lang="en-US" sz="2000" dirty="0" err="1"/>
              <a:t>i:arr1</a:t>
            </a:r>
            <a:r>
              <a:rPr lang="en-US" sz="2000" dirty="0"/>
              <a:t>){  </a:t>
            </a:r>
          </a:p>
          <a:p>
            <a:pPr marL="0" indent="0" algn="just">
              <a:lnSpc>
                <a:spcPct val="100000"/>
              </a:lnSpc>
              <a:spcBef>
                <a:spcPts val="0"/>
              </a:spcBef>
              <a:buNone/>
            </a:pPr>
            <a:r>
              <a:rPr lang="en-US" sz="2000" dirty="0"/>
              <a:t>            </a:t>
            </a:r>
            <a:r>
              <a:rPr lang="en-US" sz="2000" dirty="0" err="1"/>
              <a:t>System.out.print</a:t>
            </a:r>
            <a:r>
              <a:rPr lang="en-US" sz="2000" dirty="0"/>
              <a:t>(i+"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r>
              <a:rPr lang="en-US" sz="2000" dirty="0" err="1"/>
              <a:t>System.out.println</a:t>
            </a:r>
            <a:r>
              <a:rPr lang="en-US" sz="2000" dirty="0"/>
              <a:t>();  </a:t>
            </a:r>
            <a:r>
              <a:rPr lang="en-US" sz="2000" dirty="0" smtClean="0"/>
              <a:t>          </a:t>
            </a:r>
            <a:endParaRPr lang="en-US" sz="2000" dirty="0"/>
          </a:p>
          <a:p>
            <a:pPr marL="0" indent="0" algn="just">
              <a:lnSpc>
                <a:spcPct val="100000"/>
              </a:lnSpc>
              <a:spcBef>
                <a:spcPts val="0"/>
              </a:spcBef>
              <a:buNone/>
            </a:pPr>
            <a:r>
              <a:rPr lang="en-US" sz="2000" dirty="0"/>
              <a:t>        </a:t>
            </a:r>
            <a:r>
              <a:rPr lang="en-US" sz="2000" dirty="0" err="1"/>
              <a:t>selectionSort</a:t>
            </a:r>
            <a:r>
              <a:rPr lang="en-US" sz="2000" dirty="0"/>
              <a:t>(</a:t>
            </a:r>
            <a:r>
              <a:rPr lang="en-US" sz="2000" dirty="0" err="1"/>
              <a:t>arr1</a:t>
            </a:r>
            <a:r>
              <a:rPr lang="en-US" sz="2000" dirty="0"/>
              <a:t>);//sorting array using selection sort  </a:t>
            </a:r>
            <a:r>
              <a:rPr lang="en-US" sz="2000" dirty="0" smtClean="0"/>
              <a:t>         </a:t>
            </a:r>
            <a:endParaRPr lang="en-US" sz="2000" dirty="0"/>
          </a:p>
          <a:p>
            <a:pPr marL="0" indent="0" algn="just">
              <a:lnSpc>
                <a:spcPct val="100000"/>
              </a:lnSpc>
              <a:spcBef>
                <a:spcPts val="0"/>
              </a:spcBef>
              <a:buNone/>
            </a:pPr>
            <a:r>
              <a:rPr lang="en-US" sz="2000" dirty="0"/>
              <a:t>        </a:t>
            </a:r>
            <a:r>
              <a:rPr lang="en-US" sz="2000" dirty="0" err="1"/>
              <a:t>System.out.println</a:t>
            </a:r>
            <a:r>
              <a:rPr lang="en-US" sz="2000" dirty="0"/>
              <a:t>("After Selection Sort");  </a:t>
            </a:r>
          </a:p>
          <a:p>
            <a:pPr marL="0" indent="0" algn="just">
              <a:lnSpc>
                <a:spcPct val="100000"/>
              </a:lnSpc>
              <a:spcBef>
                <a:spcPts val="0"/>
              </a:spcBef>
              <a:buNone/>
            </a:pPr>
            <a:r>
              <a:rPr lang="en-US" sz="2000" dirty="0"/>
              <a:t>        for(</a:t>
            </a:r>
            <a:r>
              <a:rPr lang="en-US" sz="2000" dirty="0" err="1"/>
              <a:t>int</a:t>
            </a:r>
            <a:r>
              <a:rPr lang="en-US" sz="2000" dirty="0"/>
              <a:t> </a:t>
            </a:r>
            <a:r>
              <a:rPr lang="en-US" sz="2000" dirty="0" err="1"/>
              <a:t>i:arr1</a:t>
            </a:r>
            <a:r>
              <a:rPr lang="en-US" sz="2000" dirty="0"/>
              <a:t>){  </a:t>
            </a:r>
          </a:p>
          <a:p>
            <a:pPr marL="0" indent="0" algn="just">
              <a:lnSpc>
                <a:spcPct val="100000"/>
              </a:lnSpc>
              <a:spcBef>
                <a:spcPts val="0"/>
              </a:spcBef>
              <a:buNone/>
            </a:pPr>
            <a:r>
              <a:rPr lang="en-US" sz="2000" dirty="0"/>
              <a:t>            </a:t>
            </a:r>
            <a:r>
              <a:rPr lang="en-US" sz="2000" dirty="0" err="1"/>
              <a:t>System.out.print</a:t>
            </a:r>
            <a:r>
              <a:rPr lang="en-US" sz="2000" dirty="0"/>
              <a:t>(i+"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  </a:t>
            </a:r>
          </a:p>
          <a:p>
            <a:pPr marL="0" indent="0" algn="just">
              <a:lnSpc>
                <a:spcPct val="100000"/>
              </a:lnSpc>
              <a:spcBef>
                <a:spcPts val="0"/>
              </a:spcBef>
              <a:buNone/>
            </a:pPr>
            <a:r>
              <a:rPr lang="en-US" sz="2000" dirty="0"/>
              <a:t>} </a:t>
            </a:r>
            <a:endParaRPr lang="en-US" sz="1800" dirty="0" smtClean="0"/>
          </a:p>
        </p:txBody>
      </p:sp>
    </p:spTree>
    <p:extLst>
      <p:ext uri="{BB962C8B-B14F-4D97-AF65-F5344CB8AC3E}">
        <p14:creationId xmlns:p14="http://schemas.microsoft.com/office/powerpoint/2010/main" val="6128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lnSpcReduction="10000"/>
          </a:bodyPr>
          <a:lstStyle/>
          <a:p>
            <a:r>
              <a:rPr lang="en-US" dirty="0">
                <a:hlinkClick r:id="rId2"/>
              </a:rPr>
              <a:t>https://</a:t>
            </a:r>
            <a:r>
              <a:rPr lang="en-US" dirty="0" err="1" smtClean="0">
                <a:hlinkClick r:id="rId2"/>
              </a:rPr>
              <a:t>www.javatpoint.com</a:t>
            </a:r>
            <a:r>
              <a:rPr lang="en-US" dirty="0" smtClean="0">
                <a:hlinkClick r:id="rId2"/>
              </a:rPr>
              <a:t>/linear-search-in-java</a:t>
            </a:r>
            <a:endParaRPr lang="en-US" dirty="0" smtClean="0"/>
          </a:p>
          <a:p>
            <a:r>
              <a:rPr lang="en-US" dirty="0">
                <a:hlinkClick r:id="rId3"/>
              </a:rPr>
              <a:t>https://</a:t>
            </a:r>
            <a:r>
              <a:rPr lang="en-US" dirty="0" err="1">
                <a:hlinkClick r:id="rId3"/>
              </a:rPr>
              <a:t>www.geeksforgeeks.org</a:t>
            </a:r>
            <a:r>
              <a:rPr lang="en-US" dirty="0">
                <a:hlinkClick r:id="rId3"/>
              </a:rPr>
              <a:t>/java-program-for-linear-search/</a:t>
            </a:r>
            <a:endParaRPr lang="en-US" dirty="0" smtClean="0"/>
          </a:p>
          <a:p>
            <a:r>
              <a:rPr lang="en-US" dirty="0">
                <a:hlinkClick r:id="rId4"/>
              </a:rPr>
              <a:t>https://</a:t>
            </a:r>
            <a:r>
              <a:rPr lang="en-US" dirty="0" err="1" smtClean="0">
                <a:hlinkClick r:id="rId4"/>
              </a:rPr>
              <a:t>www.javatpoint.com</a:t>
            </a:r>
            <a:r>
              <a:rPr lang="en-US" dirty="0" smtClean="0">
                <a:hlinkClick r:id="rId4"/>
              </a:rPr>
              <a:t>/binary-search-in-java</a:t>
            </a:r>
            <a:endParaRPr lang="en-US" dirty="0" smtClean="0"/>
          </a:p>
          <a:p>
            <a:r>
              <a:rPr lang="en-US" dirty="0">
                <a:hlinkClick r:id="rId5"/>
              </a:rPr>
              <a:t>https://</a:t>
            </a:r>
            <a:r>
              <a:rPr lang="en-US" dirty="0" err="1">
                <a:hlinkClick r:id="rId5"/>
              </a:rPr>
              <a:t>www.geeksforgeeks.org</a:t>
            </a:r>
            <a:r>
              <a:rPr lang="en-US" dirty="0">
                <a:hlinkClick r:id="rId5"/>
              </a:rPr>
              <a:t>/binary-search-in-java</a:t>
            </a:r>
            <a:r>
              <a:rPr lang="en-US" dirty="0" smtClean="0">
                <a:hlinkClick r:id="rId5"/>
              </a:rPr>
              <a:t>/</a:t>
            </a:r>
            <a:endParaRPr lang="en-US" dirty="0" smtClean="0"/>
          </a:p>
          <a:p>
            <a:r>
              <a:rPr lang="en-US" dirty="0">
                <a:hlinkClick r:id="rId6"/>
              </a:rPr>
              <a:t>https://</a:t>
            </a:r>
            <a:r>
              <a:rPr lang="en-US" dirty="0" err="1">
                <a:hlinkClick r:id="rId6"/>
              </a:rPr>
              <a:t>stackabuse.com</a:t>
            </a:r>
            <a:r>
              <a:rPr lang="en-US" dirty="0">
                <a:hlinkClick r:id="rId6"/>
              </a:rPr>
              <a:t>/sorting-algorithms-in-java</a:t>
            </a:r>
            <a:r>
              <a:rPr lang="en-US" dirty="0" smtClean="0">
                <a:hlinkClick r:id="rId6"/>
              </a:rPr>
              <a:t>/</a:t>
            </a:r>
            <a:endParaRPr lang="en-US" dirty="0" smtClean="0"/>
          </a:p>
          <a:p>
            <a:r>
              <a:rPr lang="en-US" dirty="0">
                <a:hlinkClick r:id="rId7"/>
              </a:rPr>
              <a:t>https://</a:t>
            </a:r>
            <a:r>
              <a:rPr lang="en-US" dirty="0" err="1">
                <a:hlinkClick r:id="rId7"/>
              </a:rPr>
              <a:t>stackabuse.com</a:t>
            </a:r>
            <a:r>
              <a:rPr lang="en-US" dirty="0">
                <a:hlinkClick r:id="rId7"/>
              </a:rPr>
              <a:t>/search-algorithms-in-java</a:t>
            </a:r>
            <a:r>
              <a:rPr lang="en-US" dirty="0" smtClean="0">
                <a:hlinkClick r:id="rId7"/>
              </a:rPr>
              <a:t>/</a:t>
            </a:r>
            <a:endParaRPr lang="en-US" dirty="0" smtClean="0"/>
          </a:p>
          <a:p>
            <a:r>
              <a:rPr lang="en-US" dirty="0">
                <a:hlinkClick r:id="rId8"/>
              </a:rPr>
              <a:t>https://</a:t>
            </a:r>
            <a:r>
              <a:rPr lang="en-US" dirty="0" err="1">
                <a:hlinkClick r:id="rId8"/>
              </a:rPr>
              <a:t>www.geeksforgeeks.org</a:t>
            </a:r>
            <a:r>
              <a:rPr lang="en-US" dirty="0">
                <a:hlinkClick r:id="rId8"/>
              </a:rPr>
              <a:t>/sorting-algorithms</a:t>
            </a:r>
            <a:r>
              <a:rPr lang="en-US" dirty="0" smtClean="0">
                <a:hlinkClick r:id="rId8"/>
              </a:rPr>
              <a:t>/</a:t>
            </a:r>
            <a:endParaRPr lang="en-US" dirty="0" smtClean="0"/>
          </a:p>
          <a:p>
            <a:r>
              <a:rPr lang="en-US" dirty="0">
                <a:hlinkClick r:id="rId9"/>
              </a:rPr>
              <a:t>http://</a:t>
            </a:r>
            <a:r>
              <a:rPr lang="en-US" dirty="0" err="1" smtClean="0">
                <a:hlinkClick r:id="rId9"/>
              </a:rPr>
              <a:t>www.javawithus.com</a:t>
            </a:r>
            <a:r>
              <a:rPr lang="en-US" dirty="0" smtClean="0">
                <a:hlinkClick r:id="rId9"/>
              </a:rPr>
              <a:t>/tutorial/searching-and-sorting-arrays</a:t>
            </a:r>
            <a:endParaRPr lang="en-US" dirty="0" smtClean="0"/>
          </a:p>
          <a:p>
            <a:r>
              <a:rPr lang="en-US" dirty="0">
                <a:hlinkClick r:id="rId10"/>
              </a:rPr>
              <a:t>https://</a:t>
            </a:r>
            <a:r>
              <a:rPr lang="en-US" dirty="0" err="1">
                <a:hlinkClick r:id="rId10"/>
              </a:rPr>
              <a:t>www.geeksforgeeks.org</a:t>
            </a:r>
            <a:r>
              <a:rPr lang="en-US" dirty="0">
                <a:hlinkClick r:id="rId10"/>
              </a:rPr>
              <a:t>/bubble-sort</a:t>
            </a:r>
            <a:r>
              <a:rPr lang="en-US" dirty="0" smtClean="0">
                <a:hlinkClick r:id="rId10"/>
              </a:rPr>
              <a:t>/</a:t>
            </a:r>
            <a:endParaRPr lang="en-US" dirty="0" smtClean="0"/>
          </a:p>
          <a:p>
            <a:r>
              <a:rPr lang="en-US" dirty="0">
                <a:hlinkClick r:id="rId11"/>
              </a:rPr>
              <a:t>https://</a:t>
            </a:r>
            <a:r>
              <a:rPr lang="en-US" dirty="0" err="1">
                <a:hlinkClick r:id="rId11"/>
              </a:rPr>
              <a:t>www.geeksforgeeks.org</a:t>
            </a:r>
            <a:r>
              <a:rPr lang="en-US" dirty="0">
                <a:hlinkClick r:id="rId11"/>
              </a:rPr>
              <a:t>/selection-sort</a:t>
            </a:r>
            <a:r>
              <a:rPr lang="en-US" dirty="0" smtClean="0">
                <a:hlinkClick r:id="rId11"/>
              </a:rPr>
              <a:t>/</a:t>
            </a:r>
            <a:endParaRPr lang="en-US" dirty="0" smtClean="0"/>
          </a:p>
          <a:p>
            <a:r>
              <a:rPr lang="en-US" dirty="0">
                <a:hlinkClick r:id="rId12"/>
              </a:rPr>
              <a:t>https://</a:t>
            </a:r>
            <a:r>
              <a:rPr lang="en-US" dirty="0" err="1">
                <a:hlinkClick r:id="rId12"/>
              </a:rPr>
              <a:t>www.geeksforgeeks.org</a:t>
            </a:r>
            <a:r>
              <a:rPr lang="en-US" dirty="0">
                <a:hlinkClick r:id="rId12"/>
              </a:rPr>
              <a:t>/insertion-sort/</a:t>
            </a:r>
            <a:endParaRPr lang="en-US" dirty="0" smtClean="0"/>
          </a:p>
          <a:p>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24</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8220</TotalTime>
  <Words>2366</Words>
  <Application>Microsoft Office PowerPoint</Application>
  <PresentationFormat>Custom</PresentationFormat>
  <Paragraphs>356</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VTCA-SlideTheme</vt:lpstr>
      <vt:lpstr>Introduction to Programming</vt:lpstr>
      <vt:lpstr>Objectives</vt:lpstr>
      <vt:lpstr>Introduction to searching</vt:lpstr>
      <vt:lpstr>Linear search</vt:lpstr>
      <vt:lpstr>Linear search</vt:lpstr>
      <vt:lpstr>Linear search</vt:lpstr>
      <vt:lpstr>Linear search</vt:lpstr>
      <vt:lpstr>Binary search</vt:lpstr>
      <vt:lpstr>Binary search</vt:lpstr>
      <vt:lpstr>Binary search</vt:lpstr>
      <vt:lpstr>Binary search</vt:lpstr>
      <vt:lpstr>Binary search example using Recursion</vt:lpstr>
      <vt:lpstr>Binary search example using Arrays.binarySearch()</vt:lpstr>
      <vt:lpstr>Introduction to sorting</vt:lpstr>
      <vt:lpstr>Bubble sort </vt:lpstr>
      <vt:lpstr>Bubble sort </vt:lpstr>
      <vt:lpstr>Bubble sort example</vt:lpstr>
      <vt:lpstr>Insertion sort </vt:lpstr>
      <vt:lpstr>Insertion sort </vt:lpstr>
      <vt:lpstr>Bubble sort example</vt:lpstr>
      <vt:lpstr>Selection sort </vt:lpstr>
      <vt:lpstr>Selection sort </vt:lpstr>
      <vt:lpstr>Selection sort example</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777</cp:revision>
  <dcterms:created xsi:type="dcterms:W3CDTF">2019-05-17T12:57:33Z</dcterms:created>
  <dcterms:modified xsi:type="dcterms:W3CDTF">2019-11-23T08:01:29Z</dcterms:modified>
</cp:coreProperties>
</file>