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27"/>
  </p:notesMasterIdLst>
  <p:sldIdLst>
    <p:sldId id="282" r:id="rId2"/>
    <p:sldId id="285" r:id="rId3"/>
    <p:sldId id="297" r:id="rId4"/>
    <p:sldId id="395" r:id="rId5"/>
    <p:sldId id="396" r:id="rId6"/>
    <p:sldId id="372" r:id="rId7"/>
    <p:sldId id="397" r:id="rId8"/>
    <p:sldId id="399" r:id="rId9"/>
    <p:sldId id="394" r:id="rId10"/>
    <p:sldId id="400" r:id="rId11"/>
    <p:sldId id="401" r:id="rId12"/>
    <p:sldId id="402" r:id="rId13"/>
    <p:sldId id="406" r:id="rId14"/>
    <p:sldId id="403" r:id="rId15"/>
    <p:sldId id="404" r:id="rId16"/>
    <p:sldId id="405" r:id="rId17"/>
    <p:sldId id="407" r:id="rId18"/>
    <p:sldId id="410" r:id="rId19"/>
    <p:sldId id="408" r:id="rId20"/>
    <p:sldId id="411" r:id="rId21"/>
    <p:sldId id="409" r:id="rId22"/>
    <p:sldId id="412" r:id="rId23"/>
    <p:sldId id="413" r:id="rId24"/>
    <p:sldId id="294" r:id="rId25"/>
    <p:sldId id="26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2514" autoAdjust="0"/>
  </p:normalViewPr>
  <p:slideViewPr>
    <p:cSldViewPr snapToGrid="0" snapToObjects="1">
      <p:cViewPr>
        <p:scale>
          <a:sx n="60" d="100"/>
          <a:sy n="60" d="100"/>
        </p:scale>
        <p:origin x="-1008" y="-17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26/03/2020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xmlns=""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xmlns=""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xmlns=""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xmlns=""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xmlns=""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xmlns=""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xmlns=""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xmlns=""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xmlns=""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xmlns=""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xmlns=""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xmlns=""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tpoint.com/java-8-stream" TargetMode="External"/><Relationship Id="rId2" Type="http://schemas.openxmlformats.org/officeDocument/2006/relationships/hyperlink" Target="https://www.javatpoint.com/java-filedescriptor-clas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javatpoint.com/array-in-jav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javatpoint.com/array-in-jav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geeksforgeeks.org/file-class-in-java/" TargetMode="External"/><Relationship Id="rId3" Type="http://schemas.openxmlformats.org/officeDocument/2006/relationships/hyperlink" Target="https://www.javatpoint.com/java-fileinputstream-class" TargetMode="External"/><Relationship Id="rId7" Type="http://schemas.openxmlformats.org/officeDocument/2006/relationships/hyperlink" Target="https://docs.oracle.com/javase/7/docs/api/java/io/File.html" TargetMode="External"/><Relationship Id="rId2" Type="http://schemas.openxmlformats.org/officeDocument/2006/relationships/hyperlink" Target="https://www.tutorialspoint.com/java/java_files_io.htm" TargetMode="External"/><Relationship Id="rId1" Type="http://schemas.openxmlformats.org/officeDocument/2006/relationships/slideLayout" Target="../slideLayouts/slideLayout2.xml"/><Relationship Id="rId6" Type="http://schemas.openxmlformats.org/officeDocument/2006/relationships/hyperlink" Target="https://stackabuse.com/reading-and-writing-files-in-java/" TargetMode="External"/><Relationship Id="rId11" Type="http://schemas.openxmlformats.org/officeDocument/2006/relationships/hyperlink" Target="https://www.javatpoint.com/serialization-in-java" TargetMode="External"/><Relationship Id="rId5" Type="http://schemas.openxmlformats.org/officeDocument/2006/relationships/hyperlink" Target="https://caveofprogramming.com/java/java-file-reading-and-writing-files-in-java.html" TargetMode="External"/><Relationship Id="rId10" Type="http://schemas.openxmlformats.org/officeDocument/2006/relationships/hyperlink" Target="https://www.javatpoint.com/java-io" TargetMode="External"/><Relationship Id="rId4" Type="http://schemas.openxmlformats.org/officeDocument/2006/relationships/hyperlink" Target="https://docs.oracle.com/javase/tutorial/essential/io/file.html" TargetMode="External"/><Relationship Id="rId9" Type="http://schemas.openxmlformats.org/officeDocument/2006/relationships/hyperlink" Target="https://www.javatpoint.com/java-file-class"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xmlns="" id="{DA0CEDCB-5CE2-1B41-9D8B-CA0EB9D3BBD7}"/>
              </a:ext>
            </a:extLst>
          </p:cNvPr>
          <p:cNvSpPr>
            <a:spLocks noGrp="1"/>
          </p:cNvSpPr>
          <p:nvPr>
            <p:ph type="subTitle" idx="1"/>
          </p:nvPr>
        </p:nvSpPr>
        <p:spPr/>
        <p:txBody>
          <a:bodyPr>
            <a:normAutofit/>
          </a:bodyPr>
          <a:lstStyle/>
          <a:p>
            <a:r>
              <a:rPr lang="en-US" sz="3600" dirty="0"/>
              <a:t>Session </a:t>
            </a:r>
            <a:r>
              <a:rPr lang="en-US" sz="3600" dirty="0" smtClean="0"/>
              <a:t>12</a:t>
            </a:r>
          </a:p>
          <a:p>
            <a:r>
              <a:rPr lang="en-US" sz="3600" dirty="0" smtClean="0"/>
              <a:t>File IO in Java</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lnSpcReduction="10000"/>
          </a:bodyPr>
          <a:lstStyle/>
          <a:p>
            <a:r>
              <a:rPr lang="en-US" sz="3200" dirty="0" smtClean="0"/>
              <a:t>Introduction</a:t>
            </a:r>
          </a:p>
          <a:p>
            <a:r>
              <a:rPr lang="en-US" sz="3200" dirty="0"/>
              <a:t>Reading and Writing </a:t>
            </a:r>
            <a:r>
              <a:rPr lang="en-US" sz="3200" dirty="0" smtClean="0"/>
              <a:t>Files</a:t>
            </a:r>
          </a:p>
          <a:p>
            <a:r>
              <a:rPr lang="en-US" sz="3200" dirty="0" smtClean="0"/>
              <a:t>I/O Stream: </a:t>
            </a:r>
          </a:p>
          <a:p>
            <a:pPr lvl="1"/>
            <a:r>
              <a:rPr lang="en-US" sz="2400" dirty="0" smtClean="0"/>
              <a:t>Character Streams</a:t>
            </a:r>
          </a:p>
          <a:p>
            <a:pPr lvl="1"/>
            <a:r>
              <a:rPr lang="en-US" dirty="0" smtClean="0"/>
              <a:t>Byte Streams</a:t>
            </a:r>
          </a:p>
          <a:p>
            <a:pPr algn="just" fontAlgn="base"/>
            <a:r>
              <a:rPr lang="en-US" sz="3200" dirty="0" smtClean="0"/>
              <a:t>File I/O:</a:t>
            </a:r>
          </a:p>
          <a:p>
            <a:pPr lvl="1" algn="just" fontAlgn="base"/>
            <a:r>
              <a:rPr lang="en-US" dirty="0" smtClean="0"/>
              <a:t>Java </a:t>
            </a:r>
            <a:r>
              <a:rPr lang="en-US" dirty="0" err="1"/>
              <a:t>FileInputStream</a:t>
            </a:r>
            <a:r>
              <a:rPr lang="en-US" dirty="0"/>
              <a:t> &amp; </a:t>
            </a:r>
            <a:r>
              <a:rPr lang="en-US" dirty="0" err="1"/>
              <a:t>FileOutputStream</a:t>
            </a:r>
            <a:r>
              <a:rPr lang="en-US" dirty="0"/>
              <a:t> class</a:t>
            </a:r>
          </a:p>
          <a:p>
            <a:pPr lvl="1" algn="just" fontAlgn="base"/>
            <a:r>
              <a:rPr lang="en-US" dirty="0"/>
              <a:t>Java </a:t>
            </a:r>
            <a:r>
              <a:rPr lang="en-US" dirty="0" err="1"/>
              <a:t>BufferedInputStream</a:t>
            </a:r>
            <a:r>
              <a:rPr lang="en-US" dirty="0"/>
              <a:t> &amp; </a:t>
            </a:r>
            <a:r>
              <a:rPr lang="en-US" dirty="0" err="1"/>
              <a:t>BufferedOutputStream</a:t>
            </a:r>
            <a:r>
              <a:rPr lang="en-US" dirty="0"/>
              <a:t> Class</a:t>
            </a:r>
          </a:p>
          <a:p>
            <a:pPr algn="just" fontAlgn="base"/>
            <a:r>
              <a:rPr lang="en-US" sz="3200" dirty="0"/>
              <a:t>Serialization and </a:t>
            </a:r>
            <a:r>
              <a:rPr lang="en-US" sz="3200" dirty="0" smtClean="0"/>
              <a:t>Deserialization:</a:t>
            </a:r>
          </a:p>
          <a:p>
            <a:pPr lvl="1" algn="just" fontAlgn="base"/>
            <a:r>
              <a:rPr lang="en-US" dirty="0" err="1" smtClean="0"/>
              <a:t>ObjectOutputStream</a:t>
            </a:r>
            <a:r>
              <a:rPr lang="en-US" dirty="0" smtClean="0"/>
              <a:t> </a:t>
            </a:r>
          </a:p>
          <a:p>
            <a:pPr lvl="1" algn="just" fontAlgn="base"/>
            <a:r>
              <a:rPr lang="en-US" dirty="0" err="1" smtClean="0"/>
              <a:t>ObjectInputStream</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Introduction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When programming, whether you're creating a mobile app, a web application, or just writing scripts, you often have the need to read or write data to a file in your application. This data could be cache data, data you retrieved for a dataset, an image, or just about anything else you can think of</a:t>
            </a:r>
            <a:r>
              <a:rPr lang="en-US" sz="3200" dirty="0" smtClean="0"/>
              <a:t>.</a:t>
            </a:r>
            <a:endParaRPr lang="en-US" sz="3200" dirty="0"/>
          </a:p>
          <a:p>
            <a:pPr algn="just" fontAlgn="base"/>
            <a:r>
              <a:rPr lang="en-US" sz="3200" dirty="0"/>
              <a:t>Java provides several API (also known as Java I/O) to read and write files since its initial releases. With subsequent releases, Java I/O has been improved, simplified and enhanced to support new features</a:t>
            </a:r>
            <a:r>
              <a:rPr lang="en-US" sz="3200" dirty="0" smtClean="0"/>
              <a:t>.</a:t>
            </a:r>
          </a:p>
          <a:p>
            <a:pPr algn="just" fontAlgn="base"/>
            <a:r>
              <a:rPr lang="en-US" sz="3200" dirty="0"/>
              <a:t>In this tutorial, we are going to show the most common ways you can read and write to files in Java</a:t>
            </a:r>
            <a:r>
              <a:rPr lang="en-US" sz="3200" dirty="0" smtClean="0"/>
              <a:t>.</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Reading and Writing Files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3444952" cy="5282293"/>
          </a:xfrm>
        </p:spPr>
        <p:txBody>
          <a:bodyPr>
            <a:normAutofit/>
          </a:bodyPr>
          <a:lstStyle/>
          <a:p>
            <a:pPr fontAlgn="base"/>
            <a:r>
              <a:rPr lang="en-US" sz="3200" dirty="0"/>
              <a:t>The </a:t>
            </a:r>
            <a:r>
              <a:rPr lang="en-US" sz="3200" dirty="0" err="1"/>
              <a:t>InputStream</a:t>
            </a:r>
            <a:r>
              <a:rPr lang="en-US" sz="3200" dirty="0"/>
              <a:t> is used to read data from a source and the </a:t>
            </a:r>
            <a:r>
              <a:rPr lang="en-US" sz="3200" dirty="0" err="1"/>
              <a:t>OutputStream</a:t>
            </a:r>
            <a:r>
              <a:rPr lang="en-US" sz="3200" dirty="0"/>
              <a:t> is used for writing data to a destination.</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074056"/>
            <a:ext cx="7620000" cy="5282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847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I/O Streams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600" dirty="0"/>
              <a:t>There are two types of Streams you can use to interact with files:</a:t>
            </a:r>
          </a:p>
          <a:p>
            <a:pPr lvl="1" algn="just" fontAlgn="base"/>
            <a:r>
              <a:rPr lang="en-US" sz="2800" dirty="0" smtClean="0"/>
              <a:t>Character </a:t>
            </a:r>
            <a:r>
              <a:rPr lang="en-US" sz="2800" dirty="0"/>
              <a:t>Streams</a:t>
            </a:r>
          </a:p>
          <a:p>
            <a:pPr lvl="1" algn="just" fontAlgn="base"/>
            <a:r>
              <a:rPr lang="en-US" sz="2800" dirty="0"/>
              <a:t>Byte Streams</a:t>
            </a:r>
          </a:p>
          <a:p>
            <a:pPr algn="just" fontAlgn="base"/>
            <a:r>
              <a:rPr lang="en-US" sz="3600" dirty="0"/>
              <a:t>For each of the above stream types, there are several supporting classes shipped with </a:t>
            </a:r>
            <a:r>
              <a:rPr lang="en-US" sz="3600" dirty="0" smtClean="0"/>
              <a:t>Java.</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Tree>
    <p:extLst>
      <p:ext uri="{BB962C8B-B14F-4D97-AF65-F5344CB8AC3E}">
        <p14:creationId xmlns:p14="http://schemas.microsoft.com/office/powerpoint/2010/main" val="304657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Character Streams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85000" lnSpcReduction="20000"/>
          </a:bodyPr>
          <a:lstStyle/>
          <a:p>
            <a:pPr algn="just" fontAlgn="base"/>
            <a:r>
              <a:rPr lang="en-US" sz="3200" dirty="0" smtClean="0"/>
              <a:t>Character </a:t>
            </a:r>
            <a:r>
              <a:rPr lang="en-US" sz="3200" dirty="0"/>
              <a:t>Streams are used to read or write the characters data type</a:t>
            </a:r>
            <a:r>
              <a:rPr lang="en-US" sz="3200" dirty="0" smtClean="0"/>
              <a:t>. </a:t>
            </a:r>
            <a:r>
              <a:rPr lang="en-US" sz="3200" dirty="0"/>
              <a:t>All of these classes are defined under </a:t>
            </a:r>
            <a:r>
              <a:rPr lang="en-US" sz="3200" dirty="0" err="1"/>
              <a:t>java.io</a:t>
            </a:r>
            <a:r>
              <a:rPr lang="en-US" sz="3200" dirty="0"/>
              <a:t> package</a:t>
            </a:r>
            <a:r>
              <a:rPr lang="en-US" sz="3200" dirty="0" smtClean="0"/>
              <a:t>.</a:t>
            </a:r>
            <a:endParaRPr lang="en-US" sz="3200" dirty="0"/>
          </a:p>
          <a:p>
            <a:pPr algn="just" fontAlgn="base"/>
            <a:r>
              <a:rPr lang="en-US" sz="3200" dirty="0" smtClean="0"/>
              <a:t>Some classes </a:t>
            </a:r>
            <a:r>
              <a:rPr lang="en-US" sz="3200" dirty="0"/>
              <a:t>you should know that can be used to read character data</a:t>
            </a:r>
            <a:r>
              <a:rPr lang="en-US" sz="3200" dirty="0" smtClean="0"/>
              <a:t>:</a:t>
            </a:r>
            <a:endParaRPr lang="en-US" sz="3200" dirty="0"/>
          </a:p>
          <a:p>
            <a:pPr lvl="1" algn="just" fontAlgn="base"/>
            <a:r>
              <a:rPr lang="en-US" dirty="0"/>
              <a:t>Reader: An abstract class to read a character stream.</a:t>
            </a:r>
          </a:p>
          <a:p>
            <a:pPr lvl="1" algn="just" fontAlgn="base"/>
            <a:r>
              <a:rPr lang="en-US" dirty="0" err="1"/>
              <a:t>InputStreamReader</a:t>
            </a:r>
            <a:r>
              <a:rPr lang="en-US" dirty="0"/>
              <a:t>: Class used to read the byte stream and converts to character stream.</a:t>
            </a:r>
          </a:p>
          <a:p>
            <a:pPr lvl="1" algn="just" fontAlgn="base"/>
            <a:r>
              <a:rPr lang="en-US" dirty="0" err="1"/>
              <a:t>FileReader</a:t>
            </a:r>
            <a:r>
              <a:rPr lang="en-US" dirty="0"/>
              <a:t>: A class to read the characters from a file.</a:t>
            </a:r>
          </a:p>
          <a:p>
            <a:pPr lvl="1" algn="just" fontAlgn="base"/>
            <a:r>
              <a:rPr lang="en-US" dirty="0" err="1"/>
              <a:t>BufferedReader</a:t>
            </a:r>
            <a:r>
              <a:rPr lang="en-US" dirty="0"/>
              <a:t>: This is a wrapper over the Reader class that supports buffering capabilities. In many cases this is most preferable class to read data because more data can been read from the file in one read() call, reducing the number of actual I/O operations with file system.</a:t>
            </a:r>
          </a:p>
          <a:p>
            <a:pPr algn="just" fontAlgn="base"/>
            <a:r>
              <a:rPr lang="en-US" sz="3200" dirty="0" smtClean="0"/>
              <a:t>Some </a:t>
            </a:r>
            <a:r>
              <a:rPr lang="en-US" sz="3200" dirty="0"/>
              <a:t>classes you can use to write character data to a file</a:t>
            </a:r>
            <a:r>
              <a:rPr lang="en-US" sz="3200" dirty="0" smtClean="0"/>
              <a:t>:</a:t>
            </a:r>
            <a:endParaRPr lang="en-US" sz="3200" dirty="0"/>
          </a:p>
          <a:p>
            <a:pPr lvl="1" algn="just" fontAlgn="base"/>
            <a:r>
              <a:rPr lang="en-US" dirty="0"/>
              <a:t>Writer: This is an abstract class to write the character streams.</a:t>
            </a:r>
          </a:p>
          <a:p>
            <a:pPr lvl="1" algn="just" fontAlgn="base"/>
            <a:r>
              <a:rPr lang="en-US" dirty="0" err="1"/>
              <a:t>OutputStreamWriter</a:t>
            </a:r>
            <a:r>
              <a:rPr lang="en-US" dirty="0"/>
              <a:t>: This class is used to write character streams and also convert them to byte streams.</a:t>
            </a:r>
          </a:p>
          <a:p>
            <a:pPr lvl="1" algn="just" fontAlgn="base"/>
            <a:r>
              <a:rPr lang="en-US" dirty="0" err="1"/>
              <a:t>FileWriter</a:t>
            </a:r>
            <a:r>
              <a:rPr lang="en-US" dirty="0"/>
              <a:t>: A class to actually write characters to the file.</a:t>
            </a:r>
          </a:p>
          <a:p>
            <a:pPr lvl="1" algn="just" fontAlgn="base"/>
            <a:r>
              <a:rPr lang="en-US" dirty="0" err="1"/>
              <a:t>BufferedWriter</a:t>
            </a:r>
            <a:r>
              <a:rPr lang="en-US" dirty="0"/>
              <a:t>: This is a wrapper over the Writer class, which also supports buffering capabilities. This is most preferable class to write data to a file since more data can be written to the file in one write() call. And like the </a:t>
            </a:r>
            <a:r>
              <a:rPr lang="en-US" dirty="0" err="1"/>
              <a:t>BufferedReader</a:t>
            </a:r>
            <a:r>
              <a:rPr lang="en-US" dirty="0"/>
              <a:t>, this reduces the number of total I/O operations with file system.</a:t>
            </a:r>
            <a:endParaRPr lang="en-US" sz="2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Tree>
    <p:extLst>
      <p:ext uri="{BB962C8B-B14F-4D97-AF65-F5344CB8AC3E}">
        <p14:creationId xmlns:p14="http://schemas.microsoft.com/office/powerpoint/2010/main" val="298012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Byte Streams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85000" lnSpcReduction="10000"/>
          </a:bodyPr>
          <a:lstStyle/>
          <a:p>
            <a:pPr algn="just" fontAlgn="base"/>
            <a:r>
              <a:rPr lang="en-US" sz="3200" dirty="0"/>
              <a:t>Byte Streams are used to read or write byte data with files. This is different from before in the way they treat the data. Here you work with raw bytes, which could be characters, image data, </a:t>
            </a:r>
            <a:r>
              <a:rPr lang="en-US" sz="3200" dirty="0" err="1"/>
              <a:t>unicode</a:t>
            </a:r>
            <a:r>
              <a:rPr lang="en-US" sz="3200" dirty="0"/>
              <a:t> data (which takes 2 bytes to represent a character), etc</a:t>
            </a:r>
            <a:r>
              <a:rPr lang="en-US" sz="3200" dirty="0" smtClean="0"/>
              <a:t>. All </a:t>
            </a:r>
            <a:r>
              <a:rPr lang="en-US" sz="3200" dirty="0"/>
              <a:t>of these classes are defined under </a:t>
            </a:r>
            <a:r>
              <a:rPr lang="en-US" sz="3200" dirty="0" err="1"/>
              <a:t>java.io</a:t>
            </a:r>
            <a:r>
              <a:rPr lang="en-US" sz="3200" dirty="0"/>
              <a:t> </a:t>
            </a:r>
            <a:r>
              <a:rPr lang="en-US" sz="3200" dirty="0" smtClean="0"/>
              <a:t>package.</a:t>
            </a:r>
          </a:p>
          <a:p>
            <a:pPr algn="just" fontAlgn="base"/>
            <a:r>
              <a:rPr lang="en-US" sz="3200" dirty="0"/>
              <a:t>T</a:t>
            </a:r>
            <a:r>
              <a:rPr lang="en-US" sz="3200" dirty="0" smtClean="0"/>
              <a:t>he </a:t>
            </a:r>
            <a:r>
              <a:rPr lang="en-US" sz="3200" dirty="0"/>
              <a:t>classes used to read the byte data</a:t>
            </a:r>
            <a:r>
              <a:rPr lang="en-US" sz="3200" dirty="0" smtClean="0"/>
              <a:t>:</a:t>
            </a:r>
          </a:p>
          <a:p>
            <a:pPr lvl="1" algn="just" fontAlgn="base"/>
            <a:r>
              <a:rPr lang="en-US" dirty="0" err="1" smtClean="0"/>
              <a:t>InputStream</a:t>
            </a:r>
            <a:r>
              <a:rPr lang="en-US" dirty="0"/>
              <a:t>: An abstract class to read the byte streams.</a:t>
            </a:r>
          </a:p>
          <a:p>
            <a:pPr lvl="1" algn="just" fontAlgn="base"/>
            <a:r>
              <a:rPr lang="en-US" dirty="0" err="1"/>
              <a:t>FileInputStream</a:t>
            </a:r>
            <a:r>
              <a:rPr lang="en-US" dirty="0"/>
              <a:t>: A class to simply read bytes from a file.</a:t>
            </a:r>
          </a:p>
          <a:p>
            <a:pPr lvl="1" algn="just" fontAlgn="base"/>
            <a:r>
              <a:rPr lang="en-US" dirty="0" err="1"/>
              <a:t>BufferedInputStream</a:t>
            </a:r>
            <a:r>
              <a:rPr lang="en-US" dirty="0"/>
              <a:t>: This is a wrapper over </a:t>
            </a:r>
            <a:r>
              <a:rPr lang="en-US" dirty="0" err="1"/>
              <a:t>InputStream</a:t>
            </a:r>
            <a:r>
              <a:rPr lang="en-US" dirty="0"/>
              <a:t> that supports buffering capabilities. As we saw in the character streams, this is a more efficient method than </a:t>
            </a:r>
            <a:r>
              <a:rPr lang="en-US" dirty="0" err="1"/>
              <a:t>FileInputStream</a:t>
            </a:r>
            <a:r>
              <a:rPr lang="en-US" dirty="0"/>
              <a:t>.</a:t>
            </a:r>
          </a:p>
          <a:p>
            <a:pPr algn="just" fontAlgn="base"/>
            <a:r>
              <a:rPr lang="en-US" sz="3200" dirty="0" smtClean="0"/>
              <a:t>The </a:t>
            </a:r>
            <a:r>
              <a:rPr lang="en-US" sz="3200" dirty="0"/>
              <a:t>classes used to write the byte data</a:t>
            </a:r>
            <a:r>
              <a:rPr lang="en-US" sz="3200" dirty="0" smtClean="0"/>
              <a:t>:</a:t>
            </a:r>
            <a:endParaRPr lang="en-US" sz="3200" dirty="0"/>
          </a:p>
          <a:p>
            <a:pPr lvl="1" algn="just" fontAlgn="base"/>
            <a:r>
              <a:rPr lang="en-US" dirty="0" err="1"/>
              <a:t>OutputStream</a:t>
            </a:r>
            <a:r>
              <a:rPr lang="en-US" dirty="0"/>
              <a:t>: An abstract class to write byte streams.</a:t>
            </a:r>
          </a:p>
          <a:p>
            <a:pPr lvl="1" algn="just" fontAlgn="base"/>
            <a:r>
              <a:rPr lang="en-US" dirty="0" err="1"/>
              <a:t>FileOutputStream</a:t>
            </a:r>
            <a:r>
              <a:rPr lang="en-US" dirty="0"/>
              <a:t>: A class to write raw bytes to the file.</a:t>
            </a:r>
          </a:p>
          <a:p>
            <a:pPr lvl="1" algn="just" fontAlgn="base"/>
            <a:r>
              <a:rPr lang="en-US" dirty="0" err="1"/>
              <a:t>ByteOutputStream</a:t>
            </a:r>
            <a:r>
              <a:rPr lang="en-US" dirty="0"/>
              <a:t>: This class is a wrapper over </a:t>
            </a:r>
            <a:r>
              <a:rPr lang="en-US" dirty="0" err="1"/>
              <a:t>OutputStream</a:t>
            </a:r>
            <a:r>
              <a:rPr lang="en-US" dirty="0"/>
              <a:t> to support buffering capabilities. And again, as we saw in the character streams, this is a more efficient method than </a:t>
            </a:r>
            <a:r>
              <a:rPr lang="en-US" dirty="0" err="1"/>
              <a:t>FileOutputStream</a:t>
            </a:r>
            <a:r>
              <a:rPr lang="en-US" dirty="0"/>
              <a:t> thanks to the buffering.</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Tree>
    <p:extLst>
      <p:ext uri="{BB962C8B-B14F-4D97-AF65-F5344CB8AC3E}">
        <p14:creationId xmlns:p14="http://schemas.microsoft.com/office/powerpoint/2010/main" val="103528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Java </a:t>
            </a:r>
            <a:r>
              <a:rPr lang="en-US" sz="3200" dirty="0" err="1" smtClean="0"/>
              <a:t>FileInputStream</a:t>
            </a:r>
            <a:r>
              <a:rPr lang="en-US" sz="3200" dirty="0" smtClean="0"/>
              <a:t> class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8"/>
            <a:ext cx="10515600" cy="1795266"/>
          </a:xfrm>
        </p:spPr>
        <p:txBody>
          <a:bodyPr>
            <a:normAutofit fontScale="77500" lnSpcReduction="20000"/>
          </a:bodyPr>
          <a:lstStyle/>
          <a:p>
            <a:pPr algn="just" fontAlgn="base"/>
            <a:r>
              <a:rPr lang="en-US" sz="3200" dirty="0"/>
              <a:t>Java </a:t>
            </a:r>
            <a:r>
              <a:rPr lang="en-US" sz="3200" dirty="0" err="1"/>
              <a:t>FileInputStream</a:t>
            </a:r>
            <a:r>
              <a:rPr lang="en-US" sz="3200" dirty="0"/>
              <a:t> class obtains input bytes from a file. It is used for reading byte-oriented data (streams of raw bytes) such as image data, audio, video etc. You can also read character-stream data. But, for reading streams of characters, it is recommended to use </a:t>
            </a:r>
            <a:r>
              <a:rPr lang="en-US" sz="3200" dirty="0" err="1"/>
              <a:t>FileReader</a:t>
            </a:r>
            <a:r>
              <a:rPr lang="en-US" sz="3200" dirty="0"/>
              <a:t> class.</a:t>
            </a:r>
          </a:p>
          <a:p>
            <a:pPr algn="just" fontAlgn="base"/>
            <a:r>
              <a:rPr lang="en-US" sz="3200" dirty="0"/>
              <a:t>Java </a:t>
            </a:r>
            <a:r>
              <a:rPr lang="en-US" sz="3200" dirty="0" err="1"/>
              <a:t>FileInputStream</a:t>
            </a:r>
            <a:r>
              <a:rPr lang="en-US" sz="3200" dirty="0"/>
              <a:t> class methods</a:t>
            </a:r>
          </a:p>
          <a:p>
            <a:pPr algn="just" fontAlgn="base"/>
            <a:endParaRPr lang="en-US" sz="3200" dirty="0"/>
          </a:p>
          <a:p>
            <a:pPr algn="just" fontAlgn="base"/>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196274974"/>
              </p:ext>
            </p:extLst>
          </p:nvPr>
        </p:nvGraphicFramePr>
        <p:xfrm>
          <a:off x="1151977" y="2774728"/>
          <a:ext cx="10782519" cy="4046826"/>
        </p:xfrm>
        <a:graphic>
          <a:graphicData uri="http://schemas.openxmlformats.org/drawingml/2006/table">
            <a:tbl>
              <a:tblPr>
                <a:tableStyleId>{5C22544A-7EE6-4342-B048-85BDC9FD1C3A}</a:tableStyleId>
              </a:tblPr>
              <a:tblGrid>
                <a:gridCol w="3464726"/>
                <a:gridCol w="7317793"/>
              </a:tblGrid>
              <a:tr h="270951">
                <a:tc>
                  <a:txBody>
                    <a:bodyPr/>
                    <a:lstStyle/>
                    <a:p>
                      <a:pPr algn="l" fontAlgn="t"/>
                      <a:r>
                        <a:rPr lang="en-US" sz="1800" b="1" u="none" strike="noStrike" dirty="0">
                          <a:effectLst/>
                        </a:rPr>
                        <a:t>Method</a:t>
                      </a:r>
                      <a:endParaRPr lang="en-US" sz="1800" b="1" i="0" u="none" strike="noStrike" dirty="0">
                        <a:solidFill>
                          <a:srgbClr val="000000"/>
                        </a:solidFill>
                        <a:effectLst/>
                        <a:latin typeface="Times New Roman"/>
                      </a:endParaRPr>
                    </a:p>
                  </a:txBody>
                  <a:tcPr marL="85725" marR="9525" marT="9525" marB="0"/>
                </a:tc>
                <a:tc>
                  <a:txBody>
                    <a:bodyPr/>
                    <a:lstStyle/>
                    <a:p>
                      <a:pPr algn="l" fontAlgn="t"/>
                      <a:r>
                        <a:rPr lang="en-US" sz="1800" b="1" u="none" strike="noStrike" dirty="0">
                          <a:effectLst/>
                        </a:rPr>
                        <a:t>Description</a:t>
                      </a:r>
                      <a:endParaRPr lang="en-US" sz="1800" b="1" i="0" u="none" strike="noStrike" dirty="0">
                        <a:solidFill>
                          <a:srgbClr val="000000"/>
                        </a:solidFill>
                        <a:effectLst/>
                        <a:latin typeface="Times New Roman"/>
                      </a:endParaRPr>
                    </a:p>
                  </a:txBody>
                  <a:tcPr marL="85725" marR="9525" marT="9525" marB="0"/>
                </a:tc>
              </a:tr>
              <a:tr h="412317">
                <a:tc>
                  <a:txBody>
                    <a:bodyPr/>
                    <a:lstStyle/>
                    <a:p>
                      <a:pPr algn="l" fontAlgn="t"/>
                      <a:r>
                        <a:rPr lang="en-US" sz="1800" u="none" strike="noStrike">
                          <a:effectLst/>
                        </a:rPr>
                        <a:t>int available()</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return the estimated number of bytes that can be read from the input stream.</a:t>
                      </a:r>
                      <a:endParaRPr lang="en-US" sz="1800" b="0" i="0" u="none" strike="noStrike">
                        <a:solidFill>
                          <a:srgbClr val="000000"/>
                        </a:solidFill>
                        <a:effectLst/>
                        <a:latin typeface="Verdana"/>
                      </a:endParaRPr>
                    </a:p>
                  </a:txBody>
                  <a:tcPr marL="171450" marR="9525" marT="9525" marB="0"/>
                </a:tc>
              </a:tr>
              <a:tr h="247390">
                <a:tc>
                  <a:txBody>
                    <a:bodyPr/>
                    <a:lstStyle/>
                    <a:p>
                      <a:pPr algn="l" fontAlgn="t"/>
                      <a:r>
                        <a:rPr lang="en-US" sz="1800" u="none" strike="noStrike">
                          <a:effectLst/>
                        </a:rPr>
                        <a:t>int read()</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read the byte of data from the input stream.</a:t>
                      </a:r>
                      <a:endParaRPr lang="en-US" sz="1800" b="0" i="0" u="none" strike="noStrike">
                        <a:solidFill>
                          <a:srgbClr val="000000"/>
                        </a:solidFill>
                        <a:effectLst/>
                        <a:latin typeface="Verdana"/>
                      </a:endParaRPr>
                    </a:p>
                  </a:txBody>
                  <a:tcPr marL="171450" marR="9525" marT="9525" marB="0"/>
                </a:tc>
              </a:tr>
              <a:tr h="247390">
                <a:tc>
                  <a:txBody>
                    <a:bodyPr/>
                    <a:lstStyle/>
                    <a:p>
                      <a:pPr algn="l" fontAlgn="t"/>
                      <a:r>
                        <a:rPr lang="en-US" sz="1800" u="none" strike="noStrike">
                          <a:effectLst/>
                        </a:rPr>
                        <a:t>int read(byte[] b)</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read up to b.length bytes of data from the input stream.</a:t>
                      </a:r>
                      <a:endParaRPr lang="en-US" sz="1800" b="0" i="0" u="none" strike="noStrike">
                        <a:solidFill>
                          <a:srgbClr val="000000"/>
                        </a:solidFill>
                        <a:effectLst/>
                        <a:latin typeface="Verdana"/>
                      </a:endParaRPr>
                    </a:p>
                  </a:txBody>
                  <a:tcPr marL="171450" marR="9525" marT="9525" marB="0"/>
                </a:tc>
              </a:tr>
              <a:tr h="412317">
                <a:tc>
                  <a:txBody>
                    <a:bodyPr/>
                    <a:lstStyle/>
                    <a:p>
                      <a:pPr algn="l" fontAlgn="t"/>
                      <a:r>
                        <a:rPr lang="en-US" sz="1800" u="none" strike="noStrike">
                          <a:effectLst/>
                        </a:rPr>
                        <a:t>int read(byte[] b, int off, int len)</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dirty="0">
                          <a:effectLst/>
                        </a:rPr>
                        <a:t>It is used to read up to </a:t>
                      </a:r>
                      <a:r>
                        <a:rPr lang="en-US" sz="1800" u="none" strike="noStrike" dirty="0" err="1">
                          <a:effectLst/>
                        </a:rPr>
                        <a:t>len</a:t>
                      </a:r>
                      <a:r>
                        <a:rPr lang="en-US" sz="1800" u="none" strike="noStrike" dirty="0">
                          <a:effectLst/>
                        </a:rPr>
                        <a:t> bytes of data from the input stream.</a:t>
                      </a:r>
                      <a:endParaRPr lang="en-US" sz="1800" b="0" i="0" u="none" strike="noStrike" dirty="0">
                        <a:solidFill>
                          <a:srgbClr val="000000"/>
                        </a:solidFill>
                        <a:effectLst/>
                        <a:latin typeface="Verdana"/>
                      </a:endParaRPr>
                    </a:p>
                  </a:txBody>
                  <a:tcPr marL="171450" marR="9525" marT="9525" marB="0"/>
                </a:tc>
              </a:tr>
              <a:tr h="412317">
                <a:tc>
                  <a:txBody>
                    <a:bodyPr/>
                    <a:lstStyle/>
                    <a:p>
                      <a:pPr algn="l" fontAlgn="t"/>
                      <a:r>
                        <a:rPr lang="en-US" sz="1800" u="none" strike="noStrike">
                          <a:effectLst/>
                        </a:rPr>
                        <a:t>long skip(long x)</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skip over and discards x bytes of data from the input stream.</a:t>
                      </a:r>
                      <a:endParaRPr lang="en-US" sz="1800" b="0" i="0" u="none" strike="noStrike">
                        <a:solidFill>
                          <a:srgbClr val="000000"/>
                        </a:solidFill>
                        <a:effectLst/>
                        <a:latin typeface="Verdana"/>
                      </a:endParaRPr>
                    </a:p>
                  </a:txBody>
                  <a:tcPr marL="171450" marR="9525" marT="9525" marB="0"/>
                </a:tc>
              </a:tr>
              <a:tr h="412317">
                <a:tc>
                  <a:txBody>
                    <a:bodyPr/>
                    <a:lstStyle/>
                    <a:p>
                      <a:pPr algn="l" fontAlgn="t"/>
                      <a:r>
                        <a:rPr lang="en-US" sz="1800" u="none" strike="noStrike">
                          <a:effectLst/>
                        </a:rPr>
                        <a:t>FileChannel getChannel()</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return the unique FileChannel object associated with the file input stream.</a:t>
                      </a:r>
                      <a:endParaRPr lang="en-US" sz="1800" b="0" i="0" u="none" strike="noStrike">
                        <a:solidFill>
                          <a:srgbClr val="000000"/>
                        </a:solidFill>
                        <a:effectLst/>
                        <a:latin typeface="Verdana"/>
                      </a:endParaRPr>
                    </a:p>
                  </a:txBody>
                  <a:tcPr marL="171450" marR="9525" marT="9525" marB="0"/>
                </a:tc>
              </a:tr>
              <a:tr h="412317">
                <a:tc>
                  <a:txBody>
                    <a:bodyPr/>
                    <a:lstStyle/>
                    <a:p>
                      <a:pPr algn="l" fontAlgn="t"/>
                      <a:r>
                        <a:rPr lang="en-US" sz="1800" u="none" strike="noStrike">
                          <a:effectLst/>
                        </a:rPr>
                        <a:t>FileDescriptor getFD()</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sng" strike="noStrike">
                          <a:effectLst/>
                          <a:hlinkClick r:id="rId2"/>
                        </a:rPr>
                        <a:t>It is used to return the FileDescriptor object.</a:t>
                      </a:r>
                      <a:endParaRPr lang="en-US" sz="1800" b="0" i="0" u="sng" strike="noStrike">
                        <a:solidFill>
                          <a:srgbClr val="0000FF"/>
                        </a:solidFill>
                        <a:effectLst/>
                        <a:latin typeface="Calibri"/>
                      </a:endParaRPr>
                    </a:p>
                  </a:txBody>
                  <a:tcPr marL="171450" marR="9525" marT="9525" marB="0"/>
                </a:tc>
              </a:tr>
              <a:tr h="412317">
                <a:tc>
                  <a:txBody>
                    <a:bodyPr/>
                    <a:lstStyle/>
                    <a:p>
                      <a:pPr algn="l" fontAlgn="t"/>
                      <a:r>
                        <a:rPr lang="en-US" sz="1800" u="none" strike="noStrike">
                          <a:effectLst/>
                        </a:rPr>
                        <a:t>protected void finalize()</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none" strike="noStrike">
                          <a:effectLst/>
                        </a:rPr>
                        <a:t>It is used to ensure that the close method is call when there is no more reference to the file input stream.</a:t>
                      </a:r>
                      <a:endParaRPr lang="en-US" sz="1800" b="0" i="0" u="none" strike="noStrike">
                        <a:solidFill>
                          <a:srgbClr val="000000"/>
                        </a:solidFill>
                        <a:effectLst/>
                        <a:latin typeface="Verdana"/>
                      </a:endParaRPr>
                    </a:p>
                  </a:txBody>
                  <a:tcPr marL="171450" marR="9525" marT="9525" marB="0"/>
                </a:tc>
              </a:tr>
              <a:tr h="247390">
                <a:tc>
                  <a:txBody>
                    <a:bodyPr/>
                    <a:lstStyle/>
                    <a:p>
                      <a:pPr algn="l" fontAlgn="t"/>
                      <a:r>
                        <a:rPr lang="en-US" sz="1800" u="none" strike="noStrike">
                          <a:effectLst/>
                        </a:rPr>
                        <a:t>void close()</a:t>
                      </a:r>
                      <a:endParaRPr lang="en-US" sz="1800" b="0" i="0" u="none" strike="noStrike">
                        <a:solidFill>
                          <a:srgbClr val="000000"/>
                        </a:solidFill>
                        <a:effectLst/>
                        <a:latin typeface="Verdana"/>
                      </a:endParaRPr>
                    </a:p>
                  </a:txBody>
                  <a:tcPr marL="171450" marR="9525" marT="9525" marB="0"/>
                </a:tc>
                <a:tc>
                  <a:txBody>
                    <a:bodyPr/>
                    <a:lstStyle/>
                    <a:p>
                      <a:pPr algn="l" fontAlgn="t"/>
                      <a:r>
                        <a:rPr lang="en-US" sz="1800" u="sng" strike="noStrike" dirty="0">
                          <a:effectLst/>
                          <a:hlinkClick r:id="rId3"/>
                        </a:rPr>
                        <a:t>It is used to closes the stream.</a:t>
                      </a:r>
                      <a:endParaRPr lang="en-US" sz="1800" b="0" i="0" u="sng" strike="noStrike" dirty="0">
                        <a:solidFill>
                          <a:srgbClr val="0000FF"/>
                        </a:solidFill>
                        <a:effectLst/>
                        <a:latin typeface="Calibri"/>
                      </a:endParaRPr>
                    </a:p>
                  </a:txBody>
                  <a:tcPr marL="171450" marR="9525" marT="9525" marB="0"/>
                </a:tc>
              </a:tr>
            </a:tbl>
          </a:graphicData>
        </a:graphic>
      </p:graphicFrame>
    </p:spTree>
    <p:extLst>
      <p:ext uri="{BB962C8B-B14F-4D97-AF65-F5344CB8AC3E}">
        <p14:creationId xmlns:p14="http://schemas.microsoft.com/office/powerpoint/2010/main" val="122788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FileInputStream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32500" lnSpcReduction="20000"/>
          </a:bodyPr>
          <a:lstStyle/>
          <a:p>
            <a:pPr marL="0" indent="0" algn="just" fontAlgn="base">
              <a:buNone/>
            </a:pPr>
            <a:r>
              <a:rPr lang="en-US" sz="7200" dirty="0" smtClean="0"/>
              <a:t>import </a:t>
            </a:r>
            <a:r>
              <a:rPr lang="en-US" sz="7200" dirty="0" err="1"/>
              <a:t>java.io.FileInputStream</a:t>
            </a:r>
            <a:r>
              <a:rPr lang="en-US" sz="7200" dirty="0"/>
              <a:t>;  </a:t>
            </a:r>
          </a:p>
          <a:p>
            <a:pPr marL="0" indent="0" algn="just" fontAlgn="base">
              <a:buNone/>
            </a:pPr>
            <a:r>
              <a:rPr lang="en-US" sz="7200" dirty="0"/>
              <a:t>public class </a:t>
            </a:r>
            <a:r>
              <a:rPr lang="en-US" sz="7200" dirty="0" err="1"/>
              <a:t>DataStreamExample</a:t>
            </a:r>
            <a:r>
              <a:rPr lang="en-US" sz="7200" dirty="0"/>
              <a:t> {  </a:t>
            </a:r>
          </a:p>
          <a:p>
            <a:pPr marL="0" indent="0" algn="just" fontAlgn="base">
              <a:buNone/>
            </a:pPr>
            <a:r>
              <a:rPr lang="en-US" sz="7200" dirty="0"/>
              <a:t>     public static void main(String </a:t>
            </a:r>
            <a:r>
              <a:rPr lang="en-US" sz="7200" dirty="0" err="1"/>
              <a:t>args</a:t>
            </a:r>
            <a:r>
              <a:rPr lang="en-US" sz="7200" dirty="0"/>
              <a:t>[]){    </a:t>
            </a:r>
          </a:p>
          <a:p>
            <a:pPr marL="0" indent="0" algn="just" fontAlgn="base">
              <a:buNone/>
            </a:pPr>
            <a:r>
              <a:rPr lang="en-US" sz="7200" dirty="0"/>
              <a:t>          try{    </a:t>
            </a:r>
          </a:p>
          <a:p>
            <a:pPr marL="0" indent="0" algn="just" fontAlgn="base">
              <a:buNone/>
            </a:pPr>
            <a:r>
              <a:rPr lang="en-US" sz="7200" dirty="0"/>
              <a:t>            </a:t>
            </a:r>
            <a:r>
              <a:rPr lang="en-US" sz="7200" dirty="0" err="1"/>
              <a:t>FileInputStream</a:t>
            </a:r>
            <a:r>
              <a:rPr lang="en-US" sz="7200" dirty="0"/>
              <a:t> fin=new </a:t>
            </a:r>
            <a:r>
              <a:rPr lang="en-US" sz="7200" dirty="0" err="1"/>
              <a:t>FileInputStream</a:t>
            </a:r>
            <a:r>
              <a:rPr lang="en-US" sz="7200" dirty="0"/>
              <a:t>("D:\\</a:t>
            </a:r>
            <a:r>
              <a:rPr lang="en-US" sz="7200" dirty="0" err="1"/>
              <a:t>testout.txt</a:t>
            </a:r>
            <a:r>
              <a:rPr lang="en-US" sz="7200" dirty="0"/>
              <a:t>");    </a:t>
            </a:r>
          </a:p>
          <a:p>
            <a:pPr marL="0" indent="0" algn="just" fontAlgn="base">
              <a:buNone/>
            </a:pPr>
            <a:r>
              <a:rPr lang="en-US" sz="7200" dirty="0"/>
              <a:t>            </a:t>
            </a:r>
            <a:r>
              <a:rPr lang="en-US" sz="7200" dirty="0" err="1"/>
              <a:t>int</a:t>
            </a:r>
            <a:r>
              <a:rPr lang="en-US" sz="7200" dirty="0"/>
              <a:t> i=0;    </a:t>
            </a:r>
          </a:p>
          <a:p>
            <a:pPr marL="0" indent="0" algn="just" fontAlgn="base">
              <a:buNone/>
            </a:pPr>
            <a:r>
              <a:rPr lang="en-US" sz="7200" dirty="0"/>
              <a:t>            while((i=</a:t>
            </a:r>
            <a:r>
              <a:rPr lang="en-US" sz="7200" dirty="0" err="1"/>
              <a:t>fin.read</a:t>
            </a:r>
            <a:r>
              <a:rPr lang="en-US" sz="7200" dirty="0"/>
              <a:t>())!=-1){    </a:t>
            </a:r>
          </a:p>
          <a:p>
            <a:pPr marL="0" indent="0" algn="just" fontAlgn="base">
              <a:buNone/>
            </a:pPr>
            <a:r>
              <a:rPr lang="en-US" sz="7200" dirty="0"/>
              <a:t>             </a:t>
            </a:r>
            <a:r>
              <a:rPr lang="en-US" sz="7200" dirty="0" err="1"/>
              <a:t>System.out.print</a:t>
            </a:r>
            <a:r>
              <a:rPr lang="en-US" sz="7200" dirty="0"/>
              <a:t>((char)i);    </a:t>
            </a:r>
          </a:p>
          <a:p>
            <a:pPr marL="0" indent="0" algn="just" fontAlgn="base">
              <a:buNone/>
            </a:pPr>
            <a:r>
              <a:rPr lang="en-US" sz="7200" dirty="0"/>
              <a:t>            }    </a:t>
            </a:r>
          </a:p>
          <a:p>
            <a:pPr marL="0" indent="0" algn="just" fontAlgn="base">
              <a:buNone/>
            </a:pPr>
            <a:r>
              <a:rPr lang="en-US" sz="7200" dirty="0"/>
              <a:t>            </a:t>
            </a:r>
            <a:r>
              <a:rPr lang="en-US" sz="7200" dirty="0" err="1"/>
              <a:t>fin.close</a:t>
            </a:r>
            <a:r>
              <a:rPr lang="en-US" sz="7200" dirty="0"/>
              <a:t>();    </a:t>
            </a:r>
          </a:p>
          <a:p>
            <a:pPr marL="0" indent="0" algn="just" fontAlgn="base">
              <a:buNone/>
            </a:pPr>
            <a:r>
              <a:rPr lang="en-US" sz="7200" dirty="0"/>
              <a:t>          }catch(Exception e){</a:t>
            </a:r>
            <a:r>
              <a:rPr lang="en-US" sz="7200" dirty="0" err="1"/>
              <a:t>System.out.println</a:t>
            </a:r>
            <a:r>
              <a:rPr lang="en-US" sz="7200" dirty="0"/>
              <a:t>(e);}    </a:t>
            </a:r>
          </a:p>
          <a:p>
            <a:pPr marL="0" indent="0" algn="just" fontAlgn="base">
              <a:buNone/>
            </a:pPr>
            <a:r>
              <a:rPr lang="en-US" sz="7200" dirty="0"/>
              <a:t>         }    </a:t>
            </a:r>
          </a:p>
          <a:p>
            <a:pPr marL="0" indent="0" algn="just" fontAlgn="base">
              <a:buNone/>
            </a:pPr>
            <a:r>
              <a:rPr lang="en-US" sz="7200" dirty="0"/>
              <a:t>        } </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5502166" y="3263409"/>
            <a:ext cx="5580993" cy="110363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2000" dirty="0"/>
              <a:t>Output</a:t>
            </a:r>
            <a:r>
              <a:rPr lang="en-US" sz="2000" dirty="0" smtClean="0"/>
              <a:t>:</a:t>
            </a:r>
          </a:p>
          <a:p>
            <a:pPr marL="0" indent="0">
              <a:lnSpc>
                <a:spcPct val="100000"/>
              </a:lnSpc>
              <a:spcBef>
                <a:spcPts val="0"/>
              </a:spcBef>
              <a:buNone/>
            </a:pPr>
            <a:r>
              <a:rPr lang="en-US" sz="2000" dirty="0"/>
              <a:t>Depends on the content of the file</a:t>
            </a:r>
            <a:r>
              <a:rPr lang="en-US" sz="2000" dirty="0" smtClean="0"/>
              <a:t>: </a:t>
            </a:r>
            <a:r>
              <a:rPr lang="en-US" sz="2000" dirty="0"/>
              <a:t>D:\\</a:t>
            </a:r>
            <a:r>
              <a:rPr lang="en-US" sz="2000" dirty="0" err="1"/>
              <a:t>testout.txt</a:t>
            </a:r>
            <a:endParaRPr lang="en-US" sz="2000" dirty="0"/>
          </a:p>
        </p:txBody>
      </p:sp>
    </p:spTree>
    <p:extLst>
      <p:ext uri="{BB962C8B-B14F-4D97-AF65-F5344CB8AC3E}">
        <p14:creationId xmlns:p14="http://schemas.microsoft.com/office/powerpoint/2010/main" val="85409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FileOutputStream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8"/>
            <a:ext cx="10515600" cy="1511487"/>
          </a:xfrm>
        </p:spPr>
        <p:txBody>
          <a:bodyPr>
            <a:normAutofit fontScale="70000" lnSpcReduction="20000"/>
          </a:bodyPr>
          <a:lstStyle/>
          <a:p>
            <a:pPr algn="just" fontAlgn="base"/>
            <a:r>
              <a:rPr lang="en-US" sz="3200" dirty="0"/>
              <a:t>Java </a:t>
            </a:r>
            <a:r>
              <a:rPr lang="en-US" sz="3200" dirty="0" err="1"/>
              <a:t>FileOutputStream</a:t>
            </a:r>
            <a:r>
              <a:rPr lang="en-US" sz="3200" dirty="0"/>
              <a:t> is an output stream used for writing data to a </a:t>
            </a:r>
            <a:r>
              <a:rPr lang="en-US" sz="3200" dirty="0" smtClean="0"/>
              <a:t>file. If </a:t>
            </a:r>
            <a:r>
              <a:rPr lang="en-US" sz="3200" dirty="0"/>
              <a:t>you have to write primitive values into a file, use </a:t>
            </a:r>
            <a:r>
              <a:rPr lang="en-US" sz="3200" dirty="0" err="1"/>
              <a:t>FileOutputStream</a:t>
            </a:r>
            <a:r>
              <a:rPr lang="en-US" sz="3200" dirty="0"/>
              <a:t> class. You can write byte-oriented as well as character-oriented data through </a:t>
            </a:r>
            <a:r>
              <a:rPr lang="en-US" sz="3200" dirty="0" err="1"/>
              <a:t>FileOutputStream</a:t>
            </a:r>
            <a:r>
              <a:rPr lang="en-US" sz="3200" dirty="0"/>
              <a:t> class. But, for character-oriented data, it is preferred to use </a:t>
            </a:r>
            <a:r>
              <a:rPr lang="en-US" sz="3200" dirty="0" err="1"/>
              <a:t>FileWriter</a:t>
            </a:r>
            <a:r>
              <a:rPr lang="en-US" sz="3200" dirty="0"/>
              <a:t> than </a:t>
            </a:r>
            <a:r>
              <a:rPr lang="en-US" sz="3200" dirty="0" err="1"/>
              <a:t>FileOutputStream</a:t>
            </a:r>
            <a:r>
              <a:rPr lang="en-US" sz="3200" dirty="0" smtClean="0"/>
              <a:t>.</a:t>
            </a:r>
          </a:p>
          <a:p>
            <a:pPr algn="just" fontAlgn="base"/>
            <a:r>
              <a:rPr lang="en-US" sz="3200" dirty="0" err="1"/>
              <a:t>FileOutputStream</a:t>
            </a:r>
            <a:r>
              <a:rPr lang="en-US" sz="3200" dirty="0"/>
              <a:t> class methods</a:t>
            </a:r>
          </a:p>
          <a:p>
            <a:pPr algn="just" fontAlgn="base"/>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37196684"/>
              </p:ext>
            </p:extLst>
          </p:nvPr>
        </p:nvGraphicFramePr>
        <p:xfrm>
          <a:off x="567559" y="2774728"/>
          <a:ext cx="11366937" cy="3545205"/>
        </p:xfrm>
        <a:graphic>
          <a:graphicData uri="http://schemas.openxmlformats.org/drawingml/2006/table">
            <a:tbl>
              <a:tblPr>
                <a:tableStyleId>{5C22544A-7EE6-4342-B048-85BDC9FD1C3A}</a:tableStyleId>
              </a:tblPr>
              <a:tblGrid>
                <a:gridCol w="3652516"/>
                <a:gridCol w="7714421"/>
              </a:tblGrid>
              <a:tr h="270951">
                <a:tc>
                  <a:txBody>
                    <a:bodyPr/>
                    <a:lstStyle/>
                    <a:p>
                      <a:pPr algn="l" fontAlgn="t"/>
                      <a:r>
                        <a:rPr lang="en-US" sz="1800" b="1" u="none" strike="noStrike" dirty="0">
                          <a:effectLst/>
                          <a:latin typeface="+mn-lt"/>
                        </a:rPr>
                        <a:t>Method</a:t>
                      </a:r>
                      <a:endParaRPr lang="en-US" sz="1800" b="1" i="0" u="none" strike="noStrike" dirty="0">
                        <a:solidFill>
                          <a:srgbClr val="000000"/>
                        </a:solidFill>
                        <a:effectLst/>
                        <a:latin typeface="+mn-lt"/>
                      </a:endParaRPr>
                    </a:p>
                  </a:txBody>
                  <a:tcPr marL="85725" marR="9525" marT="9525" marB="0"/>
                </a:tc>
                <a:tc>
                  <a:txBody>
                    <a:bodyPr/>
                    <a:lstStyle/>
                    <a:p>
                      <a:pPr algn="l" fontAlgn="t"/>
                      <a:r>
                        <a:rPr lang="en-US" sz="1800" b="1" u="none" strike="noStrike" dirty="0">
                          <a:effectLst/>
                          <a:latin typeface="+mn-lt"/>
                        </a:rPr>
                        <a:t>Description</a:t>
                      </a:r>
                      <a:endParaRPr lang="en-US" sz="1800" b="1" i="0" u="none" strike="noStrike" dirty="0">
                        <a:solidFill>
                          <a:srgbClr val="000000"/>
                        </a:solidFill>
                        <a:effectLst/>
                        <a:latin typeface="+mn-lt"/>
                      </a:endParaRPr>
                    </a:p>
                  </a:txBody>
                  <a:tcPr marL="85725" marR="9525" marT="9525" marB="0"/>
                </a:tc>
              </a:tr>
              <a:tr h="412317">
                <a:tc>
                  <a:txBody>
                    <a:bodyPr/>
                    <a:lstStyle/>
                    <a:p>
                      <a:pPr algn="l" fontAlgn="t"/>
                      <a:r>
                        <a:rPr lang="en-US">
                          <a:solidFill>
                            <a:srgbClr val="000000"/>
                          </a:solidFill>
                          <a:effectLst/>
                          <a:latin typeface="+mn-lt"/>
                        </a:rPr>
                        <a:t>protected void finalize()</a:t>
                      </a:r>
                    </a:p>
                  </a:txBody>
                  <a:tcPr marL="76200" marR="76200" marT="76200" marB="76200"/>
                </a:tc>
                <a:tc>
                  <a:txBody>
                    <a:bodyPr/>
                    <a:lstStyle/>
                    <a:p>
                      <a:pPr algn="l" fontAlgn="t"/>
                      <a:r>
                        <a:rPr lang="en-US">
                          <a:solidFill>
                            <a:srgbClr val="000000"/>
                          </a:solidFill>
                          <a:effectLst/>
                          <a:latin typeface="+mn-lt"/>
                        </a:rPr>
                        <a:t>It is used to clean up the connection with the file output stream.</a:t>
                      </a:r>
                    </a:p>
                  </a:txBody>
                  <a:tcPr marL="76200" marR="76200" marT="76200" marB="76200"/>
                </a:tc>
              </a:tr>
              <a:tr h="247390">
                <a:tc>
                  <a:txBody>
                    <a:bodyPr/>
                    <a:lstStyle/>
                    <a:p>
                      <a:pPr algn="l" fontAlgn="t"/>
                      <a:r>
                        <a:rPr lang="en-US">
                          <a:solidFill>
                            <a:srgbClr val="000000"/>
                          </a:solidFill>
                          <a:effectLst/>
                          <a:latin typeface="+mn-lt"/>
                        </a:rPr>
                        <a:t>void write(byte[] ary)</a:t>
                      </a:r>
                    </a:p>
                  </a:txBody>
                  <a:tcPr marL="76200" marR="76200" marT="76200" marB="76200"/>
                </a:tc>
                <a:tc>
                  <a:txBody>
                    <a:bodyPr/>
                    <a:lstStyle/>
                    <a:p>
                      <a:pPr algn="l" fontAlgn="t"/>
                      <a:r>
                        <a:rPr lang="en-US">
                          <a:solidFill>
                            <a:srgbClr val="000000"/>
                          </a:solidFill>
                          <a:effectLst/>
                          <a:latin typeface="+mn-lt"/>
                        </a:rPr>
                        <a:t>It is used to write </a:t>
                      </a:r>
                      <a:r>
                        <a:rPr lang="en-US" b="1">
                          <a:solidFill>
                            <a:srgbClr val="000000"/>
                          </a:solidFill>
                          <a:effectLst/>
                          <a:latin typeface="+mn-lt"/>
                        </a:rPr>
                        <a:t>ary.length</a:t>
                      </a:r>
                      <a:r>
                        <a:rPr lang="en-US">
                          <a:solidFill>
                            <a:srgbClr val="000000"/>
                          </a:solidFill>
                          <a:effectLst/>
                          <a:latin typeface="+mn-lt"/>
                        </a:rPr>
                        <a:t> bytes from the byte </a:t>
                      </a:r>
                      <a:r>
                        <a:rPr lang="en-US" u="none" strike="noStrike">
                          <a:solidFill>
                            <a:srgbClr val="008000"/>
                          </a:solidFill>
                          <a:effectLst/>
                          <a:latin typeface="+mn-lt"/>
                          <a:hlinkClick r:id="rId2"/>
                        </a:rPr>
                        <a:t>array</a:t>
                      </a:r>
                      <a:r>
                        <a:rPr lang="en-US">
                          <a:solidFill>
                            <a:srgbClr val="000000"/>
                          </a:solidFill>
                          <a:effectLst/>
                          <a:latin typeface="+mn-lt"/>
                        </a:rPr>
                        <a:t> to the file output stream.</a:t>
                      </a:r>
                    </a:p>
                  </a:txBody>
                  <a:tcPr marL="76200" marR="76200" marT="76200" marB="76200"/>
                </a:tc>
              </a:tr>
              <a:tr h="247390">
                <a:tc>
                  <a:txBody>
                    <a:bodyPr/>
                    <a:lstStyle/>
                    <a:p>
                      <a:pPr algn="l" fontAlgn="t"/>
                      <a:r>
                        <a:rPr lang="en-US">
                          <a:solidFill>
                            <a:srgbClr val="000000"/>
                          </a:solidFill>
                          <a:effectLst/>
                          <a:latin typeface="+mn-lt"/>
                        </a:rPr>
                        <a:t>void write(byte[] ary, int off, int len)</a:t>
                      </a:r>
                    </a:p>
                  </a:txBody>
                  <a:tcPr marL="76200" marR="76200" marT="76200" marB="76200"/>
                </a:tc>
                <a:tc>
                  <a:txBody>
                    <a:bodyPr/>
                    <a:lstStyle/>
                    <a:p>
                      <a:pPr algn="l" fontAlgn="t"/>
                      <a:r>
                        <a:rPr lang="en-US" dirty="0">
                          <a:solidFill>
                            <a:srgbClr val="000000"/>
                          </a:solidFill>
                          <a:effectLst/>
                          <a:latin typeface="+mn-lt"/>
                        </a:rPr>
                        <a:t>It is used to write </a:t>
                      </a:r>
                      <a:r>
                        <a:rPr lang="en-US" b="1" dirty="0" err="1">
                          <a:solidFill>
                            <a:srgbClr val="000000"/>
                          </a:solidFill>
                          <a:effectLst/>
                          <a:latin typeface="+mn-lt"/>
                        </a:rPr>
                        <a:t>len</a:t>
                      </a:r>
                      <a:r>
                        <a:rPr lang="en-US" dirty="0">
                          <a:solidFill>
                            <a:srgbClr val="000000"/>
                          </a:solidFill>
                          <a:effectLst/>
                          <a:latin typeface="+mn-lt"/>
                        </a:rPr>
                        <a:t> bytes from the byte array starting at offset </a:t>
                      </a:r>
                      <a:r>
                        <a:rPr lang="en-US" b="1" dirty="0">
                          <a:solidFill>
                            <a:srgbClr val="000000"/>
                          </a:solidFill>
                          <a:effectLst/>
                          <a:latin typeface="+mn-lt"/>
                        </a:rPr>
                        <a:t>off</a:t>
                      </a:r>
                      <a:r>
                        <a:rPr lang="en-US" dirty="0">
                          <a:solidFill>
                            <a:srgbClr val="000000"/>
                          </a:solidFill>
                          <a:effectLst/>
                          <a:latin typeface="+mn-lt"/>
                        </a:rPr>
                        <a:t> to the file output stream.</a:t>
                      </a:r>
                    </a:p>
                  </a:txBody>
                  <a:tcPr marL="76200" marR="76200" marT="76200" marB="76200"/>
                </a:tc>
              </a:tr>
              <a:tr h="412317">
                <a:tc>
                  <a:txBody>
                    <a:bodyPr/>
                    <a:lstStyle/>
                    <a:p>
                      <a:pPr algn="l" fontAlgn="t"/>
                      <a:r>
                        <a:rPr lang="en-US">
                          <a:solidFill>
                            <a:srgbClr val="000000"/>
                          </a:solidFill>
                          <a:effectLst/>
                          <a:latin typeface="+mn-lt"/>
                        </a:rPr>
                        <a:t>void write(int b)</a:t>
                      </a:r>
                    </a:p>
                  </a:txBody>
                  <a:tcPr marL="76200" marR="76200" marT="76200" marB="76200"/>
                </a:tc>
                <a:tc>
                  <a:txBody>
                    <a:bodyPr/>
                    <a:lstStyle/>
                    <a:p>
                      <a:pPr algn="l" fontAlgn="t"/>
                      <a:r>
                        <a:rPr lang="en-US">
                          <a:solidFill>
                            <a:srgbClr val="000000"/>
                          </a:solidFill>
                          <a:effectLst/>
                          <a:latin typeface="+mn-lt"/>
                        </a:rPr>
                        <a:t>It is used to write the specified byte to the file output stream.</a:t>
                      </a:r>
                    </a:p>
                  </a:txBody>
                  <a:tcPr marL="76200" marR="76200" marT="76200" marB="76200"/>
                </a:tc>
              </a:tr>
              <a:tr h="412317">
                <a:tc>
                  <a:txBody>
                    <a:bodyPr/>
                    <a:lstStyle/>
                    <a:p>
                      <a:pPr algn="l" fontAlgn="t"/>
                      <a:r>
                        <a:rPr lang="en-US">
                          <a:solidFill>
                            <a:srgbClr val="000000"/>
                          </a:solidFill>
                          <a:effectLst/>
                          <a:latin typeface="+mn-lt"/>
                        </a:rPr>
                        <a:t>FileChannel getChannel()</a:t>
                      </a:r>
                    </a:p>
                  </a:txBody>
                  <a:tcPr marL="76200" marR="76200" marT="76200" marB="76200"/>
                </a:tc>
                <a:tc>
                  <a:txBody>
                    <a:bodyPr/>
                    <a:lstStyle/>
                    <a:p>
                      <a:pPr algn="l" fontAlgn="t"/>
                      <a:r>
                        <a:rPr lang="en-US">
                          <a:solidFill>
                            <a:srgbClr val="000000"/>
                          </a:solidFill>
                          <a:effectLst/>
                          <a:latin typeface="+mn-lt"/>
                        </a:rPr>
                        <a:t>It is used to return the file channel object associated with the file output stream.</a:t>
                      </a:r>
                    </a:p>
                  </a:txBody>
                  <a:tcPr marL="76200" marR="76200" marT="76200" marB="76200"/>
                </a:tc>
              </a:tr>
              <a:tr h="412317">
                <a:tc>
                  <a:txBody>
                    <a:bodyPr/>
                    <a:lstStyle/>
                    <a:p>
                      <a:pPr algn="l" fontAlgn="t"/>
                      <a:r>
                        <a:rPr lang="en-US">
                          <a:solidFill>
                            <a:srgbClr val="000000"/>
                          </a:solidFill>
                          <a:effectLst/>
                          <a:latin typeface="+mn-lt"/>
                        </a:rPr>
                        <a:t>FileDescriptor getFD()</a:t>
                      </a:r>
                    </a:p>
                  </a:txBody>
                  <a:tcPr marL="76200" marR="76200" marT="76200" marB="76200"/>
                </a:tc>
                <a:tc>
                  <a:txBody>
                    <a:bodyPr/>
                    <a:lstStyle/>
                    <a:p>
                      <a:pPr algn="l" fontAlgn="t"/>
                      <a:r>
                        <a:rPr lang="en-US">
                          <a:solidFill>
                            <a:srgbClr val="000000"/>
                          </a:solidFill>
                          <a:effectLst/>
                          <a:latin typeface="+mn-lt"/>
                        </a:rPr>
                        <a:t>It is used to return the file descriptor associated with the stream.</a:t>
                      </a:r>
                    </a:p>
                  </a:txBody>
                  <a:tcPr marL="76200" marR="76200" marT="76200" marB="76200"/>
                </a:tc>
              </a:tr>
              <a:tr h="412317">
                <a:tc>
                  <a:txBody>
                    <a:bodyPr/>
                    <a:lstStyle/>
                    <a:p>
                      <a:pPr algn="l" fontAlgn="t"/>
                      <a:r>
                        <a:rPr lang="en-US">
                          <a:solidFill>
                            <a:srgbClr val="000000"/>
                          </a:solidFill>
                          <a:effectLst/>
                          <a:latin typeface="+mn-lt"/>
                        </a:rPr>
                        <a:t>void close()</a:t>
                      </a:r>
                    </a:p>
                  </a:txBody>
                  <a:tcPr marL="76200" marR="76200" marT="76200" marB="76200"/>
                </a:tc>
                <a:tc>
                  <a:txBody>
                    <a:bodyPr/>
                    <a:lstStyle/>
                    <a:p>
                      <a:pPr algn="l" fontAlgn="t"/>
                      <a:r>
                        <a:rPr lang="en-US" dirty="0">
                          <a:solidFill>
                            <a:srgbClr val="000000"/>
                          </a:solidFill>
                          <a:effectLst/>
                          <a:latin typeface="+mn-lt"/>
                        </a:rPr>
                        <a:t>It is used to closes the file output stream.</a:t>
                      </a:r>
                    </a:p>
                  </a:txBody>
                  <a:tcPr marL="76200" marR="76200" marT="76200" marB="76200"/>
                </a:tc>
              </a:tr>
            </a:tbl>
          </a:graphicData>
        </a:graphic>
      </p:graphicFrame>
    </p:spTree>
    <p:extLst>
      <p:ext uri="{BB962C8B-B14F-4D97-AF65-F5344CB8AC3E}">
        <p14:creationId xmlns:p14="http://schemas.microsoft.com/office/powerpoint/2010/main" val="346736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FileOutputStream</a:t>
            </a:r>
            <a:r>
              <a:rPr lang="en-US" sz="3200" dirty="0"/>
              <a:t> </a:t>
            </a:r>
            <a:r>
              <a:rPr lang="en-US" sz="3200" dirty="0" smtClean="0"/>
              <a:t>class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32500" lnSpcReduction="20000"/>
          </a:bodyPr>
          <a:lstStyle/>
          <a:p>
            <a:pPr marL="0" indent="0" algn="just" fontAlgn="base">
              <a:buNone/>
            </a:pPr>
            <a:r>
              <a:rPr lang="en-US" sz="7200" dirty="0"/>
              <a:t>import </a:t>
            </a:r>
            <a:r>
              <a:rPr lang="en-US" sz="7200" dirty="0" err="1"/>
              <a:t>java.io.FileOutputStream</a:t>
            </a:r>
            <a:r>
              <a:rPr lang="en-US" sz="7200" dirty="0"/>
              <a:t>;  </a:t>
            </a:r>
          </a:p>
          <a:p>
            <a:pPr marL="0" indent="0" algn="just" fontAlgn="base">
              <a:buNone/>
            </a:pPr>
            <a:r>
              <a:rPr lang="en-US" sz="7200" dirty="0"/>
              <a:t>public class </a:t>
            </a:r>
            <a:r>
              <a:rPr lang="en-US" sz="7200" dirty="0" err="1"/>
              <a:t>FileOutputStreamExample</a:t>
            </a:r>
            <a:r>
              <a:rPr lang="en-US" sz="7200" dirty="0"/>
              <a:t> {  </a:t>
            </a:r>
          </a:p>
          <a:p>
            <a:pPr marL="0" indent="0" algn="just" fontAlgn="base">
              <a:buNone/>
            </a:pPr>
            <a:r>
              <a:rPr lang="en-US" sz="7200" dirty="0"/>
              <a:t>    public static void main(String </a:t>
            </a:r>
            <a:r>
              <a:rPr lang="en-US" sz="7200" dirty="0" err="1"/>
              <a:t>args</a:t>
            </a:r>
            <a:r>
              <a:rPr lang="en-US" sz="7200" dirty="0"/>
              <a:t>[]){    </a:t>
            </a:r>
          </a:p>
          <a:p>
            <a:pPr marL="0" indent="0" algn="just" fontAlgn="base">
              <a:buNone/>
            </a:pPr>
            <a:r>
              <a:rPr lang="en-US" sz="7200" dirty="0"/>
              <a:t>           try{    </a:t>
            </a:r>
          </a:p>
          <a:p>
            <a:pPr marL="0" indent="0" algn="just" fontAlgn="base">
              <a:buNone/>
            </a:pPr>
            <a:r>
              <a:rPr lang="en-US" sz="7200" dirty="0"/>
              <a:t>             </a:t>
            </a:r>
            <a:r>
              <a:rPr lang="en-US" sz="7200" dirty="0" err="1"/>
              <a:t>FileOutputStream</a:t>
            </a:r>
            <a:r>
              <a:rPr lang="en-US" sz="7200" dirty="0"/>
              <a:t> </a:t>
            </a:r>
            <a:r>
              <a:rPr lang="en-US" sz="7200" dirty="0" err="1"/>
              <a:t>fout</a:t>
            </a:r>
            <a:r>
              <a:rPr lang="en-US" sz="7200" dirty="0"/>
              <a:t>=new </a:t>
            </a:r>
            <a:r>
              <a:rPr lang="en-US" sz="7200" dirty="0" err="1"/>
              <a:t>FileOutputStream</a:t>
            </a:r>
            <a:r>
              <a:rPr lang="en-US" sz="7200" dirty="0"/>
              <a:t>("D:\\</a:t>
            </a:r>
            <a:r>
              <a:rPr lang="en-US" sz="7200" dirty="0" err="1"/>
              <a:t>testout.txt</a:t>
            </a:r>
            <a:r>
              <a:rPr lang="en-US" sz="7200" dirty="0"/>
              <a:t>");    </a:t>
            </a:r>
          </a:p>
          <a:p>
            <a:pPr marL="0" indent="0" algn="just" fontAlgn="base">
              <a:buNone/>
            </a:pPr>
            <a:r>
              <a:rPr lang="en-US" sz="7200" dirty="0"/>
              <a:t>             String s="Welcome to </a:t>
            </a:r>
            <a:r>
              <a:rPr lang="en-US" sz="7200" dirty="0" err="1"/>
              <a:t>javaTpoint</a:t>
            </a:r>
            <a:r>
              <a:rPr lang="en-US" sz="7200" dirty="0"/>
              <a:t>.";    </a:t>
            </a:r>
          </a:p>
          <a:p>
            <a:pPr marL="0" indent="0" algn="just" fontAlgn="base">
              <a:buNone/>
            </a:pPr>
            <a:r>
              <a:rPr lang="en-US" sz="7200" dirty="0"/>
              <a:t>             byte b[]=</a:t>
            </a:r>
            <a:r>
              <a:rPr lang="en-US" sz="7200" dirty="0" err="1"/>
              <a:t>s.getBytes</a:t>
            </a:r>
            <a:r>
              <a:rPr lang="en-US" sz="7200" dirty="0"/>
              <a:t>();//converting string into byte array    </a:t>
            </a:r>
          </a:p>
          <a:p>
            <a:pPr marL="0" indent="0" algn="just" fontAlgn="base">
              <a:buNone/>
            </a:pPr>
            <a:r>
              <a:rPr lang="en-US" sz="7200" dirty="0"/>
              <a:t>             </a:t>
            </a:r>
            <a:r>
              <a:rPr lang="en-US" sz="7200" dirty="0" err="1"/>
              <a:t>fout.write</a:t>
            </a:r>
            <a:r>
              <a:rPr lang="en-US" sz="7200" dirty="0"/>
              <a:t>(b);    </a:t>
            </a:r>
          </a:p>
          <a:p>
            <a:pPr marL="0" indent="0" algn="just" fontAlgn="base">
              <a:buNone/>
            </a:pPr>
            <a:r>
              <a:rPr lang="en-US" sz="7200" dirty="0"/>
              <a:t>             </a:t>
            </a:r>
            <a:r>
              <a:rPr lang="en-US" sz="7200" dirty="0" err="1"/>
              <a:t>fout.close</a:t>
            </a:r>
            <a:r>
              <a:rPr lang="en-US" sz="7200" dirty="0"/>
              <a:t>();    </a:t>
            </a:r>
          </a:p>
          <a:p>
            <a:pPr marL="0" indent="0" algn="just" fontAlgn="base">
              <a:buNone/>
            </a:pPr>
            <a:r>
              <a:rPr lang="en-US" sz="7200" dirty="0"/>
              <a:t>             </a:t>
            </a:r>
            <a:r>
              <a:rPr lang="en-US" sz="7200" dirty="0" err="1"/>
              <a:t>System.out.println</a:t>
            </a:r>
            <a:r>
              <a:rPr lang="en-US" sz="7200" dirty="0"/>
              <a:t>("success...");    </a:t>
            </a:r>
          </a:p>
          <a:p>
            <a:pPr marL="0" indent="0" algn="just" fontAlgn="base">
              <a:buNone/>
            </a:pPr>
            <a:r>
              <a:rPr lang="en-US" sz="7200" dirty="0"/>
              <a:t>            }catch(Exception e){</a:t>
            </a:r>
            <a:r>
              <a:rPr lang="en-US" sz="7200" dirty="0" err="1"/>
              <a:t>System.out.println</a:t>
            </a:r>
            <a:r>
              <a:rPr lang="en-US" sz="7200" dirty="0"/>
              <a:t>(e);}    </a:t>
            </a:r>
          </a:p>
          <a:p>
            <a:pPr marL="0" indent="0" algn="just" fontAlgn="base">
              <a:buNone/>
            </a:pPr>
            <a:r>
              <a:rPr lang="en-US" sz="7200" dirty="0"/>
              <a:t>      }    </a:t>
            </a:r>
          </a:p>
          <a:p>
            <a:pPr marL="0" indent="0" algn="just" fontAlgn="base">
              <a:buNone/>
            </a:pPr>
            <a:r>
              <a:rPr lang="en-US" sz="7200" dirty="0"/>
              <a:t>} </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112875" y="3689079"/>
            <a:ext cx="4240925" cy="811951"/>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2000" dirty="0"/>
              <a:t>Output</a:t>
            </a:r>
            <a:r>
              <a:rPr lang="en-US" sz="2000" dirty="0" smtClean="0"/>
              <a:t>:</a:t>
            </a:r>
          </a:p>
          <a:p>
            <a:pPr marL="0" indent="0">
              <a:lnSpc>
                <a:spcPct val="100000"/>
              </a:lnSpc>
              <a:spcBef>
                <a:spcPts val="0"/>
              </a:spcBef>
              <a:buNone/>
            </a:pPr>
            <a:r>
              <a:rPr lang="en-US" sz="2000" dirty="0"/>
              <a:t>Success...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7112875" y="4790063"/>
            <a:ext cx="4240925" cy="91705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dirty="0" smtClean="0"/>
              <a:t>The </a:t>
            </a:r>
            <a:r>
              <a:rPr lang="en-US" sz="2000" dirty="0"/>
              <a:t>content of the file</a:t>
            </a:r>
            <a:r>
              <a:rPr lang="en-US" sz="2000" dirty="0" smtClean="0"/>
              <a:t>: </a:t>
            </a:r>
            <a:r>
              <a:rPr lang="en-US" sz="2000" dirty="0"/>
              <a:t>D:\\</a:t>
            </a:r>
            <a:r>
              <a:rPr lang="en-US" sz="2000" dirty="0" err="1" smtClean="0"/>
              <a:t>testout.txt</a:t>
            </a:r>
            <a:r>
              <a:rPr lang="en-US" sz="2000" dirty="0" smtClean="0"/>
              <a:t> </a:t>
            </a:r>
          </a:p>
          <a:p>
            <a:pPr marL="0" indent="0">
              <a:lnSpc>
                <a:spcPct val="100000"/>
              </a:lnSpc>
              <a:spcBef>
                <a:spcPts val="0"/>
              </a:spcBef>
              <a:buNone/>
            </a:pPr>
            <a:r>
              <a:rPr lang="en-US" sz="2000" dirty="0"/>
              <a:t>Welcome to </a:t>
            </a:r>
            <a:r>
              <a:rPr lang="en-US" sz="2000" dirty="0" err="1"/>
              <a:t>javaTpoint</a:t>
            </a:r>
            <a:r>
              <a:rPr lang="en-US" sz="2000" dirty="0"/>
              <a:t>.</a:t>
            </a:r>
          </a:p>
        </p:txBody>
      </p:sp>
    </p:spTree>
    <p:extLst>
      <p:ext uri="{BB962C8B-B14F-4D97-AF65-F5344CB8AC3E}">
        <p14:creationId xmlns:p14="http://schemas.microsoft.com/office/powerpoint/2010/main" val="1877895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BufferedInputStream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907110" cy="4916839"/>
          </a:xfrm>
        </p:spPr>
        <p:txBody>
          <a:bodyPr>
            <a:normAutofit/>
          </a:bodyPr>
          <a:lstStyle/>
          <a:p>
            <a:pPr fontAlgn="base"/>
            <a:r>
              <a:rPr lang="en-US" sz="3200" dirty="0"/>
              <a:t>Java </a:t>
            </a:r>
            <a:r>
              <a:rPr lang="en-US" sz="3200" dirty="0" err="1"/>
              <a:t>BufferedInputStream</a:t>
            </a:r>
            <a:r>
              <a:rPr lang="en-US" sz="3200" dirty="0"/>
              <a:t> class is used to read information from stream. </a:t>
            </a:r>
            <a:endParaRPr lang="en-US" sz="3200" dirty="0" smtClean="0"/>
          </a:p>
          <a:p>
            <a:pPr fontAlgn="base"/>
            <a:r>
              <a:rPr lang="en-US" sz="3200" dirty="0" smtClean="0"/>
              <a:t>It </a:t>
            </a:r>
            <a:r>
              <a:rPr lang="en-US" sz="3200" dirty="0"/>
              <a:t>internally uses buffer mechanism to make the performance </a:t>
            </a:r>
            <a:r>
              <a:rPr lang="en-US" sz="3200" dirty="0" smtClean="0"/>
              <a:t>fast. The </a:t>
            </a:r>
            <a:r>
              <a:rPr lang="en-US" sz="3200" dirty="0"/>
              <a:t>important points about </a:t>
            </a:r>
            <a:r>
              <a:rPr lang="en-US" sz="3200" dirty="0" err="1"/>
              <a:t>BufferedInputStream</a:t>
            </a:r>
            <a:r>
              <a:rPr lang="en-US" sz="3200" dirty="0"/>
              <a:t> are</a:t>
            </a:r>
            <a:r>
              <a:rPr lang="en-US" sz="3200" dirty="0" smtClean="0"/>
              <a:t>:</a:t>
            </a:r>
            <a:endParaRPr lang="en-US" sz="3200" dirty="0"/>
          </a:p>
          <a:p>
            <a:pPr lvl="1" fontAlgn="base"/>
            <a:r>
              <a:rPr lang="en-US" dirty="0"/>
              <a:t>When the bytes from the stream are skipped or read, the internal buffer automatically refilled from the contained input stream, many bytes at a time.</a:t>
            </a:r>
          </a:p>
          <a:p>
            <a:pPr lvl="1" fontAlgn="base"/>
            <a:r>
              <a:rPr lang="en-US" dirty="0"/>
              <a:t>When a </a:t>
            </a:r>
            <a:r>
              <a:rPr lang="en-US" dirty="0" err="1"/>
              <a:t>BufferedInputStream</a:t>
            </a:r>
            <a:r>
              <a:rPr lang="en-US" dirty="0"/>
              <a:t> is created, an internal buffer array is </a:t>
            </a:r>
            <a:r>
              <a:rPr lang="en-US" dirty="0" err="1"/>
              <a:t>created.Java</a:t>
            </a:r>
            <a:r>
              <a:rPr lang="en-US" dirty="0"/>
              <a:t> </a:t>
            </a:r>
            <a:r>
              <a:rPr lang="en-US" dirty="0" err="1"/>
              <a:t>FileInputStream</a:t>
            </a:r>
            <a:r>
              <a:rPr lang="en-US" dirty="0"/>
              <a:t> class </a:t>
            </a:r>
            <a:r>
              <a:rPr lang="en-US" dirty="0" smtClean="0"/>
              <a:t>methods</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Tree>
    <p:extLst>
      <p:ext uri="{BB962C8B-B14F-4D97-AF65-F5344CB8AC3E}">
        <p14:creationId xmlns:p14="http://schemas.microsoft.com/office/powerpoint/2010/main" val="1043043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BufferedInputStream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932165"/>
            <a:ext cx="10515600" cy="565556"/>
          </a:xfrm>
        </p:spPr>
        <p:txBody>
          <a:bodyPr>
            <a:normAutofit/>
          </a:bodyPr>
          <a:lstStyle/>
          <a:p>
            <a:pPr algn="just" fontAlgn="base"/>
            <a:r>
              <a:rPr lang="en-US" dirty="0" smtClean="0"/>
              <a:t>Java </a:t>
            </a:r>
            <a:r>
              <a:rPr lang="en-US" dirty="0" err="1"/>
              <a:t>BufferedInputStream</a:t>
            </a:r>
            <a:r>
              <a:rPr lang="en-US" dirty="0"/>
              <a:t> </a:t>
            </a:r>
            <a:r>
              <a:rPr lang="en-US" dirty="0" smtClean="0"/>
              <a:t>class constructors &amp;  methods: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893242928"/>
              </p:ext>
            </p:extLst>
          </p:nvPr>
        </p:nvGraphicFramePr>
        <p:xfrm>
          <a:off x="441435" y="1466188"/>
          <a:ext cx="11590282" cy="5227943"/>
        </p:xfrm>
        <a:graphic>
          <a:graphicData uri="http://schemas.openxmlformats.org/drawingml/2006/table">
            <a:tbl>
              <a:tblPr>
                <a:tableStyleId>{5C22544A-7EE6-4342-B048-85BDC9FD1C3A}</a:tableStyleId>
              </a:tblPr>
              <a:tblGrid>
                <a:gridCol w="3216165"/>
                <a:gridCol w="8374117"/>
              </a:tblGrid>
              <a:tr h="210862">
                <a:tc>
                  <a:txBody>
                    <a:bodyPr/>
                    <a:lstStyle/>
                    <a:p>
                      <a:pPr algn="l" fontAlgn="t"/>
                      <a:r>
                        <a:rPr lang="en-US" sz="1600" b="1" u="none" strike="noStrike" dirty="0">
                          <a:effectLst/>
                          <a:latin typeface="+mn-lt"/>
                        </a:rPr>
                        <a:t>Method</a:t>
                      </a:r>
                      <a:endParaRPr lang="en-US" sz="1600" b="1" i="0" u="none" strike="noStrike" dirty="0">
                        <a:solidFill>
                          <a:srgbClr val="000000"/>
                        </a:solidFill>
                        <a:effectLst/>
                        <a:latin typeface="+mn-lt"/>
                      </a:endParaRPr>
                    </a:p>
                  </a:txBody>
                  <a:tcPr marL="85725" marR="9525" marT="9525" marB="0"/>
                </a:tc>
                <a:tc>
                  <a:txBody>
                    <a:bodyPr/>
                    <a:lstStyle/>
                    <a:p>
                      <a:pPr algn="l" fontAlgn="t"/>
                      <a:r>
                        <a:rPr lang="en-US" sz="1600" b="1" u="none" strike="noStrike" dirty="0">
                          <a:effectLst/>
                          <a:latin typeface="+mn-lt"/>
                        </a:rPr>
                        <a:t>Description</a:t>
                      </a:r>
                      <a:endParaRPr lang="en-US" sz="1600" b="1" i="0" u="none" strike="noStrike" dirty="0">
                        <a:solidFill>
                          <a:srgbClr val="000000"/>
                        </a:solidFill>
                        <a:effectLst/>
                        <a:latin typeface="+mn-lt"/>
                      </a:endParaRPr>
                    </a:p>
                  </a:txBody>
                  <a:tcPr marL="85725" marR="9525" marT="9525" marB="0"/>
                </a:tc>
              </a:tr>
              <a:tr h="414649">
                <a:tc>
                  <a:txBody>
                    <a:bodyPr/>
                    <a:lstStyle/>
                    <a:p>
                      <a:pPr algn="l" fontAlgn="t"/>
                      <a:r>
                        <a:rPr lang="en-US" sz="1600">
                          <a:solidFill>
                            <a:srgbClr val="000000"/>
                          </a:solidFill>
                          <a:effectLst/>
                          <a:latin typeface="+mn-lt"/>
                        </a:rPr>
                        <a:t>BufferedInputStream(InputStream IS)</a:t>
                      </a:r>
                    </a:p>
                  </a:txBody>
                  <a:tcPr marL="76200" marR="76200" marT="76200" marB="76200"/>
                </a:tc>
                <a:tc>
                  <a:txBody>
                    <a:bodyPr/>
                    <a:lstStyle/>
                    <a:p>
                      <a:pPr algn="l" fontAlgn="t"/>
                      <a:r>
                        <a:rPr lang="en-US" sz="1600" dirty="0">
                          <a:solidFill>
                            <a:srgbClr val="000000"/>
                          </a:solidFill>
                          <a:effectLst/>
                          <a:latin typeface="+mn-lt"/>
                        </a:rPr>
                        <a:t>It creates the </a:t>
                      </a:r>
                      <a:r>
                        <a:rPr lang="en-US" sz="1600" dirty="0" err="1">
                          <a:solidFill>
                            <a:srgbClr val="000000"/>
                          </a:solidFill>
                          <a:effectLst/>
                          <a:latin typeface="+mn-lt"/>
                        </a:rPr>
                        <a:t>BufferedInputStream</a:t>
                      </a:r>
                      <a:r>
                        <a:rPr lang="en-US" sz="1600" dirty="0">
                          <a:solidFill>
                            <a:srgbClr val="000000"/>
                          </a:solidFill>
                          <a:effectLst/>
                          <a:latin typeface="+mn-lt"/>
                        </a:rPr>
                        <a:t> and saves it argument, the input stream IS, for later use.</a:t>
                      </a:r>
                    </a:p>
                  </a:txBody>
                  <a:tcPr marL="76200" marR="76200" marT="76200" marB="76200"/>
                </a:tc>
              </a:tr>
              <a:tr h="210862">
                <a:tc>
                  <a:txBody>
                    <a:bodyPr/>
                    <a:lstStyle/>
                    <a:p>
                      <a:pPr algn="l" fontAlgn="t"/>
                      <a:r>
                        <a:rPr lang="en-US" sz="1600" dirty="0" err="1">
                          <a:solidFill>
                            <a:srgbClr val="000000"/>
                          </a:solidFill>
                          <a:effectLst/>
                          <a:latin typeface="+mn-lt"/>
                        </a:rPr>
                        <a:t>BufferedInputStream</a:t>
                      </a:r>
                      <a:r>
                        <a:rPr lang="en-US" sz="1600" dirty="0">
                          <a:solidFill>
                            <a:srgbClr val="000000"/>
                          </a:solidFill>
                          <a:effectLst/>
                          <a:latin typeface="+mn-lt"/>
                        </a:rPr>
                        <a:t>(</a:t>
                      </a:r>
                      <a:r>
                        <a:rPr lang="en-US" sz="1600" dirty="0" err="1">
                          <a:solidFill>
                            <a:srgbClr val="000000"/>
                          </a:solidFill>
                          <a:effectLst/>
                          <a:latin typeface="+mn-lt"/>
                        </a:rPr>
                        <a:t>InputStream</a:t>
                      </a:r>
                      <a:r>
                        <a:rPr lang="en-US" sz="1600" dirty="0">
                          <a:solidFill>
                            <a:srgbClr val="000000"/>
                          </a:solidFill>
                          <a:effectLst/>
                          <a:latin typeface="+mn-lt"/>
                        </a:rPr>
                        <a:t> IS, </a:t>
                      </a:r>
                      <a:r>
                        <a:rPr lang="en-US" sz="1600" dirty="0" err="1">
                          <a:solidFill>
                            <a:srgbClr val="000000"/>
                          </a:solidFill>
                          <a:effectLst/>
                          <a:latin typeface="+mn-lt"/>
                        </a:rPr>
                        <a:t>int</a:t>
                      </a:r>
                      <a:r>
                        <a:rPr lang="en-US" sz="1600" dirty="0">
                          <a:solidFill>
                            <a:srgbClr val="000000"/>
                          </a:solidFill>
                          <a:effectLst/>
                          <a:latin typeface="+mn-lt"/>
                        </a:rPr>
                        <a:t> size)</a:t>
                      </a:r>
                    </a:p>
                  </a:txBody>
                  <a:tcPr marL="76200" marR="76200" marT="76200" marB="76200"/>
                </a:tc>
                <a:tc>
                  <a:txBody>
                    <a:bodyPr/>
                    <a:lstStyle/>
                    <a:p>
                      <a:pPr algn="l" fontAlgn="t"/>
                      <a:r>
                        <a:rPr lang="en-US" sz="1600" dirty="0">
                          <a:solidFill>
                            <a:srgbClr val="000000"/>
                          </a:solidFill>
                          <a:effectLst/>
                          <a:latin typeface="+mn-lt"/>
                        </a:rPr>
                        <a:t>It creates the </a:t>
                      </a:r>
                      <a:r>
                        <a:rPr lang="en-US" sz="1600" dirty="0" err="1">
                          <a:solidFill>
                            <a:srgbClr val="000000"/>
                          </a:solidFill>
                          <a:effectLst/>
                          <a:latin typeface="+mn-lt"/>
                        </a:rPr>
                        <a:t>BufferedInputStream</a:t>
                      </a:r>
                      <a:r>
                        <a:rPr lang="en-US" sz="1600" dirty="0">
                          <a:solidFill>
                            <a:srgbClr val="000000"/>
                          </a:solidFill>
                          <a:effectLst/>
                          <a:latin typeface="+mn-lt"/>
                        </a:rPr>
                        <a:t> with a specified buffer size and saves it argument, the input stream IS, for later use.</a:t>
                      </a:r>
                    </a:p>
                  </a:txBody>
                  <a:tcPr marL="76200" marR="76200" marT="76200" marB="76200"/>
                </a:tc>
              </a:tr>
              <a:tr h="210862">
                <a:tc>
                  <a:txBody>
                    <a:bodyPr/>
                    <a:lstStyle/>
                    <a:p>
                      <a:pPr algn="l" fontAlgn="t"/>
                      <a:r>
                        <a:rPr lang="en-US" sz="1600" dirty="0" err="1">
                          <a:solidFill>
                            <a:srgbClr val="000000"/>
                          </a:solidFill>
                          <a:effectLst/>
                          <a:latin typeface="+mn-lt"/>
                        </a:rPr>
                        <a:t>int</a:t>
                      </a:r>
                      <a:r>
                        <a:rPr lang="en-US" sz="1600" dirty="0">
                          <a:solidFill>
                            <a:srgbClr val="000000"/>
                          </a:solidFill>
                          <a:effectLst/>
                          <a:latin typeface="+mn-lt"/>
                        </a:rPr>
                        <a:t> available()</a:t>
                      </a:r>
                    </a:p>
                  </a:txBody>
                  <a:tcPr marL="76200" marR="76200" marT="76200" marB="76200"/>
                </a:tc>
                <a:tc>
                  <a:txBody>
                    <a:bodyPr/>
                    <a:lstStyle/>
                    <a:p>
                      <a:pPr algn="l" fontAlgn="t"/>
                      <a:r>
                        <a:rPr lang="en-US" sz="1600" dirty="0">
                          <a:solidFill>
                            <a:srgbClr val="000000"/>
                          </a:solidFill>
                          <a:effectLst/>
                          <a:latin typeface="+mn-lt"/>
                        </a:rPr>
                        <a:t>It returns an estimate number of bytes that can be read from the input stream without blocking by the next invocation method for the input stream.</a:t>
                      </a:r>
                    </a:p>
                  </a:txBody>
                  <a:tcPr marL="76200" marR="76200" marT="76200" marB="76200"/>
                </a:tc>
              </a:tr>
              <a:tr h="306301">
                <a:tc>
                  <a:txBody>
                    <a:bodyPr/>
                    <a:lstStyle/>
                    <a:p>
                      <a:pPr algn="l" fontAlgn="t"/>
                      <a:r>
                        <a:rPr lang="en-US" sz="1600">
                          <a:solidFill>
                            <a:srgbClr val="000000"/>
                          </a:solidFill>
                          <a:effectLst/>
                          <a:latin typeface="+mn-lt"/>
                        </a:rPr>
                        <a:t>int read()</a:t>
                      </a:r>
                    </a:p>
                  </a:txBody>
                  <a:tcPr marL="76200" marR="76200" marT="76200" marB="76200"/>
                </a:tc>
                <a:tc>
                  <a:txBody>
                    <a:bodyPr/>
                    <a:lstStyle/>
                    <a:p>
                      <a:pPr algn="l" fontAlgn="t"/>
                      <a:r>
                        <a:rPr lang="en-US" sz="1600">
                          <a:solidFill>
                            <a:srgbClr val="000000"/>
                          </a:solidFill>
                          <a:effectLst/>
                          <a:latin typeface="+mn-lt"/>
                        </a:rPr>
                        <a:t>It read the next byte of data from the input stream.</a:t>
                      </a:r>
                    </a:p>
                  </a:txBody>
                  <a:tcPr marL="76200" marR="76200" marT="76200" marB="76200"/>
                </a:tc>
              </a:tr>
              <a:tr h="306301">
                <a:tc>
                  <a:txBody>
                    <a:bodyPr/>
                    <a:lstStyle/>
                    <a:p>
                      <a:pPr algn="l" fontAlgn="t"/>
                      <a:r>
                        <a:rPr lang="en-US" sz="1600">
                          <a:solidFill>
                            <a:srgbClr val="000000"/>
                          </a:solidFill>
                          <a:effectLst/>
                          <a:latin typeface="+mn-lt"/>
                        </a:rPr>
                        <a:t>int read(byte[] b, int off, int ln)</a:t>
                      </a:r>
                    </a:p>
                  </a:txBody>
                  <a:tcPr marL="76200" marR="76200" marT="76200" marB="76200"/>
                </a:tc>
                <a:tc>
                  <a:txBody>
                    <a:bodyPr/>
                    <a:lstStyle/>
                    <a:p>
                      <a:pPr algn="l" fontAlgn="t"/>
                      <a:r>
                        <a:rPr lang="en-US" sz="1600">
                          <a:solidFill>
                            <a:srgbClr val="000000"/>
                          </a:solidFill>
                          <a:effectLst/>
                          <a:latin typeface="+mn-lt"/>
                        </a:rPr>
                        <a:t>It read the bytes from the specified byte-input stream into a specified byte array, starting with the given offset.</a:t>
                      </a:r>
                    </a:p>
                  </a:txBody>
                  <a:tcPr marL="76200" marR="76200" marT="76200" marB="76200"/>
                </a:tc>
              </a:tr>
              <a:tr h="414649">
                <a:tc>
                  <a:txBody>
                    <a:bodyPr/>
                    <a:lstStyle/>
                    <a:p>
                      <a:pPr algn="l" fontAlgn="t"/>
                      <a:r>
                        <a:rPr lang="en-US" sz="1600">
                          <a:solidFill>
                            <a:srgbClr val="000000"/>
                          </a:solidFill>
                          <a:effectLst/>
                          <a:latin typeface="+mn-lt"/>
                        </a:rPr>
                        <a:t>void close()</a:t>
                      </a:r>
                    </a:p>
                  </a:txBody>
                  <a:tcPr marL="76200" marR="76200" marT="76200" marB="76200"/>
                </a:tc>
                <a:tc>
                  <a:txBody>
                    <a:bodyPr/>
                    <a:lstStyle/>
                    <a:p>
                      <a:pPr algn="l" fontAlgn="t"/>
                      <a:r>
                        <a:rPr lang="en-US" sz="1600">
                          <a:solidFill>
                            <a:srgbClr val="000000"/>
                          </a:solidFill>
                          <a:effectLst/>
                          <a:latin typeface="+mn-lt"/>
                        </a:rPr>
                        <a:t>It closes the input stream and releases any of the system resources associated with the stream.</a:t>
                      </a:r>
                    </a:p>
                  </a:txBody>
                  <a:tcPr marL="76200" marR="76200" marT="76200" marB="76200"/>
                </a:tc>
              </a:tr>
              <a:tr h="306301">
                <a:tc>
                  <a:txBody>
                    <a:bodyPr/>
                    <a:lstStyle/>
                    <a:p>
                      <a:pPr algn="l" fontAlgn="t"/>
                      <a:r>
                        <a:rPr lang="en-US" sz="1600">
                          <a:solidFill>
                            <a:srgbClr val="000000"/>
                          </a:solidFill>
                          <a:effectLst/>
                          <a:latin typeface="+mn-lt"/>
                        </a:rPr>
                        <a:t>void reset()</a:t>
                      </a:r>
                    </a:p>
                  </a:txBody>
                  <a:tcPr marL="76200" marR="76200" marT="76200" marB="76200"/>
                </a:tc>
                <a:tc>
                  <a:txBody>
                    <a:bodyPr/>
                    <a:lstStyle/>
                    <a:p>
                      <a:pPr algn="l" fontAlgn="t"/>
                      <a:r>
                        <a:rPr lang="en-US" sz="1600" dirty="0">
                          <a:solidFill>
                            <a:srgbClr val="000000"/>
                          </a:solidFill>
                          <a:effectLst/>
                          <a:latin typeface="+mn-lt"/>
                        </a:rPr>
                        <a:t>It repositions the stream at a position the mark method was last called on this input stream.</a:t>
                      </a:r>
                    </a:p>
                  </a:txBody>
                  <a:tcPr marL="76200" marR="76200" marT="76200" marB="76200"/>
                </a:tc>
              </a:tr>
              <a:tr h="414649">
                <a:tc>
                  <a:txBody>
                    <a:bodyPr/>
                    <a:lstStyle/>
                    <a:p>
                      <a:pPr algn="l" fontAlgn="t"/>
                      <a:r>
                        <a:rPr lang="en-US" sz="1600">
                          <a:solidFill>
                            <a:srgbClr val="000000"/>
                          </a:solidFill>
                          <a:effectLst/>
                          <a:latin typeface="+mn-lt"/>
                        </a:rPr>
                        <a:t>void mark(int readlimit)</a:t>
                      </a:r>
                    </a:p>
                  </a:txBody>
                  <a:tcPr marL="76200" marR="76200" marT="76200" marB="76200"/>
                </a:tc>
                <a:tc>
                  <a:txBody>
                    <a:bodyPr/>
                    <a:lstStyle/>
                    <a:p>
                      <a:pPr algn="l" fontAlgn="t"/>
                      <a:r>
                        <a:rPr lang="en-US" sz="1600">
                          <a:solidFill>
                            <a:srgbClr val="000000"/>
                          </a:solidFill>
                          <a:effectLst/>
                          <a:latin typeface="+mn-lt"/>
                        </a:rPr>
                        <a:t>It sees the general contract of the mark method for the input stream.</a:t>
                      </a:r>
                    </a:p>
                  </a:txBody>
                  <a:tcPr marL="76200" marR="76200" marT="76200" marB="76200"/>
                </a:tc>
              </a:tr>
              <a:tr h="210862">
                <a:tc>
                  <a:txBody>
                    <a:bodyPr/>
                    <a:lstStyle/>
                    <a:p>
                      <a:pPr algn="l" fontAlgn="t"/>
                      <a:r>
                        <a:rPr lang="en-US" sz="1600">
                          <a:solidFill>
                            <a:srgbClr val="000000"/>
                          </a:solidFill>
                          <a:effectLst/>
                          <a:latin typeface="+mn-lt"/>
                        </a:rPr>
                        <a:t>long skip(long x)</a:t>
                      </a:r>
                    </a:p>
                  </a:txBody>
                  <a:tcPr marL="76200" marR="76200" marT="76200" marB="76200"/>
                </a:tc>
                <a:tc>
                  <a:txBody>
                    <a:bodyPr/>
                    <a:lstStyle/>
                    <a:p>
                      <a:pPr algn="l" fontAlgn="t"/>
                      <a:r>
                        <a:rPr lang="en-US" sz="1600">
                          <a:solidFill>
                            <a:srgbClr val="000000"/>
                          </a:solidFill>
                          <a:effectLst/>
                          <a:latin typeface="+mn-lt"/>
                        </a:rPr>
                        <a:t>It skips over and discards x bytes of data from the input stream.</a:t>
                      </a:r>
                    </a:p>
                  </a:txBody>
                  <a:tcPr marL="76200" marR="76200" marT="76200" marB="76200"/>
                </a:tc>
              </a:tr>
              <a:tr h="210862">
                <a:tc>
                  <a:txBody>
                    <a:bodyPr/>
                    <a:lstStyle/>
                    <a:p>
                      <a:pPr algn="l" fontAlgn="t"/>
                      <a:r>
                        <a:rPr lang="en-US" sz="1600">
                          <a:solidFill>
                            <a:srgbClr val="000000"/>
                          </a:solidFill>
                          <a:effectLst/>
                          <a:latin typeface="+mn-lt"/>
                        </a:rPr>
                        <a:t>boolean markSupported()</a:t>
                      </a:r>
                    </a:p>
                  </a:txBody>
                  <a:tcPr marL="76200" marR="76200" marT="76200" marB="76200"/>
                </a:tc>
                <a:tc>
                  <a:txBody>
                    <a:bodyPr/>
                    <a:lstStyle/>
                    <a:p>
                      <a:pPr algn="l" fontAlgn="t"/>
                      <a:r>
                        <a:rPr lang="en-US" sz="1600" dirty="0">
                          <a:solidFill>
                            <a:srgbClr val="000000"/>
                          </a:solidFill>
                          <a:effectLst/>
                          <a:latin typeface="+mn-lt"/>
                        </a:rPr>
                        <a:t>It tests for the input stream to support the mark and reset methods.</a:t>
                      </a:r>
                    </a:p>
                  </a:txBody>
                  <a:tcPr marL="76200" marR="76200" marT="76200" marB="76200"/>
                </a:tc>
              </a:tr>
            </a:tbl>
          </a:graphicData>
        </a:graphic>
      </p:graphicFrame>
    </p:spTree>
    <p:extLst>
      <p:ext uri="{BB962C8B-B14F-4D97-AF65-F5344CB8AC3E}">
        <p14:creationId xmlns:p14="http://schemas.microsoft.com/office/powerpoint/2010/main" val="79650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BufferedInputStream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25000" lnSpcReduction="20000"/>
          </a:bodyPr>
          <a:lstStyle/>
          <a:p>
            <a:pPr marL="0" indent="0" algn="just" fontAlgn="base">
              <a:buNone/>
            </a:pPr>
            <a:r>
              <a:rPr lang="en-US" sz="7200" dirty="0"/>
              <a:t>import </a:t>
            </a:r>
            <a:r>
              <a:rPr lang="en-US" sz="7200" dirty="0" err="1"/>
              <a:t>java.io</a:t>
            </a:r>
            <a:r>
              <a:rPr lang="en-US" sz="7200" dirty="0"/>
              <a:t>.*;  </a:t>
            </a:r>
          </a:p>
          <a:p>
            <a:pPr marL="0" indent="0" algn="just" fontAlgn="base">
              <a:buNone/>
            </a:pPr>
            <a:r>
              <a:rPr lang="en-US" sz="7200" dirty="0"/>
              <a:t>public class </a:t>
            </a:r>
            <a:r>
              <a:rPr lang="en-US" sz="7200" dirty="0" err="1"/>
              <a:t>BufferedInputStreamExample</a:t>
            </a:r>
            <a:r>
              <a:rPr lang="en-US" sz="7200" dirty="0"/>
              <a:t>{    </a:t>
            </a:r>
          </a:p>
          <a:p>
            <a:pPr marL="0" indent="0" algn="just" fontAlgn="base">
              <a:buNone/>
            </a:pPr>
            <a:r>
              <a:rPr lang="en-US" sz="7200" dirty="0"/>
              <a:t> public static void main(String </a:t>
            </a:r>
            <a:r>
              <a:rPr lang="en-US" sz="7200" dirty="0" err="1"/>
              <a:t>args</a:t>
            </a:r>
            <a:r>
              <a:rPr lang="en-US" sz="7200" dirty="0"/>
              <a:t>[]){    </a:t>
            </a:r>
          </a:p>
          <a:p>
            <a:pPr marL="0" indent="0" algn="just" fontAlgn="base">
              <a:buNone/>
            </a:pPr>
            <a:r>
              <a:rPr lang="en-US" sz="7200" dirty="0"/>
              <a:t>  try{    </a:t>
            </a:r>
          </a:p>
          <a:p>
            <a:pPr marL="0" indent="0" algn="just" fontAlgn="base">
              <a:buNone/>
            </a:pPr>
            <a:r>
              <a:rPr lang="en-US" sz="7200" dirty="0"/>
              <a:t>    </a:t>
            </a:r>
            <a:r>
              <a:rPr lang="en-US" sz="7200" dirty="0" err="1"/>
              <a:t>FileInputStream</a:t>
            </a:r>
            <a:r>
              <a:rPr lang="en-US" sz="7200" dirty="0"/>
              <a:t> fin=new </a:t>
            </a:r>
            <a:r>
              <a:rPr lang="en-US" sz="7200" dirty="0" err="1"/>
              <a:t>FileInputStream</a:t>
            </a:r>
            <a:r>
              <a:rPr lang="en-US" sz="7200" dirty="0"/>
              <a:t>("D:\\</a:t>
            </a:r>
            <a:r>
              <a:rPr lang="en-US" sz="7200" dirty="0" err="1"/>
              <a:t>testout.txt</a:t>
            </a:r>
            <a:r>
              <a:rPr lang="en-US" sz="7200" dirty="0"/>
              <a:t>");    </a:t>
            </a:r>
          </a:p>
          <a:p>
            <a:pPr marL="0" indent="0" algn="just" fontAlgn="base">
              <a:buNone/>
            </a:pPr>
            <a:r>
              <a:rPr lang="en-US" sz="7200" dirty="0"/>
              <a:t>    </a:t>
            </a:r>
            <a:r>
              <a:rPr lang="en-US" sz="7200" dirty="0" err="1"/>
              <a:t>BufferedInputStream</a:t>
            </a:r>
            <a:r>
              <a:rPr lang="en-US" sz="7200" dirty="0"/>
              <a:t> bin=new </a:t>
            </a:r>
            <a:r>
              <a:rPr lang="en-US" sz="7200" dirty="0" err="1"/>
              <a:t>BufferedInputStream</a:t>
            </a:r>
            <a:r>
              <a:rPr lang="en-US" sz="7200" dirty="0"/>
              <a:t>(fin);    </a:t>
            </a:r>
          </a:p>
          <a:p>
            <a:pPr marL="0" indent="0" algn="just" fontAlgn="base">
              <a:buNone/>
            </a:pPr>
            <a:r>
              <a:rPr lang="en-US" sz="7200" dirty="0"/>
              <a:t>    </a:t>
            </a:r>
            <a:r>
              <a:rPr lang="en-US" sz="7200" dirty="0" err="1"/>
              <a:t>int</a:t>
            </a:r>
            <a:r>
              <a:rPr lang="en-US" sz="7200" dirty="0"/>
              <a:t> i;    </a:t>
            </a:r>
          </a:p>
          <a:p>
            <a:pPr marL="0" indent="0" algn="just" fontAlgn="base">
              <a:buNone/>
            </a:pPr>
            <a:r>
              <a:rPr lang="en-US" sz="7200" dirty="0"/>
              <a:t>    while((i=</a:t>
            </a:r>
            <a:r>
              <a:rPr lang="en-US" sz="7200" dirty="0" err="1"/>
              <a:t>bin.read</a:t>
            </a:r>
            <a:r>
              <a:rPr lang="en-US" sz="7200" dirty="0"/>
              <a:t>())!=-1){    </a:t>
            </a:r>
          </a:p>
          <a:p>
            <a:pPr marL="0" indent="0" algn="just" fontAlgn="base">
              <a:buNone/>
            </a:pPr>
            <a:r>
              <a:rPr lang="en-US" sz="7200" dirty="0"/>
              <a:t>     </a:t>
            </a:r>
            <a:r>
              <a:rPr lang="en-US" sz="7200" dirty="0" err="1"/>
              <a:t>System.out.print</a:t>
            </a:r>
            <a:r>
              <a:rPr lang="en-US" sz="7200" dirty="0"/>
              <a:t>((char)i);    </a:t>
            </a:r>
          </a:p>
          <a:p>
            <a:pPr marL="0" indent="0" algn="just" fontAlgn="base">
              <a:buNone/>
            </a:pPr>
            <a:r>
              <a:rPr lang="en-US" sz="7200" dirty="0"/>
              <a:t>    }    </a:t>
            </a:r>
          </a:p>
          <a:p>
            <a:pPr marL="0" indent="0" algn="just" fontAlgn="base">
              <a:buNone/>
            </a:pPr>
            <a:r>
              <a:rPr lang="en-US" sz="7200" dirty="0"/>
              <a:t>    </a:t>
            </a:r>
            <a:r>
              <a:rPr lang="en-US" sz="7200" dirty="0" err="1"/>
              <a:t>bin.close</a:t>
            </a:r>
            <a:r>
              <a:rPr lang="en-US" sz="7200" dirty="0"/>
              <a:t>();    </a:t>
            </a:r>
          </a:p>
          <a:p>
            <a:pPr marL="0" indent="0" algn="just" fontAlgn="base">
              <a:buNone/>
            </a:pPr>
            <a:r>
              <a:rPr lang="en-US" sz="7200" dirty="0"/>
              <a:t>    </a:t>
            </a:r>
            <a:r>
              <a:rPr lang="en-US" sz="7200" dirty="0" err="1"/>
              <a:t>fin.close</a:t>
            </a:r>
            <a:r>
              <a:rPr lang="en-US" sz="7200" dirty="0"/>
              <a:t>();    </a:t>
            </a:r>
          </a:p>
          <a:p>
            <a:pPr marL="0" indent="0" algn="just" fontAlgn="base">
              <a:buNone/>
            </a:pPr>
            <a:r>
              <a:rPr lang="en-US" sz="7200" dirty="0"/>
              <a:t>  }catch(Exception e){</a:t>
            </a:r>
            <a:r>
              <a:rPr lang="en-US" sz="7200" dirty="0" err="1"/>
              <a:t>System.out.println</a:t>
            </a:r>
            <a:r>
              <a:rPr lang="en-US" sz="7200" dirty="0"/>
              <a:t>(e);}    </a:t>
            </a:r>
          </a:p>
          <a:p>
            <a:pPr marL="0" indent="0" algn="just" fontAlgn="base">
              <a:buNone/>
            </a:pPr>
            <a:r>
              <a:rPr lang="en-US" sz="7200" dirty="0"/>
              <a:t> }    </a:t>
            </a:r>
          </a:p>
          <a:p>
            <a:pPr marL="0" indent="0" algn="just" fontAlgn="base">
              <a:buNone/>
            </a:pPr>
            <a:r>
              <a:rPr lang="en-US" sz="7200" dirty="0"/>
              <a:t>} </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5502166" y="3263409"/>
            <a:ext cx="5580993" cy="110363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2000" dirty="0"/>
              <a:t>Output</a:t>
            </a:r>
            <a:r>
              <a:rPr lang="en-US" sz="2000" dirty="0" smtClean="0"/>
              <a:t>:</a:t>
            </a:r>
          </a:p>
          <a:p>
            <a:pPr marL="0" indent="0">
              <a:lnSpc>
                <a:spcPct val="100000"/>
              </a:lnSpc>
              <a:spcBef>
                <a:spcPts val="0"/>
              </a:spcBef>
              <a:buNone/>
            </a:pPr>
            <a:r>
              <a:rPr lang="en-US" sz="2000" dirty="0"/>
              <a:t>Depends on the content of the file</a:t>
            </a:r>
            <a:r>
              <a:rPr lang="en-US" sz="2000" dirty="0" smtClean="0"/>
              <a:t>: </a:t>
            </a:r>
            <a:r>
              <a:rPr lang="en-US" sz="2000" dirty="0"/>
              <a:t>D:\\</a:t>
            </a:r>
            <a:r>
              <a:rPr lang="en-US" sz="2000" dirty="0" err="1"/>
              <a:t>testout.txt</a:t>
            </a:r>
            <a:endParaRPr lang="en-US" sz="2000" dirty="0"/>
          </a:p>
        </p:txBody>
      </p:sp>
    </p:spTree>
    <p:extLst>
      <p:ext uri="{BB962C8B-B14F-4D97-AF65-F5344CB8AC3E}">
        <p14:creationId xmlns:p14="http://schemas.microsoft.com/office/powerpoint/2010/main" val="218166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BufferedOutputStream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8"/>
            <a:ext cx="10515600" cy="1921394"/>
          </a:xfrm>
        </p:spPr>
        <p:txBody>
          <a:bodyPr>
            <a:normAutofit fontScale="70000" lnSpcReduction="20000"/>
          </a:bodyPr>
          <a:lstStyle/>
          <a:p>
            <a:pPr algn="just" fontAlgn="base"/>
            <a:r>
              <a:rPr lang="en-US" sz="3200" dirty="0"/>
              <a:t>Java </a:t>
            </a:r>
            <a:r>
              <a:rPr lang="en-US" sz="3200" dirty="0" err="1"/>
              <a:t>BufferedOutputStream</a:t>
            </a:r>
            <a:r>
              <a:rPr lang="en-US" sz="3200" dirty="0"/>
              <a:t> class is used for buffering an output stream. It internally uses buffer to store data. It adds more efficiency than to write data directly into a stream. So, it makes the performance fast</a:t>
            </a:r>
            <a:r>
              <a:rPr lang="en-US" sz="3200" dirty="0" smtClean="0"/>
              <a:t>.</a:t>
            </a:r>
            <a:endParaRPr lang="en-US" sz="3200" dirty="0"/>
          </a:p>
          <a:p>
            <a:pPr algn="just" fontAlgn="base"/>
            <a:r>
              <a:rPr lang="en-US" sz="3200" dirty="0" smtClean="0"/>
              <a:t>The </a:t>
            </a:r>
            <a:r>
              <a:rPr lang="en-US" sz="3200" dirty="0"/>
              <a:t>syntax for adding the buffer in an </a:t>
            </a:r>
            <a:r>
              <a:rPr lang="en-US" sz="3200" dirty="0" err="1"/>
              <a:t>OutputStream</a:t>
            </a:r>
            <a:r>
              <a:rPr lang="en-US" sz="3200" dirty="0" smtClean="0"/>
              <a:t>:</a:t>
            </a:r>
          </a:p>
          <a:p>
            <a:pPr lvl="1" algn="just" fontAlgn="base"/>
            <a:r>
              <a:rPr lang="en-US" sz="2600" dirty="0" err="1" smtClean="0"/>
              <a:t>OutputStream</a:t>
            </a:r>
            <a:r>
              <a:rPr lang="en-US" sz="2600" dirty="0" smtClean="0"/>
              <a:t> </a:t>
            </a:r>
            <a:r>
              <a:rPr lang="en-US" sz="2600" dirty="0" err="1"/>
              <a:t>os</a:t>
            </a:r>
            <a:r>
              <a:rPr lang="en-US" sz="2600" dirty="0"/>
              <a:t>= new </a:t>
            </a:r>
            <a:r>
              <a:rPr lang="en-US" sz="2600" dirty="0" err="1"/>
              <a:t>BufferedOutputStream</a:t>
            </a:r>
            <a:r>
              <a:rPr lang="en-US" sz="2600" dirty="0"/>
              <a:t>(new </a:t>
            </a:r>
            <a:r>
              <a:rPr lang="en-US" sz="2600" dirty="0" err="1"/>
              <a:t>FileOutputStream</a:t>
            </a:r>
            <a:r>
              <a:rPr lang="en-US" sz="2600" dirty="0"/>
              <a:t>("D:\\IO Package\\</a:t>
            </a:r>
            <a:r>
              <a:rPr lang="en-US" sz="2600" dirty="0" err="1"/>
              <a:t>testout.txt</a:t>
            </a:r>
            <a:r>
              <a:rPr lang="en-US" sz="2600" dirty="0"/>
              <a:t>")); </a:t>
            </a:r>
            <a:endParaRPr lang="en-US" sz="2600" dirty="0" smtClean="0"/>
          </a:p>
          <a:p>
            <a:pPr algn="just" fontAlgn="base"/>
            <a:r>
              <a:rPr lang="en-US" sz="3200" dirty="0"/>
              <a:t>Java </a:t>
            </a:r>
            <a:r>
              <a:rPr lang="en-US" sz="3200" dirty="0" err="1"/>
              <a:t>BufferedOutputStream</a:t>
            </a:r>
            <a:r>
              <a:rPr lang="en-US" sz="3200" dirty="0"/>
              <a:t> class constructors &amp;  methods:</a:t>
            </a:r>
          </a:p>
          <a:p>
            <a:pPr algn="just" fontAlgn="base"/>
            <a:endParaRPr lang="en-US" dirty="0" smtClean="0"/>
          </a:p>
          <a:p>
            <a:pPr lvl="1" algn="just" fontAlgn="base"/>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750203040"/>
              </p:ext>
            </p:extLst>
          </p:nvPr>
        </p:nvGraphicFramePr>
        <p:xfrm>
          <a:off x="567559" y="2995452"/>
          <a:ext cx="11366937" cy="3240405"/>
        </p:xfrm>
        <a:graphic>
          <a:graphicData uri="http://schemas.openxmlformats.org/drawingml/2006/table">
            <a:tbl>
              <a:tblPr>
                <a:tableStyleId>{5C22544A-7EE6-4342-B048-85BDC9FD1C3A}</a:tableStyleId>
              </a:tblPr>
              <a:tblGrid>
                <a:gridCol w="4035972"/>
                <a:gridCol w="7330965"/>
              </a:tblGrid>
              <a:tr h="270951">
                <a:tc>
                  <a:txBody>
                    <a:bodyPr/>
                    <a:lstStyle/>
                    <a:p>
                      <a:pPr algn="l" fontAlgn="t"/>
                      <a:r>
                        <a:rPr lang="en-US" sz="1800" b="1" u="none" strike="noStrike" dirty="0">
                          <a:effectLst/>
                          <a:latin typeface="+mn-lt"/>
                        </a:rPr>
                        <a:t>Method</a:t>
                      </a:r>
                      <a:endParaRPr lang="en-US" sz="1800" b="1" i="0" u="none" strike="noStrike" dirty="0">
                        <a:solidFill>
                          <a:srgbClr val="000000"/>
                        </a:solidFill>
                        <a:effectLst/>
                        <a:latin typeface="+mn-lt"/>
                      </a:endParaRPr>
                    </a:p>
                  </a:txBody>
                  <a:tcPr marL="85725" marR="9525" marT="9525" marB="0"/>
                </a:tc>
                <a:tc>
                  <a:txBody>
                    <a:bodyPr/>
                    <a:lstStyle/>
                    <a:p>
                      <a:pPr algn="l" fontAlgn="t"/>
                      <a:r>
                        <a:rPr lang="en-US" sz="1800" b="1" u="none" strike="noStrike" dirty="0">
                          <a:effectLst/>
                          <a:latin typeface="+mn-lt"/>
                        </a:rPr>
                        <a:t>Description</a:t>
                      </a:r>
                      <a:endParaRPr lang="en-US" sz="1800" b="1" i="0" u="none" strike="noStrike" dirty="0">
                        <a:solidFill>
                          <a:srgbClr val="000000"/>
                        </a:solidFill>
                        <a:effectLst/>
                        <a:latin typeface="+mn-lt"/>
                      </a:endParaRPr>
                    </a:p>
                  </a:txBody>
                  <a:tcPr marL="85725" marR="9525" marT="9525" marB="0"/>
                </a:tc>
              </a:tr>
              <a:tr h="412317">
                <a:tc>
                  <a:txBody>
                    <a:bodyPr/>
                    <a:lstStyle/>
                    <a:p>
                      <a:pPr algn="l" fontAlgn="t"/>
                      <a:r>
                        <a:rPr lang="en-US" dirty="0" err="1">
                          <a:solidFill>
                            <a:srgbClr val="000000"/>
                          </a:solidFill>
                          <a:effectLst/>
                          <a:latin typeface="+mn-lt"/>
                        </a:rPr>
                        <a:t>BufferedOutputStream</a:t>
                      </a:r>
                      <a:r>
                        <a:rPr lang="en-US" dirty="0">
                          <a:solidFill>
                            <a:srgbClr val="000000"/>
                          </a:solidFill>
                          <a:effectLst/>
                          <a:latin typeface="+mn-lt"/>
                        </a:rPr>
                        <a:t>(</a:t>
                      </a:r>
                      <a:r>
                        <a:rPr lang="en-US" dirty="0" err="1">
                          <a:solidFill>
                            <a:srgbClr val="000000"/>
                          </a:solidFill>
                          <a:effectLst/>
                          <a:latin typeface="+mn-lt"/>
                        </a:rPr>
                        <a:t>OutputStream</a:t>
                      </a:r>
                      <a:r>
                        <a:rPr lang="en-US" dirty="0">
                          <a:solidFill>
                            <a:srgbClr val="000000"/>
                          </a:solidFill>
                          <a:effectLst/>
                          <a:latin typeface="+mn-lt"/>
                        </a:rPr>
                        <a:t> </a:t>
                      </a:r>
                      <a:r>
                        <a:rPr lang="en-US" dirty="0" err="1">
                          <a:solidFill>
                            <a:srgbClr val="000000"/>
                          </a:solidFill>
                          <a:effectLst/>
                          <a:latin typeface="+mn-lt"/>
                        </a:rPr>
                        <a:t>os</a:t>
                      </a:r>
                      <a:r>
                        <a:rPr lang="en-US" dirty="0">
                          <a:solidFill>
                            <a:srgbClr val="000000"/>
                          </a:solidFill>
                          <a:effectLst/>
                          <a:latin typeface="+mn-lt"/>
                        </a:rPr>
                        <a:t>)</a:t>
                      </a:r>
                    </a:p>
                  </a:txBody>
                  <a:tcPr marL="76200" marR="76200" marT="76200" marB="76200"/>
                </a:tc>
                <a:tc>
                  <a:txBody>
                    <a:bodyPr/>
                    <a:lstStyle/>
                    <a:p>
                      <a:pPr algn="l" fontAlgn="t"/>
                      <a:r>
                        <a:rPr lang="en-US" dirty="0">
                          <a:solidFill>
                            <a:srgbClr val="000000"/>
                          </a:solidFill>
                          <a:effectLst/>
                          <a:latin typeface="+mn-lt"/>
                        </a:rPr>
                        <a:t>It creates the new buffered output stream which is used for writing the data to the specified output stream.</a:t>
                      </a:r>
                    </a:p>
                  </a:txBody>
                  <a:tcPr marL="76200" marR="76200" marT="76200" marB="76200"/>
                </a:tc>
              </a:tr>
              <a:tr h="247390">
                <a:tc>
                  <a:txBody>
                    <a:bodyPr/>
                    <a:lstStyle/>
                    <a:p>
                      <a:pPr algn="l" fontAlgn="t"/>
                      <a:r>
                        <a:rPr lang="en-US" dirty="0" err="1">
                          <a:solidFill>
                            <a:srgbClr val="000000"/>
                          </a:solidFill>
                          <a:effectLst/>
                          <a:latin typeface="+mn-lt"/>
                        </a:rPr>
                        <a:t>BufferedOutputStream</a:t>
                      </a:r>
                      <a:r>
                        <a:rPr lang="en-US" dirty="0">
                          <a:solidFill>
                            <a:srgbClr val="000000"/>
                          </a:solidFill>
                          <a:effectLst/>
                          <a:latin typeface="+mn-lt"/>
                        </a:rPr>
                        <a:t>(</a:t>
                      </a:r>
                      <a:r>
                        <a:rPr lang="en-US" dirty="0" err="1">
                          <a:solidFill>
                            <a:srgbClr val="000000"/>
                          </a:solidFill>
                          <a:effectLst/>
                          <a:latin typeface="+mn-lt"/>
                        </a:rPr>
                        <a:t>OutputStream</a:t>
                      </a:r>
                      <a:r>
                        <a:rPr lang="en-US" dirty="0">
                          <a:solidFill>
                            <a:srgbClr val="000000"/>
                          </a:solidFill>
                          <a:effectLst/>
                          <a:latin typeface="+mn-lt"/>
                        </a:rPr>
                        <a:t> </a:t>
                      </a:r>
                      <a:r>
                        <a:rPr lang="en-US" dirty="0" err="1">
                          <a:solidFill>
                            <a:srgbClr val="000000"/>
                          </a:solidFill>
                          <a:effectLst/>
                          <a:latin typeface="+mn-lt"/>
                        </a:rPr>
                        <a:t>os</a:t>
                      </a:r>
                      <a:r>
                        <a:rPr lang="en-US" dirty="0">
                          <a:solidFill>
                            <a:srgbClr val="000000"/>
                          </a:solidFill>
                          <a:effectLst/>
                          <a:latin typeface="+mn-lt"/>
                        </a:rPr>
                        <a:t>, </a:t>
                      </a:r>
                      <a:r>
                        <a:rPr lang="en-US" dirty="0" err="1">
                          <a:solidFill>
                            <a:srgbClr val="000000"/>
                          </a:solidFill>
                          <a:effectLst/>
                          <a:latin typeface="+mn-lt"/>
                        </a:rPr>
                        <a:t>int</a:t>
                      </a:r>
                      <a:r>
                        <a:rPr lang="en-US" dirty="0">
                          <a:solidFill>
                            <a:srgbClr val="000000"/>
                          </a:solidFill>
                          <a:effectLst/>
                          <a:latin typeface="+mn-lt"/>
                        </a:rPr>
                        <a:t> size)</a:t>
                      </a:r>
                    </a:p>
                  </a:txBody>
                  <a:tcPr marL="76200" marR="76200" marT="76200" marB="76200"/>
                </a:tc>
                <a:tc>
                  <a:txBody>
                    <a:bodyPr/>
                    <a:lstStyle/>
                    <a:p>
                      <a:pPr algn="l" fontAlgn="t"/>
                      <a:r>
                        <a:rPr lang="en-US" dirty="0">
                          <a:solidFill>
                            <a:srgbClr val="000000"/>
                          </a:solidFill>
                          <a:effectLst/>
                          <a:latin typeface="+mn-lt"/>
                        </a:rPr>
                        <a:t>It creates the new buffered output stream which is used for writing the data to the specified output stream with a specified buffer size.</a:t>
                      </a:r>
                    </a:p>
                  </a:txBody>
                  <a:tcPr marL="76200" marR="76200" marT="76200" marB="76200"/>
                </a:tc>
              </a:tr>
              <a:tr h="247390">
                <a:tc>
                  <a:txBody>
                    <a:bodyPr/>
                    <a:lstStyle/>
                    <a:p>
                      <a:pPr algn="l" fontAlgn="t"/>
                      <a:r>
                        <a:rPr lang="en-US">
                          <a:solidFill>
                            <a:srgbClr val="000000"/>
                          </a:solidFill>
                          <a:effectLst/>
                          <a:latin typeface="+mn-lt"/>
                        </a:rPr>
                        <a:t>void write(int b)</a:t>
                      </a:r>
                    </a:p>
                  </a:txBody>
                  <a:tcPr marL="76200" marR="76200" marT="76200" marB="76200"/>
                </a:tc>
                <a:tc>
                  <a:txBody>
                    <a:bodyPr/>
                    <a:lstStyle/>
                    <a:p>
                      <a:pPr algn="l" fontAlgn="t"/>
                      <a:r>
                        <a:rPr lang="en-US">
                          <a:solidFill>
                            <a:srgbClr val="000000"/>
                          </a:solidFill>
                          <a:effectLst/>
                          <a:latin typeface="+mn-lt"/>
                        </a:rPr>
                        <a:t>It writes the specified byte to the buffered output stream.</a:t>
                      </a:r>
                    </a:p>
                  </a:txBody>
                  <a:tcPr marL="76200" marR="76200" marT="76200" marB="76200"/>
                </a:tc>
              </a:tr>
              <a:tr h="412317">
                <a:tc>
                  <a:txBody>
                    <a:bodyPr/>
                    <a:lstStyle/>
                    <a:p>
                      <a:pPr algn="l" fontAlgn="t"/>
                      <a:r>
                        <a:rPr lang="en-US">
                          <a:solidFill>
                            <a:srgbClr val="000000"/>
                          </a:solidFill>
                          <a:effectLst/>
                          <a:latin typeface="+mn-lt"/>
                        </a:rPr>
                        <a:t>void write(byte[] b, int off, int len)</a:t>
                      </a:r>
                    </a:p>
                  </a:txBody>
                  <a:tcPr marL="76200" marR="76200" marT="76200" marB="76200"/>
                </a:tc>
                <a:tc>
                  <a:txBody>
                    <a:bodyPr/>
                    <a:lstStyle/>
                    <a:p>
                      <a:pPr algn="l" fontAlgn="t"/>
                      <a:r>
                        <a:rPr lang="en-US">
                          <a:solidFill>
                            <a:srgbClr val="000000"/>
                          </a:solidFill>
                          <a:effectLst/>
                          <a:latin typeface="+mn-lt"/>
                        </a:rPr>
                        <a:t>It write the bytes from the specified byte-input stream into a specified byte </a:t>
                      </a:r>
                      <a:r>
                        <a:rPr lang="en-US" u="none" strike="noStrike">
                          <a:solidFill>
                            <a:srgbClr val="008000"/>
                          </a:solidFill>
                          <a:effectLst/>
                          <a:latin typeface="+mn-lt"/>
                          <a:hlinkClick r:id="rId2"/>
                        </a:rPr>
                        <a:t>array</a:t>
                      </a:r>
                      <a:r>
                        <a:rPr lang="en-US">
                          <a:solidFill>
                            <a:srgbClr val="000000"/>
                          </a:solidFill>
                          <a:effectLst/>
                          <a:latin typeface="+mn-lt"/>
                        </a:rPr>
                        <a:t>, starting with the given offset</a:t>
                      </a:r>
                    </a:p>
                  </a:txBody>
                  <a:tcPr marL="76200" marR="76200" marT="76200" marB="76200"/>
                </a:tc>
              </a:tr>
              <a:tr h="412317">
                <a:tc>
                  <a:txBody>
                    <a:bodyPr/>
                    <a:lstStyle/>
                    <a:p>
                      <a:pPr algn="l" fontAlgn="t"/>
                      <a:r>
                        <a:rPr lang="en-US">
                          <a:solidFill>
                            <a:srgbClr val="000000"/>
                          </a:solidFill>
                          <a:effectLst/>
                          <a:latin typeface="+mn-lt"/>
                        </a:rPr>
                        <a:t>void flush()</a:t>
                      </a:r>
                    </a:p>
                  </a:txBody>
                  <a:tcPr marL="76200" marR="76200" marT="76200" marB="76200"/>
                </a:tc>
                <a:tc>
                  <a:txBody>
                    <a:bodyPr/>
                    <a:lstStyle/>
                    <a:p>
                      <a:pPr algn="l" fontAlgn="t"/>
                      <a:r>
                        <a:rPr lang="en-US" dirty="0">
                          <a:solidFill>
                            <a:srgbClr val="000000"/>
                          </a:solidFill>
                          <a:effectLst/>
                          <a:latin typeface="+mn-lt"/>
                        </a:rPr>
                        <a:t>It flushes the buffered output stream.</a:t>
                      </a:r>
                    </a:p>
                  </a:txBody>
                  <a:tcPr marL="76200" marR="76200" marT="76200" marB="76200"/>
                </a:tc>
              </a:tr>
            </a:tbl>
          </a:graphicData>
        </a:graphic>
      </p:graphicFrame>
    </p:spTree>
    <p:extLst>
      <p:ext uri="{BB962C8B-B14F-4D97-AF65-F5344CB8AC3E}">
        <p14:creationId xmlns:p14="http://schemas.microsoft.com/office/powerpoint/2010/main" val="107212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BufferedOutputStream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32500" lnSpcReduction="20000"/>
          </a:bodyPr>
          <a:lstStyle/>
          <a:p>
            <a:pPr marL="0" indent="0" algn="just" fontAlgn="base">
              <a:buNone/>
            </a:pPr>
            <a:r>
              <a:rPr lang="en-US" sz="7200" dirty="0" smtClean="0"/>
              <a:t>import </a:t>
            </a:r>
            <a:r>
              <a:rPr lang="en-US" sz="7200" dirty="0" err="1"/>
              <a:t>java.io</a:t>
            </a:r>
            <a:r>
              <a:rPr lang="en-US" sz="7200" dirty="0"/>
              <a:t>.*;  </a:t>
            </a:r>
          </a:p>
          <a:p>
            <a:pPr marL="0" indent="0" algn="just" fontAlgn="base">
              <a:buNone/>
            </a:pPr>
            <a:r>
              <a:rPr lang="en-US" sz="7200" dirty="0"/>
              <a:t>public class </a:t>
            </a:r>
            <a:r>
              <a:rPr lang="en-US" sz="7200" dirty="0" err="1"/>
              <a:t>BufferedOutputStreamExample</a:t>
            </a:r>
            <a:r>
              <a:rPr lang="en-US" sz="7200" dirty="0"/>
              <a:t>{    </a:t>
            </a:r>
          </a:p>
          <a:p>
            <a:pPr marL="0" indent="0" algn="just" fontAlgn="base">
              <a:buNone/>
            </a:pPr>
            <a:r>
              <a:rPr lang="en-US" sz="7200" dirty="0"/>
              <a:t>public static void main(String </a:t>
            </a:r>
            <a:r>
              <a:rPr lang="en-US" sz="7200" dirty="0" err="1"/>
              <a:t>args</a:t>
            </a:r>
            <a:r>
              <a:rPr lang="en-US" sz="7200" dirty="0"/>
              <a:t>[])throws Exception{    </a:t>
            </a:r>
          </a:p>
          <a:p>
            <a:pPr marL="0" indent="0" algn="just" fontAlgn="base">
              <a:buNone/>
            </a:pPr>
            <a:r>
              <a:rPr lang="en-US" sz="7200" dirty="0"/>
              <a:t>     </a:t>
            </a:r>
            <a:r>
              <a:rPr lang="en-US" sz="7200" dirty="0" err="1"/>
              <a:t>FileOutputStream</a:t>
            </a:r>
            <a:r>
              <a:rPr lang="en-US" sz="7200" dirty="0"/>
              <a:t> </a:t>
            </a:r>
            <a:r>
              <a:rPr lang="en-US" sz="7200" dirty="0" err="1"/>
              <a:t>fout</a:t>
            </a:r>
            <a:r>
              <a:rPr lang="en-US" sz="7200" dirty="0"/>
              <a:t>=new </a:t>
            </a:r>
            <a:r>
              <a:rPr lang="en-US" sz="7200" dirty="0" err="1"/>
              <a:t>FileOutputStream</a:t>
            </a:r>
            <a:r>
              <a:rPr lang="en-US" sz="7200" dirty="0"/>
              <a:t>("D:\\</a:t>
            </a:r>
            <a:r>
              <a:rPr lang="en-US" sz="7200" dirty="0" err="1"/>
              <a:t>testout.txt</a:t>
            </a:r>
            <a:r>
              <a:rPr lang="en-US" sz="7200" dirty="0"/>
              <a:t>");    </a:t>
            </a:r>
          </a:p>
          <a:p>
            <a:pPr marL="0" indent="0" algn="just" fontAlgn="base">
              <a:buNone/>
            </a:pPr>
            <a:r>
              <a:rPr lang="en-US" sz="7200" dirty="0"/>
              <a:t>     </a:t>
            </a:r>
            <a:r>
              <a:rPr lang="en-US" sz="7200" dirty="0" err="1"/>
              <a:t>BufferedOutputStream</a:t>
            </a:r>
            <a:r>
              <a:rPr lang="en-US" sz="7200" dirty="0"/>
              <a:t> bout=new </a:t>
            </a:r>
            <a:r>
              <a:rPr lang="en-US" sz="7200" dirty="0" err="1"/>
              <a:t>BufferedOutputStream</a:t>
            </a:r>
            <a:r>
              <a:rPr lang="en-US" sz="7200" dirty="0"/>
              <a:t>(</a:t>
            </a:r>
            <a:r>
              <a:rPr lang="en-US" sz="7200" dirty="0" err="1"/>
              <a:t>fout</a:t>
            </a:r>
            <a:r>
              <a:rPr lang="en-US" sz="7200" dirty="0"/>
              <a:t>);    </a:t>
            </a:r>
          </a:p>
          <a:p>
            <a:pPr marL="0" indent="0" algn="just" fontAlgn="base">
              <a:buNone/>
            </a:pPr>
            <a:r>
              <a:rPr lang="en-US" sz="7200" dirty="0"/>
              <a:t>     String s="Welcome to </a:t>
            </a:r>
            <a:r>
              <a:rPr lang="en-US" sz="7200" dirty="0" err="1"/>
              <a:t>javaTpoint</a:t>
            </a:r>
            <a:r>
              <a:rPr lang="en-US" sz="7200" dirty="0"/>
              <a:t>.";    </a:t>
            </a:r>
          </a:p>
          <a:p>
            <a:pPr marL="0" indent="0" algn="just" fontAlgn="base">
              <a:buNone/>
            </a:pPr>
            <a:r>
              <a:rPr lang="en-US" sz="7200" dirty="0"/>
              <a:t>     byte b[]=</a:t>
            </a:r>
            <a:r>
              <a:rPr lang="en-US" sz="7200" dirty="0" err="1"/>
              <a:t>s.getBytes</a:t>
            </a:r>
            <a:r>
              <a:rPr lang="en-US" sz="7200" dirty="0"/>
              <a:t>();    </a:t>
            </a:r>
          </a:p>
          <a:p>
            <a:pPr marL="0" indent="0" algn="just" fontAlgn="base">
              <a:buNone/>
            </a:pPr>
            <a:r>
              <a:rPr lang="en-US" sz="7200" dirty="0"/>
              <a:t>     </a:t>
            </a:r>
            <a:r>
              <a:rPr lang="en-US" sz="7200" dirty="0" err="1"/>
              <a:t>bout.write</a:t>
            </a:r>
            <a:r>
              <a:rPr lang="en-US" sz="7200" dirty="0"/>
              <a:t>(b);    </a:t>
            </a:r>
          </a:p>
          <a:p>
            <a:pPr marL="0" indent="0" algn="just" fontAlgn="base">
              <a:buNone/>
            </a:pPr>
            <a:r>
              <a:rPr lang="en-US" sz="7200" dirty="0"/>
              <a:t>     </a:t>
            </a:r>
            <a:r>
              <a:rPr lang="en-US" sz="7200" dirty="0" err="1"/>
              <a:t>bout.flush</a:t>
            </a:r>
            <a:r>
              <a:rPr lang="en-US" sz="7200" dirty="0"/>
              <a:t>();    </a:t>
            </a:r>
          </a:p>
          <a:p>
            <a:pPr marL="0" indent="0" algn="just" fontAlgn="base">
              <a:buNone/>
            </a:pPr>
            <a:r>
              <a:rPr lang="en-US" sz="7200" dirty="0"/>
              <a:t>     </a:t>
            </a:r>
            <a:r>
              <a:rPr lang="en-US" sz="7200" dirty="0" err="1"/>
              <a:t>bout.close</a:t>
            </a:r>
            <a:r>
              <a:rPr lang="en-US" sz="7200" dirty="0"/>
              <a:t>();    </a:t>
            </a:r>
          </a:p>
          <a:p>
            <a:pPr marL="0" indent="0" algn="just" fontAlgn="base">
              <a:buNone/>
            </a:pPr>
            <a:r>
              <a:rPr lang="en-US" sz="7200" dirty="0"/>
              <a:t>     </a:t>
            </a:r>
            <a:r>
              <a:rPr lang="en-US" sz="7200" dirty="0" err="1"/>
              <a:t>fout.close</a:t>
            </a:r>
            <a:r>
              <a:rPr lang="en-US" sz="7200" dirty="0"/>
              <a:t>();    </a:t>
            </a:r>
          </a:p>
          <a:p>
            <a:pPr marL="0" indent="0" algn="just" fontAlgn="base">
              <a:buNone/>
            </a:pPr>
            <a:r>
              <a:rPr lang="en-US" sz="7200" dirty="0"/>
              <a:t>     </a:t>
            </a:r>
            <a:r>
              <a:rPr lang="en-US" sz="7200" dirty="0" err="1"/>
              <a:t>System.out.println</a:t>
            </a:r>
            <a:r>
              <a:rPr lang="en-US" sz="7200" dirty="0"/>
              <a:t>("success");    </a:t>
            </a:r>
          </a:p>
          <a:p>
            <a:pPr marL="0" indent="0" algn="just" fontAlgn="base">
              <a:buNone/>
            </a:pPr>
            <a:r>
              <a:rPr lang="en-US" sz="7200" dirty="0"/>
              <a:t>}    </a:t>
            </a:r>
          </a:p>
          <a:p>
            <a:pPr marL="0" indent="0" algn="just" fontAlgn="base">
              <a:buNone/>
            </a:pPr>
            <a:r>
              <a:rPr lang="en-US" sz="7200" dirty="0"/>
              <a:t>} </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112875" y="3689079"/>
            <a:ext cx="4240925" cy="811951"/>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2000" dirty="0"/>
              <a:t>Output</a:t>
            </a:r>
            <a:r>
              <a:rPr lang="en-US" sz="2000" dirty="0" smtClean="0"/>
              <a:t>:</a:t>
            </a:r>
          </a:p>
          <a:p>
            <a:pPr marL="0" indent="0">
              <a:lnSpc>
                <a:spcPct val="100000"/>
              </a:lnSpc>
              <a:spcBef>
                <a:spcPts val="0"/>
              </a:spcBef>
              <a:buNone/>
            </a:pPr>
            <a:r>
              <a:rPr lang="en-US" sz="2000" dirty="0"/>
              <a:t>Success...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7112875" y="4790063"/>
            <a:ext cx="4240925" cy="91705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dirty="0" smtClean="0"/>
              <a:t>The </a:t>
            </a:r>
            <a:r>
              <a:rPr lang="en-US" sz="2000" dirty="0"/>
              <a:t>content of the file</a:t>
            </a:r>
            <a:r>
              <a:rPr lang="en-US" sz="2000" dirty="0" smtClean="0"/>
              <a:t>: </a:t>
            </a:r>
            <a:r>
              <a:rPr lang="en-US" sz="2000" dirty="0"/>
              <a:t>D:\\</a:t>
            </a:r>
            <a:r>
              <a:rPr lang="en-US" sz="2000" dirty="0" err="1" smtClean="0"/>
              <a:t>testout.txt</a:t>
            </a:r>
            <a:r>
              <a:rPr lang="en-US" sz="2000" dirty="0" smtClean="0"/>
              <a:t> </a:t>
            </a:r>
          </a:p>
          <a:p>
            <a:pPr marL="0" indent="0">
              <a:lnSpc>
                <a:spcPct val="100000"/>
              </a:lnSpc>
              <a:spcBef>
                <a:spcPts val="0"/>
              </a:spcBef>
              <a:buNone/>
            </a:pPr>
            <a:r>
              <a:rPr lang="en-US" sz="2000" dirty="0"/>
              <a:t>Welcome to </a:t>
            </a:r>
            <a:r>
              <a:rPr lang="en-US" sz="2000" dirty="0" err="1"/>
              <a:t>javaTpoint</a:t>
            </a:r>
            <a:r>
              <a:rPr lang="en-US" sz="2000" dirty="0"/>
              <a:t>.</a:t>
            </a:r>
          </a:p>
        </p:txBody>
      </p:sp>
    </p:spTree>
    <p:extLst>
      <p:ext uri="{BB962C8B-B14F-4D97-AF65-F5344CB8AC3E}">
        <p14:creationId xmlns:p14="http://schemas.microsoft.com/office/powerpoint/2010/main" val="411267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pPr algn="just"/>
            <a:r>
              <a:rPr lang="en-US" sz="3200" dirty="0"/>
              <a:t>Serialization and Deserialization in Java</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5956738" cy="4916839"/>
          </a:xfrm>
        </p:spPr>
        <p:txBody>
          <a:bodyPr>
            <a:normAutofit fontScale="85000" lnSpcReduction="20000"/>
          </a:bodyPr>
          <a:lstStyle/>
          <a:p>
            <a:pPr algn="just" fontAlgn="base"/>
            <a:r>
              <a:rPr lang="en-US" sz="3200" dirty="0"/>
              <a:t>Serialization in Java is a mechanism of writing the state of an object into a byte-stream. </a:t>
            </a:r>
          </a:p>
          <a:p>
            <a:pPr algn="just" fontAlgn="base"/>
            <a:r>
              <a:rPr lang="en-US" sz="3200" dirty="0"/>
              <a:t>The reverse operation of serialization is called deserialization where byte-stream is converted into an object. The serialization and deserialization process is platform-independent, it means you can serialize an object in a platform and </a:t>
            </a:r>
            <a:r>
              <a:rPr lang="en-US" sz="3200" dirty="0" err="1"/>
              <a:t>deserialize</a:t>
            </a:r>
            <a:r>
              <a:rPr lang="en-US" sz="3200" dirty="0"/>
              <a:t> in different platform</a:t>
            </a:r>
            <a:r>
              <a:rPr lang="en-US" sz="3200" dirty="0" smtClean="0"/>
              <a:t>.</a:t>
            </a:r>
            <a:endParaRPr lang="en-US" sz="3200" dirty="0"/>
          </a:p>
          <a:p>
            <a:pPr fontAlgn="base"/>
            <a:r>
              <a:rPr lang="en-US" sz="3200" dirty="0"/>
              <a:t>For serializing the object, we call the </a:t>
            </a:r>
            <a:r>
              <a:rPr lang="en-US" sz="3200" dirty="0" err="1"/>
              <a:t>writeObject</a:t>
            </a:r>
            <a:r>
              <a:rPr lang="en-US" sz="3200" dirty="0"/>
              <a:t>() method </a:t>
            </a:r>
            <a:r>
              <a:rPr lang="en-US" sz="3200" dirty="0" err="1"/>
              <a:t>ObjectOutputStream</a:t>
            </a:r>
            <a:r>
              <a:rPr lang="en-US" sz="3200" dirty="0"/>
              <a:t>, and for deserialization we call the </a:t>
            </a:r>
            <a:r>
              <a:rPr lang="en-US" sz="3200" dirty="0" err="1"/>
              <a:t>readObject</a:t>
            </a:r>
            <a:r>
              <a:rPr lang="en-US" sz="3200" dirty="0"/>
              <a:t>() method of </a:t>
            </a:r>
            <a:r>
              <a:rPr lang="en-US" sz="3200" dirty="0" err="1"/>
              <a:t>ObjectInputStream</a:t>
            </a:r>
            <a:r>
              <a:rPr lang="en-US" sz="3200" dirty="0"/>
              <a:t> class</a:t>
            </a:r>
            <a:r>
              <a:rPr lang="en-US" sz="3200" dirty="0" smtClean="0"/>
              <a:t>.</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2598" y="1729935"/>
            <a:ext cx="4999396" cy="3567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362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Serialization and Deserialization in Java</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6587359" cy="4916839"/>
          </a:xfrm>
        </p:spPr>
        <p:txBody>
          <a:bodyPr>
            <a:normAutofit fontScale="85000" lnSpcReduction="10000"/>
          </a:bodyPr>
          <a:lstStyle/>
          <a:p>
            <a:pPr fontAlgn="base"/>
            <a:r>
              <a:rPr lang="en-US" sz="3200" dirty="0" smtClean="0"/>
              <a:t>We </a:t>
            </a:r>
            <a:r>
              <a:rPr lang="en-US" sz="3200" dirty="0"/>
              <a:t>must have to implement the </a:t>
            </a:r>
            <a:r>
              <a:rPr lang="en-US" sz="3200" dirty="0" err="1"/>
              <a:t>Serializable</a:t>
            </a:r>
            <a:r>
              <a:rPr lang="en-US" sz="3200" dirty="0"/>
              <a:t> interface for serializing the object</a:t>
            </a:r>
            <a:r>
              <a:rPr lang="en-US" sz="3200" dirty="0" smtClean="0"/>
              <a:t>.</a:t>
            </a:r>
          </a:p>
          <a:p>
            <a:pPr fontAlgn="base"/>
            <a:r>
              <a:rPr lang="en-US" sz="3200" dirty="0" err="1"/>
              <a:t>java.io.Serializable</a:t>
            </a:r>
            <a:r>
              <a:rPr lang="en-US" sz="3200" dirty="0"/>
              <a:t> </a:t>
            </a:r>
            <a:r>
              <a:rPr lang="en-US" sz="3200" dirty="0" smtClean="0"/>
              <a:t>: </a:t>
            </a:r>
            <a:r>
              <a:rPr lang="en-US" sz="3200" dirty="0"/>
              <a:t>is a marker interface (has no data member and method). It is used to "mark" Java classes so that the objects of these classes may get a certain capability. The </a:t>
            </a:r>
            <a:r>
              <a:rPr lang="en-US" sz="3200" dirty="0" err="1"/>
              <a:t>Cloneable</a:t>
            </a:r>
            <a:r>
              <a:rPr lang="en-US" sz="3200" dirty="0"/>
              <a:t> and Remote are also marker interfaces</a:t>
            </a:r>
            <a:r>
              <a:rPr lang="en-US" sz="3200" dirty="0" smtClean="0"/>
              <a:t>.</a:t>
            </a:r>
            <a:endParaRPr lang="en-US" sz="3200" dirty="0"/>
          </a:p>
          <a:p>
            <a:pPr fontAlgn="base"/>
            <a:r>
              <a:rPr lang="en-US" sz="3200" dirty="0"/>
              <a:t>It must be implemented by the class whose object you want to </a:t>
            </a:r>
            <a:r>
              <a:rPr lang="en-US" sz="3200" dirty="0" smtClean="0"/>
              <a:t>persist. The </a:t>
            </a:r>
            <a:r>
              <a:rPr lang="en-US" sz="3200" dirty="0"/>
              <a:t>String class and all the wrapper classes implement the </a:t>
            </a:r>
            <a:r>
              <a:rPr lang="en-US" sz="3200" dirty="0" err="1"/>
              <a:t>java.io.Serializable</a:t>
            </a:r>
            <a:r>
              <a:rPr lang="en-US" sz="3200" dirty="0"/>
              <a:t> interface by default.</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675181" y="1116094"/>
            <a:ext cx="4101662" cy="491683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3200" b="1" dirty="0" smtClean="0"/>
              <a:t>Example</a:t>
            </a:r>
            <a:r>
              <a:rPr lang="en-US" sz="3200" dirty="0" smtClean="0"/>
              <a:t>:</a:t>
            </a:r>
          </a:p>
          <a:p>
            <a:pPr marL="0" indent="0" fontAlgn="base">
              <a:buNone/>
            </a:pPr>
            <a:r>
              <a:rPr lang="en-US" sz="3200" dirty="0" smtClean="0"/>
              <a:t>import </a:t>
            </a:r>
            <a:r>
              <a:rPr lang="en-US" sz="3200" dirty="0" err="1"/>
              <a:t>java.io.Serializable</a:t>
            </a:r>
            <a:r>
              <a:rPr lang="en-US" sz="3200" dirty="0"/>
              <a:t>;  </a:t>
            </a:r>
          </a:p>
          <a:p>
            <a:pPr marL="0" indent="0" fontAlgn="base">
              <a:buNone/>
            </a:pPr>
            <a:r>
              <a:rPr lang="en-US" sz="3200" dirty="0"/>
              <a:t>public class Student </a:t>
            </a:r>
            <a:r>
              <a:rPr lang="en-US" sz="3200" b="1" dirty="0"/>
              <a:t>implements </a:t>
            </a:r>
            <a:r>
              <a:rPr lang="en-US" sz="3200" b="1" dirty="0" err="1"/>
              <a:t>Serializable</a:t>
            </a:r>
            <a:r>
              <a:rPr lang="en-US" sz="3200" dirty="0"/>
              <a:t>{  </a:t>
            </a:r>
          </a:p>
          <a:p>
            <a:pPr marL="0" indent="0" fontAlgn="base">
              <a:buNone/>
            </a:pPr>
            <a:r>
              <a:rPr lang="en-US" sz="3200" dirty="0"/>
              <a:t> </a:t>
            </a:r>
            <a:r>
              <a:rPr lang="en-US" sz="3200" dirty="0" err="1"/>
              <a:t>int</a:t>
            </a:r>
            <a:r>
              <a:rPr lang="en-US" sz="3200" dirty="0"/>
              <a:t> id;  </a:t>
            </a:r>
          </a:p>
          <a:p>
            <a:pPr marL="0" indent="0" fontAlgn="base">
              <a:buNone/>
            </a:pPr>
            <a:r>
              <a:rPr lang="en-US" sz="3200" dirty="0"/>
              <a:t> String name;  </a:t>
            </a:r>
          </a:p>
          <a:p>
            <a:pPr marL="0" indent="0" fontAlgn="base">
              <a:buNone/>
            </a:pPr>
            <a:r>
              <a:rPr lang="en-US" sz="3200" dirty="0"/>
              <a:t> public Student(</a:t>
            </a:r>
            <a:r>
              <a:rPr lang="en-US" sz="3200" dirty="0" err="1"/>
              <a:t>int</a:t>
            </a:r>
            <a:r>
              <a:rPr lang="en-US" sz="3200" dirty="0"/>
              <a:t> id, String name) {  </a:t>
            </a:r>
          </a:p>
          <a:p>
            <a:pPr marL="0" indent="0" fontAlgn="base">
              <a:buNone/>
            </a:pPr>
            <a:r>
              <a:rPr lang="en-US" sz="3200" dirty="0"/>
              <a:t>  </a:t>
            </a:r>
            <a:r>
              <a:rPr lang="en-US" sz="3200" dirty="0" err="1"/>
              <a:t>this.id</a:t>
            </a:r>
            <a:r>
              <a:rPr lang="en-US" sz="3200" dirty="0"/>
              <a:t> = id;  </a:t>
            </a:r>
          </a:p>
          <a:p>
            <a:pPr marL="0" indent="0" fontAlgn="base">
              <a:buNone/>
            </a:pPr>
            <a:r>
              <a:rPr lang="en-US" sz="3200" dirty="0"/>
              <a:t>  </a:t>
            </a:r>
            <a:r>
              <a:rPr lang="en-US" sz="3200" dirty="0" err="1"/>
              <a:t>this.name</a:t>
            </a:r>
            <a:r>
              <a:rPr lang="en-US" sz="3200" dirty="0"/>
              <a:t> = name;  </a:t>
            </a:r>
          </a:p>
          <a:p>
            <a:pPr marL="0" indent="0" fontAlgn="base">
              <a:buNone/>
            </a:pPr>
            <a:r>
              <a:rPr lang="en-US" sz="3200" dirty="0"/>
              <a:t> }  </a:t>
            </a:r>
          </a:p>
          <a:p>
            <a:pPr marL="0" indent="0" fontAlgn="base">
              <a:buNone/>
            </a:pPr>
            <a:r>
              <a:rPr lang="en-US" sz="3200" dirty="0"/>
              <a:t>} </a:t>
            </a:r>
          </a:p>
        </p:txBody>
      </p:sp>
    </p:spTree>
    <p:extLst>
      <p:ext uri="{BB962C8B-B14F-4D97-AF65-F5344CB8AC3E}">
        <p14:creationId xmlns:p14="http://schemas.microsoft.com/office/powerpoint/2010/main" val="128688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ObjectOutputStream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42527"/>
            <a:ext cx="10515600" cy="1984456"/>
          </a:xfrm>
        </p:spPr>
        <p:txBody>
          <a:bodyPr>
            <a:normAutofit/>
          </a:bodyPr>
          <a:lstStyle/>
          <a:p>
            <a:pPr algn="just" fontAlgn="base"/>
            <a:r>
              <a:rPr lang="en-US" dirty="0"/>
              <a:t>The </a:t>
            </a:r>
            <a:r>
              <a:rPr lang="en-US" dirty="0" err="1"/>
              <a:t>ObjectOutputStream</a:t>
            </a:r>
            <a:r>
              <a:rPr lang="en-US" dirty="0"/>
              <a:t> class is used to write primitive data types, and Java objects to an </a:t>
            </a:r>
            <a:r>
              <a:rPr lang="en-US" dirty="0" err="1"/>
              <a:t>OutputStream</a:t>
            </a:r>
            <a:r>
              <a:rPr lang="en-US" dirty="0"/>
              <a:t>. Only objects that support the </a:t>
            </a:r>
            <a:r>
              <a:rPr lang="en-US" dirty="0" err="1"/>
              <a:t>java.io.Serializable</a:t>
            </a:r>
            <a:r>
              <a:rPr lang="en-US" dirty="0"/>
              <a:t> interface can be written to streams.</a:t>
            </a:r>
          </a:p>
          <a:p>
            <a:pPr algn="just" fontAlgn="base"/>
            <a:r>
              <a:rPr lang="en-US" dirty="0"/>
              <a:t>Java </a:t>
            </a:r>
            <a:r>
              <a:rPr lang="en-US" dirty="0" err="1"/>
              <a:t>ObjectOutputStream</a:t>
            </a:r>
            <a:r>
              <a:rPr lang="en-US" dirty="0"/>
              <a:t> class </a:t>
            </a:r>
            <a:r>
              <a:rPr lang="en-US" dirty="0" smtClean="0"/>
              <a:t>constructors &amp;  methods: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259339964"/>
              </p:ext>
            </p:extLst>
          </p:nvPr>
        </p:nvGraphicFramePr>
        <p:xfrm>
          <a:off x="1229711" y="2916621"/>
          <a:ext cx="10376337" cy="2752725"/>
        </p:xfrm>
        <a:graphic>
          <a:graphicData uri="http://schemas.openxmlformats.org/drawingml/2006/table">
            <a:tbl>
              <a:tblPr>
                <a:tableStyleId>{5C22544A-7EE6-4342-B048-85BDC9FD1C3A}</a:tableStyleId>
              </a:tblPr>
              <a:tblGrid>
                <a:gridCol w="5060730"/>
                <a:gridCol w="5315607"/>
              </a:tblGrid>
              <a:tr h="156330">
                <a:tc>
                  <a:txBody>
                    <a:bodyPr/>
                    <a:lstStyle/>
                    <a:p>
                      <a:pPr algn="l" fontAlgn="t"/>
                      <a:r>
                        <a:rPr lang="en-US" sz="2000" b="1" u="none" strike="noStrike" dirty="0">
                          <a:effectLst/>
                          <a:latin typeface="+mn-lt"/>
                        </a:rPr>
                        <a:t>Method</a:t>
                      </a:r>
                      <a:endParaRPr lang="en-US" sz="2000" b="1" i="0" u="none" strike="noStrike" dirty="0">
                        <a:solidFill>
                          <a:srgbClr val="000000"/>
                        </a:solidFill>
                        <a:effectLst/>
                        <a:latin typeface="+mn-lt"/>
                      </a:endParaRPr>
                    </a:p>
                  </a:txBody>
                  <a:tcPr marL="85725" marR="9525" marT="9525" marB="0"/>
                </a:tc>
                <a:tc>
                  <a:txBody>
                    <a:bodyPr/>
                    <a:lstStyle/>
                    <a:p>
                      <a:pPr algn="l" fontAlgn="t"/>
                      <a:r>
                        <a:rPr lang="en-US" sz="2000" b="1" u="none" strike="noStrike" dirty="0">
                          <a:effectLst/>
                          <a:latin typeface="+mn-lt"/>
                        </a:rPr>
                        <a:t>Description</a:t>
                      </a:r>
                      <a:endParaRPr lang="en-US" sz="2000" b="1" i="0" u="none" strike="noStrike" dirty="0">
                        <a:solidFill>
                          <a:srgbClr val="000000"/>
                        </a:solidFill>
                        <a:effectLst/>
                        <a:latin typeface="+mn-lt"/>
                      </a:endParaRPr>
                    </a:p>
                  </a:txBody>
                  <a:tcPr marL="85725" marR="9525" marT="9525" marB="0"/>
                </a:tc>
              </a:tr>
              <a:tr h="394939">
                <a:tc>
                  <a:txBody>
                    <a:bodyPr/>
                    <a:lstStyle/>
                    <a:p>
                      <a:pPr algn="l" fontAlgn="t"/>
                      <a:r>
                        <a:rPr lang="en-US" sz="2000">
                          <a:solidFill>
                            <a:srgbClr val="000000"/>
                          </a:solidFill>
                          <a:effectLst/>
                          <a:latin typeface="+mn-lt"/>
                        </a:rPr>
                        <a:t>public ObjectOutputStream(OutputStream out) throws IOException {}</a:t>
                      </a:r>
                    </a:p>
                  </a:txBody>
                  <a:tcPr marL="76200" marR="76200" marT="76200" marB="76200"/>
                </a:tc>
                <a:tc>
                  <a:txBody>
                    <a:bodyPr/>
                    <a:lstStyle/>
                    <a:p>
                      <a:pPr algn="l" fontAlgn="t"/>
                      <a:r>
                        <a:rPr lang="en-US" sz="2000" dirty="0">
                          <a:solidFill>
                            <a:srgbClr val="000000"/>
                          </a:solidFill>
                          <a:effectLst/>
                          <a:latin typeface="+mn-lt"/>
                        </a:rPr>
                        <a:t>creates an </a:t>
                      </a:r>
                      <a:r>
                        <a:rPr lang="en-US" sz="2000" dirty="0" err="1">
                          <a:solidFill>
                            <a:srgbClr val="000000"/>
                          </a:solidFill>
                          <a:effectLst/>
                          <a:latin typeface="+mn-lt"/>
                        </a:rPr>
                        <a:t>ObjectOutputStream</a:t>
                      </a:r>
                      <a:r>
                        <a:rPr lang="en-US" sz="2000" dirty="0">
                          <a:solidFill>
                            <a:srgbClr val="000000"/>
                          </a:solidFill>
                          <a:effectLst/>
                          <a:latin typeface="+mn-lt"/>
                        </a:rPr>
                        <a:t> that writes to the specified </a:t>
                      </a:r>
                      <a:r>
                        <a:rPr lang="en-US" sz="2000" dirty="0" err="1">
                          <a:solidFill>
                            <a:srgbClr val="000000"/>
                          </a:solidFill>
                          <a:effectLst/>
                          <a:latin typeface="+mn-lt"/>
                        </a:rPr>
                        <a:t>OutputStream</a:t>
                      </a:r>
                      <a:r>
                        <a:rPr lang="en-US" sz="2000" dirty="0">
                          <a:solidFill>
                            <a:srgbClr val="000000"/>
                          </a:solidFill>
                          <a:effectLst/>
                          <a:latin typeface="+mn-lt"/>
                        </a:rPr>
                        <a:t>.</a:t>
                      </a:r>
                    </a:p>
                  </a:txBody>
                  <a:tcPr marL="76200" marR="76200" marT="76200" marB="76200"/>
                </a:tc>
              </a:tr>
              <a:tr h="394939">
                <a:tc>
                  <a:txBody>
                    <a:bodyPr/>
                    <a:lstStyle/>
                    <a:p>
                      <a:pPr algn="l" fontAlgn="t"/>
                      <a:r>
                        <a:rPr lang="en-US" sz="2000" dirty="0" smtClean="0">
                          <a:solidFill>
                            <a:srgbClr val="000000"/>
                          </a:solidFill>
                          <a:effectLst/>
                          <a:latin typeface="+mn-lt"/>
                        </a:rPr>
                        <a:t>public </a:t>
                      </a:r>
                      <a:r>
                        <a:rPr lang="en-US" sz="2000" dirty="0">
                          <a:solidFill>
                            <a:srgbClr val="000000"/>
                          </a:solidFill>
                          <a:effectLst/>
                          <a:latin typeface="+mn-lt"/>
                        </a:rPr>
                        <a:t>final void </a:t>
                      </a:r>
                      <a:r>
                        <a:rPr lang="en-US" sz="2000" dirty="0" err="1">
                          <a:solidFill>
                            <a:srgbClr val="000000"/>
                          </a:solidFill>
                          <a:effectLst/>
                          <a:latin typeface="+mn-lt"/>
                        </a:rPr>
                        <a:t>writeObject</a:t>
                      </a:r>
                      <a:r>
                        <a:rPr lang="en-US" sz="2000" dirty="0">
                          <a:solidFill>
                            <a:srgbClr val="000000"/>
                          </a:solidFill>
                          <a:effectLst/>
                          <a:latin typeface="+mn-lt"/>
                        </a:rPr>
                        <a:t>(Object </a:t>
                      </a:r>
                      <a:r>
                        <a:rPr lang="en-US" sz="2000" dirty="0" err="1">
                          <a:solidFill>
                            <a:srgbClr val="000000"/>
                          </a:solidFill>
                          <a:effectLst/>
                          <a:latin typeface="+mn-lt"/>
                        </a:rPr>
                        <a:t>obj</a:t>
                      </a:r>
                      <a:r>
                        <a:rPr lang="en-US" sz="2000" dirty="0">
                          <a:solidFill>
                            <a:srgbClr val="000000"/>
                          </a:solidFill>
                          <a:effectLst/>
                          <a:latin typeface="+mn-lt"/>
                        </a:rPr>
                        <a:t>) </a:t>
                      </a:r>
                      <a:endParaRPr lang="en-US" sz="2000" dirty="0" smtClean="0">
                        <a:solidFill>
                          <a:srgbClr val="000000"/>
                        </a:solidFill>
                        <a:effectLst/>
                        <a:latin typeface="+mn-lt"/>
                      </a:endParaRPr>
                    </a:p>
                    <a:p>
                      <a:pPr algn="l" fontAlgn="t"/>
                      <a:r>
                        <a:rPr lang="en-US" sz="2000" dirty="0" smtClean="0">
                          <a:solidFill>
                            <a:srgbClr val="000000"/>
                          </a:solidFill>
                          <a:effectLst/>
                          <a:latin typeface="+mn-lt"/>
                        </a:rPr>
                        <a:t>throws </a:t>
                      </a:r>
                      <a:r>
                        <a:rPr lang="en-US" sz="2000" dirty="0" err="1">
                          <a:solidFill>
                            <a:srgbClr val="000000"/>
                          </a:solidFill>
                          <a:effectLst/>
                          <a:latin typeface="+mn-lt"/>
                        </a:rPr>
                        <a:t>IOException</a:t>
                      </a:r>
                      <a:r>
                        <a:rPr lang="en-US" sz="2000" dirty="0">
                          <a:solidFill>
                            <a:srgbClr val="000000"/>
                          </a:solidFill>
                          <a:effectLst/>
                          <a:latin typeface="+mn-lt"/>
                        </a:rPr>
                        <a:t> {}</a:t>
                      </a:r>
                    </a:p>
                  </a:txBody>
                  <a:tcPr marL="76200" marR="76200" marT="76200" marB="76200"/>
                </a:tc>
                <a:tc>
                  <a:txBody>
                    <a:bodyPr/>
                    <a:lstStyle/>
                    <a:p>
                      <a:pPr algn="l" fontAlgn="t"/>
                      <a:r>
                        <a:rPr lang="en-US" sz="2000" dirty="0">
                          <a:solidFill>
                            <a:srgbClr val="000000"/>
                          </a:solidFill>
                          <a:effectLst/>
                          <a:latin typeface="+mn-lt"/>
                        </a:rPr>
                        <a:t>writes the specified object to the </a:t>
                      </a:r>
                      <a:r>
                        <a:rPr lang="en-US" sz="2000" dirty="0" err="1">
                          <a:solidFill>
                            <a:srgbClr val="000000"/>
                          </a:solidFill>
                          <a:effectLst/>
                          <a:latin typeface="+mn-lt"/>
                        </a:rPr>
                        <a:t>ObjectOutputStream</a:t>
                      </a:r>
                      <a:r>
                        <a:rPr lang="en-US" sz="2000" dirty="0">
                          <a:solidFill>
                            <a:srgbClr val="000000"/>
                          </a:solidFill>
                          <a:effectLst/>
                          <a:latin typeface="+mn-lt"/>
                        </a:rPr>
                        <a:t>.</a:t>
                      </a:r>
                    </a:p>
                  </a:txBody>
                  <a:tcPr marL="76200" marR="76200" marT="76200" marB="76200"/>
                </a:tc>
              </a:tr>
              <a:tr h="394939">
                <a:tc>
                  <a:txBody>
                    <a:bodyPr/>
                    <a:lstStyle/>
                    <a:p>
                      <a:pPr algn="l" fontAlgn="t"/>
                      <a:r>
                        <a:rPr lang="en-US" sz="2000" dirty="0" smtClean="0">
                          <a:solidFill>
                            <a:srgbClr val="000000"/>
                          </a:solidFill>
                          <a:effectLst/>
                          <a:latin typeface="+mn-lt"/>
                        </a:rPr>
                        <a:t>public </a:t>
                      </a:r>
                      <a:r>
                        <a:rPr lang="en-US" sz="2000" dirty="0">
                          <a:solidFill>
                            <a:srgbClr val="000000"/>
                          </a:solidFill>
                          <a:effectLst/>
                          <a:latin typeface="+mn-lt"/>
                        </a:rPr>
                        <a:t>void flush() throws </a:t>
                      </a:r>
                      <a:r>
                        <a:rPr lang="en-US" sz="2000" dirty="0" err="1">
                          <a:solidFill>
                            <a:srgbClr val="000000"/>
                          </a:solidFill>
                          <a:effectLst/>
                          <a:latin typeface="+mn-lt"/>
                        </a:rPr>
                        <a:t>IOException</a:t>
                      </a:r>
                      <a:r>
                        <a:rPr lang="en-US" sz="2000" dirty="0">
                          <a:solidFill>
                            <a:srgbClr val="000000"/>
                          </a:solidFill>
                          <a:effectLst/>
                          <a:latin typeface="+mn-lt"/>
                        </a:rPr>
                        <a:t> {}</a:t>
                      </a:r>
                    </a:p>
                  </a:txBody>
                  <a:tcPr marL="76200" marR="76200" marT="76200" marB="76200"/>
                </a:tc>
                <a:tc>
                  <a:txBody>
                    <a:bodyPr/>
                    <a:lstStyle/>
                    <a:p>
                      <a:pPr algn="l" fontAlgn="t"/>
                      <a:r>
                        <a:rPr lang="en-US" sz="2000">
                          <a:solidFill>
                            <a:srgbClr val="000000"/>
                          </a:solidFill>
                          <a:effectLst/>
                          <a:latin typeface="+mn-lt"/>
                        </a:rPr>
                        <a:t>flushes the current output stream.</a:t>
                      </a:r>
                    </a:p>
                  </a:txBody>
                  <a:tcPr marL="76200" marR="76200" marT="76200" marB="76200"/>
                </a:tc>
              </a:tr>
              <a:tr h="244486">
                <a:tc>
                  <a:txBody>
                    <a:bodyPr/>
                    <a:lstStyle/>
                    <a:p>
                      <a:pPr algn="l" fontAlgn="t"/>
                      <a:r>
                        <a:rPr lang="en-US" sz="2000" dirty="0" smtClean="0">
                          <a:solidFill>
                            <a:srgbClr val="000000"/>
                          </a:solidFill>
                          <a:effectLst/>
                          <a:latin typeface="+mn-lt"/>
                        </a:rPr>
                        <a:t>public </a:t>
                      </a:r>
                      <a:r>
                        <a:rPr lang="en-US" sz="2000" dirty="0">
                          <a:solidFill>
                            <a:srgbClr val="000000"/>
                          </a:solidFill>
                          <a:effectLst/>
                          <a:latin typeface="+mn-lt"/>
                        </a:rPr>
                        <a:t>void close() throws </a:t>
                      </a:r>
                      <a:r>
                        <a:rPr lang="en-US" sz="2000" dirty="0" err="1">
                          <a:solidFill>
                            <a:srgbClr val="000000"/>
                          </a:solidFill>
                          <a:effectLst/>
                          <a:latin typeface="+mn-lt"/>
                        </a:rPr>
                        <a:t>IOException</a:t>
                      </a:r>
                      <a:r>
                        <a:rPr lang="en-US" sz="2000" dirty="0">
                          <a:solidFill>
                            <a:srgbClr val="000000"/>
                          </a:solidFill>
                          <a:effectLst/>
                          <a:latin typeface="+mn-lt"/>
                        </a:rPr>
                        <a:t> {}</a:t>
                      </a:r>
                    </a:p>
                  </a:txBody>
                  <a:tcPr marL="76200" marR="76200" marT="76200" marB="76200"/>
                </a:tc>
                <a:tc>
                  <a:txBody>
                    <a:bodyPr/>
                    <a:lstStyle/>
                    <a:p>
                      <a:pPr algn="l" fontAlgn="t"/>
                      <a:r>
                        <a:rPr lang="en-US" sz="2000" dirty="0">
                          <a:solidFill>
                            <a:srgbClr val="000000"/>
                          </a:solidFill>
                          <a:effectLst/>
                          <a:latin typeface="+mn-lt"/>
                        </a:rPr>
                        <a:t>closes the current output stream.</a:t>
                      </a:r>
                    </a:p>
                  </a:txBody>
                  <a:tcPr marL="76200" marR="76200" marT="76200" marB="76200"/>
                </a:tc>
              </a:tr>
            </a:tbl>
          </a:graphicData>
        </a:graphic>
      </p:graphicFrame>
    </p:spTree>
    <p:extLst>
      <p:ext uri="{BB962C8B-B14F-4D97-AF65-F5344CB8AC3E}">
        <p14:creationId xmlns:p14="http://schemas.microsoft.com/office/powerpoint/2010/main" val="120383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ObjectInputStream</a:t>
            </a:r>
            <a:r>
              <a:rPr lang="en-US" sz="3200" dirty="0"/>
              <a:t> class</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42527"/>
            <a:ext cx="10515600" cy="1527256"/>
          </a:xfrm>
        </p:spPr>
        <p:txBody>
          <a:bodyPr>
            <a:normAutofit/>
          </a:bodyPr>
          <a:lstStyle/>
          <a:p>
            <a:pPr algn="just" fontAlgn="base"/>
            <a:r>
              <a:rPr lang="en-US" dirty="0"/>
              <a:t>An </a:t>
            </a:r>
            <a:r>
              <a:rPr lang="en-US" dirty="0" err="1"/>
              <a:t>ObjectInputStream</a:t>
            </a:r>
            <a:r>
              <a:rPr lang="en-US" dirty="0"/>
              <a:t> </a:t>
            </a:r>
            <a:r>
              <a:rPr lang="en-US" dirty="0" err="1"/>
              <a:t>deserializes</a:t>
            </a:r>
            <a:r>
              <a:rPr lang="en-US" dirty="0"/>
              <a:t> objects and primitive data written using an </a:t>
            </a:r>
            <a:r>
              <a:rPr lang="en-US" dirty="0" err="1"/>
              <a:t>ObjectOutputStream</a:t>
            </a:r>
            <a:r>
              <a:rPr lang="en-US" dirty="0" smtClean="0"/>
              <a:t>.</a:t>
            </a:r>
          </a:p>
          <a:p>
            <a:pPr algn="just" fontAlgn="base"/>
            <a:r>
              <a:rPr lang="en-US" dirty="0" smtClean="0"/>
              <a:t>Java </a:t>
            </a:r>
            <a:r>
              <a:rPr lang="en-US" dirty="0" err="1"/>
              <a:t>ObjectInputStream</a:t>
            </a:r>
            <a:r>
              <a:rPr lang="en-US" dirty="0"/>
              <a:t> </a:t>
            </a:r>
            <a:r>
              <a:rPr lang="en-US" dirty="0" smtClean="0"/>
              <a:t>class constructors &amp;  methods: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690129386"/>
              </p:ext>
            </p:extLst>
          </p:nvPr>
        </p:nvGraphicFramePr>
        <p:xfrm>
          <a:off x="677917" y="2916621"/>
          <a:ext cx="11335407" cy="3027045"/>
        </p:xfrm>
        <a:graphic>
          <a:graphicData uri="http://schemas.openxmlformats.org/drawingml/2006/table">
            <a:tbl>
              <a:tblPr>
                <a:tableStyleId>{5C22544A-7EE6-4342-B048-85BDC9FD1C3A}</a:tableStyleId>
              </a:tblPr>
              <a:tblGrid>
                <a:gridCol w="6021444"/>
                <a:gridCol w="5313963"/>
              </a:tblGrid>
              <a:tr h="156330">
                <a:tc>
                  <a:txBody>
                    <a:bodyPr/>
                    <a:lstStyle/>
                    <a:p>
                      <a:pPr algn="l" fontAlgn="t"/>
                      <a:r>
                        <a:rPr lang="en-US" sz="2400" b="1" u="none" strike="noStrike" dirty="0">
                          <a:effectLst/>
                          <a:latin typeface="+mn-lt"/>
                        </a:rPr>
                        <a:t>Method</a:t>
                      </a:r>
                      <a:endParaRPr lang="en-US" sz="2400" b="1" i="0" u="none" strike="noStrike" dirty="0">
                        <a:solidFill>
                          <a:srgbClr val="000000"/>
                        </a:solidFill>
                        <a:effectLst/>
                        <a:latin typeface="+mn-lt"/>
                      </a:endParaRPr>
                    </a:p>
                  </a:txBody>
                  <a:tcPr marL="85725" marR="9525" marT="9525" marB="0"/>
                </a:tc>
                <a:tc>
                  <a:txBody>
                    <a:bodyPr/>
                    <a:lstStyle/>
                    <a:p>
                      <a:pPr algn="l" fontAlgn="t"/>
                      <a:r>
                        <a:rPr lang="en-US" sz="2400" b="1" u="none" strike="noStrike" dirty="0">
                          <a:effectLst/>
                          <a:latin typeface="+mn-lt"/>
                        </a:rPr>
                        <a:t>Description</a:t>
                      </a:r>
                      <a:endParaRPr lang="en-US" sz="2400" b="1" i="0" u="none" strike="noStrike" dirty="0">
                        <a:solidFill>
                          <a:srgbClr val="000000"/>
                        </a:solidFill>
                        <a:effectLst/>
                        <a:latin typeface="+mn-lt"/>
                      </a:endParaRPr>
                    </a:p>
                  </a:txBody>
                  <a:tcPr marL="85725" marR="9525" marT="9525" marB="0"/>
                </a:tc>
              </a:tr>
              <a:tr h="394939">
                <a:tc>
                  <a:txBody>
                    <a:bodyPr/>
                    <a:lstStyle/>
                    <a:p>
                      <a:pPr algn="l" fontAlgn="t"/>
                      <a:r>
                        <a:rPr lang="en-US" sz="2400" dirty="0" smtClean="0">
                          <a:solidFill>
                            <a:srgbClr val="000000"/>
                          </a:solidFill>
                          <a:effectLst/>
                          <a:latin typeface="+mn-lt"/>
                        </a:rPr>
                        <a:t>public </a:t>
                      </a:r>
                      <a:r>
                        <a:rPr lang="en-US" sz="2400" dirty="0" err="1" smtClean="0">
                          <a:solidFill>
                            <a:srgbClr val="000000"/>
                          </a:solidFill>
                          <a:effectLst/>
                          <a:latin typeface="+mn-lt"/>
                        </a:rPr>
                        <a:t>ObjectInputStream</a:t>
                      </a:r>
                      <a:r>
                        <a:rPr lang="en-US" sz="2400" dirty="0" smtClean="0">
                          <a:solidFill>
                            <a:srgbClr val="000000"/>
                          </a:solidFill>
                          <a:effectLst/>
                          <a:latin typeface="+mn-lt"/>
                        </a:rPr>
                        <a:t>(</a:t>
                      </a:r>
                      <a:r>
                        <a:rPr lang="en-US" sz="2400" dirty="0" err="1" smtClean="0">
                          <a:solidFill>
                            <a:srgbClr val="000000"/>
                          </a:solidFill>
                          <a:effectLst/>
                          <a:latin typeface="+mn-lt"/>
                        </a:rPr>
                        <a:t>InputStream</a:t>
                      </a:r>
                      <a:r>
                        <a:rPr lang="en-US" sz="2400" dirty="0" smtClean="0">
                          <a:solidFill>
                            <a:srgbClr val="000000"/>
                          </a:solidFill>
                          <a:effectLst/>
                          <a:latin typeface="+mn-lt"/>
                        </a:rPr>
                        <a:t> in) </a:t>
                      </a:r>
                    </a:p>
                    <a:p>
                      <a:pPr algn="l" fontAlgn="t"/>
                      <a:r>
                        <a:rPr lang="en-US" sz="2400" dirty="0" smtClean="0">
                          <a:solidFill>
                            <a:srgbClr val="000000"/>
                          </a:solidFill>
                          <a:effectLst/>
                          <a:latin typeface="+mn-lt"/>
                        </a:rPr>
                        <a:t>throws </a:t>
                      </a:r>
                      <a:r>
                        <a:rPr lang="en-US" sz="2400" dirty="0" err="1" smtClean="0">
                          <a:solidFill>
                            <a:srgbClr val="000000"/>
                          </a:solidFill>
                          <a:effectLst/>
                          <a:latin typeface="+mn-lt"/>
                        </a:rPr>
                        <a:t>IOException</a:t>
                      </a:r>
                      <a:r>
                        <a:rPr lang="en-US" sz="2400" dirty="0" smtClean="0">
                          <a:solidFill>
                            <a:srgbClr val="000000"/>
                          </a:solidFill>
                          <a:effectLst/>
                          <a:latin typeface="+mn-lt"/>
                        </a:rPr>
                        <a:t> {}	creates an</a:t>
                      </a:r>
                      <a:endParaRPr lang="en-US" sz="2400" dirty="0">
                        <a:solidFill>
                          <a:srgbClr val="000000"/>
                        </a:solidFill>
                        <a:effectLst/>
                        <a:latin typeface="+mn-lt"/>
                      </a:endParaRPr>
                    </a:p>
                  </a:txBody>
                  <a:tcPr marL="76200" marR="76200" marT="76200" marB="76200"/>
                </a:tc>
                <a:tc>
                  <a:txBody>
                    <a:bodyPr/>
                    <a:lstStyle/>
                    <a:p>
                      <a:pPr algn="l" fontAlgn="t"/>
                      <a:r>
                        <a:rPr lang="en-US" sz="2400" b="0" i="0" kern="1200" dirty="0" smtClean="0">
                          <a:solidFill>
                            <a:schemeClr val="dk1"/>
                          </a:solidFill>
                          <a:effectLst/>
                          <a:latin typeface="+mn-lt"/>
                          <a:ea typeface="+mn-ea"/>
                          <a:cs typeface="+mn-cs"/>
                        </a:rPr>
                        <a:t>creates an </a:t>
                      </a:r>
                      <a:r>
                        <a:rPr lang="en-US" sz="2400" b="0" i="0" kern="1200" dirty="0" err="1" smtClean="0">
                          <a:solidFill>
                            <a:schemeClr val="dk1"/>
                          </a:solidFill>
                          <a:effectLst/>
                          <a:latin typeface="+mn-lt"/>
                          <a:ea typeface="+mn-ea"/>
                          <a:cs typeface="+mn-cs"/>
                        </a:rPr>
                        <a:t>ObjectInputStream</a:t>
                      </a:r>
                      <a:r>
                        <a:rPr lang="en-US" sz="2400" b="0" i="0" kern="1200" dirty="0" smtClean="0">
                          <a:solidFill>
                            <a:schemeClr val="dk1"/>
                          </a:solidFill>
                          <a:effectLst/>
                          <a:latin typeface="+mn-lt"/>
                          <a:ea typeface="+mn-ea"/>
                          <a:cs typeface="+mn-cs"/>
                        </a:rPr>
                        <a:t> that reads from the specified </a:t>
                      </a:r>
                      <a:r>
                        <a:rPr lang="en-US" sz="2400" b="0" i="0" kern="1200" dirty="0" err="1" smtClean="0">
                          <a:solidFill>
                            <a:schemeClr val="dk1"/>
                          </a:solidFill>
                          <a:effectLst/>
                          <a:latin typeface="+mn-lt"/>
                          <a:ea typeface="+mn-ea"/>
                          <a:cs typeface="+mn-cs"/>
                        </a:rPr>
                        <a:t>InputStream</a:t>
                      </a:r>
                      <a:r>
                        <a:rPr lang="en-US" sz="2400" b="0" i="0" kern="1200" dirty="0" smtClean="0">
                          <a:solidFill>
                            <a:schemeClr val="dk1"/>
                          </a:solidFill>
                          <a:effectLst/>
                          <a:latin typeface="+mn-lt"/>
                          <a:ea typeface="+mn-ea"/>
                          <a:cs typeface="+mn-cs"/>
                        </a:rPr>
                        <a:t>.</a:t>
                      </a:r>
                      <a:endParaRPr lang="en-US" sz="2400" dirty="0">
                        <a:solidFill>
                          <a:srgbClr val="000000"/>
                        </a:solidFill>
                        <a:effectLst/>
                        <a:latin typeface="+mn-lt"/>
                      </a:endParaRPr>
                    </a:p>
                  </a:txBody>
                  <a:tcPr marL="76200" marR="76200" marT="76200" marB="76200"/>
                </a:tc>
              </a:tr>
              <a:tr h="394939">
                <a:tc>
                  <a:txBody>
                    <a:bodyPr/>
                    <a:lstStyle/>
                    <a:p>
                      <a:pPr algn="l" fontAlgn="t"/>
                      <a:r>
                        <a:rPr lang="en-US" sz="2400" dirty="0" smtClean="0">
                          <a:solidFill>
                            <a:srgbClr val="000000"/>
                          </a:solidFill>
                          <a:effectLst/>
                          <a:latin typeface="+mn-lt"/>
                        </a:rPr>
                        <a:t>public </a:t>
                      </a:r>
                      <a:r>
                        <a:rPr lang="en-US" sz="2400" dirty="0">
                          <a:solidFill>
                            <a:srgbClr val="000000"/>
                          </a:solidFill>
                          <a:effectLst/>
                          <a:latin typeface="+mn-lt"/>
                        </a:rPr>
                        <a:t>final Object </a:t>
                      </a:r>
                      <a:r>
                        <a:rPr lang="en-US" sz="2400" dirty="0" err="1">
                          <a:solidFill>
                            <a:srgbClr val="000000"/>
                          </a:solidFill>
                          <a:effectLst/>
                          <a:latin typeface="+mn-lt"/>
                        </a:rPr>
                        <a:t>readObject</a:t>
                      </a:r>
                      <a:r>
                        <a:rPr lang="en-US" sz="2400" dirty="0">
                          <a:solidFill>
                            <a:srgbClr val="000000"/>
                          </a:solidFill>
                          <a:effectLst/>
                          <a:latin typeface="+mn-lt"/>
                        </a:rPr>
                        <a:t>() </a:t>
                      </a:r>
                      <a:endParaRPr lang="en-US" sz="2400" dirty="0" smtClean="0">
                        <a:solidFill>
                          <a:srgbClr val="000000"/>
                        </a:solidFill>
                        <a:effectLst/>
                        <a:latin typeface="+mn-lt"/>
                      </a:endParaRPr>
                    </a:p>
                    <a:p>
                      <a:pPr algn="l" fontAlgn="t"/>
                      <a:r>
                        <a:rPr lang="en-US" sz="2400" dirty="0" smtClean="0">
                          <a:solidFill>
                            <a:srgbClr val="000000"/>
                          </a:solidFill>
                          <a:effectLst/>
                          <a:latin typeface="+mn-lt"/>
                        </a:rPr>
                        <a:t>throws </a:t>
                      </a:r>
                      <a:r>
                        <a:rPr lang="en-US" sz="2400" dirty="0" err="1">
                          <a:solidFill>
                            <a:srgbClr val="000000"/>
                          </a:solidFill>
                          <a:effectLst/>
                          <a:latin typeface="+mn-lt"/>
                        </a:rPr>
                        <a:t>IOException</a:t>
                      </a:r>
                      <a:r>
                        <a:rPr lang="en-US" sz="2400" dirty="0">
                          <a:solidFill>
                            <a:srgbClr val="000000"/>
                          </a:solidFill>
                          <a:effectLst/>
                          <a:latin typeface="+mn-lt"/>
                        </a:rPr>
                        <a:t>, </a:t>
                      </a:r>
                      <a:r>
                        <a:rPr lang="en-US" sz="2400" dirty="0" err="1">
                          <a:solidFill>
                            <a:srgbClr val="000000"/>
                          </a:solidFill>
                          <a:effectLst/>
                          <a:latin typeface="+mn-lt"/>
                        </a:rPr>
                        <a:t>ClassNotFoundException</a:t>
                      </a:r>
                      <a:r>
                        <a:rPr lang="en-US" sz="2400" dirty="0">
                          <a:solidFill>
                            <a:srgbClr val="000000"/>
                          </a:solidFill>
                          <a:effectLst/>
                          <a:latin typeface="+mn-lt"/>
                        </a:rPr>
                        <a:t>{}</a:t>
                      </a:r>
                    </a:p>
                  </a:txBody>
                  <a:tcPr marL="76200" marR="76200" marT="76200" marB="76200"/>
                </a:tc>
                <a:tc>
                  <a:txBody>
                    <a:bodyPr/>
                    <a:lstStyle/>
                    <a:p>
                      <a:pPr algn="l" fontAlgn="t"/>
                      <a:r>
                        <a:rPr lang="en-US" sz="2400" dirty="0">
                          <a:solidFill>
                            <a:srgbClr val="000000"/>
                          </a:solidFill>
                          <a:effectLst/>
                          <a:latin typeface="+mn-lt"/>
                        </a:rPr>
                        <a:t>reads an object from the input stream.</a:t>
                      </a:r>
                    </a:p>
                  </a:txBody>
                  <a:tcPr marL="76200" marR="76200" marT="76200" marB="76200"/>
                </a:tc>
              </a:tr>
              <a:tr h="394939">
                <a:tc>
                  <a:txBody>
                    <a:bodyPr/>
                    <a:lstStyle/>
                    <a:p>
                      <a:pPr algn="l" fontAlgn="t"/>
                      <a:r>
                        <a:rPr lang="en-US" sz="2400" dirty="0" smtClean="0">
                          <a:solidFill>
                            <a:srgbClr val="000000"/>
                          </a:solidFill>
                          <a:effectLst/>
                          <a:latin typeface="+mn-lt"/>
                        </a:rPr>
                        <a:t>public </a:t>
                      </a:r>
                      <a:r>
                        <a:rPr lang="en-US" sz="2400" dirty="0">
                          <a:solidFill>
                            <a:srgbClr val="000000"/>
                          </a:solidFill>
                          <a:effectLst/>
                          <a:latin typeface="+mn-lt"/>
                        </a:rPr>
                        <a:t>void close() </a:t>
                      </a:r>
                      <a:endParaRPr lang="en-US" sz="2400" dirty="0" smtClean="0">
                        <a:solidFill>
                          <a:srgbClr val="000000"/>
                        </a:solidFill>
                        <a:effectLst/>
                        <a:latin typeface="+mn-lt"/>
                      </a:endParaRPr>
                    </a:p>
                    <a:p>
                      <a:pPr algn="l" fontAlgn="t"/>
                      <a:r>
                        <a:rPr lang="en-US" sz="2400" dirty="0" smtClean="0">
                          <a:solidFill>
                            <a:srgbClr val="000000"/>
                          </a:solidFill>
                          <a:effectLst/>
                          <a:latin typeface="+mn-lt"/>
                        </a:rPr>
                        <a:t>throws </a:t>
                      </a:r>
                      <a:r>
                        <a:rPr lang="en-US" sz="2400" dirty="0" err="1">
                          <a:solidFill>
                            <a:srgbClr val="000000"/>
                          </a:solidFill>
                          <a:effectLst/>
                          <a:latin typeface="+mn-lt"/>
                        </a:rPr>
                        <a:t>IOException</a:t>
                      </a:r>
                      <a:r>
                        <a:rPr lang="en-US" sz="2400" dirty="0">
                          <a:solidFill>
                            <a:srgbClr val="000000"/>
                          </a:solidFill>
                          <a:effectLst/>
                          <a:latin typeface="+mn-lt"/>
                        </a:rPr>
                        <a:t> {}</a:t>
                      </a:r>
                    </a:p>
                  </a:txBody>
                  <a:tcPr marL="76200" marR="76200" marT="76200" marB="76200"/>
                </a:tc>
                <a:tc>
                  <a:txBody>
                    <a:bodyPr/>
                    <a:lstStyle/>
                    <a:p>
                      <a:pPr algn="l" fontAlgn="t"/>
                      <a:r>
                        <a:rPr lang="en-US" sz="2400" dirty="0">
                          <a:solidFill>
                            <a:srgbClr val="000000"/>
                          </a:solidFill>
                          <a:effectLst/>
                          <a:latin typeface="+mn-lt"/>
                        </a:rPr>
                        <a:t>closes </a:t>
                      </a:r>
                      <a:r>
                        <a:rPr lang="en-US" sz="2400" dirty="0" err="1">
                          <a:solidFill>
                            <a:srgbClr val="000000"/>
                          </a:solidFill>
                          <a:effectLst/>
                          <a:latin typeface="+mn-lt"/>
                        </a:rPr>
                        <a:t>ObjectInputStream</a:t>
                      </a:r>
                      <a:r>
                        <a:rPr lang="en-US" sz="2400" dirty="0">
                          <a:solidFill>
                            <a:srgbClr val="000000"/>
                          </a:solidFill>
                          <a:effectLst/>
                          <a:latin typeface="+mn-lt"/>
                        </a:rPr>
                        <a:t>.</a:t>
                      </a:r>
                    </a:p>
                  </a:txBody>
                  <a:tcPr marL="76200" marR="76200" marT="76200" marB="76200"/>
                </a:tc>
              </a:tr>
            </a:tbl>
          </a:graphicData>
        </a:graphic>
      </p:graphicFrame>
    </p:spTree>
    <p:extLst>
      <p:ext uri="{BB962C8B-B14F-4D97-AF65-F5344CB8AC3E}">
        <p14:creationId xmlns:p14="http://schemas.microsoft.com/office/powerpoint/2010/main" val="209307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Serialization and Deserialization </a:t>
            </a:r>
            <a:r>
              <a:rPr lang="en-US" sz="3200" dirty="0" smtClean="0"/>
              <a:t>example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3844784"/>
          </a:xfrm>
        </p:spPr>
        <p:txBody>
          <a:bodyPr>
            <a:normAutofit fontScale="40000" lnSpcReduction="20000"/>
          </a:bodyPr>
          <a:lstStyle/>
          <a:p>
            <a:pPr marL="0" indent="0" algn="just" fontAlgn="base">
              <a:buNone/>
            </a:pPr>
            <a:r>
              <a:rPr lang="en-US" sz="7200" dirty="0"/>
              <a:t>import </a:t>
            </a:r>
            <a:r>
              <a:rPr lang="en-US" sz="7200" dirty="0" err="1"/>
              <a:t>java.io.Serializable</a:t>
            </a:r>
            <a:r>
              <a:rPr lang="en-US" sz="7200" dirty="0"/>
              <a:t>; </a:t>
            </a:r>
            <a:endParaRPr lang="en-US" sz="7200" dirty="0" smtClean="0"/>
          </a:p>
          <a:p>
            <a:pPr marL="0" indent="0" algn="just" fontAlgn="base">
              <a:buNone/>
            </a:pPr>
            <a:r>
              <a:rPr lang="en-US" sz="7200" dirty="0"/>
              <a:t>import </a:t>
            </a:r>
            <a:r>
              <a:rPr lang="en-US" sz="7200" dirty="0" err="1"/>
              <a:t>java.io</a:t>
            </a:r>
            <a:r>
              <a:rPr lang="en-US" sz="7200" dirty="0"/>
              <a:t>.*;  </a:t>
            </a:r>
          </a:p>
          <a:p>
            <a:pPr marL="0" indent="0" algn="just" fontAlgn="base">
              <a:buNone/>
            </a:pPr>
            <a:r>
              <a:rPr lang="en-US" sz="7200" dirty="0"/>
              <a:t>public class Student implements </a:t>
            </a:r>
            <a:r>
              <a:rPr lang="en-US" sz="7200" dirty="0" err="1"/>
              <a:t>Serializable</a:t>
            </a:r>
            <a:r>
              <a:rPr lang="en-US" sz="7200" dirty="0"/>
              <a:t>{  </a:t>
            </a:r>
          </a:p>
          <a:p>
            <a:pPr marL="457200" lvl="1" indent="0" algn="just" fontAlgn="base">
              <a:buNone/>
            </a:pPr>
            <a:r>
              <a:rPr lang="en-US" sz="6800" dirty="0"/>
              <a:t> </a:t>
            </a:r>
            <a:r>
              <a:rPr lang="en-US" sz="6800" dirty="0" err="1"/>
              <a:t>int</a:t>
            </a:r>
            <a:r>
              <a:rPr lang="en-US" sz="6800" dirty="0"/>
              <a:t> id;  </a:t>
            </a:r>
          </a:p>
          <a:p>
            <a:pPr marL="457200" lvl="1" indent="0" algn="just" fontAlgn="base">
              <a:buNone/>
            </a:pPr>
            <a:r>
              <a:rPr lang="en-US" sz="6800" dirty="0"/>
              <a:t> String name;  </a:t>
            </a:r>
          </a:p>
          <a:p>
            <a:pPr marL="457200" lvl="1" indent="0" algn="just" fontAlgn="base">
              <a:buNone/>
            </a:pPr>
            <a:r>
              <a:rPr lang="en-US" sz="6800" dirty="0"/>
              <a:t> public Student(</a:t>
            </a:r>
            <a:r>
              <a:rPr lang="en-US" sz="6800" dirty="0" err="1"/>
              <a:t>int</a:t>
            </a:r>
            <a:r>
              <a:rPr lang="en-US" sz="6800" dirty="0"/>
              <a:t> id, String name) {  </a:t>
            </a:r>
          </a:p>
          <a:p>
            <a:pPr marL="914400" lvl="2" indent="0" algn="just" fontAlgn="base">
              <a:buNone/>
            </a:pPr>
            <a:r>
              <a:rPr lang="en-US" sz="6400" dirty="0"/>
              <a:t>  </a:t>
            </a:r>
            <a:r>
              <a:rPr lang="en-US" sz="6400" dirty="0" err="1"/>
              <a:t>this.id</a:t>
            </a:r>
            <a:r>
              <a:rPr lang="en-US" sz="6400" dirty="0"/>
              <a:t> = id;  </a:t>
            </a:r>
          </a:p>
          <a:p>
            <a:pPr marL="914400" lvl="2" indent="0" algn="just" fontAlgn="base">
              <a:buNone/>
            </a:pPr>
            <a:r>
              <a:rPr lang="en-US" sz="6400" dirty="0"/>
              <a:t>  </a:t>
            </a:r>
            <a:r>
              <a:rPr lang="en-US" sz="6400" dirty="0" err="1"/>
              <a:t>this.name</a:t>
            </a:r>
            <a:r>
              <a:rPr lang="en-US" sz="6400" dirty="0"/>
              <a:t> = name;  </a:t>
            </a:r>
          </a:p>
          <a:p>
            <a:pPr marL="457200" lvl="1" indent="0" algn="just" fontAlgn="base">
              <a:buNone/>
            </a:pPr>
            <a:r>
              <a:rPr lang="en-US" sz="6800" dirty="0"/>
              <a:t> }  </a:t>
            </a:r>
          </a:p>
          <a:p>
            <a:pPr marL="0" indent="0" algn="just" fontAlgn="base">
              <a:buNone/>
            </a:pPr>
            <a:r>
              <a:rPr lang="en-US" sz="7200" dirty="0"/>
              <a:t>} </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Tree>
    <p:extLst>
      <p:ext uri="{BB962C8B-B14F-4D97-AF65-F5344CB8AC3E}">
        <p14:creationId xmlns:p14="http://schemas.microsoft.com/office/powerpoint/2010/main" val="26331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Serialization and Deserialization </a:t>
            </a:r>
            <a:r>
              <a:rPr lang="en-US" sz="3200" dirty="0" smtClean="0"/>
              <a:t>example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837567"/>
            <a:ext cx="10515600" cy="5282293"/>
          </a:xfrm>
        </p:spPr>
        <p:txBody>
          <a:bodyPr>
            <a:noAutofit/>
          </a:bodyPr>
          <a:lstStyle/>
          <a:p>
            <a:pPr marL="0" indent="0" algn="just" fontAlgn="base">
              <a:buNone/>
            </a:pPr>
            <a:r>
              <a:rPr lang="en-US" sz="2400" dirty="0"/>
              <a:t>class </a:t>
            </a:r>
            <a:r>
              <a:rPr lang="en-US" sz="2400" dirty="0" err="1" smtClean="0"/>
              <a:t>Test_Ser_Des</a:t>
            </a:r>
            <a:r>
              <a:rPr lang="en-US" sz="2400" dirty="0" smtClean="0"/>
              <a:t>{ </a:t>
            </a:r>
          </a:p>
          <a:p>
            <a:pPr marL="457200" lvl="1" indent="0" algn="just" fontAlgn="base">
              <a:buNone/>
            </a:pPr>
            <a:r>
              <a:rPr lang="en-US" dirty="0" smtClean="0"/>
              <a:t>public </a:t>
            </a:r>
            <a:r>
              <a:rPr lang="en-US" dirty="0"/>
              <a:t>static void main(String </a:t>
            </a:r>
            <a:r>
              <a:rPr lang="en-US" dirty="0" err="1"/>
              <a:t>args</a:t>
            </a:r>
            <a:r>
              <a:rPr lang="en-US" dirty="0"/>
              <a:t>[]){  </a:t>
            </a:r>
          </a:p>
          <a:p>
            <a:pPr marL="914400" lvl="2" indent="0" algn="just" fontAlgn="base">
              <a:buNone/>
            </a:pPr>
            <a:r>
              <a:rPr lang="en-US" sz="2400" dirty="0"/>
              <a:t>  </a:t>
            </a:r>
            <a:r>
              <a:rPr lang="en-US" sz="2400" dirty="0" smtClean="0"/>
              <a:t>try{  //</a:t>
            </a:r>
            <a:r>
              <a:rPr lang="en-US" sz="2400" dirty="0"/>
              <a:t> Serialization </a:t>
            </a:r>
            <a:endParaRPr lang="en-US" sz="2400" dirty="0" smtClean="0"/>
          </a:p>
          <a:p>
            <a:pPr marL="1371600" lvl="3" indent="0" algn="just" fontAlgn="base">
              <a:buNone/>
            </a:pPr>
            <a:r>
              <a:rPr lang="en-US" sz="2400" dirty="0" smtClean="0"/>
              <a:t>  Student </a:t>
            </a:r>
            <a:r>
              <a:rPr lang="en-US" sz="2400" dirty="0" err="1" smtClean="0"/>
              <a:t>s1</a:t>
            </a:r>
            <a:r>
              <a:rPr lang="en-US" sz="2400" dirty="0" smtClean="0"/>
              <a:t> =new Student(211,"</a:t>
            </a:r>
            <a:r>
              <a:rPr lang="en-US" sz="2400" dirty="0" err="1" smtClean="0"/>
              <a:t>ravi</a:t>
            </a:r>
            <a:r>
              <a:rPr lang="en-US" sz="2400" dirty="0" smtClean="0"/>
              <a:t>");  </a:t>
            </a:r>
          </a:p>
          <a:p>
            <a:pPr marL="1371600" lvl="3" indent="0" algn="just" fontAlgn="base">
              <a:buNone/>
            </a:pPr>
            <a:r>
              <a:rPr lang="en-US" sz="2400" dirty="0" smtClean="0"/>
              <a:t>  </a:t>
            </a:r>
            <a:r>
              <a:rPr lang="en-US" sz="2400" dirty="0" err="1" smtClean="0"/>
              <a:t>FileOutputStream</a:t>
            </a:r>
            <a:r>
              <a:rPr lang="en-US" sz="2400" dirty="0" smtClean="0"/>
              <a:t> </a:t>
            </a:r>
            <a:r>
              <a:rPr lang="en-US" sz="2400" dirty="0" err="1"/>
              <a:t>fout</a:t>
            </a:r>
            <a:r>
              <a:rPr lang="en-US" sz="2400" dirty="0"/>
              <a:t>=new </a:t>
            </a:r>
            <a:r>
              <a:rPr lang="en-US" sz="2400" dirty="0" err="1"/>
              <a:t>FileOutputStream</a:t>
            </a:r>
            <a:r>
              <a:rPr lang="en-US" sz="2400" dirty="0"/>
              <a:t>("</a:t>
            </a:r>
            <a:r>
              <a:rPr lang="en-US" sz="2400" dirty="0" err="1"/>
              <a:t>f.txt</a:t>
            </a:r>
            <a:r>
              <a:rPr lang="en-US" sz="2400" dirty="0"/>
              <a:t>");  </a:t>
            </a:r>
          </a:p>
          <a:p>
            <a:pPr marL="1371600" lvl="3" indent="0" algn="just" fontAlgn="base">
              <a:buNone/>
            </a:pPr>
            <a:r>
              <a:rPr lang="en-US" sz="2400" dirty="0"/>
              <a:t>  </a:t>
            </a:r>
            <a:r>
              <a:rPr lang="en-US" sz="2400" dirty="0" err="1"/>
              <a:t>ObjectOutputStream</a:t>
            </a:r>
            <a:r>
              <a:rPr lang="en-US" sz="2400" dirty="0"/>
              <a:t> out=new </a:t>
            </a:r>
            <a:r>
              <a:rPr lang="en-US" sz="2400" dirty="0" err="1"/>
              <a:t>ObjectOutputStream</a:t>
            </a:r>
            <a:r>
              <a:rPr lang="en-US" sz="2400" dirty="0"/>
              <a:t>(</a:t>
            </a:r>
            <a:r>
              <a:rPr lang="en-US" sz="2400" dirty="0" err="1"/>
              <a:t>fout</a:t>
            </a:r>
            <a:r>
              <a:rPr lang="en-US" sz="2400" dirty="0"/>
              <a:t>);  </a:t>
            </a:r>
          </a:p>
          <a:p>
            <a:pPr marL="1371600" lvl="3" indent="0" algn="just" fontAlgn="base">
              <a:buNone/>
            </a:pPr>
            <a:r>
              <a:rPr lang="en-US" sz="2400" dirty="0"/>
              <a:t>  </a:t>
            </a:r>
            <a:r>
              <a:rPr lang="en-US" sz="2400" dirty="0" err="1"/>
              <a:t>out.writeObject</a:t>
            </a:r>
            <a:r>
              <a:rPr lang="en-US" sz="2400" dirty="0"/>
              <a:t>(</a:t>
            </a:r>
            <a:r>
              <a:rPr lang="en-US" sz="2400" dirty="0" err="1"/>
              <a:t>s1</a:t>
            </a:r>
            <a:r>
              <a:rPr lang="en-US" sz="2400" dirty="0"/>
              <a:t>);  </a:t>
            </a:r>
          </a:p>
          <a:p>
            <a:pPr marL="1371600" lvl="3" indent="0" algn="just" fontAlgn="base">
              <a:buNone/>
            </a:pPr>
            <a:r>
              <a:rPr lang="en-US" sz="2400" dirty="0"/>
              <a:t>  </a:t>
            </a:r>
            <a:r>
              <a:rPr lang="en-US" sz="2400" dirty="0" err="1"/>
              <a:t>out.flush</a:t>
            </a:r>
            <a:r>
              <a:rPr lang="en-US" sz="2400" dirty="0"/>
              <a:t>();  </a:t>
            </a:r>
          </a:p>
          <a:p>
            <a:pPr marL="1371600" lvl="3" indent="0" algn="just" fontAlgn="base">
              <a:buNone/>
            </a:pPr>
            <a:r>
              <a:rPr lang="en-US" sz="2400" dirty="0"/>
              <a:t>  //closing the stream  </a:t>
            </a:r>
          </a:p>
          <a:p>
            <a:pPr marL="1371600" lvl="3" indent="0" algn="just" fontAlgn="base">
              <a:buNone/>
            </a:pPr>
            <a:r>
              <a:rPr lang="en-US" sz="2400" dirty="0"/>
              <a:t>  </a:t>
            </a:r>
            <a:r>
              <a:rPr lang="en-US" sz="2400" dirty="0" err="1"/>
              <a:t>out.close</a:t>
            </a:r>
            <a:r>
              <a:rPr lang="en-US" sz="2400" dirty="0"/>
              <a:t>();  </a:t>
            </a:r>
          </a:p>
          <a:p>
            <a:pPr marL="1371600" lvl="3" indent="0" algn="just" fontAlgn="base">
              <a:buNone/>
            </a:pPr>
            <a:r>
              <a:rPr lang="en-US" sz="2400" dirty="0"/>
              <a:t>  </a:t>
            </a:r>
            <a:r>
              <a:rPr lang="en-US" sz="2400" dirty="0" err="1"/>
              <a:t>System.out.println</a:t>
            </a:r>
            <a:r>
              <a:rPr lang="en-US" sz="2400" dirty="0"/>
              <a:t>("success");  </a:t>
            </a:r>
          </a:p>
          <a:p>
            <a:pPr marL="914400" lvl="2" indent="0" algn="just" fontAlgn="base">
              <a:buNone/>
            </a:pPr>
            <a:r>
              <a:rPr lang="en-US" sz="2400" dirty="0"/>
              <a:t>  </a:t>
            </a:r>
            <a:r>
              <a:rPr lang="en-US" sz="2400" dirty="0" smtClean="0"/>
              <a:t>}</a:t>
            </a:r>
          </a:p>
          <a:p>
            <a:pPr marL="914400" lvl="2" indent="0" algn="just" fontAlgn="base">
              <a:buNone/>
            </a:pPr>
            <a:r>
              <a:rPr lang="en-US" sz="2400" dirty="0"/>
              <a:t> </a:t>
            </a:r>
            <a:r>
              <a:rPr lang="en-US" sz="2400" dirty="0" smtClean="0"/>
              <a:t> catch(Exception </a:t>
            </a:r>
            <a:r>
              <a:rPr lang="en-US" sz="2400" dirty="0"/>
              <a:t>e</a:t>
            </a:r>
            <a:r>
              <a:rPr lang="en-US" sz="2400" dirty="0" smtClean="0"/>
              <a:t>){</a:t>
            </a:r>
          </a:p>
          <a:p>
            <a:pPr marL="914400" lvl="2" indent="0" algn="just" fontAlgn="base">
              <a:buNone/>
            </a:pPr>
            <a:r>
              <a:rPr lang="en-US" sz="2400" dirty="0"/>
              <a:t>	</a:t>
            </a:r>
            <a:r>
              <a:rPr lang="en-US" sz="2400" dirty="0" err="1" smtClean="0"/>
              <a:t>System.out.println</a:t>
            </a:r>
            <a:r>
              <a:rPr lang="en-US" sz="2400" dirty="0" smtClean="0"/>
              <a:t>(e);</a:t>
            </a:r>
          </a:p>
          <a:p>
            <a:pPr marL="914400" lvl="2" indent="0" algn="just" fontAlgn="base">
              <a:buNone/>
            </a:pPr>
            <a:r>
              <a:rPr lang="en-US" sz="2400" dirty="0" smtClean="0"/>
              <a:t>} </a:t>
            </a:r>
            <a:endParaRPr lang="en-US" sz="24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Tree>
    <p:extLst>
      <p:ext uri="{BB962C8B-B14F-4D97-AF65-F5344CB8AC3E}">
        <p14:creationId xmlns:p14="http://schemas.microsoft.com/office/powerpoint/2010/main" val="26010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Serialization and Deserialization </a:t>
            </a:r>
            <a:r>
              <a:rPr lang="en-US" sz="3200" dirty="0" smtClean="0"/>
              <a:t>example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8"/>
            <a:ext cx="10515600" cy="5282292"/>
          </a:xfrm>
        </p:spPr>
        <p:txBody>
          <a:bodyPr>
            <a:normAutofit fontScale="40000" lnSpcReduction="20000"/>
          </a:bodyPr>
          <a:lstStyle/>
          <a:p>
            <a:pPr marL="914400" lvl="2" indent="0" algn="just" fontAlgn="base">
              <a:buNone/>
            </a:pPr>
            <a:r>
              <a:rPr lang="en-US" sz="6400" dirty="0" smtClean="0"/>
              <a:t>try{  //</a:t>
            </a:r>
            <a:r>
              <a:rPr lang="en-US" sz="6400" dirty="0"/>
              <a:t> Deserialization </a:t>
            </a:r>
          </a:p>
          <a:p>
            <a:pPr marL="1371600" lvl="3" indent="0" algn="just" fontAlgn="base">
              <a:buNone/>
            </a:pPr>
            <a:r>
              <a:rPr lang="en-US" sz="6200" dirty="0" smtClean="0"/>
              <a:t>//</a:t>
            </a:r>
            <a:r>
              <a:rPr lang="en-US" sz="6200" dirty="0"/>
              <a:t>Creating stream to read the </a:t>
            </a:r>
            <a:r>
              <a:rPr lang="en-US" sz="6200" dirty="0" smtClean="0"/>
              <a:t>object</a:t>
            </a:r>
          </a:p>
          <a:p>
            <a:pPr marL="1371600" lvl="3" indent="0" algn="just" fontAlgn="base">
              <a:buNone/>
            </a:pPr>
            <a:r>
              <a:rPr lang="en-US" sz="6200" dirty="0" err="1" smtClean="0"/>
              <a:t>FileInputStream</a:t>
            </a:r>
            <a:r>
              <a:rPr lang="en-US" sz="6200" dirty="0" smtClean="0"/>
              <a:t> fin=new </a:t>
            </a:r>
            <a:r>
              <a:rPr lang="en-US" sz="6200" dirty="0" err="1"/>
              <a:t>FileInputStream</a:t>
            </a:r>
            <a:r>
              <a:rPr lang="en-US" sz="6200" dirty="0"/>
              <a:t> </a:t>
            </a:r>
            <a:r>
              <a:rPr lang="en-US" sz="6200" dirty="0" smtClean="0"/>
              <a:t>("</a:t>
            </a:r>
            <a:r>
              <a:rPr lang="en-US" sz="6200" dirty="0" err="1"/>
              <a:t>f.txt</a:t>
            </a:r>
            <a:r>
              <a:rPr lang="en-US" sz="6200" dirty="0"/>
              <a:t>");   </a:t>
            </a:r>
          </a:p>
          <a:p>
            <a:pPr marL="1371600" lvl="3" indent="0" algn="just" fontAlgn="base">
              <a:buNone/>
            </a:pPr>
            <a:r>
              <a:rPr lang="en-US" sz="6200" dirty="0" err="1" smtClean="0"/>
              <a:t>ObjectInputStream</a:t>
            </a:r>
            <a:r>
              <a:rPr lang="en-US" sz="6200" dirty="0" smtClean="0"/>
              <a:t> </a:t>
            </a:r>
            <a:r>
              <a:rPr lang="en-US" sz="6200" dirty="0"/>
              <a:t>in=new </a:t>
            </a:r>
            <a:r>
              <a:rPr lang="en-US" sz="6200" dirty="0" err="1" smtClean="0"/>
              <a:t>ObjectInputStream</a:t>
            </a:r>
            <a:r>
              <a:rPr lang="en-US" sz="6200" dirty="0" smtClean="0"/>
              <a:t>(fin);  </a:t>
            </a:r>
            <a:endParaRPr lang="en-US" sz="6200" dirty="0"/>
          </a:p>
          <a:p>
            <a:pPr marL="1371600" lvl="3" indent="0" algn="just" fontAlgn="base">
              <a:buNone/>
            </a:pPr>
            <a:r>
              <a:rPr lang="en-US" sz="6200" dirty="0" smtClean="0"/>
              <a:t>Student </a:t>
            </a:r>
            <a:r>
              <a:rPr lang="en-US" sz="6200" dirty="0"/>
              <a:t>s=(Student)</a:t>
            </a:r>
            <a:r>
              <a:rPr lang="en-US" sz="6200" dirty="0" err="1"/>
              <a:t>in.readObject</a:t>
            </a:r>
            <a:r>
              <a:rPr lang="en-US" sz="6200" dirty="0"/>
              <a:t>();  </a:t>
            </a:r>
          </a:p>
          <a:p>
            <a:pPr marL="1371600" lvl="3" indent="0" algn="just" fontAlgn="base">
              <a:buNone/>
            </a:pPr>
            <a:r>
              <a:rPr lang="en-US" sz="6200" dirty="0" smtClean="0"/>
              <a:t>//</a:t>
            </a:r>
            <a:r>
              <a:rPr lang="en-US" sz="6200" dirty="0"/>
              <a:t>printing the data of the serialized object  </a:t>
            </a:r>
          </a:p>
          <a:p>
            <a:pPr marL="1371600" lvl="3" indent="0" algn="just" fontAlgn="base">
              <a:buNone/>
            </a:pPr>
            <a:r>
              <a:rPr lang="en-US" sz="6200" dirty="0" err="1" smtClean="0"/>
              <a:t>System.out.println</a:t>
            </a:r>
            <a:r>
              <a:rPr lang="en-US" sz="6200" dirty="0" smtClean="0"/>
              <a:t>(</a:t>
            </a:r>
            <a:r>
              <a:rPr lang="en-US" sz="6200" dirty="0" err="1" smtClean="0"/>
              <a:t>s.id</a:t>
            </a:r>
            <a:r>
              <a:rPr lang="en-US" sz="6200" dirty="0"/>
              <a:t>+" "+</a:t>
            </a:r>
            <a:r>
              <a:rPr lang="en-US" sz="6200" dirty="0" err="1"/>
              <a:t>s.name</a:t>
            </a:r>
            <a:r>
              <a:rPr lang="en-US" sz="6200" dirty="0"/>
              <a:t>);  </a:t>
            </a:r>
          </a:p>
          <a:p>
            <a:pPr marL="1371600" lvl="3" indent="0" algn="just" fontAlgn="base">
              <a:buNone/>
            </a:pPr>
            <a:r>
              <a:rPr lang="en-US" sz="6200" dirty="0" smtClean="0"/>
              <a:t>//</a:t>
            </a:r>
            <a:r>
              <a:rPr lang="en-US" sz="6200" dirty="0"/>
              <a:t>closing the stream  </a:t>
            </a:r>
          </a:p>
          <a:p>
            <a:pPr marL="1371600" lvl="3" indent="0" algn="just" fontAlgn="base">
              <a:buNone/>
            </a:pPr>
            <a:r>
              <a:rPr lang="en-US" sz="6200" dirty="0" err="1" smtClean="0"/>
              <a:t>in.close</a:t>
            </a:r>
            <a:r>
              <a:rPr lang="en-US" sz="6200" dirty="0"/>
              <a:t>();  </a:t>
            </a:r>
          </a:p>
          <a:p>
            <a:pPr marL="914400" lvl="2" indent="0" algn="just" fontAlgn="base">
              <a:buNone/>
            </a:pPr>
            <a:r>
              <a:rPr lang="en-US" sz="6400" dirty="0" smtClean="0"/>
              <a:t>}</a:t>
            </a:r>
          </a:p>
          <a:p>
            <a:pPr marL="914400" lvl="2" indent="0" algn="just" fontAlgn="base">
              <a:buNone/>
            </a:pPr>
            <a:r>
              <a:rPr lang="en-US" sz="6400" dirty="0" smtClean="0"/>
              <a:t>catch(Exception </a:t>
            </a:r>
            <a:r>
              <a:rPr lang="en-US" sz="6400" dirty="0"/>
              <a:t>e</a:t>
            </a:r>
            <a:r>
              <a:rPr lang="en-US" sz="6400" dirty="0" smtClean="0"/>
              <a:t>){</a:t>
            </a:r>
          </a:p>
          <a:p>
            <a:pPr marL="914400" lvl="2" indent="0" algn="just" fontAlgn="base">
              <a:buNone/>
            </a:pPr>
            <a:r>
              <a:rPr lang="en-US" sz="6400" dirty="0"/>
              <a:t>	</a:t>
            </a:r>
            <a:r>
              <a:rPr lang="en-US" sz="6400" dirty="0" err="1" smtClean="0"/>
              <a:t>System.out.println</a:t>
            </a:r>
            <a:r>
              <a:rPr lang="en-US" sz="6400" dirty="0" smtClean="0"/>
              <a:t>(e);</a:t>
            </a:r>
          </a:p>
          <a:p>
            <a:pPr marL="914400" lvl="2" indent="0" algn="just" fontAlgn="base">
              <a:buNone/>
            </a:pPr>
            <a:r>
              <a:rPr lang="en-US" sz="6400" dirty="0" smtClean="0"/>
              <a:t>}  </a:t>
            </a:r>
            <a:endParaRPr lang="en-US" sz="6400" dirty="0"/>
          </a:p>
          <a:p>
            <a:pPr marL="0" indent="0" algn="just" fontAlgn="base">
              <a:buNone/>
            </a:pPr>
            <a:r>
              <a:rPr lang="en-US" sz="7200" dirty="0"/>
              <a:t> </a:t>
            </a:r>
            <a:r>
              <a:rPr lang="en-US" sz="7200" dirty="0" smtClean="0"/>
              <a:t>     } //end of main </a:t>
            </a:r>
            <a:endParaRPr lang="en-US" sz="7200" dirty="0"/>
          </a:p>
          <a:p>
            <a:pPr marL="0" indent="0" algn="just" fontAlgn="base">
              <a:buNone/>
            </a:pPr>
            <a:r>
              <a:rPr lang="en-US" sz="7200" dirty="0"/>
              <a:t>} </a:t>
            </a:r>
            <a:r>
              <a:rPr lang="en-US" sz="7200" dirty="0" smtClean="0"/>
              <a:t>//end of </a:t>
            </a:r>
            <a:r>
              <a:rPr lang="en-US" sz="7200" dirty="0" err="1" smtClean="0"/>
              <a:t>Test_Ser_Des</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23</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378264" y="3845392"/>
            <a:ext cx="3689130" cy="1673938"/>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dirty="0"/>
              <a:t>Output</a:t>
            </a:r>
            <a:r>
              <a:rPr lang="en-US" dirty="0" smtClean="0"/>
              <a:t>:</a:t>
            </a:r>
          </a:p>
          <a:p>
            <a:pPr marL="0" indent="0">
              <a:lnSpc>
                <a:spcPct val="100000"/>
              </a:lnSpc>
              <a:spcBef>
                <a:spcPts val="0"/>
              </a:spcBef>
              <a:buNone/>
            </a:pPr>
            <a:r>
              <a:rPr lang="en-US" dirty="0" smtClean="0"/>
              <a:t>Success</a:t>
            </a:r>
          </a:p>
          <a:p>
            <a:pPr marL="0" indent="0">
              <a:lnSpc>
                <a:spcPct val="100000"/>
              </a:lnSpc>
              <a:spcBef>
                <a:spcPts val="0"/>
              </a:spcBef>
              <a:buNone/>
            </a:pPr>
            <a:r>
              <a:rPr lang="en-US" dirty="0"/>
              <a:t>211 </a:t>
            </a:r>
            <a:r>
              <a:rPr lang="en-US" dirty="0" err="1"/>
              <a:t>ravi</a:t>
            </a:r>
            <a:endParaRPr lang="en-US" dirty="0"/>
          </a:p>
        </p:txBody>
      </p:sp>
    </p:spTree>
    <p:extLst>
      <p:ext uri="{BB962C8B-B14F-4D97-AF65-F5344CB8AC3E}">
        <p14:creationId xmlns:p14="http://schemas.microsoft.com/office/powerpoint/2010/main" val="199151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lnSpcReduction="10000"/>
          </a:bodyPr>
          <a:lstStyle/>
          <a:p>
            <a:r>
              <a:rPr lang="en-US" dirty="0">
                <a:hlinkClick r:id="rId2"/>
              </a:rPr>
              <a:t>https://</a:t>
            </a:r>
            <a:r>
              <a:rPr lang="en-US" dirty="0" err="1" smtClean="0">
                <a:hlinkClick r:id="rId2"/>
              </a:rPr>
              <a:t>www.tutorialspoint.com</a:t>
            </a:r>
            <a:r>
              <a:rPr lang="en-US" dirty="0" smtClean="0">
                <a:hlinkClick r:id="rId2"/>
              </a:rPr>
              <a:t>/java/</a:t>
            </a:r>
            <a:r>
              <a:rPr lang="en-US" dirty="0" err="1" smtClean="0">
                <a:hlinkClick r:id="rId2"/>
              </a:rPr>
              <a:t>java_files_io.htm</a:t>
            </a:r>
            <a:endParaRPr lang="en-US" dirty="0" smtClean="0"/>
          </a:p>
          <a:p>
            <a:r>
              <a:rPr lang="en-US" dirty="0">
                <a:hlinkClick r:id="rId3"/>
              </a:rPr>
              <a:t>https://</a:t>
            </a:r>
            <a:r>
              <a:rPr lang="en-US" dirty="0" err="1" smtClean="0">
                <a:hlinkClick r:id="rId3"/>
              </a:rPr>
              <a:t>www.javatpoint.com</a:t>
            </a:r>
            <a:r>
              <a:rPr lang="en-US" dirty="0" smtClean="0">
                <a:hlinkClick r:id="rId3"/>
              </a:rPr>
              <a:t>/java-</a:t>
            </a:r>
            <a:r>
              <a:rPr lang="en-US" dirty="0" err="1" smtClean="0">
                <a:hlinkClick r:id="rId3"/>
              </a:rPr>
              <a:t>fileinputstream</a:t>
            </a:r>
            <a:r>
              <a:rPr lang="en-US" dirty="0" smtClean="0">
                <a:hlinkClick r:id="rId3"/>
              </a:rPr>
              <a:t>-class</a:t>
            </a:r>
            <a:endParaRPr lang="en-US" dirty="0" smtClean="0"/>
          </a:p>
          <a:p>
            <a:r>
              <a:rPr lang="en-US" dirty="0">
                <a:hlinkClick r:id="rId4"/>
              </a:rPr>
              <a:t>https://</a:t>
            </a:r>
            <a:r>
              <a:rPr lang="en-US" dirty="0" err="1" smtClean="0">
                <a:hlinkClick r:id="rId4"/>
              </a:rPr>
              <a:t>docs.oracle.com</a:t>
            </a:r>
            <a:r>
              <a:rPr lang="en-US" dirty="0" smtClean="0">
                <a:hlinkClick r:id="rId4"/>
              </a:rPr>
              <a:t>/</a:t>
            </a:r>
            <a:r>
              <a:rPr lang="en-US" dirty="0" err="1" smtClean="0">
                <a:hlinkClick r:id="rId4"/>
              </a:rPr>
              <a:t>javase</a:t>
            </a:r>
            <a:r>
              <a:rPr lang="en-US" dirty="0" smtClean="0">
                <a:hlinkClick r:id="rId4"/>
              </a:rPr>
              <a:t>/tutorial/essential/</a:t>
            </a:r>
            <a:r>
              <a:rPr lang="en-US" dirty="0" err="1" smtClean="0">
                <a:hlinkClick r:id="rId4"/>
              </a:rPr>
              <a:t>io</a:t>
            </a:r>
            <a:r>
              <a:rPr lang="en-US" dirty="0" smtClean="0">
                <a:hlinkClick r:id="rId4"/>
              </a:rPr>
              <a:t>/</a:t>
            </a:r>
            <a:r>
              <a:rPr lang="en-US" dirty="0" err="1" smtClean="0">
                <a:hlinkClick r:id="rId4"/>
              </a:rPr>
              <a:t>file.html</a:t>
            </a:r>
            <a:endParaRPr lang="en-US" dirty="0" smtClean="0"/>
          </a:p>
          <a:p>
            <a:r>
              <a:rPr lang="en-US" dirty="0">
                <a:hlinkClick r:id="rId5"/>
              </a:rPr>
              <a:t>https://</a:t>
            </a:r>
            <a:r>
              <a:rPr lang="en-US" dirty="0" err="1" smtClean="0">
                <a:hlinkClick r:id="rId5"/>
              </a:rPr>
              <a:t>caveofprogramming.com</a:t>
            </a:r>
            <a:r>
              <a:rPr lang="en-US" dirty="0" smtClean="0">
                <a:hlinkClick r:id="rId5"/>
              </a:rPr>
              <a:t>/java/java-file-reading-and-writing-files-in-</a:t>
            </a:r>
            <a:r>
              <a:rPr lang="en-US" dirty="0" err="1" smtClean="0">
                <a:hlinkClick r:id="rId5"/>
              </a:rPr>
              <a:t>java.html</a:t>
            </a:r>
            <a:endParaRPr lang="en-US" dirty="0" smtClean="0"/>
          </a:p>
          <a:p>
            <a:r>
              <a:rPr lang="en-US" dirty="0">
                <a:hlinkClick r:id="rId6"/>
              </a:rPr>
              <a:t>https://</a:t>
            </a:r>
            <a:r>
              <a:rPr lang="en-US" dirty="0" err="1">
                <a:hlinkClick r:id="rId6"/>
              </a:rPr>
              <a:t>stackabuse.com</a:t>
            </a:r>
            <a:r>
              <a:rPr lang="en-US" dirty="0">
                <a:hlinkClick r:id="rId6"/>
              </a:rPr>
              <a:t>/reading-and-writing-files-in-java</a:t>
            </a:r>
            <a:r>
              <a:rPr lang="en-US" dirty="0" smtClean="0">
                <a:hlinkClick r:id="rId6"/>
              </a:rPr>
              <a:t>/</a:t>
            </a:r>
            <a:endParaRPr lang="en-US" dirty="0" smtClean="0"/>
          </a:p>
          <a:p>
            <a:r>
              <a:rPr lang="en-US" dirty="0">
                <a:hlinkClick r:id="rId7"/>
              </a:rPr>
              <a:t>https://</a:t>
            </a:r>
            <a:r>
              <a:rPr lang="en-US" dirty="0" err="1" smtClean="0">
                <a:hlinkClick r:id="rId7"/>
              </a:rPr>
              <a:t>docs.oracle.com</a:t>
            </a:r>
            <a:r>
              <a:rPr lang="en-US" dirty="0" smtClean="0">
                <a:hlinkClick r:id="rId7"/>
              </a:rPr>
              <a:t>/</a:t>
            </a:r>
            <a:r>
              <a:rPr lang="en-US" dirty="0" err="1" smtClean="0">
                <a:hlinkClick r:id="rId7"/>
              </a:rPr>
              <a:t>javase</a:t>
            </a:r>
            <a:r>
              <a:rPr lang="en-US" dirty="0" smtClean="0">
                <a:hlinkClick r:id="rId7"/>
              </a:rPr>
              <a:t>/7/docs/</a:t>
            </a:r>
            <a:r>
              <a:rPr lang="en-US" dirty="0" err="1" smtClean="0">
                <a:hlinkClick r:id="rId7"/>
              </a:rPr>
              <a:t>api</a:t>
            </a:r>
            <a:r>
              <a:rPr lang="en-US" dirty="0" smtClean="0">
                <a:hlinkClick r:id="rId7"/>
              </a:rPr>
              <a:t>/java/</a:t>
            </a:r>
            <a:r>
              <a:rPr lang="en-US" dirty="0" err="1" smtClean="0">
                <a:hlinkClick r:id="rId7"/>
              </a:rPr>
              <a:t>io</a:t>
            </a:r>
            <a:r>
              <a:rPr lang="en-US" dirty="0" smtClean="0">
                <a:hlinkClick r:id="rId7"/>
              </a:rPr>
              <a:t>/</a:t>
            </a:r>
            <a:r>
              <a:rPr lang="en-US" dirty="0" err="1" smtClean="0">
                <a:hlinkClick r:id="rId7"/>
              </a:rPr>
              <a:t>File.html</a:t>
            </a:r>
            <a:endParaRPr lang="en-US" dirty="0" smtClean="0"/>
          </a:p>
          <a:p>
            <a:r>
              <a:rPr lang="en-US" dirty="0">
                <a:hlinkClick r:id="rId8"/>
              </a:rPr>
              <a:t>https://</a:t>
            </a:r>
            <a:r>
              <a:rPr lang="en-US" dirty="0" err="1">
                <a:hlinkClick r:id="rId8"/>
              </a:rPr>
              <a:t>www.geeksforgeeks.org</a:t>
            </a:r>
            <a:r>
              <a:rPr lang="en-US" dirty="0">
                <a:hlinkClick r:id="rId8"/>
              </a:rPr>
              <a:t>/file-class-in-java</a:t>
            </a:r>
            <a:r>
              <a:rPr lang="en-US" dirty="0" smtClean="0">
                <a:hlinkClick r:id="rId8"/>
              </a:rPr>
              <a:t>/</a:t>
            </a:r>
            <a:endParaRPr lang="en-US" dirty="0" smtClean="0"/>
          </a:p>
          <a:p>
            <a:r>
              <a:rPr lang="en-US" dirty="0">
                <a:hlinkClick r:id="rId9"/>
              </a:rPr>
              <a:t>https://</a:t>
            </a:r>
            <a:r>
              <a:rPr lang="en-US" dirty="0" err="1" smtClean="0">
                <a:hlinkClick r:id="rId9"/>
              </a:rPr>
              <a:t>www.javatpoint.com</a:t>
            </a:r>
            <a:r>
              <a:rPr lang="en-US" dirty="0" smtClean="0">
                <a:hlinkClick r:id="rId9"/>
              </a:rPr>
              <a:t>/java-file-class</a:t>
            </a:r>
            <a:endParaRPr lang="en-US" dirty="0" smtClean="0"/>
          </a:p>
          <a:p>
            <a:r>
              <a:rPr lang="en-US" dirty="0">
                <a:hlinkClick r:id="rId10"/>
              </a:rPr>
              <a:t>https://</a:t>
            </a:r>
            <a:r>
              <a:rPr lang="en-US" dirty="0" err="1" smtClean="0">
                <a:hlinkClick r:id="rId10"/>
              </a:rPr>
              <a:t>www.javatpoint.com</a:t>
            </a:r>
            <a:r>
              <a:rPr lang="en-US" dirty="0" smtClean="0">
                <a:hlinkClick r:id="rId10"/>
              </a:rPr>
              <a:t>/java-</a:t>
            </a:r>
            <a:r>
              <a:rPr lang="en-US" dirty="0" err="1" smtClean="0">
                <a:hlinkClick r:id="rId10"/>
              </a:rPr>
              <a:t>io</a:t>
            </a:r>
            <a:endParaRPr lang="en-US" dirty="0" smtClean="0"/>
          </a:p>
          <a:p>
            <a:r>
              <a:rPr lang="en-US" dirty="0">
                <a:hlinkClick r:id="rId11"/>
              </a:rPr>
              <a:t>https://</a:t>
            </a:r>
            <a:r>
              <a:rPr lang="en-US" dirty="0" err="1">
                <a:hlinkClick r:id="rId11"/>
              </a:rPr>
              <a:t>www.javatpoint.com</a:t>
            </a:r>
            <a:r>
              <a:rPr lang="en-US" dirty="0">
                <a:hlinkClick r:id="rId11"/>
              </a:rPr>
              <a:t>/serialization-in-java</a:t>
            </a:r>
            <a:endParaRPr lang="en-US"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24</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8280</TotalTime>
  <Words>2610</Words>
  <Application>Microsoft Office PowerPoint</Application>
  <PresentationFormat>Custom</PresentationFormat>
  <Paragraphs>379</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VTCA-SlideTheme</vt:lpstr>
      <vt:lpstr>Introduction to Programming</vt:lpstr>
      <vt:lpstr>Objectives</vt:lpstr>
      <vt:lpstr>Introduction </vt:lpstr>
      <vt:lpstr>Reading and Writing Files</vt:lpstr>
      <vt:lpstr>I/O Streams </vt:lpstr>
      <vt:lpstr>Character Streams</vt:lpstr>
      <vt:lpstr>Byte Streams</vt:lpstr>
      <vt:lpstr>Java FileInputStream class</vt:lpstr>
      <vt:lpstr>Java FileInputStream class</vt:lpstr>
      <vt:lpstr>Java FileOutputStream Class</vt:lpstr>
      <vt:lpstr>Java FileOutputStream class</vt:lpstr>
      <vt:lpstr>Java BufferedInputStream Class</vt:lpstr>
      <vt:lpstr>Java BufferedInputStream Class</vt:lpstr>
      <vt:lpstr>Java BufferedInputStream Class</vt:lpstr>
      <vt:lpstr>Java BufferedOutputStream Class</vt:lpstr>
      <vt:lpstr>Java BufferedOutputStream Class</vt:lpstr>
      <vt:lpstr>Serialization and Deserialization in Java</vt:lpstr>
      <vt:lpstr>Serialization and Deserialization in Java</vt:lpstr>
      <vt:lpstr>Java ObjectOutputStream class</vt:lpstr>
      <vt:lpstr>Java ObjectInputStream class</vt:lpstr>
      <vt:lpstr>Serialization and Deserialization example</vt:lpstr>
      <vt:lpstr>Serialization and Deserialization example</vt:lpstr>
      <vt:lpstr>Serialization and Deserialization example</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951</cp:revision>
  <dcterms:created xsi:type="dcterms:W3CDTF">2019-05-17T12:57:33Z</dcterms:created>
  <dcterms:modified xsi:type="dcterms:W3CDTF">2020-03-26T05:29:43Z</dcterms:modified>
</cp:coreProperties>
</file>